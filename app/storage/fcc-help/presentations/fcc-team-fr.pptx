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Introduction, environ 1 minute. Présentez ce que le public va comprendre : les produits, le modèle commercial et le travail quotidien concret. Adaptez la durée au public. Cette présentation décrit le cadre commercial croate et les fonctions FCC au 4 octobre 2026.</a:t>
            </a:r>
          </a:p>
          <a:p>
            <a:r>
              <a:t/>
            </a:r>
          </a:p>
          <a:p>
            <a:r>
              <a:t>Sources :</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Faites une présentation personnelle, environ 1 minute. Parlez uniquement de votre expérience personnelle vérifiable. Toute l’équipe peut utiliser la partie commune après cette introduction.</a:t>
            </a:r>
          </a:p>
          <a:p>
            <a:r>
              <a:t/>
            </a:r>
          </a:p>
          <a:p>
            <a:r>
              <a:t>Sources :</a:t>
            </a:r>
          </a:p>
          <a:p>
            <a:r>
              <a:t>Documents originaux fournis par l’utilisateur, photographies d’introduction.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Annoncez un exemple pratique : une personne choisit un produit ou un webinaire, échange avec un contact et note la prochaine action convenue. Ne promettez ni résultat ni revenu.</a:t>
            </a:r>
          </a:p>
          <a:p>
            <a:r>
              <a:t/>
            </a:r>
          </a:p>
          <a:p>
            <a:r>
              <a:t>Sources :</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Forever a été fondé en 1978. Le nombre de marchés varie selon les sites régionaux officiels, donc aucun chiffre unique n’est présenté ici. FCC est un système d’équipe distinct et indépendant.</a:t>
            </a:r>
          </a:p>
          <a:p>
            <a:r>
              <a:t/>
            </a:r>
          </a:p>
          <a:p>
            <a:r>
              <a:t>Sources :</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La conversation part des besoins réels, des habitudes et du budget de la personne. Présentez le produit, l’étiquette locale et les instructions. N’inventez pas d’effets sur la santé. La photographie illustre l’offre, sans présenter les prix locaux actuels.</a:t>
            </a:r>
          </a:p>
          <a:p>
            <a:r>
              <a:t/>
            </a:r>
          </a:p>
          <a:p>
            <a:r>
              <a:t>Sources :</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Les photographies de la présentation fournie montrent la production et la distribution. Expliquez les responsabilités de l’entreprise sans promettre d’effets sur la santé.</a:t>
            </a:r>
          </a:p>
          <a:p>
            <a:r>
              <a:t/>
            </a:r>
          </a:p>
          <a:p>
            <a:r>
              <a:t>Sources :</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Les deux choix peuvent convenir. L’activité commerciale demande une décision distincte et le respect des conditions locales. L’accès à FCC dépend du compte FCC et des fonctions disponibles. Il se distingue du compte commercial Forever.</a:t>
            </a:r>
          </a:p>
          <a:p>
            <a:r>
              <a:t/>
            </a:r>
          </a:p>
          <a:p>
            <a:r>
              <a:t>Sources :</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Politique commerciale croate, édition applicable depuis le 1er juillet 2026. Les CC sont des points comptables attribués aux produits. Atteindre 2 CC sur deux mois consécutifs donne une réduction de 30 % sur les commandes suivantes et permet de choisir séparément une activité commerciale. Vérifiez le prix, le contenu du pack et le moment d’application de la réduction dans la boutique locale officielle. Ne recommandez pas d’achat uniquement pour les points sans besoin réel.</a:t>
            </a:r>
          </a:p>
          <a:p>
            <a:r>
              <a:t/>
            </a:r>
          </a:p>
          <a:p>
            <a:r>
              <a:t>Sources :</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2 minutes. En Croatie, les 30 % après qualification se distinguent du bonus personnel et du revenu net. Un prix ajusté jusqu’à 48 % par rapport au SRP est un terme de la politique, pas une commission garantie sur chaque commande. Les bases de calcul et leur application dépendent du type de vente et de la politique.</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2 minutes. Expliquez les sources de revenu possibles sans prévoir de gains. Vérifiez les taux et bases de calcul dans la politique locale. L’inscription seule ne crée aucun revenu. Les taux détaillés figurent en annexe.</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Politique croate 4.01. Le seuil Supervisor est de 10 CC hors Managers, mais le délai diffère entre 4.01(b) et 4.01(g) de cette même politique. Il n’est donc pas indiqué ici. Présentez les CC comme un volume de vente, jamais comme un nombre de personnes inscrites. Un niveau ne garantit pas un bonus mensuel.</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Selon la politique croate, un FBO actif atteint 4 CC, dont au moins 1 CC acheté personnellement. Le niveau atteint et le droit au bonus sont deux notions distinctes. Ces règles ne sont pas universelles. N’achetez pas pour vous qualifier sans demande réelle. Les CC numériques de FLP360 affichés dans FCC sont agrégés et ne prouvent pas la commande d’un client précis.</a:t>
            </a:r>
          </a:p>
          <a:p>
            <a:r>
              <a:t/>
            </a:r>
          </a:p>
          <a:p>
            <a:r>
              <a:t>Sources :</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Les programmes d’incitation ont des qualifications supplémentaires, des exigences de maintien et des conditions locales. Ne les présentez pas comme une voiture gratuite ou un voyage garanti. L’annexe résume les points, la politique contient les conditions complètes.</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Affirmez clairement l’indépendance de FCC. FCC ne fabrique pas, ne livre pas et ne verse pas les bonus Forever. Son rôle est d’organiser le travail, la formation, les recommandations personnelles et le soutien.</a:t>
            </a:r>
          </a:p>
          <a:p>
            <a:r>
              <a:t/>
            </a:r>
          </a:p>
          <a:p>
            <a:r>
              <a:t>Sources :</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La carte réunit coordonnées, contenus et Forever Web shop. Le nouveau bloc principal utilise le Forever ID du compte et le système existant de résolution des recommandations. Le visiteur peut vérifier le marché. La disponibilité et les conditions d’achat relèvent de la boutique Forever locale.</a:t>
            </a:r>
          </a:p>
          <a:p>
            <a:r>
              <a:t/>
            </a:r>
          </a:p>
          <a:p>
            <a:r>
              <a:t>Sources :</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Interface de production réelle capturée le 4 octobre 2026. L’exemple est Fiber Fusion. Ouvrir WhatsApp prépare seulement le message, que l’utilisateur relit et envoie personnellement. L’article et la boutique officielle sont distincts. N’envoyez rien pendant la démonstration sans intention réelle.</a:t>
            </a:r>
          </a:p>
          <a:p>
            <a:r>
              <a:t/>
            </a:r>
          </a:p>
          <a:p>
            <a:r>
              <a:t>Sources :</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Les recommandations de partenariat et Start Your Journey utilisent le système existant pour accéder à la procédure Forever locale officielle avec la recommandation du partenaire. Les prix, la disponibilité et les conditions varient entre les pays. Le visiteur examine et confirme personnellement la commande et l’inscription.</a:t>
            </a:r>
          </a:p>
          <a:p>
            <a:r>
              <a:t/>
            </a:r>
          </a:p>
          <a:p>
            <a:r>
              <a:t>Sources :</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Les contacts et rappels sont disponibles dans Free. L’inscription à un webinaire peut être liée à un contact existant. Le titre et l’exemple sont fictifs et ne sont pas les données personnelles de membres réels. Un message préparé ou copié n’est pas envoyé. L’envoi se confirme séparément.</a:t>
            </a:r>
          </a:p>
          <a:p>
            <a:r>
              <a:t/>
            </a:r>
          </a:p>
          <a:p>
            <a:r>
              <a:t>Sources :</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Le Coach personnel PRO aide à rédiger, travailler et réfléchir avec le contexte connu. Il n’envoie pas les messages à la place de l’utilisateur et ne confirme pas les achats. La demande est fictive. Ne montrez pas de vrais échanges privés lors d’un webinaire public.</a:t>
            </a:r>
          </a:p>
          <a:p>
            <a:r>
              <a:t/>
            </a:r>
          </a:p>
          <a:p>
            <a:r>
              <a:t>Sources :</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Le programme actuel prévoit 90 étapes. L’accès dépend des conditions du compte et du programme. Une étape inachevée reste présente jusqu’à confirmation de sa fin. La prochaine tâche régulière suit la fin de celle du jour selon les règles du programme.</a:t>
            </a:r>
          </a:p>
          <a:p>
            <a:r>
              <a:t/>
            </a:r>
          </a:p>
          <a:p>
            <a:r>
              <a:t>Sources :</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La formation comprend six leçons vidéo et des sujets liés à un échange avec le sponsor ou l’équipe. Montrez un exemple de question et son utilisation dans un échange. Interface FCC du 4 octobre 2026.</a:t>
            </a:r>
          </a:p>
          <a:p>
            <a:r>
              <a:t/>
            </a:r>
          </a:p>
          <a:p>
            <a:r>
              <a:t>Sources :</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Interface de production réelle du 4 octobre 2026. La date de démonstration est un exemple, pas un calendrier permanent. Chaque partenaire utilise son invitation personnelle. Vidéo et introduction personnelle dépendent du forfait PRO. Ouvrir WhatsApp ne prouve pas l’envoi. Vous adaptez et partagez personnellement l’invitation.</a:t>
            </a:r>
          </a:p>
          <a:p>
            <a:r>
              <a:t/>
            </a:r>
          </a:p>
          <a:p>
            <a:r>
              <a:t>Sources :</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2 minutes. Marko est un exemple fictif. L’inscription se distingue de la présence, sans preuve automatique de participation Zoom. Le visiteur reçoit confirmation et rappels disponibles selon les consentements et la vérification de l’email. Une inscription à une autre date crée un suivi de présence distinct et relie le même contact reconnu, avec vérification si l’identité est ambiguë.</a:t>
            </a:r>
          </a:p>
          <a:p>
            <a:r>
              <a:t/>
            </a:r>
          </a:p>
          <a:p>
            <a:r>
              <a:t>Sources :</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L’organisateur PRO choisit un événement unique ou hebdomadaire, la langue et une visibilité limitée à ses invitations ou à toute son équipe FCC confirmée. Les membres invitent via leurs liens et reçoivent leurs contacts. L’organisateur voit le nombre total, pas le CRM privé des autres membres. Langue de l’événement et langue du compte sont distinctes.</a:t>
            </a:r>
          </a:p>
          <a:p>
            <a:r>
              <a:t/>
            </a:r>
          </a:p>
          <a:p>
            <a:r>
              <a:t>Sources :</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PRO montre la structure FCC confirmée, les CC agrégés et la progression. Une variation de CC ne prouve pas qu’un contact précis a acheté un produit précis. Le contact personnel enregistre le brouillon, l’envoi confirmé et le rappel. Ne montrez pas de membres ni de données privés dans une démonstration publique.</a:t>
            </a:r>
          </a:p>
          <a:p>
            <a:r>
              <a:t/>
            </a:r>
          </a:p>
          <a:p>
            <a:r>
              <a:t>Sources :</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2 minutes ou une courte démonstration. Ana est un exemple fictif. Montrez une tâche et un message préparé sans l’envoyer. Montrez ensuite où noter l’accord. N’ouvrez pas les dossiers CRM privés devant le public.</a:t>
            </a:r>
          </a:p>
          <a:p>
            <a:r>
              <a:t/>
            </a:r>
          </a:p>
          <a:p>
            <a:r>
              <a:t>Sources :</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Ce rythme est un exemple d’organisation, pas une obligation officielle du programme. La date provient du calendrier actuel. Ne supposez pas mercredi, dimanche ou une heure identique pour toutes les équipes.</a:t>
            </a:r>
          </a:p>
          <a:p>
            <a:r>
              <a:t/>
            </a:r>
          </a:p>
          <a:p>
            <a:r>
              <a:t>Sources :</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1,5 minute. Cet exemple de début avec un sponsor ne remplace pas les critères précis de Mon parcours. Activation du compte et accès au programme ont leurs conditions. Adaptez le rythme au temps et aux connaissances de la personne.</a:t>
            </a:r>
          </a:p>
          <a:p>
            <a:r>
              <a:t/>
            </a:r>
          </a:p>
          <a:p>
            <a:r>
              <a:t>Sources :</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Fonctions réelles vérifiées en production le 4 octobre 2026. Les prix et limites peuvent changer, donc ils sont affichés dans FCC. La formation suit les conditions du programme existant. L’abonnement PRO n’est pas une qualification Forever et ne garantit aucun revenu.</a:t>
            </a:r>
          </a:p>
          <a:p>
            <a:r>
              <a:t/>
            </a:r>
          </a:p>
          <a:p>
            <a:r>
              <a:t>Sources :</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2 minutes. Invitez les vraies questions. Répondez selon la situation et les règles locales. Si vous ignorez une réponse, notez la question et vérifiez une source officielle ou le soutien. Ne proposez pas de prévisions de revenu.</a:t>
            </a:r>
          </a:p>
          <a:p>
            <a:r>
              <a:t/>
            </a:r>
          </a:p>
          <a:p>
            <a:r>
              <a:t>Sources :</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Environ 1 minute. Organisez un échange avec la personne qui a invité le visiteur, avec le sponsor ou manager si nécessaire. Le visiteur n’a pas à décider immédiatement d’une activité. Ne remplacez pas l’invitant personnel par un contact commun.</a:t>
            </a:r>
          </a:p>
          <a:p>
            <a:r>
              <a:t/>
            </a:r>
          </a:p>
          <a:p>
            <a:r>
              <a:t>Sources :</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Fin de la partie principale. Répondez aux questions et rappelez l’échange personnel. Les diapositives supplémentaires servent aux questions détaillées sur le plan commercial et ne sont pas nécessaires à chaque webinaire.</a:t>
            </a:r>
          </a:p>
          <a:p>
            <a:r>
              <a:t/>
            </a:r>
          </a:p>
          <a:p>
            <a:r>
              <a:t>Sources :</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Selon les besoins. La politique croate lie le bonus personnel au niveau, à l’activité et à la base de calcul prévue. Le prix ajusté jusqu’à 48 % a un sens distinct dans la politique. Il ne signifie pas une commission monétaire garantie sur chaque commande. N’additionnez pas réduction de base et bonus comme revenu net certain.</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Selon les besoins. Politique croate, section 10. Le programme s’adresse à un Manager reconnu et actif, sous conditions supplémentaires et maintien. La qualification dure trois mois consécutifs. L’avantage peut durer jusqu’à 36 mois. Les montants maximaux de la politique sont en USD. Pour un plan personnel, vérifiez le calcul local et les conditions de versement en euros.</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Selon les besoins. Ce sont les seuils de base. La politique locale en vigueur définit les règles complètes. Eagle Manager comprend 720 CC totaux, 100 nouveaux CC, trois nouvelles lignées Supervisor et d’autres conditions. Global Rally comprend 1 500 CC totaux et 50 nouveaux CC. Les nouveaux CC représentent le volume de vente des nouvelles lignées. Chairman’s Bonus a des conditions avancées et un montant variable.</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Selon les besoins. La politique croate prévoit les bonus le 15 du mois suivant. La marge en ligne est transférée à Global Pay après le 10, le 20 et le dernier jour du mois. Calcul et arrivée sur le compte bancaire peuvent avoir des délais différents. Revenus, impôts et immatriculation dépendent de la situation réelle. Orientez les questions personnelles vers un conseiller qualifié et le soutien officiel.</a:t>
            </a:r>
          </a:p>
          <a:p>
            <a:r>
              <a:t/>
            </a:r>
          </a:p>
          <a:p>
            <a:r>
              <a:t>Sources :</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fr-FR">
                <a:solidFill>
                  <a:srgbClr val="153F36"/>
                </a:solidFill>
                <a:latin typeface="Arial"/>
                <a:ea typeface="Arial"/>
                <a:cs typeface="Arial"/>
              </a:rPr>
              <a:t>Forever et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3937" b="1" lang="fr-FR">
                <a:solidFill>
                  <a:srgbClr val="153F36"/>
                </a:solidFill>
                <a:latin typeface="Arial"/>
                <a:ea typeface="Arial"/>
                <a:cs typeface="Arial"/>
              </a:rPr>
              <a:t>Une opportunité d’activité</a:t>
            </a:r>
          </a:p>
          <a:p>
            <a:pPr>
              <a:defRPr sz="5250" b="1">
                <a:solidFill>
                  <a:srgbClr val="153F36"/>
                </a:solidFill>
                <a:latin typeface="Arial"/>
                <a:ea typeface="Arial"/>
                <a:cs typeface="Arial"/>
              </a:defRPr>
            </a:pPr>
            <a:r>
              <a:rPr sz="3937" b="1" lang="fr-FR">
                <a:solidFill>
                  <a:srgbClr val="153F36"/>
                </a:solidFill>
                <a:latin typeface="Arial"/>
                <a:ea typeface="Arial"/>
                <a:cs typeface="Arial"/>
              </a:rPr>
              <a:t>en pratique</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fr-FR">
                <a:solidFill>
                  <a:srgbClr val="526B63"/>
                </a:solidFill>
                <a:latin typeface="Arial"/>
                <a:ea typeface="Arial"/>
                <a:cs typeface="Arial"/>
              </a:rPr>
              <a:t>Les produits, le partenariat et le travail quotidien avec un appui numérique.</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02</a:t>
            </a:r>
          </a:p>
        </p:txBody>
      </p:sp>
      <p:sp>
        <p:nvSpPr>
          <p:cNvPr id="3" name="Titre">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Vos hôtes</a:t>
            </a:r>
          </a:p>
        </p:txBody>
      </p:sp>
      <p:sp>
        <p:nvSpPr>
          <p:cNvPr id="4" name="Présentateur, nom">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fr-FR">
                <a:solidFill>
                  <a:srgbClr val="153F36"/>
                </a:solidFill>
                <a:latin typeface="Arial"/>
                <a:ea typeface="Arial"/>
                <a:cs typeface="Arial"/>
              </a:rPr>
              <a:t>Stjepan et</a:t>
            </a:r>
          </a:p>
          <a:p>
            <a:pPr>
              <a:defRPr sz="3975" b="1">
                <a:solidFill>
                  <a:srgbClr val="153F36"/>
                </a:solidFill>
                <a:latin typeface="Arial"/>
                <a:ea typeface="Arial"/>
                <a:cs typeface="Arial"/>
              </a:defRPr>
            </a:pPr>
            <a:r>
              <a:rPr sz="3975" b="1" lang="fr-FR">
                <a:solidFill>
                  <a:srgbClr val="153F36"/>
                </a:solidFill>
                <a:latin typeface="Arial"/>
                <a:ea typeface="Arial"/>
                <a:cs typeface="Arial"/>
              </a:rPr>
              <a:t>Snježana Beloša</a:t>
            </a:r>
          </a:p>
        </p:txBody>
      </p:sp>
      <p:sp>
        <p:nvSpPr>
          <p:cNvPr id="5" name="Présentateur, description">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fr-FR">
                <a:solidFill>
                  <a:srgbClr val="526B63"/>
                </a:solidFill>
                <a:latin typeface="Arial"/>
                <a:ea typeface="Arial"/>
                <a:cs typeface="Arial"/>
              </a:rPr>
              <a:t>Créateurs de Forever Card Club</a:t>
            </a:r>
          </a:p>
          <a:p>
            <a:pPr>
              <a:defRPr sz="2250" b="0">
                <a:solidFill>
                  <a:srgbClr val="526B63"/>
                </a:solidFill>
                <a:latin typeface="Arial"/>
                <a:ea typeface="Arial"/>
                <a:cs typeface="Arial"/>
              </a:defRPr>
            </a:pPr>
            <a:r>
              <a:rPr sz="2250" b="0" lang="fr-FR">
                <a:solidFill>
                  <a:srgbClr val="526B63"/>
                </a:solidFill>
                <a:latin typeface="Arial"/>
                <a:ea typeface="Arial"/>
                <a:cs typeface="Arial"/>
              </a:rPr>
              <a:t>et mentors de notre équipe.</a:t>
            </a:r>
          </a:p>
        </p:txBody>
      </p:sp>
      <p:sp>
        <p:nvSpPr>
          <p:cNvPr id="6" name="Présentateur, message personnel">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058" b="0" lang="fr-FR">
                <a:solidFill>
                  <a:srgbClr val="153F36"/>
                </a:solidFill>
                <a:latin typeface="Arial"/>
                <a:ea typeface="Arial"/>
                <a:cs typeface="Arial"/>
              </a:rPr>
              <a:t>Nous vous aidons à comprendre les possibilités et à choisir un départ réalisable.</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03</a:t>
            </a:r>
          </a:p>
        </p:txBody>
      </p:sp>
      <p:sp>
        <p:nvSpPr>
          <p:cNvPr id="3" name="Titre">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Ce que vous allez découvrir</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Les produits, les commandes officielles et les règles commerciales.</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Votre choix</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Utiliser les produits ou développer votre propre activité.</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FCC en pratique</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Recommandations personnelles, contacts, webinaires et soutien.</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La première semaine</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début concret avec la personne qui vous a invité.</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04</a:t>
            </a:r>
          </a:p>
        </p:txBody>
      </p:sp>
      <p:sp>
        <p:nvSpPr>
          <p:cNvPr id="3" name="Titre">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fr-FR">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fr-FR">
                <a:solidFill>
                  <a:srgbClr val="153F36"/>
                </a:solidFill>
                <a:latin typeface="Arial"/>
                <a:ea typeface="Arial"/>
                <a:cs typeface="Arial"/>
              </a:rPr>
              <a:t>Année de création</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fr-FR">
                <a:solidFill>
                  <a:srgbClr val="526B63"/>
                </a:solidFill>
                <a:latin typeface="Arial"/>
                <a:ea typeface="Arial"/>
                <a:cs typeface="Arial"/>
              </a:rPr>
              <a:t>Une entreprise mondiale avec des produits, un réseau de vente et des règles commerciales officielles.</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05</a:t>
            </a:r>
          </a:p>
        </p:txBody>
      </p:sp>
      <p:sp>
        <p:nvSpPr>
          <p:cNvPr id="3" name="Titre">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Les produits au quotidien</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fr-FR">
                <a:solidFill>
                  <a:srgbClr val="153F36"/>
                </a:solidFill>
                <a:latin typeface="Arial"/>
                <a:ea typeface="Arial"/>
                <a:cs typeface="Arial"/>
              </a:rPr>
              <a:t>Soins personnels</a:t>
            </a:r>
          </a:p>
          <a:p>
            <a:pPr>
              <a:defRPr sz="2925" b="1">
                <a:solidFill>
                  <a:srgbClr val="153F36"/>
                </a:solidFill>
                <a:latin typeface="Arial"/>
                <a:ea typeface="Arial"/>
                <a:cs typeface="Arial"/>
              </a:defRPr>
            </a:pPr>
            <a:r>
              <a:rPr sz="2925" b="1" lang="fr-FR">
                <a:solidFill>
                  <a:srgbClr val="153F36"/>
                </a:solidFill>
                <a:latin typeface="Arial"/>
                <a:ea typeface="Arial"/>
                <a:cs typeface="Arial"/>
              </a:rPr>
              <a:t>Boissons</a:t>
            </a:r>
          </a:p>
          <a:p>
            <a:pPr>
              <a:defRPr sz="2925" b="1">
                <a:solidFill>
                  <a:srgbClr val="153F36"/>
                </a:solidFill>
                <a:latin typeface="Arial"/>
                <a:ea typeface="Arial"/>
                <a:cs typeface="Arial"/>
              </a:defRPr>
            </a:pPr>
            <a:r>
              <a:rPr sz="2925" b="1" lang="fr-FR">
                <a:solidFill>
                  <a:srgbClr val="153F36"/>
                </a:solidFill>
                <a:latin typeface="Arial"/>
                <a:ea typeface="Arial"/>
                <a:cs typeface="Arial"/>
              </a:rPr>
              <a:t>Compléments alimentaires</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fr-FR">
                <a:solidFill>
                  <a:srgbClr val="526B63"/>
                </a:solidFill>
                <a:latin typeface="Arial"/>
                <a:ea typeface="Arial"/>
                <a:cs typeface="Arial"/>
              </a:rPr>
              <a:t>Une recommandation a du sens lorsque le produit convient à la personne et à ses habitudes.</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06</a:t>
            </a:r>
          </a:p>
        </p:txBody>
      </p:sp>
      <p:sp>
        <p:nvSpPr>
          <p:cNvPr id="3" name="Titre">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De la culture à la commande officielle</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Forever gère la production, les commandes et la livraison.</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Le partenaire aide la personne à choisir un produit et à utiliser le canal d’achat officiel.</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07</a:t>
            </a:r>
          </a:p>
        </p:txBody>
      </p:sp>
      <p:sp>
        <p:nvSpPr>
          <p:cNvPr id="3" name="Titre">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Utilisateur ou partenaire commercial</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Utilisateur des produits</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fr-FR">
                <a:solidFill>
                  <a:srgbClr val="526B63"/>
                </a:solidFill>
                <a:latin typeface="Arial"/>
                <a:ea typeface="Arial"/>
                <a:cs typeface="Arial"/>
              </a:rPr>
              <a:t>Choisit les produits pour un usage personnel.</a:t>
            </a:r>
          </a:p>
          <a:p>
            <a:r>
              <a:t/>
            </a:r>
          </a:p>
          <a:p>
            <a:pPr>
              <a:defRPr sz="2175" b="0">
                <a:solidFill>
                  <a:srgbClr val="526B63"/>
                </a:solidFill>
                <a:latin typeface="Arial"/>
                <a:ea typeface="Arial"/>
                <a:cs typeface="Arial"/>
              </a:defRPr>
            </a:pPr>
            <a:r>
              <a:rPr sz="2175" b="0" lang="fr-FR">
                <a:solidFill>
                  <a:srgbClr val="526B63"/>
                </a:solidFill>
                <a:latin typeface="Arial"/>
                <a:ea typeface="Arial"/>
                <a:cs typeface="Arial"/>
              </a:rPr>
              <a:t>Vérifie les réductions et conditions de son marché.</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Partenaire commercial</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fr-FR">
                <a:solidFill>
                  <a:srgbClr val="526B63"/>
                </a:solidFill>
                <a:latin typeface="Arial"/>
                <a:ea typeface="Arial"/>
                <a:cs typeface="Arial"/>
              </a:rPr>
              <a:t>Apprend à recommander les produits et à travailler avec les clients.</a:t>
            </a:r>
          </a:p>
          <a:p>
            <a:r>
              <a:t/>
            </a:r>
          </a:p>
          <a:p>
            <a:pPr>
              <a:defRPr sz="2175" b="0">
                <a:solidFill>
                  <a:srgbClr val="526B63"/>
                </a:solidFill>
                <a:latin typeface="Arial"/>
                <a:ea typeface="Arial"/>
                <a:cs typeface="Arial"/>
              </a:defRPr>
            </a:pPr>
            <a:r>
              <a:rPr sz="2175" b="0" lang="fr-FR">
                <a:solidFill>
                  <a:srgbClr val="526B63"/>
                </a:solidFill>
                <a:latin typeface="Arial"/>
                <a:ea typeface="Arial"/>
                <a:cs typeface="Arial"/>
              </a:rPr>
              <a:t>Peut développer une équipe selon le plan officiel.</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Le premier échange aide à choisir une voie adaptée à la personne.</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08</a:t>
            </a:r>
          </a:p>
        </p:txBody>
      </p:sp>
      <p:sp>
        <p:nvSpPr>
          <p:cNvPr id="3" name="Titre">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Qualification initiale :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fr-FR">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fr-FR">
                <a:solidFill>
                  <a:srgbClr val="153F36"/>
                </a:solidFill>
                <a:latin typeface="Arial"/>
                <a:ea typeface="Arial"/>
                <a:cs typeface="Arial"/>
              </a:rPr>
              <a:t>Les CC sont des points</a:t>
            </a:r>
          </a:p>
          <a:p>
            <a:pPr>
              <a:defRPr sz="2700" b="1">
                <a:solidFill>
                  <a:srgbClr val="153F36"/>
                </a:solidFill>
                <a:latin typeface="Arial"/>
                <a:ea typeface="Arial"/>
                <a:cs typeface="Arial"/>
              </a:defRPr>
            </a:pPr>
            <a:r>
              <a:rPr sz="2700" b="1" lang="fr-FR">
                <a:solidFill>
                  <a:srgbClr val="153F36"/>
                </a:solidFill>
                <a:latin typeface="Arial"/>
                <a:ea typeface="Arial"/>
                <a:cs typeface="Arial"/>
              </a:rPr>
              <a:t>comptables des produits.</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Sur deux mois consécutifs</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fr-FR">
                <a:solidFill>
                  <a:srgbClr val="526B63"/>
                </a:solidFill>
                <a:latin typeface="Arial"/>
                <a:ea typeface="Arial"/>
                <a:cs typeface="Arial"/>
              </a:rPr>
              <a:t>Un pack de démarrage adapté ou une combinaison de produits selon les conditions actuelles.</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Cadre du marché croate. Vérifiez prix et disponibilité dans la boutique officielle.</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09</a:t>
            </a:r>
          </a:p>
        </p:txBody>
      </p:sp>
      <p:sp>
        <p:nvSpPr>
          <p:cNvPr id="3" name="Titre">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Réduction, marge et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30 % après la qualification initiale</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Réduction sur les commandes suivantes dans le cadre du marché croate.</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Marge commerciale</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Dépend des prix réels de vente et d’achat.</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Calculé sur les ventes reconnues, sous les conditions prévues.</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Le revenu net dépend aussi des frais, retours et impôts.</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10</a:t>
            </a:r>
          </a:p>
        </p:txBody>
      </p:sp>
      <p:sp>
        <p:nvSpPr>
          <p:cNvPr id="3" name="Titre">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Les sources de revenu</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Vente au détail et en ligne</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Marge liée aux achats réels de produits.</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Bonus personnel et Preferred Customer</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Calcul selon le niveau de vente et les conditions.</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Volume 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Ventes qualifiées des niveaux inférieurs de l’organisation.</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Leadership 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Générations de Managers qualifiées et conditions du plan.</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11</a:t>
            </a:r>
          </a:p>
        </p:txBody>
      </p:sp>
      <p:sp>
        <p:nvSpPr>
          <p:cNvPr id="3" name="Titre">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Niveaux de vente</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fr-FR">
                          <a:solidFill>
                            <a:srgbClr val="FFFFFF"/>
                          </a:solidFill>
                          <a:latin typeface="Arial"/>
                          <a:ea typeface="Arial"/>
                          <a:cs typeface="Arial"/>
                        </a:rPr>
                        <a:t>Niveau</a:t>
                      </a:r>
                    </a:p>
                  </a:txBody>
                  <a:tcPr marL="91440" marR="91440" marT="45720" marB="45720">
                    <a:solidFill>
                      <a:srgbClr val="153F36"/>
                    </a:solidFill>
                  </a:tcPr>
                </a:tc>
                <a:tc>
                  <a:txBody>
                    <a:bodyPr lIns="152400" tIns="133350" rIns="152400" bIns="114300">
                      <a:noAutofit/>
                    </a:bodyPr>
                    <a:lstStyle/>
                    <a:p>
                      <a:r>
                        <a:rPr sz="2025" b="1" lang="fr-FR">
                          <a:solidFill>
                            <a:srgbClr val="FFFFFF"/>
                          </a:solidFill>
                          <a:latin typeface="Arial"/>
                          <a:ea typeface="Arial"/>
                          <a:cs typeface="Arial"/>
                        </a:rPr>
                        <a:t>Volume de qualification</a:t>
                      </a:r>
                    </a:p>
                  </a:txBody>
                  <a:tcPr marL="91440" marR="91440" marT="45720" marB="45720">
                    <a:solidFill>
                      <a:srgbClr val="153F36"/>
                    </a:solidFill>
                  </a:tcPr>
                </a:tc>
              </a:tr>
              <a:tr h="634365">
                <a:tc>
                  <a:txBody>
                    <a:bodyPr lIns="152400" tIns="133350" rIns="152400" bIns="114300">
                      <a:noAutofit/>
                    </a:bodyPr>
                    <a:lstStyle/>
                    <a:p>
                      <a:r>
                        <a:rPr sz="2025" b="0" lang="fr-FR">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2 CC sur deux mois consécutifs</a:t>
                      </a:r>
                    </a:p>
                  </a:txBody>
                  <a:tcPr marL="91440" marR="91440" marT="45720" marB="45720">
                    <a:solidFill>
                      <a:srgbClr val="FFFFFF"/>
                    </a:solidFill>
                  </a:tcPr>
                </a:tc>
              </a:tr>
              <a:tr h="634365">
                <a:tc>
                  <a:txBody>
                    <a:bodyPr lIns="152400" tIns="133350" rIns="152400" bIns="114300">
                      <a:noAutofit/>
                    </a:bodyPr>
                    <a:lstStyle/>
                    <a:p>
                      <a:r>
                        <a:rPr sz="2025" b="0" lang="fr-FR">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fr-FR">
                          <a:solidFill>
                            <a:srgbClr val="153F36"/>
                          </a:solidFill>
                          <a:latin typeface="Arial"/>
                          <a:ea typeface="Arial"/>
                          <a:cs typeface="Arial"/>
                        </a:rPr>
                        <a:t>10 CC, délai à vérifier localement</a:t>
                      </a:r>
                    </a:p>
                  </a:txBody>
                  <a:tcPr marL="91440" marR="91440" marT="45720" marB="45720">
                    <a:solidFill>
                      <a:srgbClr val="F3F7F2"/>
                    </a:solidFill>
                  </a:tcPr>
                </a:tc>
              </a:tr>
              <a:tr h="634365">
                <a:tc>
                  <a:txBody>
                    <a:bodyPr lIns="152400" tIns="133350" rIns="152400" bIns="114300">
                      <a:noAutofit/>
                    </a:bodyPr>
                    <a:lstStyle/>
                    <a:p>
                      <a:r>
                        <a:rPr sz="2025" b="0" lang="fr-FR">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60 CC sur deux mois consécutifs</a:t>
                      </a:r>
                    </a:p>
                  </a:txBody>
                  <a:tcPr marL="91440" marR="91440" marT="45720" marB="45720">
                    <a:solidFill>
                      <a:srgbClr val="FFFFFF"/>
                    </a:solidFill>
                  </a:tcPr>
                </a:tc>
              </a:tr>
              <a:tr h="634365">
                <a:tc>
                  <a:txBody>
                    <a:bodyPr lIns="152400" tIns="133350" rIns="152400" bIns="114300">
                      <a:noAutofit/>
                    </a:bodyPr>
                    <a:lstStyle/>
                    <a:p>
                      <a:r>
                        <a:rPr sz="2025" b="0" lang="fr-FR">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fr-FR">
                          <a:solidFill>
                            <a:srgbClr val="153F36"/>
                          </a:solidFill>
                          <a:latin typeface="Arial"/>
                          <a:ea typeface="Arial"/>
                          <a:cs typeface="Arial"/>
                        </a:rPr>
                        <a:t>120 CC en 1 ou 2 mois, ou 150 CC en 3 ou 4 mois</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Cadre croate. La progression suit le volume reconnu des ventes de produits.</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12</a:t>
            </a:r>
          </a:p>
        </p:txBody>
      </p:sp>
      <p:sp>
        <p:nvSpPr>
          <p:cNvPr id="3" name="Titre">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Niveau et activité mensuelle</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Niveau atteint</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fr-FR">
                <a:solidFill>
                  <a:srgbClr val="526B63"/>
                </a:solidFill>
                <a:latin typeface="Arial"/>
                <a:ea typeface="Arial"/>
                <a:cs typeface="Arial"/>
              </a:rPr>
              <a:t>Représente la qualification commerciale obtenue.</a:t>
            </a:r>
          </a:p>
          <a:p>
            <a:r>
              <a:t/>
            </a:r>
          </a:p>
          <a:p>
            <a:pPr>
              <a:defRPr sz="2175" b="0">
                <a:solidFill>
                  <a:srgbClr val="526B63"/>
                </a:solidFill>
                <a:latin typeface="Arial"/>
                <a:ea typeface="Arial"/>
                <a:cs typeface="Arial"/>
              </a:defRPr>
            </a:pPr>
            <a:r>
              <a:rPr sz="2175" b="0" lang="fr-FR">
                <a:solidFill>
                  <a:srgbClr val="526B63"/>
                </a:solidFill>
                <a:latin typeface="Arial"/>
                <a:ea typeface="Arial"/>
                <a:cs typeface="Arial"/>
              </a:rPr>
              <a:t>Certains versements restent soumis à des conditions mensuelles.</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Activité en Croatie</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fr-FR">
                <a:solidFill>
                  <a:srgbClr val="526B63"/>
                </a:solidFill>
                <a:latin typeface="Arial"/>
                <a:ea typeface="Arial"/>
                <a:cs typeface="Arial"/>
              </a:rPr>
              <a:t>4 CC par mois, dont au moins 1 CC acheté personnellement.</a:t>
            </a:r>
          </a:p>
          <a:p>
            <a:r>
              <a:t/>
            </a:r>
          </a:p>
          <a:p>
            <a:pPr>
              <a:defRPr sz="2175" b="0">
                <a:solidFill>
                  <a:srgbClr val="526B63"/>
                </a:solidFill>
                <a:latin typeface="Arial"/>
                <a:ea typeface="Arial"/>
                <a:cs typeface="Arial"/>
              </a:defRPr>
            </a:pPr>
            <a:r>
              <a:rPr sz="2175" b="0" lang="fr-FR">
                <a:solidFill>
                  <a:srgbClr val="526B63"/>
                </a:solidFill>
                <a:latin typeface="Arial"/>
                <a:ea typeface="Arial"/>
                <a:cs typeface="Arial"/>
              </a:rPr>
              <a:t>S’applique à certains bonus et qualifications.</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Étudiez les règles de votre marché et le plan avec votre sponsor ou manager.</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13</a:t>
            </a:r>
          </a:p>
        </p:txBody>
      </p:sp>
      <p:sp>
        <p:nvSpPr>
          <p:cNvPr id="3" name="Titre">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Possibilités de développement</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Avantage soumis à qualification et maintien des conditions.</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Développement des personnes, de l’organisation et des qualifications.</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Qualification annuelle selon les CC reconnus.</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Qualification avancée et parts d’un fonds de bonus.</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fr-FR">
                <a:solidFill>
                  <a:srgbClr val="D4E8DD"/>
                </a:solidFill>
                <a:latin typeface="Arial"/>
                <a:ea typeface="Arial"/>
                <a:cs typeface="Arial"/>
              </a:rPr>
              <a:t>14</a:t>
            </a:r>
          </a:p>
        </p:txBody>
      </p:sp>
      <p:sp>
        <p:nvSpPr>
          <p:cNvPr id="2" name="Titre">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fr-FR">
                <a:solidFill>
                  <a:srgbClr val="FFFFFF"/>
                </a:solidFill>
                <a:latin typeface="Arial"/>
                <a:ea typeface="Arial"/>
                <a:cs typeface="Arial"/>
              </a:rPr>
              <a:t>Forever et FCC : leurs rôles</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fr-FR">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fr-FR">
                <a:solidFill>
                  <a:srgbClr val="D4E8DD"/>
                </a:solidFill>
                <a:latin typeface="Arial"/>
                <a:ea typeface="Arial"/>
                <a:cs typeface="Arial"/>
              </a:rPr>
              <a:t>Les produits, les achats officiels, la politique de vente et les calculs.</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fr-FR">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fr-FR">
                <a:solidFill>
                  <a:srgbClr val="D4E8DD"/>
                </a:solidFill>
                <a:latin typeface="Arial"/>
                <a:ea typeface="Arial"/>
                <a:cs typeface="Arial"/>
              </a:rPr>
              <a:t>Votre espace pour les recommandations, contacts, formations et soutien.</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fr-FR">
                <a:solidFill>
                  <a:srgbClr val="D4E8DD"/>
                </a:solidFill>
                <a:latin typeface="Arial"/>
                <a:ea typeface="Arial"/>
                <a:cs typeface="Arial"/>
              </a:rPr>
              <a:t>FCC est le système indépendant de notre équipe. Ce n’est pas une application officielle Forever.</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15</a:t>
            </a:r>
          </a:p>
        </p:txBody>
      </p:sp>
      <p:sp>
        <p:nvSpPr>
          <p:cNvPr id="3" name="Titre">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Votre carte numérique</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Contact personnel</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Votre nom, photo et un moyen de vous contacter.</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Contenus utiles</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Les produits et informations commerciales à partager.</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Forever Web shop</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Une recommandation liée à votre numéro Forever ID.</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Modifiez votre carte dans Ma carte et partagez votre lien personnel.</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16</a:t>
            </a:r>
          </a:p>
        </p:txBody>
      </p:sp>
      <p:sp>
        <p:nvSpPr>
          <p:cNvPr id="3" name="Titre">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Recommandation de produit</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fr-FR">
                <a:solidFill>
                  <a:srgbClr val="153F36"/>
                </a:solidFill>
                <a:latin typeface="Arial"/>
                <a:ea typeface="Arial"/>
                <a:cs typeface="Arial"/>
              </a:rPr>
              <a:t>Choisissez un produit.</a:t>
            </a:r>
          </a:p>
          <a:p>
            <a:pPr>
              <a:defRPr sz="3150" b="1">
                <a:solidFill>
                  <a:srgbClr val="153F36"/>
                </a:solidFill>
                <a:latin typeface="Arial"/>
                <a:ea typeface="Arial"/>
                <a:cs typeface="Arial"/>
              </a:defRPr>
            </a:pPr>
            <a:r>
              <a:rPr sz="3150" b="1" lang="fr-FR">
                <a:solidFill>
                  <a:srgbClr val="153F36"/>
                </a:solidFill>
                <a:latin typeface="Arial"/>
                <a:ea typeface="Arial"/>
                <a:cs typeface="Arial"/>
              </a:rPr>
              <a:t>Adaptez le message.</a:t>
            </a:r>
          </a:p>
          <a:p>
            <a:pPr>
              <a:defRPr sz="3150" b="1">
                <a:solidFill>
                  <a:srgbClr val="153F36"/>
                </a:solidFill>
                <a:latin typeface="Arial"/>
                <a:ea typeface="Arial"/>
                <a:cs typeface="Arial"/>
              </a:defRPr>
            </a:pPr>
            <a:r>
              <a:rPr sz="3150" b="1" lang="fr-FR">
                <a:solidFill>
                  <a:srgbClr val="153F36"/>
                </a:solidFill>
                <a:latin typeface="Arial"/>
                <a:ea typeface="Arial"/>
                <a:cs typeface="Arial"/>
              </a:rPr>
              <a:t>Partagez votre</a:t>
            </a:r>
          </a:p>
          <a:p>
            <a:pPr>
              <a:defRPr sz="3150" b="1">
                <a:solidFill>
                  <a:srgbClr val="153F36"/>
                </a:solidFill>
                <a:latin typeface="Arial"/>
                <a:ea typeface="Arial"/>
                <a:cs typeface="Arial"/>
              </a:defRPr>
            </a:pPr>
            <a:r>
              <a:rPr sz="3150" b="1" lang="fr-FR">
                <a:solidFill>
                  <a:srgbClr val="153F36"/>
                </a:solidFill>
                <a:latin typeface="Arial"/>
                <a:ea typeface="Arial"/>
                <a:cs typeface="Arial"/>
              </a:rPr>
              <a:t>recommandation.</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fr-FR">
                <a:solidFill>
                  <a:srgbClr val="526B63"/>
                </a:solidFill>
                <a:latin typeface="Arial"/>
                <a:ea typeface="Arial"/>
                <a:cs typeface="Arial"/>
              </a:rPr>
              <a:t>L’achat se termine dans la boutique officielle du marché choisi.</a:t>
            </a:r>
          </a:p>
        </p:txBody>
      </p:sp>
      <p:pic>
        <p:nvPicPr>
          <p:cNvPr id="6" name="">
            <a:extLst>
              <a:ext uri="{FF2B5EF4-FFF2-40B4-BE49-F238E27FC236}">
                <ns2:creationId id="{39976A63-FB8D-4AF1-9CE1-E346A83FF05D}"/>
              </a:ext>
            </a:extLst>
          </p:cNvPr>
          <p:cNvPicPr>
            <a:picLocks noChangeAspect="1"/>
          </p:cNvPicPr>
          <p:nvPr/>
        </p:nvPicPr>
        <p:blipFill>
          <a:blip r:embed="R94ff2c7901084e46"/>
          <a:srcRect l="19844" t="9722" r="55156" b="28472"/>
          <a:stretch/>
        </p:blipFill>
        <p:spPr>
          <a:xfrm>
            <a:off x="7286625" y="1695450"/>
            <a:ext cx="371475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fr-FR" dirty="0">
                <a:solidFill>
                  <a:srgbClr val="526B63"/>
                </a:solidFill>
                <a:latin typeface="Arial"/>
              </a:rPr>
              <a:t>Exemple de l’interface croate de FCC.</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17</a:t>
            </a:r>
          </a:p>
        </p:txBody>
      </p:sp>
      <p:sp>
        <p:nvSpPr>
          <p:cNvPr id="3" name="Titre">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Partenariat et pack de démarrage</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Informations commerciales</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aperçu des possibilités avant la décision.</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Pack de démarrage</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lien vers la procédure locale officielle.</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Votre recommandation</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Liée au Forever ID selon les règles du marché.</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Avant de décider, vérifiez ensemble le contenu du pack, le prix et les conditions.</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18</a:t>
            </a:r>
          </a:p>
        </p:txBody>
      </p:sp>
      <p:sp>
        <p:nvSpPr>
          <p:cNvPr id="3" name="Titre">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Contacts et prochains échanges</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fr-FR">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fr-FR">
                <a:solidFill>
                  <a:srgbClr val="153F36"/>
                </a:solidFill>
                <a:latin typeface="Arial"/>
                <a:ea typeface="Arial"/>
                <a:cs typeface="Arial"/>
              </a:rPr>
              <a:t>Notez la raison de l’intérêt</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produit, une activité ou un webinaire choisi.</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fr-FR">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fr-FR">
                <a:solidFill>
                  <a:srgbClr val="153F36"/>
                </a:solidFill>
                <a:latin typeface="Arial"/>
                <a:ea typeface="Arial"/>
                <a:cs typeface="Arial"/>
              </a:rPr>
              <a:t>Conservez l’accord</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Le sujet discuté et la date du prochain contact.</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fr-FR">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fr-FR">
                <a:solidFill>
                  <a:srgbClr val="153F36"/>
                </a:solidFill>
                <a:latin typeface="Arial"/>
                <a:ea typeface="Arial"/>
                <a:cs typeface="Arial"/>
              </a:rPr>
              <a:t>Confirmez l’action réelle</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brouillon et un message envoyé ont des statuts différents.</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Exemple : Ana veut des détails sur un produit. Un échange est prévu jeudi.</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19</a:t>
            </a:r>
          </a:p>
        </p:txBody>
      </p:sp>
      <p:sp>
        <p:nvSpPr>
          <p:cNvPr id="3" name="Titre">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AI Coach pour votre prochaine action</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fr-FR">
                <a:solidFill>
                  <a:srgbClr val="153F36"/>
                </a:solidFill>
                <a:latin typeface="Arial"/>
                <a:ea typeface="Arial"/>
                <a:cs typeface="Arial"/>
              </a:rPr>
              <a:t>« Ana veut en savoir plus sur le produit.</a:t>
            </a:r>
          </a:p>
          <a:p>
            <a:pPr>
              <a:defRPr sz="3150" b="1">
                <a:solidFill>
                  <a:srgbClr val="153F36"/>
                </a:solidFill>
                <a:latin typeface="Arial"/>
                <a:ea typeface="Arial"/>
                <a:cs typeface="Arial"/>
              </a:defRPr>
            </a:pPr>
            <a:r>
              <a:rPr sz="3150" b="1" lang="fr-FR">
                <a:solidFill>
                  <a:srgbClr val="153F36"/>
                </a:solidFill>
                <a:latin typeface="Arial"/>
                <a:ea typeface="Arial"/>
                <a:cs typeface="Arial"/>
              </a:rPr>
              <a:t>Merci de m’aider à écrire un court message</a:t>
            </a:r>
          </a:p>
          <a:p>
            <a:pPr>
              <a:defRPr sz="3150" b="1">
                <a:solidFill>
                  <a:srgbClr val="153F36"/>
                </a:solidFill>
                <a:latin typeface="Arial"/>
                <a:ea typeface="Arial"/>
                <a:cs typeface="Arial"/>
              </a:defRPr>
            </a:pPr>
            <a:r>
              <a:rPr sz="3150" b="1" lang="fr-FR">
                <a:solidFill>
                  <a:srgbClr val="153F36"/>
                </a:solidFill>
                <a:latin typeface="Arial"/>
                <a:ea typeface="Arial"/>
                <a:cs typeface="Arial"/>
              </a:rPr>
              <a:t>et à proposer le prochain échange. »</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fr-FR">
                <a:solidFill>
                  <a:srgbClr val="526B63"/>
                </a:solidFill>
                <a:latin typeface="Arial"/>
                <a:ea typeface="Arial"/>
                <a:cs typeface="Arial"/>
              </a:rPr>
              <a:t>Relisez le texte obtenu et utilisez votre propre façon de parler.</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Fonction PRO. Vous décidez quoi envoyer et confirmez l’envoi réel.</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20</a:t>
            </a:r>
          </a:p>
        </p:txBody>
      </p:sp>
      <p:sp>
        <p:nvSpPr>
          <p:cNvPr id="3" name="Titre">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Mon parcours : le travail quotidien guidé</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fr-FR">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fr-FR">
                <a:solidFill>
                  <a:srgbClr val="153F36"/>
                </a:solidFill>
                <a:latin typeface="Arial"/>
                <a:ea typeface="Arial"/>
                <a:cs typeface="Arial"/>
              </a:rPr>
              <a:t>Étapes pour apprendre par l’action</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fr-FR">
                <a:solidFill>
                  <a:srgbClr val="526B63"/>
                </a:solidFill>
                <a:latin typeface="Arial"/>
                <a:ea typeface="Arial"/>
                <a:cs typeface="Arial"/>
              </a:rPr>
              <a:t>La tâche du jour comprend une action précise, de l’aide et un critère de fin.</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4 Core : Recrutement, Fidélisation, Productivité et Développement. Accès selon les conditions du programme.</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21</a:t>
            </a:r>
          </a:p>
        </p:txBody>
      </p:sp>
      <p:sp>
        <p:nvSpPr>
          <p:cNvPr id="3" name="Titre">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Formation et mise en pratique</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Le sujet devient une conversation utile.</a:t>
            </a:r>
          </a:p>
        </p:txBody>
      </p:sp>
      <p:pic>
        <p:nvPicPr>
          <p:cNvPr id="5" name="">
            <a:extLst>
              <a:ext uri="{FF2B5EF4-FFF2-40B4-BE49-F238E27FC236}">
                <ns2:creationId id="{A42EF5A1-048A-40A7-8EB7-D73F3B145432}"/>
              </a:ext>
            </a:extLst>
          </p:cNvPr>
          <p:cNvPicPr>
            <a:picLocks noChangeAspect="1"/>
          </p:cNvPicPr>
          <p:nvPr/>
        </p:nvPicPr>
        <p:blipFill>
          <a:blip r:embed="Rc24afb3e1b784e7e"/>
          <a:srcRect l="21797" t="23750" r="4141" b="31389"/>
          <a:stretch/>
        </p:blipFill>
        <p:spPr>
          <a:xfrm>
            <a:off x="609600" y="2552700"/>
            <a:ext cx="10953750" cy="37338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fr-FR" dirty="0">
                <a:solidFill>
                  <a:srgbClr val="526B63"/>
                </a:solidFill>
                <a:latin typeface="Arial"/>
              </a:rPr>
              <a:t>Exemple de l’interface croate de FCC.</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22</a:t>
            </a:r>
          </a:p>
        </p:txBody>
      </p:sp>
      <p:sp>
        <p:nvSpPr>
          <p:cNvPr id="3" name="Titre">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Invitation au webinaire choisi</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Choisissez une date.</a:t>
            </a:r>
          </a:p>
          <a:p>
            <a:pPr>
              <a:defRPr sz="2625" b="1">
                <a:solidFill>
                  <a:srgbClr val="153F36"/>
                </a:solidFill>
                <a:latin typeface="Arial"/>
                <a:ea typeface="Arial"/>
                <a:cs typeface="Arial"/>
              </a:defRPr>
            </a:pPr>
            <a:r>
              <a:rPr sz="2625" b="1" lang="fr-FR">
                <a:solidFill>
                  <a:srgbClr val="153F36"/>
                </a:solidFill>
                <a:latin typeface="Arial"/>
                <a:ea typeface="Arial"/>
                <a:cs typeface="Arial"/>
              </a:rPr>
              <a:t>Ajoutez une raison</a:t>
            </a:r>
          </a:p>
          <a:p>
            <a:pPr>
              <a:defRPr sz="2625" b="1">
                <a:solidFill>
                  <a:srgbClr val="153F36"/>
                </a:solidFill>
                <a:latin typeface="Arial"/>
                <a:ea typeface="Arial"/>
                <a:cs typeface="Arial"/>
              </a:defRPr>
            </a:pPr>
            <a:r>
              <a:rPr sz="2625" b="1" lang="fr-FR">
                <a:solidFill>
                  <a:srgbClr val="153F36"/>
                </a:solidFill>
                <a:latin typeface="Arial"/>
                <a:ea typeface="Arial"/>
                <a:cs typeface="Arial"/>
              </a:rPr>
              <a:t>personnelle d’inviter.</a:t>
            </a:r>
          </a:p>
          <a:p>
            <a:pPr>
              <a:defRPr sz="2625" b="1">
                <a:solidFill>
                  <a:srgbClr val="153F36"/>
                </a:solidFill>
                <a:latin typeface="Arial"/>
                <a:ea typeface="Arial"/>
                <a:cs typeface="Arial"/>
              </a:defRPr>
            </a:pPr>
            <a:r>
              <a:rPr sz="2625" b="1" lang="fr-FR">
                <a:solidFill>
                  <a:srgbClr val="153F36"/>
                </a:solidFill>
                <a:latin typeface="Arial"/>
                <a:ea typeface="Arial"/>
                <a:cs typeface="Arial"/>
              </a:rPr>
              <a:t>Envoyez votre lien.</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fr-FR">
                <a:solidFill>
                  <a:srgbClr val="526B63"/>
                </a:solidFill>
                <a:latin typeface="Arial"/>
                <a:ea typeface="Arial"/>
                <a:cs typeface="Arial"/>
              </a:rPr>
              <a:t>Le visiteur s’inscrit à un événement précis via votre invitation.</a:t>
            </a:r>
          </a:p>
        </p:txBody>
      </p:sp>
      <p:pic>
        <p:nvPicPr>
          <p:cNvPr id="6" name="">
            <a:extLst>
              <a:ext uri="{FF2B5EF4-FFF2-40B4-BE49-F238E27FC236}">
                <ns2:creationId id="{3390DCC8-0B52-4314-8F10-D4E2C4601566}"/>
              </a:ext>
            </a:extLst>
          </p:cNvPr>
          <p:cNvPicPr>
            <a:picLocks noChangeAspect="1"/>
          </p:cNvPicPr>
          <p:nvPr/>
        </p:nvPicPr>
        <p:blipFill>
          <a:blip r:embed="R1e50648732a948d2"/>
          <a:srcRect l="56250" t="24028" r="4531" b="22222"/>
          <a:stretch/>
        </p:blipFill>
        <p:spPr>
          <a:xfrm>
            <a:off x="5667375" y="1924050"/>
            <a:ext cx="5524500" cy="4257675"/>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fr-FR" dirty="0">
                <a:solidFill>
                  <a:srgbClr val="526B63"/>
                </a:solidFill>
                <a:latin typeface="Arial"/>
              </a:rPr>
              <a:t>Exemple de l’interface croate de FCC.</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23</a:t>
            </a:r>
          </a:p>
        </p:txBody>
      </p:sp>
      <p:sp>
        <p:nvSpPr>
          <p:cNvPr id="3" name="Titre">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Marko est inscrit. Et ensuite ?</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Inscription à une date précise</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Le contact et l’inscription restent liés à l’invitant.</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Avant le webinaire</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Confirmation et rappels choisis aident le visiteur à participer.</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Après le webinaire</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Le partenaire confirme la présence et organise un échange.</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S’il n’a pas participé</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échange personnel et une invitation à une nouvelle date.</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24</a:t>
            </a:r>
          </a:p>
        </p:txBody>
      </p:sp>
      <p:sp>
        <p:nvSpPr>
          <p:cNvPr id="3" name="Titre">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Webinaires personnels et d’équipe</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fr-FR">
                <a:solidFill>
                  <a:srgbClr val="153F36"/>
                </a:solidFill>
                <a:latin typeface="Arial"/>
                <a:ea typeface="Arial"/>
                <a:cs typeface="Arial"/>
              </a:rPr>
              <a:t>Un événement unique ou régulier.</a:t>
            </a:r>
          </a:p>
          <a:p>
            <a:pPr>
              <a:defRPr sz="3150" b="1">
                <a:solidFill>
                  <a:srgbClr val="153F36"/>
                </a:solidFill>
                <a:latin typeface="Arial"/>
                <a:ea typeface="Arial"/>
                <a:cs typeface="Arial"/>
              </a:defRPr>
            </a:pPr>
            <a:r>
              <a:rPr sz="3150" b="1" lang="fr-FR">
                <a:solidFill>
                  <a:srgbClr val="153F36"/>
                </a:solidFill>
                <a:latin typeface="Arial"/>
                <a:ea typeface="Arial"/>
                <a:cs typeface="Arial"/>
              </a:rPr>
              <a:t>Dans la langue choisie.</a:t>
            </a:r>
          </a:p>
          <a:p>
            <a:pPr>
              <a:defRPr sz="3150" b="1">
                <a:solidFill>
                  <a:srgbClr val="153F36"/>
                </a:solidFill>
                <a:latin typeface="Arial"/>
                <a:ea typeface="Arial"/>
                <a:cs typeface="Arial"/>
              </a:defRPr>
            </a:pPr>
            <a:r>
              <a:rPr sz="3150" b="1" lang="fr-FR">
                <a:solidFill>
                  <a:srgbClr val="153F36"/>
                </a:solidFill>
                <a:latin typeface="Arial"/>
                <a:ea typeface="Arial"/>
                <a:cs typeface="Arial"/>
              </a:rPr>
              <a:t>Pour vos invitations ou votre équipe FCC.</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fr-FR">
                <a:solidFill>
                  <a:srgbClr val="526B63"/>
                </a:solidFill>
                <a:latin typeface="Arial"/>
                <a:ea typeface="Arial"/>
                <a:cs typeface="Arial"/>
              </a:rPr>
              <a:t>Chaque membre utilise son lien et conserve ses propres contacts.</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La création de vos webinaires est disponible dans PRO.</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25</a:t>
            </a:r>
          </a:p>
        </p:txBody>
      </p:sp>
      <p:sp>
        <p:nvSpPr>
          <p:cNvPr id="3" name="Titre">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Soutenir les partenaires dans Mon équipe</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Personnes et progression</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Repérez où un échange et du soutien peuvent aider.</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Contact personnel</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Préparez le message et confirmez son envoi réel.</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Prochain accord</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rappel pour échanger et poursuivre le soutien.</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Fonction PRO. Les chiffres aident la conversation sans la remplacer.</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fr-FR">
                <a:solidFill>
                  <a:srgbClr val="D4E8DD"/>
                </a:solidFill>
                <a:latin typeface="Arial"/>
                <a:ea typeface="Arial"/>
                <a:cs typeface="Arial"/>
              </a:rPr>
              <a:t>26</a:t>
            </a:r>
          </a:p>
        </p:txBody>
      </p:sp>
      <p:sp>
        <p:nvSpPr>
          <p:cNvPr id="2" name="Titre">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fr-FR">
                <a:solidFill>
                  <a:srgbClr val="FFFFFF"/>
                </a:solidFill>
                <a:latin typeface="Arial"/>
                <a:ea typeface="Arial"/>
                <a:cs typeface="Arial"/>
              </a:rPr>
              <a:t>Un exemple du quotidien</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fr-FR">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fr-FR">
                <a:solidFill>
                  <a:srgbClr val="FFFFFF"/>
                </a:solidFill>
                <a:latin typeface="Arial"/>
                <a:ea typeface="Arial"/>
                <a:cs typeface="Arial"/>
              </a:rPr>
              <a:t>L’étape du jour</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fr-FR">
                <a:solidFill>
                  <a:srgbClr val="D4E8DD"/>
                </a:solidFill>
                <a:latin typeface="Arial"/>
                <a:ea typeface="Arial"/>
                <a:cs typeface="Arial"/>
              </a:rPr>
              <a:t>J’ouvre la tâche et comprends quoi faire.</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fr-FR">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fr-FR">
                <a:solidFill>
                  <a:srgbClr val="FFFFFF"/>
                </a:solidFill>
                <a:latin typeface="Arial"/>
                <a:ea typeface="Arial"/>
                <a:cs typeface="Arial"/>
              </a:rPr>
              <a:t>Ana et son intérêt</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fr-FR">
                <a:solidFill>
                  <a:srgbClr val="D4E8DD"/>
                </a:solidFill>
                <a:latin typeface="Arial"/>
                <a:ea typeface="Arial"/>
                <a:cs typeface="Arial"/>
              </a:rPr>
              <a:t>Je prépare un message utile selon notre échange.</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fr-FR">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fr-FR">
                <a:solidFill>
                  <a:srgbClr val="FFFFFF"/>
                </a:solidFill>
                <a:latin typeface="Arial"/>
                <a:ea typeface="Arial"/>
                <a:cs typeface="Arial"/>
              </a:rPr>
              <a:t>Ma recommandation</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fr-FR">
                <a:solidFill>
                  <a:srgbClr val="D4E8DD"/>
                </a:solidFill>
                <a:latin typeface="Arial"/>
                <a:ea typeface="Arial"/>
                <a:cs typeface="Arial"/>
              </a:rPr>
              <a:t>Je partage un produit ou une invitation pour la date choisie.</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fr-FR">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fr-FR">
                <a:solidFill>
                  <a:srgbClr val="FFFFFF"/>
                </a:solidFill>
                <a:latin typeface="Arial"/>
                <a:ea typeface="Arial"/>
                <a:cs typeface="Arial"/>
              </a:rPr>
              <a:t>Prochain accord</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fr-FR">
                <a:solidFill>
                  <a:srgbClr val="D4E8DD"/>
                </a:solidFill>
                <a:latin typeface="Arial"/>
                <a:ea typeface="Arial"/>
                <a:cs typeface="Arial"/>
              </a:rPr>
              <a:t>Je note l’action et la prochaine date de contact.</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27</a:t>
            </a:r>
          </a:p>
        </p:txBody>
      </p:sp>
      <p:sp>
        <p:nvSpPr>
          <p:cNvPr id="3" name="Titre">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La semaine autour de votre webinaire</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Avant la date</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Invitez les personnes concernées et suivez les inscriptions.</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Le jour du webinaire</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Vérifiez l’accord avec les invités et le lien d’accès.</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Après la rencontre</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Discutez de leur intérêt et convenez de la suite.</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Entre les rencontres, travaillez avec les clients et continuez Mon parcours.</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28</a:t>
            </a:r>
          </a:p>
        </p:txBody>
      </p:sp>
      <p:sp>
        <p:nvSpPr>
          <p:cNvPr id="3" name="Titre">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Exemple de première semaine</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Découverte</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Le compte, la carte et un échange avec le sponsor.</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Une recommandation utile</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produit choisi et un message personnel naturel.</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Une invitation</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Choix d’un webinaire actuel et préparation de l’invitation.</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Un bref bilan</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Ce qui est fait, ce qui reste flou et la suite.</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29</a:t>
            </a:r>
          </a:p>
        </p:txBody>
      </p:sp>
      <p:sp>
        <p:nvSpPr>
          <p:cNvPr id="3" name="Titre">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Free et PRO : choisir selon ses besoins</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Free</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fr-FR">
                <a:solidFill>
                  <a:srgbClr val="526B63"/>
                </a:solidFill>
                <a:latin typeface="Arial"/>
                <a:ea typeface="Arial"/>
                <a:cs typeface="Arial"/>
              </a:rPr>
              <a:t>Carte personnelle et partage de recommandations.</a:t>
            </a:r>
          </a:p>
          <a:p>
            <a:r>
              <a:t/>
            </a:r>
          </a:p>
          <a:p>
            <a:pPr>
              <a:defRPr sz="2175" b="0">
                <a:solidFill>
                  <a:srgbClr val="526B63"/>
                </a:solidFill>
                <a:latin typeface="Arial"/>
                <a:ea typeface="Arial"/>
                <a:cs typeface="Arial"/>
              </a:defRPr>
            </a:pPr>
            <a:r>
              <a:rPr sz="2175" b="0" lang="fr-FR">
                <a:solidFill>
                  <a:srgbClr val="526B63"/>
                </a:solidFill>
                <a:latin typeface="Arial"/>
                <a:ea typeface="Arial"/>
                <a:cs typeface="Arial"/>
              </a:rPr>
              <a:t>Contacts, échanges convenus et tâches personnelles.</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fr-FR">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fr-FR">
                <a:solidFill>
                  <a:srgbClr val="526B63"/>
                </a:solidFill>
                <a:latin typeface="Arial"/>
                <a:ea typeface="Arial"/>
                <a:cs typeface="Arial"/>
              </a:rPr>
              <a:t>Coach personnel et vue de l’équipe.</a:t>
            </a:r>
          </a:p>
          <a:p>
            <a:r>
              <a:t/>
            </a:r>
          </a:p>
          <a:p>
            <a:pPr>
              <a:defRPr sz="2175" b="0">
                <a:solidFill>
                  <a:srgbClr val="526B63"/>
                </a:solidFill>
                <a:latin typeface="Arial"/>
                <a:ea typeface="Arial"/>
                <a:cs typeface="Arial"/>
              </a:defRPr>
            </a:pPr>
            <a:r>
              <a:rPr sz="2175" b="0" lang="fr-FR">
                <a:solidFill>
                  <a:srgbClr val="526B63"/>
                </a:solidFill>
                <a:latin typeface="Arial"/>
                <a:ea typeface="Arial"/>
                <a:cs typeface="Arial"/>
              </a:rPr>
              <a:t>Vos webinaires, invitations vidéo et outils supplémentaires.</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PRO est payant. Les fonctions et prix actuels sont affichés dans FCC.</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30</a:t>
            </a:r>
          </a:p>
        </p:txBody>
      </p:sp>
      <p:sp>
        <p:nvSpPr>
          <p:cNvPr id="3" name="Titre">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Questions pour un échange personnel</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Quel départ me convient ?</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Utiliser les produits ou devenir partenaire.</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Combien de temps consacrer ?</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Un accord sur un rythme réaliste et les étapes disponibles.</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Quels frais vérifier ?</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Les produits, l’activité et éventuellement FCC PRO.</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fr-FR">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fr-FR">
                <a:solidFill>
                  <a:srgbClr val="153F36"/>
                </a:solidFill>
                <a:latin typeface="Arial"/>
                <a:ea typeface="Arial"/>
                <a:cs typeface="Arial"/>
              </a:rPr>
              <a:t>Où trouver de l’aide ?</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Sponsor, équipe, formation et soutien FCC.</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31</a:t>
            </a:r>
          </a:p>
        </p:txBody>
      </p:sp>
      <p:sp>
        <p:nvSpPr>
          <p:cNvPr id="3" name="Titre">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La suite après le webinaire</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fr-FR">
                <a:solidFill>
                  <a:srgbClr val="153F36"/>
                </a:solidFill>
                <a:latin typeface="Arial"/>
                <a:ea typeface="Arial"/>
                <a:cs typeface="Arial"/>
              </a:rPr>
              <a:t>Un échange avec la personne</a:t>
            </a:r>
          </a:p>
          <a:p>
            <a:pPr>
              <a:defRPr sz="4425" b="1">
                <a:solidFill>
                  <a:srgbClr val="153F36"/>
                </a:solidFill>
                <a:latin typeface="Arial"/>
                <a:ea typeface="Arial"/>
                <a:cs typeface="Arial"/>
              </a:defRPr>
            </a:pPr>
            <a:r>
              <a:rPr sz="4425" b="1" lang="fr-FR">
                <a:solidFill>
                  <a:srgbClr val="153F36"/>
                </a:solidFill>
                <a:latin typeface="Arial"/>
                <a:ea typeface="Arial"/>
                <a:cs typeface="Arial"/>
              </a:rPr>
              <a:t>qui vous a invité</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fr-FR">
                <a:solidFill>
                  <a:srgbClr val="526B63"/>
                </a:solidFill>
                <a:latin typeface="Arial"/>
                <a:ea typeface="Arial"/>
                <a:cs typeface="Arial"/>
              </a:rPr>
              <a:t>Dites ce qui vous intéresse, ce qui mérite des précisions et le temps que vous souhaitez consacrer.</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Convenez d’une action précise et d’une date pour poursuivre l’échange.</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fr-FR">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fr-FR">
                <a:solidFill>
                  <a:srgbClr val="FFFFFF"/>
                </a:solidFill>
                <a:latin typeface="Arial"/>
                <a:ea typeface="Arial"/>
                <a:cs typeface="Arial"/>
              </a:rPr>
              <a:t>Votre départ</a:t>
            </a:r>
          </a:p>
          <a:p>
            <a:pPr>
              <a:defRPr sz="5100" b="1">
                <a:solidFill>
                  <a:srgbClr val="FFFFFF"/>
                </a:solidFill>
                <a:latin typeface="Arial"/>
                <a:ea typeface="Arial"/>
                <a:cs typeface="Arial"/>
              </a:defRPr>
            </a:pPr>
            <a:r>
              <a:rPr sz="5100" b="1" lang="fr-FR">
                <a:solidFill>
                  <a:srgbClr val="FFFFFF"/>
                </a:solidFill>
                <a:latin typeface="Arial"/>
                <a:ea typeface="Arial"/>
                <a:cs typeface="Arial"/>
              </a:rPr>
              <a:t>peut être simple</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fr-FR">
                <a:solidFill>
                  <a:srgbClr val="D4E8DD"/>
                </a:solidFill>
                <a:latin typeface="Arial"/>
                <a:ea typeface="Arial"/>
                <a:cs typeface="Arial"/>
              </a:rPr>
              <a:t>Une conversation.</a:t>
            </a:r>
          </a:p>
          <a:p>
            <a:pPr>
              <a:defRPr sz="2925" b="0">
                <a:solidFill>
                  <a:srgbClr val="D4E8DD"/>
                </a:solidFill>
                <a:latin typeface="Arial"/>
                <a:ea typeface="Arial"/>
                <a:cs typeface="Arial"/>
              </a:defRPr>
            </a:pPr>
            <a:r>
              <a:rPr sz="2925" b="0" lang="fr-FR">
                <a:solidFill>
                  <a:srgbClr val="D4E8DD"/>
                </a:solidFill>
                <a:latin typeface="Arial"/>
                <a:ea typeface="Arial"/>
                <a:cs typeface="Arial"/>
              </a:rPr>
              <a:t>Une décision claire.</a:t>
            </a:r>
          </a:p>
          <a:p>
            <a:pPr>
              <a:defRPr sz="2925" b="0">
                <a:solidFill>
                  <a:srgbClr val="D4E8DD"/>
                </a:solidFill>
                <a:latin typeface="Arial"/>
                <a:ea typeface="Arial"/>
                <a:cs typeface="Arial"/>
              </a:defRPr>
            </a:pPr>
            <a:r>
              <a:rPr sz="2925" b="0" lang="fr-FR">
                <a:solidFill>
                  <a:srgbClr val="D4E8DD"/>
                </a:solidFill>
                <a:latin typeface="Arial"/>
                <a:ea typeface="Arial"/>
                <a:cs typeface="Arial"/>
              </a:rPr>
              <a:t>Une prochaine étape convenue.</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33</a:t>
            </a:r>
          </a:p>
        </p:txBody>
      </p:sp>
      <p:sp>
        <p:nvSpPr>
          <p:cNvPr id="3" name="Titre">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Annexe : bonus personnels</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fr-FR">
                          <a:solidFill>
                            <a:srgbClr val="FFFFFF"/>
                          </a:solidFill>
                          <a:latin typeface="Arial"/>
                          <a:ea typeface="Arial"/>
                          <a:cs typeface="Arial"/>
                        </a:rPr>
                        <a:t>Niveau</a:t>
                      </a:r>
                    </a:p>
                  </a:txBody>
                  <a:tcPr marL="91440" marR="91440" marT="45720" marB="45720">
                    <a:solidFill>
                      <a:srgbClr val="153F36"/>
                    </a:solidFill>
                  </a:tcPr>
                </a:tc>
                <a:tc>
                  <a:txBody>
                    <a:bodyPr lIns="152400" tIns="133350" rIns="152400" bIns="114300">
                      <a:noAutofit/>
                    </a:bodyPr>
                    <a:lstStyle/>
                    <a:p>
                      <a:r>
                        <a:rPr sz="2100" b="1" lang="fr-FR">
                          <a:solidFill>
                            <a:srgbClr val="FFFFFF"/>
                          </a:solidFill>
                          <a:latin typeface="Arial"/>
                          <a:ea typeface="Arial"/>
                          <a:cs typeface="Arial"/>
                        </a:rPr>
                        <a:t>Bonus personnel selon conditions</a:t>
                      </a:r>
                    </a:p>
                  </a:txBody>
                  <a:tcPr marL="91440" marR="91440" marT="45720" marB="45720">
                    <a:solidFill>
                      <a:srgbClr val="153F36"/>
                    </a:solidFill>
                  </a:tcPr>
                </a:tc>
              </a:tr>
              <a:tr h="626745">
                <a:tc>
                  <a:txBody>
                    <a:bodyPr lIns="152400" tIns="133350" rIns="152400" bIns="114300">
                      <a:noAutofit/>
                    </a:bodyPr>
                    <a:lstStyle/>
                    <a:p>
                      <a:r>
                        <a:rPr sz="2100" b="0" lang="fr-FR">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fr-FR">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fr-FR">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fr-FR">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fr-FR">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fr-FR">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fr-FR">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fr-FR">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Volume bonus : 3 % à 13 %. Leadership : 6 %, 3 %, 2 %, avec conditions supplémentaires.</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34</a:t>
            </a:r>
          </a:p>
        </p:txBody>
      </p:sp>
      <p:sp>
        <p:nvSpPr>
          <p:cNvPr id="3" name="Titre">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Annexe :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fr-FR">
                          <a:solidFill>
                            <a:srgbClr val="FFFFFF"/>
                          </a:solidFill>
                          <a:latin typeface="Arial"/>
                          <a:ea typeface="Arial"/>
                          <a:cs typeface="Arial"/>
                        </a:rPr>
                        <a:t>Niveau</a:t>
                      </a:r>
                    </a:p>
                  </a:txBody>
                  <a:tcPr marL="91440" marR="91440" marT="45720" marB="45720">
                    <a:solidFill>
                      <a:srgbClr val="153F36"/>
                    </a:solidFill>
                  </a:tcPr>
                </a:tc>
                <a:tc>
                  <a:txBody>
                    <a:bodyPr lIns="152400" tIns="133350" rIns="152400" bIns="114300">
                      <a:noAutofit/>
                    </a:bodyPr>
                    <a:lstStyle/>
                    <a:p>
                      <a:r>
                        <a:rPr sz="2025" b="1" lang="fr-FR">
                          <a:solidFill>
                            <a:srgbClr val="FFFFFF"/>
                          </a:solidFill>
                          <a:latin typeface="Arial"/>
                          <a:ea typeface="Arial"/>
                          <a:cs typeface="Arial"/>
                        </a:rPr>
                        <a:t>1er mois</a:t>
                      </a:r>
                    </a:p>
                  </a:txBody>
                  <a:tcPr marL="91440" marR="91440" marT="45720" marB="45720">
                    <a:solidFill>
                      <a:srgbClr val="153F36"/>
                    </a:solidFill>
                  </a:tcPr>
                </a:tc>
                <a:tc>
                  <a:txBody>
                    <a:bodyPr lIns="152400" tIns="133350" rIns="152400" bIns="114300">
                      <a:noAutofit/>
                    </a:bodyPr>
                    <a:lstStyle/>
                    <a:p>
                      <a:r>
                        <a:rPr sz="2025" b="1" lang="fr-FR">
                          <a:solidFill>
                            <a:srgbClr val="FFFFFF"/>
                          </a:solidFill>
                          <a:latin typeface="Arial"/>
                          <a:ea typeface="Arial"/>
                          <a:cs typeface="Arial"/>
                        </a:rPr>
                        <a:t>2e mois</a:t>
                      </a:r>
                    </a:p>
                  </a:txBody>
                  <a:tcPr marL="91440" marR="91440" marT="45720" marB="45720">
                    <a:solidFill>
                      <a:srgbClr val="153F36"/>
                    </a:solidFill>
                  </a:tcPr>
                </a:tc>
                <a:tc>
                  <a:txBody>
                    <a:bodyPr lIns="152400" tIns="133350" rIns="152400" bIns="114300">
                      <a:noAutofit/>
                    </a:bodyPr>
                    <a:lstStyle/>
                    <a:p>
                      <a:r>
                        <a:rPr sz="2025" b="1" lang="fr-FR">
                          <a:solidFill>
                            <a:srgbClr val="FFFFFF"/>
                          </a:solidFill>
                          <a:latin typeface="Arial"/>
                          <a:ea typeface="Arial"/>
                          <a:cs typeface="Arial"/>
                        </a:rPr>
                        <a:t>3e mois</a:t>
                      </a:r>
                    </a:p>
                  </a:txBody>
                  <a:tcPr marL="91440" marR="91440" marT="45720" marB="45720">
                    <a:solidFill>
                      <a:srgbClr val="153F36"/>
                    </a:solidFill>
                  </a:tcPr>
                </a:tc>
                <a:tc>
                  <a:txBody>
                    <a:bodyPr lIns="152400" tIns="133350" rIns="152400" bIns="114300">
                      <a:noAutofit/>
                    </a:bodyPr>
                    <a:lstStyle/>
                    <a:p>
                      <a:r>
                        <a:rPr sz="2025" b="1" lang="fr-FR">
                          <a:solidFill>
                            <a:srgbClr val="FFFFFF"/>
                          </a:solidFill>
                          <a:latin typeface="Arial"/>
                          <a:ea typeface="Arial"/>
                          <a:cs typeface="Arial"/>
                        </a:rPr>
                        <a:t>Maximum mensuel</a:t>
                      </a:r>
                    </a:p>
                  </a:txBody>
                  <a:tcPr marL="91440" marR="91440" marT="45720" marB="45720">
                    <a:solidFill>
                      <a:srgbClr val="153F36"/>
                    </a:solidFill>
                  </a:tcPr>
                </a:tc>
              </a:tr>
              <a:tr h="661988">
                <a:tc>
                  <a:txBody>
                    <a:bodyPr lIns="152400" tIns="133350" rIns="152400" bIns="114300">
                      <a:noAutofit/>
                    </a:bodyPr>
                    <a:lstStyle/>
                    <a:p>
                      <a:r>
                        <a:rPr sz="2025" b="0" lang="fr-FR">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fr-FR">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fr-FR">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fr-FR">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fr-FR">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fr-FR">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fr-FR">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fr-FR">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fr-FR">
                <a:solidFill>
                  <a:srgbClr val="153F36"/>
                </a:solidFill>
                <a:latin typeface="Arial"/>
                <a:ea typeface="Arial"/>
                <a:cs typeface="Arial"/>
              </a:rPr>
              <a:t>Qualification et maintien des conditions. Avantage jusqu’à 36 mois.</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35</a:t>
            </a:r>
          </a:p>
        </p:txBody>
      </p:sp>
      <p:sp>
        <p:nvSpPr>
          <p:cNvPr id="3" name="Titre">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Annexe : qualifications annuelles</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fr-FR">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fr-FR">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720 CC totaux, 100 nouveaux CC et 3 nouvelles lignées Supervisor.</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fr-FR">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fr-FR">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À partir de 1 500 CC totaux, dont au moins 50 nouveaux CC.</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fr-FR">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fr-FR">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Lignées qualifiées développées et autres conditions du programme.</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Seuils résumés. Délais, maintien et autres conditions figurent dans la politique locale.</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fr-FR">
                <a:solidFill>
                  <a:srgbClr val="526B63"/>
                </a:solidFill>
                <a:latin typeface="Arial"/>
                <a:ea typeface="Arial"/>
                <a:cs typeface="Arial"/>
              </a:rPr>
              <a:t>36</a:t>
            </a:r>
          </a:p>
        </p:txBody>
      </p:sp>
      <p:sp>
        <p:nvSpPr>
          <p:cNvPr id="3" name="Titre">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fr-FR">
                <a:solidFill>
                  <a:srgbClr val="153F36"/>
                </a:solidFill>
                <a:latin typeface="Arial"/>
                <a:ea typeface="Arial"/>
                <a:cs typeface="Arial"/>
              </a:rPr>
              <a:t>Annexe : versements et revenu réel</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Bonus du mois précédent</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Selon la politique croate, le 15 du mois suivant.</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Marge en ligne</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Global Pay après le 10, le 20 et le dernier jour du mois.</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fr-FR">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fr-FR">
                <a:solidFill>
                  <a:srgbClr val="153F36"/>
                </a:solidFill>
                <a:latin typeface="Arial"/>
                <a:ea typeface="Arial"/>
                <a:cs typeface="Arial"/>
              </a:rPr>
              <a:t>Revenu réel</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fr-FR">
                <a:solidFill>
                  <a:srgbClr val="526B63"/>
                </a:solidFill>
                <a:latin typeface="Arial"/>
                <a:ea typeface="Arial"/>
                <a:cs typeface="Arial"/>
              </a:rPr>
              <a:t>Ventes reconnues, avec frais, retours et obligations fiscales.</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fr-FR">
                <a:solidFill>
                  <a:srgbClr val="526B63"/>
                </a:solidFill>
                <a:latin typeface="Arial"/>
                <a:ea typeface="Arial"/>
                <a:cs typeface="Arial"/>
              </a:rPr>
              <a:t>Le résultat dépend de la personne, du marché et des ventes réelles. FCC ne garantit pas de gains.</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