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Introducere, aproximativ 1 minut. Prezintă ce va înțelege persoana: produsele, modelul de afaceri și activitatea concretă de zi cu zi. Adaptează durata prezentării la public. Această prezentare prezintă cadrul de afaceri din Croația și funcționalitățile FCC disponibile la data de 4 octombrie 2026.</a:t>
            </a:r>
          </a:p>
          <a:p>
            <a:r>
              <a:t/>
            </a:r>
          </a:p>
          <a:p>
            <a:r>
              <a:t>Surse: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Prezintă-te personal, aproximativ 1 minut. Vorbește doar despre propria experiență, pe care o poți verifica. Partea comună de după această introducere este folosită de întreaga echipă.</a:t>
            </a:r>
          </a:p>
          <a:p>
            <a:r>
              <a:t/>
            </a:r>
          </a:p>
          <a:p>
            <a:r>
              <a:t>Surse:</a:t>
            </a:r>
          </a:p>
          <a:p>
            <a:r>
              <a:t>Materialul original al utilizatorului, fotografii introductive.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Prezintă un exemplu practic: o persoană alege un produs sau un webinar, discută cu un contact și notează următorul pas convenit. Nu promite rezultate sau venituri.</a:t>
            </a:r>
          </a:p>
          <a:p>
            <a:r>
              <a:t/>
            </a:r>
          </a:p>
          <a:p>
            <a:r>
              <a:t>Surse: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Forever a fost înființată în 1978. Numărul piețelor diferă pe site-urile regionale oficiale, de aceea aici nu este afișată o cifră unică. FCC este un sistem separat și independent al echipei.</a:t>
            </a:r>
          </a:p>
          <a:p>
            <a:r>
              <a:t/>
            </a:r>
          </a:p>
          <a:p>
            <a:r>
              <a:t>Surse:</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Discuția începe cu o nevoie reală, cu obiceiurile și bugetul persoanei. Arată produsul, eticheta locală și instrucțiunile. Nu inventa efecte asupra sănătății. Fotografia ilustrează oferta, nu este o listă de prețuri locală actualizată.</a:t>
            </a:r>
          </a:p>
          <a:p>
            <a:r>
              <a:t/>
            </a:r>
          </a:p>
          <a:p>
            <a:r>
              <a:t>Surse:</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Fotografiile din prezentarea furnizată ilustrează producția și distribuția. Vorbește despre responsabilitățile companiei, nu promite efecte asupra sănătății.</a:t>
            </a:r>
          </a:p>
          <a:p>
            <a:r>
              <a:t/>
            </a:r>
          </a:p>
          <a:p>
            <a:r>
              <a:t>Surse:</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Ambele opțiuni sunt potrivite. Direcția de business necesită o decizie separată și presupune condiții locale. Accesul la FCC este asociat unui cont FCC și beneficiilor disponibile, nefiind același lucru cu un cont de business Forever.</a:t>
            </a:r>
          </a:p>
          <a:p>
            <a:r>
              <a:t/>
            </a:r>
          </a:p>
          <a:p>
            <a:r>
              <a:t>Surse:</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Politica de business din Croația, ediția în vigoare de la 1 iulie 2026. CC sunt puncte de calcul pentru produse. După acumularea a 2 CC în două luni consecutive, se acordă o reducere de 30% la comenzile ulterioare și există posibilitatea unei opțiuni de business separate. Verifică prețul, conținutul pachetului și momentul aplicării reducerii în magazinul local oficial. Nu recomanda cumpărarea de produse doar pentru a acumula puncte, dacă nu există o nevoie reală.</a:t>
            </a:r>
          </a:p>
          <a:p>
            <a:r>
              <a:t/>
            </a:r>
          </a:p>
          <a:p>
            <a:r>
              <a:t>Surse:</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2 minute. În Croația, reducerea de 30% după calificare nu este același lucru cu un bonus personal sau cu venitul net. Până la 48% din prețul ajustat conform SRP este un termen din politică, nu un comision garantat pentru fiecare comandă. Bazele de calcul și aplicarea depind de tipul vânzării și de politică.</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2 minute. Aceasta este o explicație a surselor potențiale de venit, nu o estimare a câștigurilor. Verifică ratele și bazele de calcul în politica locală. Înregistrarea în sine nu generează venituri. Ratele detaliate sunt incluse în anexă.</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Politica din Croația 4.01. Pentru Supervisor este necesar un prag de 10 CC care nu provin de la Manageri, dar termenul este contradictoriu între 4.01(b) și 4.01(g) din aceeași politică, de aceea nu este menționat aici. Explică faptul că CC reprezintă volumul de vânzări, nu numărul de persoane înregistrate. Nivelul nu garantează un bonus lunar.</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Conform politicii din Croația, un FBO activ are 4 CC, dintre care cel puțin 1 CC cumpărat personal. Nivelul atins și eligibilitatea pentru bonus sunt lucruri diferite. Acestea nu sunt reguli universale, valabile la nivel global. Nu cumpăra produse pentru calificare dacă nu există cerere. Valoarea CC agregată în FCC din FLP360 nu dovedește că un anumit client a plasat o comandă.</a:t>
            </a:r>
          </a:p>
          <a:p>
            <a:r>
              <a:t/>
            </a:r>
          </a:p>
          <a:p>
            <a:r>
              <a:t>Surse: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Programele de stimulente au cerințe suplimentare de calificare și menținere, precum și condiții locale. Nu le prezenta ca pe o mașină gratuită sau o călătorie garantată. Anexa conține un rezumat, iar politica include condițiile complete.</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Spune clar că FCC este independent. FCC nu produce și nu livrează produse Forever și nici nu plătește bonusuri Forever. Rolul său este să organizeze activitatea, instruirea, recomandările personale și asistența.</a:t>
            </a:r>
          </a:p>
          <a:p>
            <a:r>
              <a:t/>
            </a:r>
          </a:p>
          <a:p>
            <a:r>
              <a:t>Surse:</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Cardul reunește într-un singur loc datele de contact, conținutul și magazinul web Forever. Noul bloc principal folosește Forever ID din cont și resolverul existent. Vizitatorul poate verifica piața. Disponibilitatea produselor și condițiile de cumpărare țin de magazinul local Forever.</a:t>
            </a:r>
          </a:p>
          <a:p>
            <a:r>
              <a:t/>
            </a:r>
          </a:p>
          <a:p>
            <a:r>
              <a:t>Surse:</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Prezentare din versiunea live, înregistrată pe 4 octombrie 2026. Exemplul folosește Fiber Fusion. Deschiderea WhatsApp doar pregătește un mesaj, pe care utilizatorul îl verifică și îl trimite singur. Articolul și magazinul oficial sunt diferite. Nu apăsa pe trimitere în demonstrație dacă nu ai intenția reală de a trimite mesajul.</a:t>
            </a:r>
          </a:p>
          <a:p>
            <a:r>
              <a:t/>
            </a:r>
          </a:p>
          <a:p>
            <a:r>
              <a:t>Surse:</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Recomandarea pentru colaborarea în afaceri și Start Your Journey te ghidează prin resolverul existent către procesul oficial local Forever, cu recomandarea colaboratorului. Prețurile, disponibilitatea și condițiile locale diferă de la o țară la alta. Invitatul consultă și confirmă singur comanda și înregistrarea.</a:t>
            </a:r>
          </a:p>
          <a:p>
            <a:r>
              <a:t/>
            </a:r>
          </a:p>
          <a:p>
            <a:r>
              <a:t>Surse:</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Contactele și mementourile sunt disponibile în pachetul Free. Înscrierea la webinar poate fi asociată unui contact existent. Numele și exemplul de aici sunt fictive, nu reprezintă date personale ale unor membri reali. Un mesaj pregătit sau copiat nu a fost trimis, trimiterea se confirmă separat.</a:t>
            </a:r>
          </a:p>
          <a:p>
            <a:r>
              <a:t/>
            </a:r>
          </a:p>
          <a:p>
            <a:r>
              <a:t>Surse:</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PRO Coach personal te ajută cu un mesaj, o sarcină și o reflecție, folosind contextul cunoscut. Nu trimite mesaje în locul utilizatorului și nu confirmă rezultatul unei achiziții. Exemplul de întrebare este fictiv. Nu afișa conversații private reale în timpul unui webinar public.</a:t>
            </a:r>
          </a:p>
          <a:p>
            <a:r>
              <a:t/>
            </a:r>
          </a:p>
          <a:p>
            <a:r>
              <a:t>Surse:</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Programul actual include 90 de pași. Disponibilitatea depinde de condițiile contului și ale programului. Pasul neterminat rămâne activ până când îi confirmi finalizarea. Următoarea sarcină obișnuită apare după finalizarea celei de astăzi, conform regulilor programului.</a:t>
            </a:r>
          </a:p>
          <a:p>
            <a:r>
              <a:t/>
            </a:r>
          </a:p>
          <a:p>
            <a:r>
              <a:t>Surse:</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Instruirea include șase lecții video și subiecte legate de conversațiile cu sponsorul sau echipa ta. Arată un exemplu de întrebare și cum o folosești într-o conversație. Prezentare a sistemului FCC din 4 octombrie 2026.</a:t>
            </a:r>
          </a:p>
          <a:p>
            <a:r>
              <a:t/>
            </a:r>
          </a:p>
          <a:p>
            <a:r>
              <a:t>Surse:</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Prezentare din versiunea live, din 4 octombrie 2026. Ora din demonstrație este un exemplu, nu un program permanent. Fiecare colaborator folosește invitația personală. Videoclipul și introducerea personală depind de pachetul PRO. Deschiderea WhatsApp nu confirmă trimiterea mesajului. Poți personaliza invitația și o poți distribui singur.</a:t>
            </a:r>
          </a:p>
          <a:p>
            <a:r>
              <a:t/>
            </a:r>
          </a:p>
          <a:p>
            <a:r>
              <a:t>Surse:</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2 minute. Marko este un exemplu fictiv. Înscrierea este separată de participare, iar participarea la Zoom nu este confirmată automat. Invitatul primește o confirmare și mementourile disponibile, în funcție de consimțământ și de confirmarea adresei de e-mail. Înscrierea din nou pentru o altă oră înregistrează separat participarea și asociază aceeași persoană de contact recunoscută, cu verificare în cazul în care identitatea nu este clară.</a:t>
            </a:r>
          </a:p>
          <a:p>
            <a:r>
              <a:t/>
            </a:r>
          </a:p>
          <a:p>
            <a:r>
              <a:t>Surse:</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Organizatorul cu pachetul PRO alege o întâlnire unică sau săptămânală, limba și vizibilitatea, doar pentru invitații săi sau pentru întreaga echipă FCC confirmată. Membrii echipei sale pot invita folosind propriul link și își primesc propriile contacte. Organizatorul vede numărul total, nu CRM-ul privat al altor persoane. Limba evenimentului și limba contului sunt separate.</a:t>
            </a:r>
          </a:p>
          <a:p>
            <a:r>
              <a:t/>
            </a:r>
          </a:p>
          <a:p>
            <a:r>
              <a:t>Surse:</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PRO afișează structura FCC confirmată, datele CC agregate și progresul. O schimbare CC nu dovedește că un anumit contact a cumpărat un anumit produs. Contactarea personală include o ciornă, confirmarea trimiterii și un memento. Nu afișa membrii și datele lor private în timpul unei demonstrații publice.</a:t>
            </a:r>
          </a:p>
          <a:p>
            <a:r>
              <a:t/>
            </a:r>
          </a:p>
          <a:p>
            <a:r>
              <a:t>Surse:</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2 minute sau o demonstrație scurtă. Ana este un exemplu fictiv. Arată o sarcină și un mesaj pregătit, fără să îl trimiți efectiv. Apoi arată unde se notează înțelegerea. Nu deschide în fața publicului înregistrări private din CRM.</a:t>
            </a:r>
          </a:p>
          <a:p>
            <a:r>
              <a:t/>
            </a:r>
          </a:p>
          <a:p>
            <a:r>
              <a:t>Surse:</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Ritmul sugerat este un exemplu de organizare, nu o cerință oficială a programului. Ora se alege din programul actual. Nu presupune că toate echipele se întâlnesc miercuri sau duminică ori la aceeași oră.</a:t>
            </a:r>
          </a:p>
          <a:p>
            <a:r>
              <a:t/>
            </a:r>
          </a:p>
          <a:p>
            <a:r>
              <a:t>Surse:</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1,5 minute. Acesta este un exemplu de început alături de sponsor, nu înlocuiește criteriile concrete ale programului Drumul meu. Activarea contului și accesul la program au propriile condiții. Adaptează ritmul la timpul și cunoștințele persoanei.</a:t>
            </a:r>
          </a:p>
          <a:p>
            <a:r>
              <a:t/>
            </a:r>
          </a:p>
          <a:p>
            <a:r>
              <a:t>Surse:</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Beneficiile reale au fost verificate în versiunea live pe 4 octombrie 2026. Prețurile și limitele exacte se pot schimba, de aceea sunt afișate în FCC. Instruirea este disponibilă conform condițiilor programului existent. Abonamentul PRO nu reprezintă o calificare Forever și nu garantează venituri.</a:t>
            </a:r>
          </a:p>
          <a:p>
            <a:r>
              <a:t/>
            </a:r>
          </a:p>
          <a:p>
            <a:r>
              <a:t>Surse: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2 minute. Invită-i să pună întrebări concrete. Răspunde în funcție de situație și de regulile locale. Dacă nu știi răspunsul, notează întrebarea și verifică o sursă oficială sau contactează serviciul de asistență. Nu oferi estimări ale veniturilor.</a:t>
            </a:r>
          </a:p>
          <a:p>
            <a:r>
              <a:t/>
            </a:r>
          </a:p>
          <a:p>
            <a:r>
              <a:t>Surse:</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Aproximativ 1 minut. Stabilește o discuție cu persoana care a invitat participantul, cu sponsorul sau managerul, dacă este nevoie. Participantul nu trebuie să ia imediat o decizie de afaceri. Nu folosi un contact comun în locul persoanei care l-a invitat.</a:t>
            </a:r>
          </a:p>
          <a:p>
            <a:r>
              <a:t/>
            </a:r>
          </a:p>
          <a:p>
            <a:r>
              <a:t>Surse: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Încheierea părții principale. Răspunde la întrebări și reamintește-le de discuția individuală. Diapozitivele suplimentare sunt pentru întrebări detaliate despre planul de marketing și nu este nevoie să le parcurgi la fiecare webinar.</a:t>
            </a:r>
          </a:p>
          <a:p>
            <a:r>
              <a:t/>
            </a:r>
          </a:p>
          <a:p>
            <a:r>
              <a:t>Surse:</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La nevoie. Politica de afaceri din Croația condiționează bonusul personal de nivelul vânzărilor, activitate și baza de calcul prevăzută. Mențiunea privind un preț redus de până la 48% are un sens distinct în politică. Nu înseamnă un comision în bani garantat pentru fiecare comandă. Nu aduna reducerea de bază și bonusurile ca și cum ar reprezenta un venit net sigur.</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La nevoie. Politica din Croația, secțiunea 10. Programul este destinat Managerilor recunoscuți activi, cu condiții suplimentare și obligația de a le menține. Calificarea durează trei luni consecutive. Incentivul poate fi acordat timp de până la 36 de luni. Valorile maxime din politică sunt exprimate în USD. Pentru planul tău, verifică modul local de calcul și condițiile de plată în euro.</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La nevoie. Acestea sunt pragurile de bază, iar regulile complete sunt stabilite de politica locală în vigoare. Eagle Manager include 720 CC în total, 100 CC noi, trei linii noi de Supervisor și condiții suplimentare. Global Rally include 1.500 CC în total și 50 CC noi. CC noi se referă la volumul vânzărilor noilor linii. Chairman’s Bonus are condiții avansate de calificare, iar valoarea plății nu este fixă.</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La nevoie. Politica din Croația precizează că bonusurile se plătesc pe data de 15 a lunii următoare. Câștigurile online sunt transferate în Global Pay după data de 10, 20 și ultima zi a lunii. Calcularea plății și virarea banilor în contul bancar pot avea termene diferite. Veniturile, taxele și înregistrarea unei afaceri depind de circumstanțele reale. Pentru întrebări personale, adresează-te unui consilier calificat și serviciului oficial de asistență.</a:t>
            </a:r>
          </a:p>
          <a:p>
            <a:r>
              <a:t/>
            </a:r>
          </a:p>
          <a:p>
            <a:r>
              <a:t>Surse:</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ro-RO">
                <a:solidFill>
                  <a:srgbClr val="153F36"/>
                </a:solidFill>
                <a:latin typeface="Arial"/>
                <a:ea typeface="Arial"/>
                <a:cs typeface="Arial"/>
              </a:rPr>
              <a:t>Forever și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250" b="1" lang="ro-RO">
                <a:solidFill>
                  <a:srgbClr val="153F36"/>
                </a:solidFill>
                <a:latin typeface="Arial"/>
                <a:ea typeface="Arial"/>
                <a:cs typeface="Arial"/>
              </a:rPr>
              <a:t>Șansă de afaceri</a:t>
            </a:r>
          </a:p>
          <a:p>
            <a:pPr>
              <a:defRPr sz="5250" b="1">
                <a:solidFill>
                  <a:srgbClr val="153F36"/>
                </a:solidFill>
                <a:latin typeface="Arial"/>
                <a:ea typeface="Arial"/>
                <a:cs typeface="Arial"/>
              </a:defRPr>
            </a:pPr>
            <a:r>
              <a:rPr sz="5250" b="1" lang="ro-RO">
                <a:solidFill>
                  <a:srgbClr val="153F36"/>
                </a:solidFill>
                <a:latin typeface="Arial"/>
                <a:ea typeface="Arial"/>
                <a:cs typeface="Arial"/>
              </a:rPr>
              <a:t>în practică</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Produse, colaborare și activitatea de zi cu zi, cu sprijin digital.</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02</a:t>
            </a:r>
          </a:p>
        </p:txBody>
      </p:sp>
      <p:sp>
        <p:nvSpPr>
          <p:cNvPr id="3" name="Naslov">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Gazdele tale</a:t>
            </a:r>
          </a:p>
        </p:txBody>
      </p:sp>
      <p:sp>
        <p:nvSpPr>
          <p:cNvPr id="4" name="Predavač, i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ro-RO">
                <a:solidFill>
                  <a:srgbClr val="153F36"/>
                </a:solidFill>
                <a:latin typeface="Arial"/>
                <a:ea typeface="Arial"/>
                <a:cs typeface="Arial"/>
              </a:rPr>
              <a:t>Stjepan și</a:t>
            </a:r>
          </a:p>
          <a:p>
            <a:pPr>
              <a:defRPr sz="3975" b="1">
                <a:solidFill>
                  <a:srgbClr val="153F36"/>
                </a:solidFill>
                <a:latin typeface="Arial"/>
                <a:ea typeface="Arial"/>
                <a:cs typeface="Arial"/>
              </a:defRPr>
            </a:pPr>
            <a:r>
              <a:rPr sz="3975" b="1" lang="ro-RO">
                <a:solidFill>
                  <a:srgbClr val="153F36"/>
                </a:solidFill>
                <a:latin typeface="Arial"/>
                <a:ea typeface="Arial"/>
                <a:cs typeface="Arial"/>
              </a:rPr>
              <a:t>Snježana Beloša</a:t>
            </a:r>
          </a:p>
        </p:txBody>
      </p:sp>
      <p:sp>
        <p:nvSpPr>
          <p:cNvPr id="5" name="Predavač, opis">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ro-RO">
                <a:solidFill>
                  <a:srgbClr val="526B63"/>
                </a:solidFill>
                <a:latin typeface="Arial"/>
                <a:ea typeface="Arial"/>
                <a:cs typeface="Arial"/>
              </a:rPr>
              <a:t>Creatorii Forever Card Club</a:t>
            </a:r>
          </a:p>
          <a:p>
            <a:pPr>
              <a:defRPr sz="2250" b="0">
                <a:solidFill>
                  <a:srgbClr val="526B63"/>
                </a:solidFill>
                <a:latin typeface="Arial"/>
                <a:ea typeface="Arial"/>
                <a:cs typeface="Arial"/>
              </a:defRPr>
            </a:pPr>
            <a:r>
              <a:rPr sz="2250" b="0" lang="ro-RO">
                <a:solidFill>
                  <a:srgbClr val="526B63"/>
                </a:solidFill>
                <a:latin typeface="Arial"/>
                <a:ea typeface="Arial"/>
                <a:cs typeface="Arial"/>
              </a:rPr>
              <a:t>și mentorii echipei noastre.</a:t>
            </a:r>
          </a:p>
        </p:txBody>
      </p:sp>
      <p:sp>
        <p:nvSpPr>
          <p:cNvPr id="6" name="Predavač, osobna poruka">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ro-RO">
                <a:solidFill>
                  <a:srgbClr val="153F36"/>
                </a:solidFill>
                <a:latin typeface="Arial"/>
                <a:ea typeface="Arial"/>
                <a:cs typeface="Arial"/>
              </a:rPr>
              <a:t>Te ajutăm să înțelegi oportunitățile și să alegi un început fezabil.</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03</a:t>
            </a:r>
          </a:p>
        </p:txBody>
      </p:sp>
      <p:sp>
        <p:nvSpPr>
          <p:cNvPr id="3" name="Naslov">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Ce vei descoperi astăzi</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Produse, comenzi oficiale și reguli de business.</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Alegerea ta</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Utilizarea produselor sau dezvoltarea propriei afaceri.</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FCC în practică</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Recomandare personală, contacte, webinar și asistență.</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Prima săptămână</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Un început concret alături de persoana care te-a invitat.</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04</a:t>
            </a:r>
          </a:p>
        </p:txBody>
      </p:sp>
      <p:sp>
        <p:nvSpPr>
          <p:cNvPr id="3" name="Naslov">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ro-RO">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ro-RO">
                <a:solidFill>
                  <a:srgbClr val="153F36"/>
                </a:solidFill>
                <a:latin typeface="Arial"/>
                <a:ea typeface="Arial"/>
                <a:cs typeface="Arial"/>
              </a:rPr>
              <a:t>Anul înființării</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ro-RO">
                <a:solidFill>
                  <a:srgbClr val="526B63"/>
                </a:solidFill>
                <a:latin typeface="Arial"/>
                <a:ea typeface="Arial"/>
                <a:cs typeface="Arial"/>
              </a:rPr>
              <a:t>O companie globală cu produse, o rețea de vânzări și reguli oficiale de business.</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05</a:t>
            </a:r>
          </a:p>
        </p:txBody>
      </p:sp>
      <p:sp>
        <p:nvSpPr>
          <p:cNvPr id="3" name="Naslov">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Produse în viața de zi cu zi</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ro-RO">
                <a:solidFill>
                  <a:srgbClr val="153F36"/>
                </a:solidFill>
                <a:latin typeface="Arial"/>
                <a:ea typeface="Arial"/>
                <a:cs typeface="Arial"/>
              </a:rPr>
              <a:t>Îngrijire personală</a:t>
            </a:r>
          </a:p>
          <a:p>
            <a:pPr>
              <a:defRPr sz="2925" b="1">
                <a:solidFill>
                  <a:srgbClr val="153F36"/>
                </a:solidFill>
                <a:latin typeface="Arial"/>
                <a:ea typeface="Arial"/>
                <a:cs typeface="Arial"/>
              </a:defRPr>
            </a:pPr>
            <a:r>
              <a:rPr sz="2925" b="1" lang="ro-RO">
                <a:solidFill>
                  <a:srgbClr val="153F36"/>
                </a:solidFill>
                <a:latin typeface="Arial"/>
                <a:ea typeface="Arial"/>
                <a:cs typeface="Arial"/>
              </a:rPr>
              <a:t>Băuturi</a:t>
            </a:r>
          </a:p>
          <a:p>
            <a:pPr>
              <a:defRPr sz="2925" b="1">
                <a:solidFill>
                  <a:srgbClr val="153F36"/>
                </a:solidFill>
                <a:latin typeface="Arial"/>
                <a:ea typeface="Arial"/>
                <a:cs typeface="Arial"/>
              </a:defRPr>
            </a:pPr>
            <a:r>
              <a:rPr sz="2925" b="1" lang="ro-RO">
                <a:solidFill>
                  <a:srgbClr val="153F36"/>
                </a:solidFill>
                <a:latin typeface="Arial"/>
                <a:ea typeface="Arial"/>
                <a:cs typeface="Arial"/>
              </a:rPr>
              <a:t>Suplimente alimentare</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ro-RO">
                <a:solidFill>
                  <a:srgbClr val="526B63"/>
                </a:solidFill>
                <a:latin typeface="Arial"/>
                <a:ea typeface="Arial"/>
                <a:cs typeface="Arial"/>
              </a:rPr>
              <a:t>Recomandarea are sens atunci când produsul se potrivește persoanei și rutinei sale.</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06</a:t>
            </a:r>
          </a:p>
        </p:txBody>
      </p:sp>
      <p:sp>
        <p:nvSpPr>
          <p:cNvPr id="3" name="Naslov">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De la cultivare la comanda oficială</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Forever gestionează producția, comenzile și livrarea.</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Colaboratorul ajută persoana să aleagă un produs și să folosească un canal oficial de cumpărare.</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07</a:t>
            </a:r>
          </a:p>
        </p:txBody>
      </p:sp>
      <p:sp>
        <p:nvSpPr>
          <p:cNvPr id="3" name="Naslov">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Client sau colaborator de business</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Client al produselor</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Alege produse pentru uz personal.</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Verifică reducerea și condițiile de pe piața sa.</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Colaborator de business</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Învață să recomande produse și să lucreze cu clienții.</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Poate dezvolta o echipă conform planului oficial.</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Prima discuție ajută la alegerea direcției potrivite pentru persoană.</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08</a:t>
            </a:r>
          </a:p>
        </p:txBody>
      </p:sp>
      <p:sp>
        <p:nvSpPr>
          <p:cNvPr id="3" name="Naslov">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Calificare inițială: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ro-RO">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ro-RO">
                <a:solidFill>
                  <a:srgbClr val="153F36"/>
                </a:solidFill>
                <a:latin typeface="Arial"/>
                <a:ea typeface="Arial"/>
                <a:cs typeface="Arial"/>
              </a:rPr>
              <a:t>CC sunt puncte de calcul</a:t>
            </a:r>
          </a:p>
          <a:p>
            <a:pPr>
              <a:defRPr sz="2700" b="1">
                <a:solidFill>
                  <a:srgbClr val="153F36"/>
                </a:solidFill>
                <a:latin typeface="Arial"/>
                <a:ea typeface="Arial"/>
                <a:cs typeface="Arial"/>
              </a:defRPr>
            </a:pPr>
            <a:r>
              <a:rPr sz="2700" b="1" lang="ro-RO">
                <a:solidFill>
                  <a:srgbClr val="153F36"/>
                </a:solidFill>
                <a:latin typeface="Arial"/>
                <a:ea typeface="Arial"/>
                <a:cs typeface="Arial"/>
              </a:rPr>
              <a:t>pentru produse.</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În două luni consecutive</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ro-RO">
                <a:solidFill>
                  <a:srgbClr val="526B63"/>
                </a:solidFill>
                <a:latin typeface="Arial"/>
                <a:ea typeface="Arial"/>
                <a:cs typeface="Arial"/>
              </a:rPr>
              <a:t>Pachet inițial sau combinație de produse potrivite, conform condițiilor actuale.</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Cadrul pieței din Croația. Verifică prețurile și disponibilitatea în magazinul oficial.</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09</a:t>
            </a:r>
          </a:p>
        </p:txBody>
      </p:sp>
      <p:sp>
        <p:nvSpPr>
          <p:cNvPr id="3" name="Naslov">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Reducere, profit din vânzări și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30% după calificarea inițială</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Reducere la comenzile ulterioare în cadrul pieței din Croația.</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Profit din vânzări</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Depinde de prețul real de vânzare și de achiziție.</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Se calculează pentru vânzările recunoscute, cu respectarea condițiilor prevăzute.</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Venitul net depinde și de cheltuieli, retururi și taxe.</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10</a:t>
            </a:r>
          </a:p>
        </p:txBody>
      </p:sp>
      <p:sp>
        <p:nvSpPr>
          <p:cNvPr id="3" name="Naslov">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Modalități de a obține venituri</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Vânzări cu amănuntul și online</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Profit asociat cumpărării efective a produselor.</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Bonus personal și bonus Preferred Customer</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Calculat în funcție de nivelul de vânzări și de condiții.</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Bonus de volum</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Vânzări calificate ale nivelurilor inferioare din organizație.</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Bonus de leadership</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Generații Manager calificate și condițiile planului.</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11</a:t>
            </a:r>
          </a:p>
        </p:txBody>
      </p:sp>
      <p:sp>
        <p:nvSpPr>
          <p:cNvPr id="3" name="Naslov">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Niveluri de vânzări</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ro-RO">
                          <a:solidFill>
                            <a:srgbClr val="FFFFFF"/>
                          </a:solidFill>
                          <a:latin typeface="Arial"/>
                          <a:ea typeface="Arial"/>
                          <a:cs typeface="Arial"/>
                        </a:rPr>
                        <a:t>Nivel</a:t>
                      </a:r>
                    </a:p>
                  </a:txBody>
                  <a:tcPr marL="91440" marR="91440" marT="45720" marB="45720">
                    <a:solidFill>
                      <a:srgbClr val="153F36"/>
                    </a:solidFill>
                  </a:tcPr>
                </a:tc>
                <a:tc>
                  <a:txBody>
                    <a:bodyPr lIns="152400" tIns="133350" rIns="152400" bIns="114300">
                      <a:noAutofit/>
                    </a:bodyPr>
                    <a:lstStyle/>
                    <a:p>
                      <a:r>
                        <a:rPr sz="2025" b="1" lang="ro-RO">
                          <a:solidFill>
                            <a:srgbClr val="FFFFFF"/>
                          </a:solidFill>
                          <a:latin typeface="Arial"/>
                          <a:ea typeface="Arial"/>
                          <a:cs typeface="Arial"/>
                        </a:rPr>
                        <a:t>Volum de calificare</a:t>
                      </a:r>
                    </a:p>
                  </a:txBody>
                  <a:tcPr marL="91440" marR="91440" marT="45720" marB="45720">
                    <a:solidFill>
                      <a:srgbClr val="153F36"/>
                    </a:solidFill>
                  </a:tcPr>
                </a:tc>
              </a:tr>
              <a:tr h="634365">
                <a:tc>
                  <a:txBody>
                    <a:bodyPr lIns="152400" tIns="133350" rIns="152400" bIns="114300">
                      <a:noAutofit/>
                    </a:bodyPr>
                    <a:lstStyle/>
                    <a:p>
                      <a:r>
                        <a:rPr sz="2025" b="0" lang="ro-RO">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2 CC în două luni consecutive</a:t>
                      </a:r>
                    </a:p>
                  </a:txBody>
                  <a:tcPr marL="91440" marR="91440" marT="45720" marB="45720">
                    <a:solidFill>
                      <a:srgbClr val="FFFFFF"/>
                    </a:solidFill>
                  </a:tcPr>
                </a:tc>
              </a:tr>
              <a:tr h="634365">
                <a:tc>
                  <a:txBody>
                    <a:bodyPr lIns="152400" tIns="133350" rIns="152400" bIns="114300">
                      <a:noAutofit/>
                    </a:bodyPr>
                    <a:lstStyle/>
                    <a:p>
                      <a:r>
                        <a:rPr sz="2025" b="0" lang="ro-RO">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10 CC, verifică termenul la nivel local</a:t>
                      </a:r>
                    </a:p>
                  </a:txBody>
                  <a:tcPr marL="91440" marR="91440" marT="45720" marB="45720">
                    <a:solidFill>
                      <a:srgbClr val="F3F7F2"/>
                    </a:solidFill>
                  </a:tcPr>
                </a:tc>
              </a:tr>
              <a:tr h="634365">
                <a:tc>
                  <a:txBody>
                    <a:bodyPr lIns="152400" tIns="133350" rIns="152400" bIns="114300">
                      <a:noAutofit/>
                    </a:bodyPr>
                    <a:lstStyle/>
                    <a:p>
                      <a:r>
                        <a:rPr sz="2025" b="0" lang="ro-RO">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60 CC în două luni consecutive</a:t>
                      </a:r>
                    </a:p>
                  </a:txBody>
                  <a:tcPr marL="91440" marR="91440" marT="45720" marB="45720">
                    <a:solidFill>
                      <a:srgbClr val="FFFFFF"/>
                    </a:solidFill>
                  </a:tcPr>
                </a:tc>
              </a:tr>
              <a:tr h="634365">
                <a:tc>
                  <a:txBody>
                    <a:bodyPr lIns="152400" tIns="133350" rIns="152400" bIns="114300">
                      <a:noAutofit/>
                    </a:bodyPr>
                    <a:lstStyle/>
                    <a:p>
                      <a:r>
                        <a:rPr sz="2025" b="0" lang="ro-RO">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120 CC în 1 sau 2 luni, ori 150 CC în 3 sau 4 luni</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Cadrul din Croația. Avansarea se bazează pe volumul de produse recunoscut.</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12</a:t>
            </a:r>
          </a:p>
        </p:txBody>
      </p:sp>
      <p:sp>
        <p:nvSpPr>
          <p:cNvPr id="3" name="Naslov">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Nivel și activitate lunară</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Nivel atins</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Arată calificarea de vânzări obținută.</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Unele plăți sunt în continuare condiționate de activitatea lunară.</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Activitate în Croația</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4 CC într-o lună, dintre care cel puțin 1 CC cumpărat personal.</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Se aplică anumitor bonusuri și calificări.</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Parcurge regulile de pe piața ta și planul de vânzări împreună cu sponsorul sau managerul.</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13</a:t>
            </a:r>
          </a:p>
        </p:txBody>
      </p:sp>
      <p:sp>
        <p:nvSpPr>
          <p:cNvPr id="3" name="Naslov">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Posibilități de dezvoltare ulterioară</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Stimulent condiționat de calificare și de menținerea cerințelor.</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Dezvoltarea oamenilor, a organizației de vânzări și a calificărilor.</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Calificare anuală pe baza CC recunoscute.</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Calificări avansate și cote din fondul de bonusuri.</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ro-RO">
                <a:solidFill>
                  <a:srgbClr val="D4E8DD"/>
                </a:solidFill>
                <a:latin typeface="Arial"/>
                <a:ea typeface="Arial"/>
                <a:cs typeface="Arial"/>
              </a:rPr>
              <a:t>14</a:t>
            </a:r>
          </a:p>
        </p:txBody>
      </p:sp>
      <p:sp>
        <p:nvSpPr>
          <p:cNvPr id="2" name="Naslov">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ro-RO">
                <a:solidFill>
                  <a:srgbClr val="FFFFFF"/>
                </a:solidFill>
                <a:latin typeface="Arial"/>
                <a:ea typeface="Arial"/>
                <a:cs typeface="Arial"/>
              </a:rPr>
              <a:t>Forever și FCC: roluri distincte</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ro-RO">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ro-RO">
                <a:solidFill>
                  <a:srgbClr val="D4E8DD"/>
                </a:solidFill>
                <a:latin typeface="Arial"/>
                <a:ea typeface="Arial"/>
                <a:cs typeface="Arial"/>
              </a:rPr>
              <a:t>Produse, achiziții oficiale, politica de vânzări și calculul bonusurilor.</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ro-RO">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ro-RO">
                <a:solidFill>
                  <a:srgbClr val="D4E8DD"/>
                </a:solidFill>
                <a:latin typeface="Arial"/>
                <a:ea typeface="Arial"/>
                <a:cs typeface="Arial"/>
              </a:rPr>
              <a:t>Spațiul tău de lucru pentru recomandări, contacte, instruire și asistență.</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ro-RO">
                <a:solidFill>
                  <a:srgbClr val="D4E8DD"/>
                </a:solidFill>
                <a:latin typeface="Arial"/>
                <a:ea typeface="Arial"/>
                <a:cs typeface="Arial"/>
              </a:rPr>
              <a:t>FCC este un sistem independent al echipei noastre, nu o aplicație oficială Forever.</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15</a:t>
            </a:r>
          </a:p>
        </p:txBody>
      </p:sp>
      <p:sp>
        <p:nvSpPr>
          <p:cNvPr id="3" name="Naslov">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Cardul tău digital</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Contact personal</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Numele, fotografia și modalitatea prin care persoana te poate contacta.</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Conținut util</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Informații despre produse și business pe care vrei să le distribui.</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Magazinul web Forever</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Recomandare asociată numărului tău Forever ID.</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Editează-ți cardul în Cardul meu și distribuie-l prin linkul tău personal.</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16</a:t>
            </a:r>
          </a:p>
        </p:txBody>
      </p:sp>
      <p:sp>
        <p:nvSpPr>
          <p:cNvPr id="3" name="Naslov">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Recomandare de produs</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ro-RO">
                <a:solidFill>
                  <a:srgbClr val="153F36"/>
                </a:solidFill>
                <a:latin typeface="Arial"/>
                <a:ea typeface="Arial"/>
                <a:cs typeface="Arial"/>
              </a:rPr>
              <a:t>Alege un produs.</a:t>
            </a:r>
          </a:p>
          <a:p>
            <a:pPr>
              <a:defRPr sz="3150" b="1">
                <a:solidFill>
                  <a:srgbClr val="153F36"/>
                </a:solidFill>
                <a:latin typeface="Arial"/>
                <a:ea typeface="Arial"/>
                <a:cs typeface="Arial"/>
              </a:defRPr>
            </a:pPr>
            <a:r>
              <a:rPr sz="3150" b="1" lang="ro-RO">
                <a:solidFill>
                  <a:srgbClr val="153F36"/>
                </a:solidFill>
                <a:latin typeface="Arial"/>
                <a:ea typeface="Arial"/>
                <a:cs typeface="Arial"/>
              </a:rPr>
              <a:t>Personalizează mesajul.</a:t>
            </a:r>
          </a:p>
          <a:p>
            <a:pPr>
              <a:defRPr sz="3150" b="1">
                <a:solidFill>
                  <a:srgbClr val="153F36"/>
                </a:solidFill>
                <a:latin typeface="Arial"/>
                <a:ea typeface="Arial"/>
                <a:cs typeface="Arial"/>
              </a:defRPr>
            </a:pPr>
            <a:r>
              <a:rPr sz="3150" b="1" lang="ro-RO">
                <a:solidFill>
                  <a:srgbClr val="153F36"/>
                </a:solidFill>
                <a:latin typeface="Arial"/>
                <a:ea typeface="Arial"/>
                <a:cs typeface="Arial"/>
              </a:rPr>
              <a:t>Distribuie-ți</a:t>
            </a:r>
          </a:p>
          <a:p>
            <a:pPr>
              <a:defRPr sz="3150" b="1">
                <a:solidFill>
                  <a:srgbClr val="153F36"/>
                </a:solidFill>
                <a:latin typeface="Arial"/>
                <a:ea typeface="Arial"/>
                <a:cs typeface="Arial"/>
              </a:defRPr>
            </a:pPr>
            <a:r>
              <a:rPr sz="3150" b="1" lang="ro-RO">
                <a:solidFill>
                  <a:srgbClr val="153F36"/>
                </a:solidFill>
                <a:latin typeface="Arial"/>
                <a:ea typeface="Arial"/>
                <a:cs typeface="Arial"/>
              </a:rPr>
              <a:t>recomandarea.</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ro-RO">
                <a:solidFill>
                  <a:srgbClr val="526B63"/>
                </a:solidFill>
                <a:latin typeface="Arial"/>
                <a:ea typeface="Arial"/>
                <a:cs typeface="Arial"/>
              </a:rPr>
              <a:t>Achiziția se finalizează în magazinul oficial al pieței selectate.</a:t>
            </a:r>
          </a:p>
        </p:txBody>
      </p:sp>
      <p:pic>
        <p:nvPicPr>
          <p:cNvPr id="6" name="">
            <a:extLst>
              <a:ext uri="{FF2B5EF4-FFF2-40B4-BE49-F238E27FC236}">
                <ns2:creationId id="{39976A63-FB8D-4AF1-9CE1-E346A83FF05D}"/>
              </a:ext>
            </a:extLst>
          </p:cNvPr>
          <p:cNvPicPr>
            <a:picLocks noChangeAspect="1"/>
          </p:cNvPicPr>
          <p:nvPr/>
        </p:nvPicPr>
        <p:blipFill>
          <a:blip r:embed="R94ff2c7901084e46"/>
          <a:stretch/>
        </p:blipFill>
        <p:spPr>
          <a:xfrm>
            <a:off x="7296150" y="1695450"/>
            <a:ext cx="369570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ro-RO" dirty="0">
                <a:solidFill>
                  <a:srgbClr val="526B63"/>
                </a:solidFill>
                <a:latin typeface="Arial"/>
              </a:rPr>
              <a:t>Exemplu de interfață FCC în limba română.</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17</a:t>
            </a:r>
          </a:p>
        </p:txBody>
      </p:sp>
      <p:sp>
        <p:nvSpPr>
          <p:cNvPr id="3" name="Naslov">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Colaborare în afaceri și pachet de început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Conținut despre afacere</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Îi oferă persoanei o prezentare generală a posibilităților înainte de a lua o decizie.</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Pachet de început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Link către procesul oficial local.</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Recomandarea ta</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Asociată cu numărul Forever ID, conform regulilor pieței.</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Înainte de a lua o decizie, verifică împreună conținutul pachetului, prețul și condițiile de afaceri.</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18</a:t>
            </a:r>
          </a:p>
        </p:txBody>
      </p:sp>
      <p:sp>
        <p:nvSpPr>
          <p:cNvPr id="3" name="Naslov">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Contacte și reveniri convenite</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Notează motivul interesului</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Un produs, o oportunitate de afaceri sau webinarul ales.</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Păstrează detaliile înțelegerii</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Despre ce ați discutat și când vei reveni cu un mesaj.</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Confirmă acțiunea reală</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O ciornă și un mesaj trimis efectiv au stări diferite.</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Exemplu: Ana vrea detalii despre produs. Ați stabilit să discutați joi.</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19</a:t>
            </a:r>
          </a:p>
        </p:txBody>
      </p:sp>
      <p:sp>
        <p:nvSpPr>
          <p:cNvPr id="3" name="Naslov">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AI Coach pentru pasul tău concret</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ro-RO">
                <a:solidFill>
                  <a:srgbClr val="153F36"/>
                </a:solidFill>
                <a:latin typeface="Arial"/>
                <a:ea typeface="Arial"/>
                <a:cs typeface="Arial"/>
              </a:rPr>
              <a:t>„Ana vrea să afle mai multe despre produs.</a:t>
            </a:r>
          </a:p>
          <a:p>
            <a:pPr>
              <a:defRPr sz="3150" b="1">
                <a:solidFill>
                  <a:srgbClr val="153F36"/>
                </a:solidFill>
                <a:latin typeface="Arial"/>
                <a:ea typeface="Arial"/>
                <a:cs typeface="Arial"/>
              </a:defRPr>
            </a:pPr>
            <a:r>
              <a:rPr sz="3150" b="1" lang="ro-RO">
                <a:solidFill>
                  <a:srgbClr val="153F36"/>
                </a:solidFill>
                <a:latin typeface="Arial"/>
                <a:ea typeface="Arial"/>
                <a:cs typeface="Arial"/>
              </a:rPr>
              <a:t>Ajută-mă să scriu un mesaj scurt</a:t>
            </a:r>
          </a:p>
          <a:p>
            <a:pPr>
              <a:defRPr sz="3150" b="1">
                <a:solidFill>
                  <a:srgbClr val="153F36"/>
                </a:solidFill>
                <a:latin typeface="Arial"/>
                <a:ea typeface="Arial"/>
                <a:cs typeface="Arial"/>
              </a:defRPr>
            </a:pPr>
            <a:r>
              <a:rPr sz="3150" b="1" lang="ro-RO">
                <a:solidFill>
                  <a:srgbClr val="153F36"/>
                </a:solidFill>
                <a:latin typeface="Arial"/>
                <a:ea typeface="Arial"/>
                <a:cs typeface="Arial"/>
              </a:rPr>
              <a:t>și să propun următoarea discuție.”</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ro-RO">
                <a:solidFill>
                  <a:srgbClr val="526B63"/>
                </a:solidFill>
                <a:latin typeface="Arial"/>
                <a:ea typeface="Arial"/>
                <a:cs typeface="Arial"/>
              </a:rPr>
              <a:t>Verifici textul primit și îl adaptezi felului tău de a vorbi.</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Funcție PRO. Tu decizi ce trimiți și confirmi trimiterea efectivă.</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20</a:t>
            </a:r>
          </a:p>
        </p:txBody>
      </p:sp>
      <p:sp>
        <p:nvSpPr>
          <p:cNvPr id="3" name="Naslov">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Drumul meu: activități zilnice ghidate</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ro-RO">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ro-RO">
                <a:solidFill>
                  <a:srgbClr val="153F36"/>
                </a:solidFill>
                <a:latin typeface="Arial"/>
                <a:ea typeface="Arial"/>
                <a:cs typeface="Arial"/>
              </a:rPr>
              <a:t>Pași de învățare prin acțiuni reale</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ro-RO">
                <a:solidFill>
                  <a:srgbClr val="526B63"/>
                </a:solidFill>
                <a:latin typeface="Arial"/>
                <a:ea typeface="Arial"/>
                <a:cs typeface="Arial"/>
              </a:rPr>
              <a:t>Sarcina de astăzi include o acțiune concretă, ajutor și un criteriu de finalizare.</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4 Core: Recrutare, Fidelizare, Productivitate și Dezvoltare. Accesul depinde de condițiile programului.</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21</a:t>
            </a:r>
          </a:p>
        </p:txBody>
      </p:sp>
      <p:sp>
        <p:nvSpPr>
          <p:cNvPr id="3" name="Naslov">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Instruire legată de aplicarea practică</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Transformă imediat subiectul într-o conversație utilă.</a:t>
            </a:r>
          </a:p>
        </p:txBody>
      </p:sp>
      <p:pic>
        <p:nvPicPr>
          <p:cNvPr id="5" name="">
            <a:extLst>
              <a:ext uri="{FF2B5EF4-FFF2-40B4-BE49-F238E27FC236}">
                <ns2:creationId id="{A42EF5A1-048A-40A7-8EB7-D73F3B145432}"/>
              </a:ext>
            </a:extLst>
          </p:cNvPr>
          <p:cNvPicPr>
            <a:picLocks noChangeAspect="1"/>
          </p:cNvPicPr>
          <p:nvPr/>
        </p:nvPicPr>
        <p:blipFill>
          <a:blip r:embed="Rc24afb3e1b784e7e"/>
          <a:stretch/>
        </p:blipFill>
        <p:spPr>
          <a:xfrm>
            <a:off x="609600" y="2895600"/>
            <a:ext cx="10953750" cy="30480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ro-RO" dirty="0">
                <a:solidFill>
                  <a:srgbClr val="526B63"/>
                </a:solidFill>
                <a:latin typeface="Arial"/>
              </a:rPr>
              <a:t>Exemplu de interfață FCC în limba română.</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22</a:t>
            </a:r>
          </a:p>
        </p:txBody>
      </p:sp>
      <p:sp>
        <p:nvSpPr>
          <p:cNvPr id="3" name="Naslov">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Invitație la webinarul ales</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Alege o oră.</a:t>
            </a:r>
          </a:p>
          <a:p>
            <a:pPr>
              <a:defRPr sz="2625" b="1">
                <a:solidFill>
                  <a:srgbClr val="153F36"/>
                </a:solidFill>
                <a:latin typeface="Arial"/>
                <a:ea typeface="Arial"/>
                <a:cs typeface="Arial"/>
              </a:defRPr>
            </a:pPr>
            <a:r>
              <a:rPr sz="2625" b="1" lang="ro-RO">
                <a:solidFill>
                  <a:srgbClr val="153F36"/>
                </a:solidFill>
                <a:latin typeface="Arial"/>
                <a:ea typeface="Arial"/>
                <a:cs typeface="Arial"/>
              </a:rPr>
              <a:t>Adaugă un motiv personal</a:t>
            </a:r>
          </a:p>
          <a:p>
            <a:pPr>
              <a:defRPr sz="2625" b="1">
                <a:solidFill>
                  <a:srgbClr val="153F36"/>
                </a:solidFill>
                <a:latin typeface="Arial"/>
                <a:ea typeface="Arial"/>
                <a:cs typeface="Arial"/>
              </a:defRPr>
            </a:pPr>
            <a:r>
              <a:rPr sz="2625" b="1" lang="ro-RO">
                <a:solidFill>
                  <a:srgbClr val="153F36"/>
                </a:solidFill>
                <a:latin typeface="Arial"/>
                <a:ea typeface="Arial"/>
                <a:cs typeface="Arial"/>
              </a:rPr>
              <a:t>pentru invitație.</a:t>
            </a:r>
          </a:p>
          <a:p>
            <a:pPr>
              <a:defRPr sz="2625" b="1">
                <a:solidFill>
                  <a:srgbClr val="153F36"/>
                </a:solidFill>
                <a:latin typeface="Arial"/>
                <a:ea typeface="Arial"/>
                <a:cs typeface="Arial"/>
              </a:defRPr>
            </a:pPr>
            <a:r>
              <a:rPr sz="2625" b="1" lang="ro-RO">
                <a:solidFill>
                  <a:srgbClr val="153F36"/>
                </a:solidFill>
                <a:latin typeface="Arial"/>
                <a:ea typeface="Arial"/>
                <a:cs typeface="Arial"/>
              </a:rPr>
              <a:t>Trimite linkul tău.</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ro-RO">
                <a:solidFill>
                  <a:srgbClr val="526B63"/>
                </a:solidFill>
                <a:latin typeface="Arial"/>
                <a:ea typeface="Arial"/>
                <a:cs typeface="Arial"/>
              </a:rPr>
              <a:t>Invitatul se înscrie la o anumită întâlnire folosind invitația ta.</a:t>
            </a:r>
          </a:p>
        </p:txBody>
      </p:sp>
      <p:pic>
        <p:nvPicPr>
          <p:cNvPr id="6" name="">
            <a:extLst>
              <a:ext uri="{FF2B5EF4-FFF2-40B4-BE49-F238E27FC236}">
                <ns2:creationId id="{3390DCC8-0B52-4314-8F10-D4E2C4601566}"/>
              </a:ext>
            </a:extLst>
          </p:cNvPr>
          <p:cNvPicPr>
            <a:picLocks noChangeAspect="1"/>
          </p:cNvPicPr>
          <p:nvPr/>
        </p:nvPicPr>
        <p:blipFill>
          <a:blip r:embed="R1e50648732a948d2"/>
          <a:stretch/>
        </p:blipFill>
        <p:spPr>
          <a:xfrm>
            <a:off x="5667375" y="2343773"/>
            <a:ext cx="5524500" cy="3418229"/>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ro-RO" dirty="0">
                <a:solidFill>
                  <a:srgbClr val="526B63"/>
                </a:solidFill>
                <a:latin typeface="Arial"/>
              </a:rPr>
              <a:t>Exemplu de interfață FCC în limba română.</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23</a:t>
            </a:r>
          </a:p>
        </p:txBody>
      </p:sp>
      <p:sp>
        <p:nvSpPr>
          <p:cNvPr id="3" name="Naslov">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Marko s-a înscris. Ce urmează?</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Înscriere pentru o anumită oră</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Contactul și înscrierea rămân asociate persoanei care a trimis invitația.</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Înainte de webinar</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Confirmarea și mementourile selectate îl ajută pe invitat să participe.</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După webinar</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Colaboratorul confirmă participarea și stabilește o discuție.</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Dacă nu a participat</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Discuție personală și o nouă invitație pentru o altă oră.</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24</a:t>
            </a:r>
          </a:p>
        </p:txBody>
      </p:sp>
      <p:sp>
        <p:nvSpPr>
          <p:cNvPr id="3" name="Naslov">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Webinarii personale și de echipă</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ro-RO">
                <a:solidFill>
                  <a:srgbClr val="153F36"/>
                </a:solidFill>
                <a:latin typeface="Arial"/>
                <a:ea typeface="Arial"/>
                <a:cs typeface="Arial"/>
              </a:rPr>
              <a:t>O singură întâlnire sau întâlniri regulate.</a:t>
            </a:r>
          </a:p>
          <a:p>
            <a:pPr>
              <a:defRPr sz="3150" b="1">
                <a:solidFill>
                  <a:srgbClr val="153F36"/>
                </a:solidFill>
                <a:latin typeface="Arial"/>
                <a:ea typeface="Arial"/>
                <a:cs typeface="Arial"/>
              </a:defRPr>
            </a:pPr>
            <a:r>
              <a:rPr sz="3150" b="1" lang="ro-RO">
                <a:solidFill>
                  <a:srgbClr val="153F36"/>
                </a:solidFill>
                <a:latin typeface="Arial"/>
                <a:ea typeface="Arial"/>
                <a:cs typeface="Arial"/>
              </a:rPr>
              <a:t>În limba aleasă.</a:t>
            </a:r>
          </a:p>
          <a:p>
            <a:pPr>
              <a:defRPr sz="3150" b="1">
                <a:solidFill>
                  <a:srgbClr val="153F36"/>
                </a:solidFill>
                <a:latin typeface="Arial"/>
                <a:ea typeface="Arial"/>
                <a:cs typeface="Arial"/>
              </a:defRPr>
            </a:pPr>
            <a:r>
              <a:rPr sz="3150" b="1" lang="ro-RO">
                <a:solidFill>
                  <a:srgbClr val="153F36"/>
                </a:solidFill>
                <a:latin typeface="Arial"/>
                <a:ea typeface="Arial"/>
                <a:cs typeface="Arial"/>
              </a:rPr>
              <a:t>Pentru invitațiile tale sau echipa ta FCC.</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ro-RO">
                <a:solidFill>
                  <a:srgbClr val="526B63"/>
                </a:solidFill>
                <a:latin typeface="Arial"/>
                <a:ea typeface="Arial"/>
                <a:cs typeface="Arial"/>
              </a:rPr>
              <a:t>Fiecare membru invită folosind propriul link și își păstrează contactele proprii.</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Crearea propriilor webinarii este disponibilă în pachetul PRO.</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25</a:t>
            </a:r>
          </a:p>
        </p:txBody>
      </p:sp>
      <p:sp>
        <p:nvSpPr>
          <p:cNvPr id="3" name="Naslov">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Sprijin pentru colaboratori în Echipa mea</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Prezentare generală a oamenilor și a progresului</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Îți este mai ușor să vezi unde o conversație și sprijinul sunt utile.</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Contactare personală</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Pregătirea mesajului și confirmarea trimiterii lui efective.</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Următorul pas convenit</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Memento pentru discuție și continuarea sprijinului.</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Funcție PRO. Datele numerice ajută conversația, dar nu o înlocuiesc.</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ro-RO">
                <a:solidFill>
                  <a:srgbClr val="D4E8DD"/>
                </a:solidFill>
                <a:latin typeface="Arial"/>
                <a:ea typeface="Arial"/>
                <a:cs typeface="Arial"/>
              </a:rPr>
              <a:t>26</a:t>
            </a:r>
          </a:p>
        </p:txBody>
      </p:sp>
      <p:sp>
        <p:nvSpPr>
          <p:cNvPr id="2" name="Naslov">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ro-RO">
                <a:solidFill>
                  <a:srgbClr val="FFFFFF"/>
                </a:solidFill>
                <a:latin typeface="Arial"/>
                <a:ea typeface="Arial"/>
                <a:cs typeface="Arial"/>
              </a:rPr>
              <a:t>Un exemplu dintr-o zi obișnuită</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ro-RO">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ro-RO">
                <a:solidFill>
                  <a:srgbClr val="FFFFFF"/>
                </a:solidFill>
                <a:latin typeface="Arial"/>
                <a:ea typeface="Arial"/>
                <a:cs typeface="Arial"/>
              </a:rPr>
              <a:t>Pasul de azi</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ro-RO">
                <a:solidFill>
                  <a:srgbClr val="D4E8DD"/>
                </a:solidFill>
                <a:latin typeface="Arial"/>
                <a:ea typeface="Arial"/>
                <a:cs typeface="Arial"/>
              </a:rPr>
              <a:t>Deschid sarcina și înțeleg ce trebuie să fac.</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ro-RO">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ro-RO">
                <a:solidFill>
                  <a:srgbClr val="FFFFFF"/>
                </a:solidFill>
                <a:latin typeface="Arial"/>
                <a:ea typeface="Arial"/>
                <a:cs typeface="Arial"/>
              </a:rPr>
              <a:t>Ana și interesul ei</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ro-RO">
                <a:solidFill>
                  <a:srgbClr val="D4E8DD"/>
                </a:solidFill>
                <a:latin typeface="Arial"/>
                <a:ea typeface="Arial"/>
                <a:cs typeface="Arial"/>
              </a:rPr>
              <a:t>Pregătesc un mesaj util, în funcție de conversație.</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ro-RO">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ro-RO">
                <a:solidFill>
                  <a:srgbClr val="FFFFFF"/>
                </a:solidFill>
                <a:latin typeface="Arial"/>
                <a:ea typeface="Arial"/>
                <a:cs typeface="Arial"/>
              </a:rPr>
              <a:t>Recomandarea mea</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ro-RO">
                <a:solidFill>
                  <a:srgbClr val="D4E8DD"/>
                </a:solidFill>
                <a:latin typeface="Arial"/>
                <a:ea typeface="Arial"/>
                <a:cs typeface="Arial"/>
              </a:rPr>
              <a:t>Distribui informații despre produs sau o invitație pentru ora aleasă.</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ro-RO">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ro-RO">
                <a:solidFill>
                  <a:srgbClr val="FFFFFF"/>
                </a:solidFill>
                <a:latin typeface="Arial"/>
                <a:ea typeface="Arial"/>
                <a:cs typeface="Arial"/>
              </a:rPr>
              <a:t>Următorul pas convenit</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ro-RO">
                <a:solidFill>
                  <a:srgbClr val="D4E8DD"/>
                </a:solidFill>
                <a:latin typeface="Arial"/>
                <a:ea typeface="Arial"/>
                <a:cs typeface="Arial"/>
              </a:rPr>
              <a:t>Notez acțiunea și data la care voi reveni cu un mesaj.</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27</a:t>
            </a:r>
          </a:p>
        </p:txBody>
      </p:sp>
      <p:sp>
        <p:nvSpPr>
          <p:cNvPr id="3" name="Naslov">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Săptămâna din jurul webinarului tău</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Înainte de întâlnire</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Invită persoanele interesate de subiect și urmărește înscrierile.</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În ziua webinarului</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Verifică detaliile stabilite cu invitații și linkul de acces.</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După întâlnire</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Discută despre interes și stabiliți următorul pas.</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Între întâlniri, lucrezi cu clienții și continui pașii disponibili din programul Drumul meu.</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28</a:t>
            </a:r>
          </a:p>
        </p:txBody>
      </p:sp>
      <p:sp>
        <p:nvSpPr>
          <p:cNvPr id="3" name="Naslov">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Exemplu pentru prima săptămână</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Cunoaștere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Contul, cardul și discuția cu sponsorul.</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O recomandare utilă</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Alegerea unui produs și un mesaj personal, firesc.</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O invitație</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Alegerea unui webinar disponibil și pregătirea invitației.</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O scurtă reflecție</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Ce ai făcut, ce nu este clar și care este următorul pas.</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29</a:t>
            </a:r>
          </a:p>
        </p:txBody>
      </p:sp>
      <p:sp>
        <p:nvSpPr>
          <p:cNvPr id="3" name="Naslov">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Free și PRO: alege în funcție de nevoi</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Gratuit</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Card personal și distribuirea unei recomandări.</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Contacte, reveniri convenite și sarcini personale.</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ro-RO">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ro-RO">
                <a:solidFill>
                  <a:srgbClr val="526B63"/>
                </a:solidFill>
                <a:latin typeface="Arial"/>
                <a:ea typeface="Arial"/>
                <a:cs typeface="Arial"/>
              </a:rPr>
              <a:t>Coach personal și prezentare generală a echipei.</a:t>
            </a:r>
          </a:p>
          <a:p>
            <a:r>
              <a:t/>
            </a:r>
          </a:p>
          <a:p>
            <a:pPr>
              <a:defRPr sz="2175" b="0">
                <a:solidFill>
                  <a:srgbClr val="526B63"/>
                </a:solidFill>
                <a:latin typeface="Arial"/>
                <a:ea typeface="Arial"/>
                <a:cs typeface="Arial"/>
              </a:defRPr>
            </a:pPr>
            <a:r>
              <a:rPr sz="2175" b="0" lang="ro-RO">
                <a:solidFill>
                  <a:srgbClr val="526B63"/>
                </a:solidFill>
                <a:latin typeface="Arial"/>
                <a:ea typeface="Arial"/>
                <a:cs typeface="Arial"/>
              </a:rPr>
              <a:t>Webinarii proprii, invitații video și instrumente suplimentare.</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PRO este un pachet plătit. Beneficiile și prețurile actuale sunt afișate în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30</a:t>
            </a:r>
          </a:p>
        </p:txBody>
      </p:sp>
      <p:sp>
        <p:nvSpPr>
          <p:cNvPr id="3" name="Naslov">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Întrebări pentru o discuție personală</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Ce început mi se potrivește?</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Utilizarea produselor sau colaborarea în afaceri.</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Cât timp pot aloca?</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Stabilirea unui ritm realist și a pașilor pe care îi poți face.</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Ce costuri ar trebui să verific?</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Produsele, activitatea și eventualul pachet FCC PRO.</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ro-RO">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ro-RO">
                <a:solidFill>
                  <a:srgbClr val="153F36"/>
                </a:solidFill>
                <a:latin typeface="Arial"/>
                <a:ea typeface="Arial"/>
                <a:cs typeface="Arial"/>
              </a:rPr>
              <a:t>Unde primesc ajutor?</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Sponsorul, echipa, instruirea și asistența FCC.</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31</a:t>
            </a:r>
          </a:p>
        </p:txBody>
      </p:sp>
      <p:sp>
        <p:nvSpPr>
          <p:cNvPr id="3" name="Naslov">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Următorul pas după webinar</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ro-RO">
                <a:solidFill>
                  <a:srgbClr val="153F36"/>
                </a:solidFill>
                <a:latin typeface="Arial"/>
                <a:ea typeface="Arial"/>
                <a:cs typeface="Arial"/>
              </a:rPr>
              <a:t>O discuție cu persoana</a:t>
            </a:r>
          </a:p>
          <a:p>
            <a:pPr>
              <a:defRPr sz="4425" b="1">
                <a:solidFill>
                  <a:srgbClr val="153F36"/>
                </a:solidFill>
                <a:latin typeface="Arial"/>
                <a:ea typeface="Arial"/>
                <a:cs typeface="Arial"/>
              </a:defRPr>
            </a:pPr>
            <a:r>
              <a:rPr sz="4425" b="1" lang="ro-RO">
                <a:solidFill>
                  <a:srgbClr val="153F36"/>
                </a:solidFill>
                <a:latin typeface="Arial"/>
                <a:ea typeface="Arial"/>
                <a:cs typeface="Arial"/>
              </a:rPr>
              <a:t>care te-a invitat</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ro-RO">
                <a:solidFill>
                  <a:srgbClr val="526B63"/>
                </a:solidFill>
                <a:latin typeface="Arial"/>
                <a:ea typeface="Arial"/>
                <a:cs typeface="Arial"/>
              </a:rPr>
              <a:t>Spune ce te interesează, ce ai vrea să clarifici și cât timp dorești să aloci.</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Stabiliți o acțiune concretă și când veți continua discuția.</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ro-RO">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ro-RO">
                <a:solidFill>
                  <a:srgbClr val="FFFFFF"/>
                </a:solidFill>
                <a:latin typeface="Arial"/>
                <a:ea typeface="Arial"/>
                <a:cs typeface="Arial"/>
              </a:rPr>
              <a:t>Poți începe</a:t>
            </a:r>
          </a:p>
          <a:p>
            <a:pPr>
              <a:defRPr sz="5100" b="1">
                <a:solidFill>
                  <a:srgbClr val="FFFFFF"/>
                </a:solidFill>
                <a:latin typeface="Arial"/>
                <a:ea typeface="Arial"/>
                <a:cs typeface="Arial"/>
              </a:defRPr>
            </a:pPr>
            <a:r>
              <a:rPr sz="5100" b="1" lang="ro-RO">
                <a:solidFill>
                  <a:srgbClr val="FFFFFF"/>
                </a:solidFill>
                <a:latin typeface="Arial"/>
                <a:ea typeface="Arial"/>
                <a:cs typeface="Arial"/>
              </a:rPr>
              <a:t>cu ceva simplu</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ro-RO">
                <a:solidFill>
                  <a:srgbClr val="D4E8DD"/>
                </a:solidFill>
                <a:latin typeface="Arial"/>
                <a:ea typeface="Arial"/>
                <a:cs typeface="Arial"/>
              </a:rPr>
              <a:t>O discuție.</a:t>
            </a:r>
          </a:p>
          <a:p>
            <a:pPr>
              <a:defRPr sz="2925" b="0">
                <a:solidFill>
                  <a:srgbClr val="D4E8DD"/>
                </a:solidFill>
                <a:latin typeface="Arial"/>
                <a:ea typeface="Arial"/>
                <a:cs typeface="Arial"/>
              </a:defRPr>
            </a:pPr>
            <a:r>
              <a:rPr sz="2925" b="0" lang="ro-RO">
                <a:solidFill>
                  <a:srgbClr val="D4E8DD"/>
                </a:solidFill>
                <a:latin typeface="Arial"/>
                <a:ea typeface="Arial"/>
                <a:cs typeface="Arial"/>
              </a:rPr>
              <a:t>O decizie clară.</a:t>
            </a:r>
          </a:p>
          <a:p>
            <a:pPr>
              <a:defRPr sz="2925" b="0">
                <a:solidFill>
                  <a:srgbClr val="D4E8DD"/>
                </a:solidFill>
                <a:latin typeface="Arial"/>
                <a:ea typeface="Arial"/>
                <a:cs typeface="Arial"/>
              </a:defRPr>
            </a:pPr>
            <a:r>
              <a:rPr sz="2925" b="0" lang="ro-RO">
                <a:solidFill>
                  <a:srgbClr val="D4E8DD"/>
                </a:solidFill>
                <a:latin typeface="Arial"/>
                <a:ea typeface="Arial"/>
                <a:cs typeface="Arial"/>
              </a:rPr>
              <a:t>Un pas următor stabilit.</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33</a:t>
            </a:r>
          </a:p>
        </p:txBody>
      </p:sp>
      <p:sp>
        <p:nvSpPr>
          <p:cNvPr id="3" name="Naslov">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Anexă: bonusuri personale</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ro-RO">
                          <a:solidFill>
                            <a:srgbClr val="FFFFFF"/>
                          </a:solidFill>
                          <a:latin typeface="Arial"/>
                          <a:ea typeface="Arial"/>
                          <a:cs typeface="Arial"/>
                        </a:rPr>
                        <a:t>Nivel</a:t>
                      </a:r>
                    </a:p>
                  </a:txBody>
                  <a:tcPr marL="91440" marR="91440" marT="45720" marB="45720">
                    <a:solidFill>
                      <a:srgbClr val="153F36"/>
                    </a:solidFill>
                  </a:tcPr>
                </a:tc>
                <a:tc>
                  <a:txBody>
                    <a:bodyPr lIns="152400" tIns="133350" rIns="152400" bIns="114300">
                      <a:noAutofit/>
                    </a:bodyPr>
                    <a:lstStyle/>
                    <a:p>
                      <a:r>
                        <a:rPr sz="2100" b="1" lang="ro-RO">
                          <a:solidFill>
                            <a:srgbClr val="FFFFFF"/>
                          </a:solidFill>
                          <a:latin typeface="Arial"/>
                          <a:ea typeface="Arial"/>
                          <a:cs typeface="Arial"/>
                        </a:rPr>
                        <a:t>Bonus personal în funcție de condiții</a:t>
                      </a:r>
                    </a:p>
                  </a:txBody>
                  <a:tcPr marL="91440" marR="91440" marT="45720" marB="45720">
                    <a:solidFill>
                      <a:srgbClr val="153F36"/>
                    </a:solidFill>
                  </a:tcPr>
                </a:tc>
              </a:tr>
              <a:tr h="626745">
                <a:tc>
                  <a:txBody>
                    <a:bodyPr lIns="152400" tIns="133350" rIns="152400" bIns="114300">
                      <a:noAutofit/>
                    </a:bodyPr>
                    <a:lstStyle/>
                    <a:p>
                      <a:r>
                        <a:rPr sz="2100" b="0" lang="ro-RO">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ro-RO">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ro-RO">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ro-RO">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ro-RO">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ro-RO">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ro-RO">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ro-RO">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Bonus de volum: 3% până la 13%. Leadership: 6%, 3%, 2%, cu condiții suplimentare.</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34</a:t>
            </a:r>
          </a:p>
        </p:txBody>
      </p:sp>
      <p:sp>
        <p:nvSpPr>
          <p:cNvPr id="3" name="Naslov">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Anexă: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ro-RO">
                          <a:solidFill>
                            <a:srgbClr val="FFFFFF"/>
                          </a:solidFill>
                          <a:latin typeface="Arial"/>
                          <a:ea typeface="Arial"/>
                          <a:cs typeface="Arial"/>
                        </a:rPr>
                        <a:t>Nivel</a:t>
                      </a:r>
                    </a:p>
                  </a:txBody>
                  <a:tcPr marL="91440" marR="91440" marT="45720" marB="45720">
                    <a:solidFill>
                      <a:srgbClr val="153F36"/>
                    </a:solidFill>
                  </a:tcPr>
                </a:tc>
                <a:tc>
                  <a:txBody>
                    <a:bodyPr lIns="152400" tIns="133350" rIns="152400" bIns="114300">
                      <a:noAutofit/>
                    </a:bodyPr>
                    <a:lstStyle/>
                    <a:p>
                      <a:r>
                        <a:rPr sz="2025" b="1" lang="ro-RO">
                          <a:solidFill>
                            <a:srgbClr val="FFFFFF"/>
                          </a:solidFill>
                          <a:latin typeface="Arial"/>
                          <a:ea typeface="Arial"/>
                          <a:cs typeface="Arial"/>
                        </a:rPr>
                        <a:t>Luna 1</a:t>
                      </a:r>
                    </a:p>
                  </a:txBody>
                  <a:tcPr marL="91440" marR="91440" marT="45720" marB="45720">
                    <a:solidFill>
                      <a:srgbClr val="153F36"/>
                    </a:solidFill>
                  </a:tcPr>
                </a:tc>
                <a:tc>
                  <a:txBody>
                    <a:bodyPr lIns="152400" tIns="133350" rIns="152400" bIns="114300">
                      <a:noAutofit/>
                    </a:bodyPr>
                    <a:lstStyle/>
                    <a:p>
                      <a:r>
                        <a:rPr sz="2025" b="1" lang="ro-RO">
                          <a:solidFill>
                            <a:srgbClr val="FFFFFF"/>
                          </a:solidFill>
                          <a:latin typeface="Arial"/>
                          <a:ea typeface="Arial"/>
                          <a:cs typeface="Arial"/>
                        </a:rPr>
                        <a:t>Luna 2</a:t>
                      </a:r>
                    </a:p>
                  </a:txBody>
                  <a:tcPr marL="91440" marR="91440" marT="45720" marB="45720">
                    <a:solidFill>
                      <a:srgbClr val="153F36"/>
                    </a:solidFill>
                  </a:tcPr>
                </a:tc>
                <a:tc>
                  <a:txBody>
                    <a:bodyPr lIns="152400" tIns="133350" rIns="152400" bIns="114300">
                      <a:noAutofit/>
                    </a:bodyPr>
                    <a:lstStyle/>
                    <a:p>
                      <a:r>
                        <a:rPr sz="2025" b="1" lang="ro-RO">
                          <a:solidFill>
                            <a:srgbClr val="FFFFFF"/>
                          </a:solidFill>
                          <a:latin typeface="Arial"/>
                          <a:ea typeface="Arial"/>
                          <a:cs typeface="Arial"/>
                        </a:rPr>
                        <a:t>Luna 3</a:t>
                      </a:r>
                    </a:p>
                  </a:txBody>
                  <a:tcPr marL="91440" marR="91440" marT="45720" marB="45720">
                    <a:solidFill>
                      <a:srgbClr val="153F36"/>
                    </a:solidFill>
                  </a:tcPr>
                </a:tc>
                <a:tc>
                  <a:txBody>
                    <a:bodyPr lIns="152400" tIns="133350" rIns="152400" bIns="114300">
                      <a:noAutofit/>
                    </a:bodyPr>
                    <a:lstStyle/>
                    <a:p>
                      <a:r>
                        <a:rPr sz="2025" b="1" lang="ro-RO">
                          <a:solidFill>
                            <a:srgbClr val="FFFFFF"/>
                          </a:solidFill>
                          <a:latin typeface="Arial"/>
                          <a:ea typeface="Arial"/>
                          <a:cs typeface="Arial"/>
                        </a:rPr>
                        <a:t>Limită lunară</a:t>
                      </a:r>
                    </a:p>
                  </a:txBody>
                  <a:tcPr marL="91440" marR="91440" marT="45720" marB="45720">
                    <a:solidFill>
                      <a:srgbClr val="153F36"/>
                    </a:solidFill>
                  </a:tcPr>
                </a:tc>
              </a:tr>
              <a:tr h="661988">
                <a:tc>
                  <a:txBody>
                    <a:bodyPr lIns="152400" tIns="133350" rIns="152400" bIns="114300">
                      <a:noAutofit/>
                    </a:bodyPr>
                    <a:lstStyle/>
                    <a:p>
                      <a:r>
                        <a:rPr sz="2025" b="0" lang="ro-RO">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ro-RO">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ro-RO">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ro-RO">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ro-RO">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Calificare și menținerea condițiilor. Incentiv până la 36 de luni.</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35</a:t>
            </a:r>
          </a:p>
        </p:txBody>
      </p:sp>
      <p:sp>
        <p:nvSpPr>
          <p:cNvPr id="3" name="Naslov">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Anexă: calificări anuale</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720 CC în total, 100 CC noi și 3 linii noi de Supervisor.</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De la 1.500 CC în total, inclusiv cel puțin 50 CC noi.</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ro-RO">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ro-RO">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Linii calificate dezvoltate și condiții suplimentare ale programului.</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Pragurile sunt prezentate pe scurt. Termenele, menținerea calificării și toate condițiile suplimentare sunt precizate în politica locală.</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ro-RO">
                <a:solidFill>
                  <a:srgbClr val="526B63"/>
                </a:solidFill>
                <a:latin typeface="Arial"/>
                <a:ea typeface="Arial"/>
                <a:cs typeface="Arial"/>
              </a:rPr>
              <a:t>36</a:t>
            </a:r>
          </a:p>
        </p:txBody>
      </p:sp>
      <p:sp>
        <p:nvSpPr>
          <p:cNvPr id="3" name="Naslov">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ro-RO">
                <a:solidFill>
                  <a:srgbClr val="153F36"/>
                </a:solidFill>
                <a:latin typeface="Arial"/>
                <a:ea typeface="Arial"/>
                <a:cs typeface="Arial"/>
              </a:rPr>
              <a:t>Anexă: plăți și venituri reale</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Bonusuri pentru luna precedentă</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Conform politicii din Croația, pe data de 15 a lunii următoare.</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Câștiguri online</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Transferul în Global Pay după data de 10, 20 și ultima zi a lunii.</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ro-RO">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ro-RO">
                <a:solidFill>
                  <a:srgbClr val="153F36"/>
                </a:solidFill>
                <a:latin typeface="Arial"/>
                <a:ea typeface="Arial"/>
                <a:cs typeface="Arial"/>
              </a:rPr>
              <a:t>Venit real</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ro-RO">
                <a:solidFill>
                  <a:srgbClr val="526B63"/>
                </a:solidFill>
                <a:latin typeface="Arial"/>
                <a:ea typeface="Arial"/>
                <a:cs typeface="Arial"/>
              </a:rPr>
              <a:t>Vânzări recunoscute, ținând cont de cheltuieli, retururi și obligații fiscale.</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ro-RO">
                <a:solidFill>
                  <a:srgbClr val="526B63"/>
                </a:solidFill>
                <a:latin typeface="Arial"/>
                <a:ea typeface="Arial"/>
                <a:cs typeface="Arial"/>
              </a:rPr>
              <a:t>Rezultatele depind de persoană, piață și vânzările efective. FCC nu garantează venituri.</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