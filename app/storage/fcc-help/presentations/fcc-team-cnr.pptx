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6e8ae9ebd874a7b" /><Relationship Type="http://schemas.openxmlformats.org/officeDocument/2006/relationships/extended-properties" Target="/docProps/app.xml" Id="R01380b84c3dd45ec" /><Relationship Type="http://schemas.openxmlformats.org/officeDocument/2006/relationships/officeDocument" Target="/ppt/presentation.xml" Id="Ra84fedbd27db4393" /></Relationships>
</file>

<file path=ppt/presentation.xml><?xml version="1.0" encoding="utf-8"?>
<p:presentation xmlns:p="http://schemas.openxmlformats.org/presentationml/2006/main">
  <p:sldMasterIdLst>
    <p:sldMasterId xmlns:r="http://schemas.openxmlformats.org/officeDocument/2006/relationships" id="2147483648" r:id="Rc9e88217567e4db7"/>
  </p:sldMasterIdLst>
  <p:notesMasterIdLst>
    <p:notesMasterId xmlns:r="http://schemas.openxmlformats.org/officeDocument/2006/relationships" r:id="Rc18a70ab738d4fdd"/>
  </p:notesMasterIdLst>
  <p:sldIdLst>
    <p:sldId xmlns:r="http://schemas.openxmlformats.org/officeDocument/2006/relationships" id="256" r:id="Re8ed2e66c8d84047"/>
    <p:sldId xmlns:r="http://schemas.openxmlformats.org/officeDocument/2006/relationships" id="257" r:id="R4746b0e7c5ef4131"/>
    <p:sldId xmlns:r="http://schemas.openxmlformats.org/officeDocument/2006/relationships" id="258" r:id="Rbc31ff09593c4d17"/>
    <p:sldId xmlns:r="http://schemas.openxmlformats.org/officeDocument/2006/relationships" id="259" r:id="Rae4ed353ca834eb3"/>
    <p:sldId xmlns:r="http://schemas.openxmlformats.org/officeDocument/2006/relationships" id="260" r:id="Ra1b02be37e2e4ff2"/>
    <p:sldId xmlns:r="http://schemas.openxmlformats.org/officeDocument/2006/relationships" id="261" r:id="Rfe59078e123f44b1"/>
    <p:sldId xmlns:r="http://schemas.openxmlformats.org/officeDocument/2006/relationships" id="262" r:id="R590dc5576ed441ae"/>
    <p:sldId xmlns:r="http://schemas.openxmlformats.org/officeDocument/2006/relationships" id="263" r:id="R0328f91799364ba2"/>
    <p:sldId xmlns:r="http://schemas.openxmlformats.org/officeDocument/2006/relationships" id="264" r:id="Re580240414f64df3"/>
    <p:sldId xmlns:r="http://schemas.openxmlformats.org/officeDocument/2006/relationships" id="265" r:id="Re3803403ee9b468b"/>
    <p:sldId xmlns:r="http://schemas.openxmlformats.org/officeDocument/2006/relationships" id="266" r:id="Re9729d197679489d"/>
    <p:sldId xmlns:r="http://schemas.openxmlformats.org/officeDocument/2006/relationships" id="267" r:id="R17364f024e114fa7"/>
    <p:sldId xmlns:r="http://schemas.openxmlformats.org/officeDocument/2006/relationships" id="268" r:id="Ra32d2299b1e34645"/>
    <p:sldId xmlns:r="http://schemas.openxmlformats.org/officeDocument/2006/relationships" id="269" r:id="R112da9e5e26d4a1a"/>
    <p:sldId xmlns:r="http://schemas.openxmlformats.org/officeDocument/2006/relationships" id="270" r:id="Rfc6e8098b0094e49"/>
    <p:sldId xmlns:r="http://schemas.openxmlformats.org/officeDocument/2006/relationships" id="271" r:id="R637ab624bb744813"/>
    <p:sldId xmlns:r="http://schemas.openxmlformats.org/officeDocument/2006/relationships" id="272" r:id="R83dee26be35c43dd"/>
    <p:sldId xmlns:r="http://schemas.openxmlformats.org/officeDocument/2006/relationships" id="273" r:id="R618fda44c9f74872"/>
    <p:sldId xmlns:r="http://schemas.openxmlformats.org/officeDocument/2006/relationships" id="274" r:id="R1b6aa91c6bb84531"/>
    <p:sldId xmlns:r="http://schemas.openxmlformats.org/officeDocument/2006/relationships" id="275" r:id="Rff9f2644ad404234"/>
    <p:sldId xmlns:r="http://schemas.openxmlformats.org/officeDocument/2006/relationships" id="276" r:id="Rffdacc3614814b34"/>
    <p:sldId xmlns:r="http://schemas.openxmlformats.org/officeDocument/2006/relationships" id="277" r:id="R7cd2e17b0ac44598"/>
    <p:sldId xmlns:r="http://schemas.openxmlformats.org/officeDocument/2006/relationships" id="278" r:id="Rbaf6e7b843f34b38"/>
    <p:sldId xmlns:r="http://schemas.openxmlformats.org/officeDocument/2006/relationships" id="279" r:id="Re58715032f894a0b"/>
    <p:sldId xmlns:r="http://schemas.openxmlformats.org/officeDocument/2006/relationships" id="280" r:id="R671b64fee09647d1"/>
    <p:sldId xmlns:r="http://schemas.openxmlformats.org/officeDocument/2006/relationships" id="281" r:id="R0f1efdb0735b4810"/>
    <p:sldId xmlns:r="http://schemas.openxmlformats.org/officeDocument/2006/relationships" id="282" r:id="R299277170d58463a"/>
    <p:sldId xmlns:r="http://schemas.openxmlformats.org/officeDocument/2006/relationships" id="283" r:id="R47c1e12bebaf4e1e"/>
    <p:sldId xmlns:r="http://schemas.openxmlformats.org/officeDocument/2006/relationships" id="284" r:id="R33f2281931074e26"/>
    <p:sldId xmlns:r="http://schemas.openxmlformats.org/officeDocument/2006/relationships" id="285" r:id="Rcb00a46c0526422d"/>
    <p:sldId xmlns:r="http://schemas.openxmlformats.org/officeDocument/2006/relationships" id="286" r:id="Rdefdab25799b403c"/>
    <p:sldId xmlns:r="http://schemas.openxmlformats.org/officeDocument/2006/relationships" id="287" r:id="Rf00af2c51ef04723"/>
    <p:sldId xmlns:r="http://schemas.openxmlformats.org/officeDocument/2006/relationships" id="288" r:id="R6dd932b7d3e94967"/>
    <p:sldId xmlns:r="http://schemas.openxmlformats.org/officeDocument/2006/relationships" id="289" r:id="R05566556677748cd"/>
    <p:sldId xmlns:r="http://schemas.openxmlformats.org/officeDocument/2006/relationships" id="290" r:id="Rff449ac26a254c77"/>
    <p:sldId xmlns:r="http://schemas.openxmlformats.org/officeDocument/2006/relationships" id="291" r:id="Rce57f775d35142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51f3484e124c0d" /><Relationship Type="http://schemas.openxmlformats.org/officeDocument/2006/relationships/slideMaster" Target="/ppt/slideMasters/slideMaster1.xml" Id="Rc9e88217567e4db7" /><Relationship Type="http://schemas.openxmlformats.org/officeDocument/2006/relationships/notesMaster" Target="/ppt/notesMasters/notesMaster1.xml" Id="Rc18a70ab738d4fdd" /><Relationship Type="http://schemas.openxmlformats.org/officeDocument/2006/relationships/presProps" Target="/ppt/presProps.xml" Id="Rdd6d008c9f824ff1" /><Relationship Type="http://schemas.openxmlformats.org/officeDocument/2006/relationships/tableStyles" Target="/ppt/tableStyles.xml" Id="R5dfb1b75d143461b" /><Relationship Type="http://schemas.openxmlformats.org/officeDocument/2006/relationships/slide" Target="/ppt/slides/slide1.xml" Id="Re8ed2e66c8d84047" /><Relationship Type="http://schemas.openxmlformats.org/officeDocument/2006/relationships/slide" Target="/ppt/slides/slide2.xml" Id="R4746b0e7c5ef4131" /><Relationship Type="http://schemas.openxmlformats.org/officeDocument/2006/relationships/slide" Target="/ppt/slides/slide3.xml" Id="Rbc31ff09593c4d17" /><Relationship Type="http://schemas.openxmlformats.org/officeDocument/2006/relationships/slide" Target="/ppt/slides/slide4.xml" Id="Rae4ed353ca834eb3" /><Relationship Type="http://schemas.openxmlformats.org/officeDocument/2006/relationships/slide" Target="/ppt/slides/slide5.xml" Id="Ra1b02be37e2e4ff2" /><Relationship Type="http://schemas.openxmlformats.org/officeDocument/2006/relationships/slide" Target="/ppt/slides/slide6.xml" Id="Rfe59078e123f44b1" /><Relationship Type="http://schemas.openxmlformats.org/officeDocument/2006/relationships/slide" Target="/ppt/slides/slide7.xml" Id="R590dc5576ed441ae" /><Relationship Type="http://schemas.openxmlformats.org/officeDocument/2006/relationships/slide" Target="/ppt/slides/slide8.xml" Id="R0328f91799364ba2" /><Relationship Type="http://schemas.openxmlformats.org/officeDocument/2006/relationships/slide" Target="/ppt/slides/slide9.xml" Id="Re580240414f64df3" /><Relationship Type="http://schemas.openxmlformats.org/officeDocument/2006/relationships/slide" Target="/ppt/slides/slide10.xml" Id="Re3803403ee9b468b" /><Relationship Type="http://schemas.openxmlformats.org/officeDocument/2006/relationships/slide" Target="/ppt/slides/slide11.xml" Id="Re9729d197679489d" /><Relationship Type="http://schemas.openxmlformats.org/officeDocument/2006/relationships/slide" Target="/ppt/slides/slide12.xml" Id="R17364f024e114fa7" /><Relationship Type="http://schemas.openxmlformats.org/officeDocument/2006/relationships/slide" Target="/ppt/slides/slide13.xml" Id="Ra32d2299b1e34645" /><Relationship Type="http://schemas.openxmlformats.org/officeDocument/2006/relationships/slide" Target="/ppt/slides/slide14.xml" Id="R112da9e5e26d4a1a" /><Relationship Type="http://schemas.openxmlformats.org/officeDocument/2006/relationships/slide" Target="/ppt/slides/slide15.xml" Id="Rfc6e8098b0094e49" /><Relationship Type="http://schemas.openxmlformats.org/officeDocument/2006/relationships/slide" Target="/ppt/slides/slide16.xml" Id="R637ab624bb744813" /><Relationship Type="http://schemas.openxmlformats.org/officeDocument/2006/relationships/slide" Target="/ppt/slides/slide17.xml" Id="R83dee26be35c43dd" /><Relationship Type="http://schemas.openxmlformats.org/officeDocument/2006/relationships/slide" Target="/ppt/slides/slide18.xml" Id="R618fda44c9f74872" /><Relationship Type="http://schemas.openxmlformats.org/officeDocument/2006/relationships/slide" Target="/ppt/slides/slide19.xml" Id="R1b6aa91c6bb84531" /><Relationship Type="http://schemas.openxmlformats.org/officeDocument/2006/relationships/slide" Target="/ppt/slides/slide20.xml" Id="Rff9f2644ad404234" /><Relationship Type="http://schemas.openxmlformats.org/officeDocument/2006/relationships/slide" Target="/ppt/slides/slide21.xml" Id="Rffdacc3614814b34" /><Relationship Type="http://schemas.openxmlformats.org/officeDocument/2006/relationships/slide" Target="/ppt/slides/slide22.xml" Id="R7cd2e17b0ac44598" /><Relationship Type="http://schemas.openxmlformats.org/officeDocument/2006/relationships/slide" Target="/ppt/slides/slide23.xml" Id="Rbaf6e7b843f34b38" /><Relationship Type="http://schemas.openxmlformats.org/officeDocument/2006/relationships/slide" Target="/ppt/slides/slide24.xml" Id="Re58715032f894a0b" /><Relationship Type="http://schemas.openxmlformats.org/officeDocument/2006/relationships/slide" Target="/ppt/slides/slide25.xml" Id="R671b64fee09647d1" /><Relationship Type="http://schemas.openxmlformats.org/officeDocument/2006/relationships/slide" Target="/ppt/slides/slide26.xml" Id="R0f1efdb0735b4810" /><Relationship Type="http://schemas.openxmlformats.org/officeDocument/2006/relationships/slide" Target="/ppt/slides/slide27.xml" Id="R299277170d58463a" /><Relationship Type="http://schemas.openxmlformats.org/officeDocument/2006/relationships/slide" Target="/ppt/slides/slide28.xml" Id="R47c1e12bebaf4e1e" /><Relationship Type="http://schemas.openxmlformats.org/officeDocument/2006/relationships/slide" Target="/ppt/slides/slide29.xml" Id="R33f2281931074e26" /><Relationship Type="http://schemas.openxmlformats.org/officeDocument/2006/relationships/slide" Target="/ppt/slides/slide30.xml" Id="Rcb00a46c0526422d" /><Relationship Type="http://schemas.openxmlformats.org/officeDocument/2006/relationships/slide" Target="/ppt/slides/slide31.xml" Id="Rdefdab25799b403c" /><Relationship Type="http://schemas.openxmlformats.org/officeDocument/2006/relationships/slide" Target="/ppt/slides/slide32.xml" Id="Rf00af2c51ef04723" /><Relationship Type="http://schemas.openxmlformats.org/officeDocument/2006/relationships/slide" Target="/ppt/slides/slide33.xml" Id="R6dd932b7d3e94967" /><Relationship Type="http://schemas.openxmlformats.org/officeDocument/2006/relationships/slide" Target="/ppt/slides/slide34.xml" Id="R05566556677748cd" /><Relationship Type="http://schemas.openxmlformats.org/officeDocument/2006/relationships/slide" Target="/ppt/slides/slide35.xml" Id="Rff449ac26a254c77" /><Relationship Type="http://schemas.openxmlformats.org/officeDocument/2006/relationships/slide" Target="/ppt/slides/slide36.xml" Id="Rce57f775d35142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6a719019c04d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296e187a9264970" /><Relationship Type="http://schemas.openxmlformats.org/officeDocument/2006/relationships/notesMaster" Target="/ppt/notesMasters/notesMaster1.xml" Id="Rd6ba87770fec45c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3804c4900144eb" /><Relationship Type="http://schemas.openxmlformats.org/officeDocument/2006/relationships/notesMaster" Target="/ppt/notesMasters/notesMaster1.xml" Id="Rae1d711f98904da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ace734e65b84f03" /><Relationship Type="http://schemas.openxmlformats.org/officeDocument/2006/relationships/notesMaster" Target="/ppt/notesMasters/notesMaster1.xml" Id="R3196595326904c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bd2ae38c244181" /><Relationship Type="http://schemas.openxmlformats.org/officeDocument/2006/relationships/notesMaster" Target="/ppt/notesMasters/notesMaster1.xml" Id="Rb45bffc5c14d4e4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f50df7094b47c4" /><Relationship Type="http://schemas.openxmlformats.org/officeDocument/2006/relationships/notesMaster" Target="/ppt/notesMasters/notesMaster1.xml" Id="Ra29a7855fc7e443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ceed1dbe064194" /><Relationship Type="http://schemas.openxmlformats.org/officeDocument/2006/relationships/notesMaster" Target="/ppt/notesMasters/notesMaster1.xml" Id="R9009548589204c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f1bf2fae2d674d8b" /><Relationship Type="http://schemas.openxmlformats.org/officeDocument/2006/relationships/notesMaster" Target="/ppt/notesMasters/notesMaster1.xml" Id="R9a68c937125640c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3d1f28bd684f47" /><Relationship Type="http://schemas.openxmlformats.org/officeDocument/2006/relationships/notesMaster" Target="/ppt/notesMasters/notesMaster1.xml" Id="R4f66a1fe075747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082f67a9a94eb0" /><Relationship Type="http://schemas.openxmlformats.org/officeDocument/2006/relationships/notesMaster" Target="/ppt/notesMasters/notesMaster1.xml" Id="R0dcd16fd22174c3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fd494a01c6d4c2b" /><Relationship Type="http://schemas.openxmlformats.org/officeDocument/2006/relationships/notesMaster" Target="/ppt/notesMasters/notesMaster1.xml" Id="Rf0be8b2ba7f84a8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bc2dac3e3384d40" /><Relationship Type="http://schemas.openxmlformats.org/officeDocument/2006/relationships/notesMaster" Target="/ppt/notesMasters/notesMaster1.xml" Id="R12b543772d50407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7db9ff243443af" /><Relationship Type="http://schemas.openxmlformats.org/officeDocument/2006/relationships/notesMaster" Target="/ppt/notesMasters/notesMaster1.xml" Id="R41d7c42f991c48b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a5d318d74824b8f" /><Relationship Type="http://schemas.openxmlformats.org/officeDocument/2006/relationships/notesMaster" Target="/ppt/notesMasters/notesMaster1.xml" Id="R6cc8e392453a400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a6e000b97a5487e" /><Relationship Type="http://schemas.openxmlformats.org/officeDocument/2006/relationships/notesMaster" Target="/ppt/notesMasters/notesMaster1.xml" Id="Rd4903da3fca449c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82a1051921a476d" /><Relationship Type="http://schemas.openxmlformats.org/officeDocument/2006/relationships/notesMaster" Target="/ppt/notesMasters/notesMaster1.xml" Id="R145e09a0677a4ea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21b9fc78b574304" /><Relationship Type="http://schemas.openxmlformats.org/officeDocument/2006/relationships/notesMaster" Target="/ppt/notesMasters/notesMaster1.xml" Id="Raf7a5c504e8c42c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e7e2ace3f364bb4" /><Relationship Type="http://schemas.openxmlformats.org/officeDocument/2006/relationships/notesMaster" Target="/ppt/notesMasters/notesMaster1.xml" Id="Rdae45306c3c143c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2699c39e0e34f5d" /><Relationship Type="http://schemas.openxmlformats.org/officeDocument/2006/relationships/notesMaster" Target="/ppt/notesMasters/notesMaster1.xml" Id="R7b480820a0044fa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7d8867e05e74d7b" /><Relationship Type="http://schemas.openxmlformats.org/officeDocument/2006/relationships/notesMaster" Target="/ppt/notesMasters/notesMaster1.xml" Id="R8033f3f879b142f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807b4f2a22743ff" /><Relationship Type="http://schemas.openxmlformats.org/officeDocument/2006/relationships/notesMaster" Target="/ppt/notesMasters/notesMaster1.xml" Id="R4b9ce22d074142c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416c2e7bab84a96" /><Relationship Type="http://schemas.openxmlformats.org/officeDocument/2006/relationships/notesMaster" Target="/ppt/notesMasters/notesMaster1.xml" Id="R2275f7ce1f994ed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9907580cc774395" /><Relationship Type="http://schemas.openxmlformats.org/officeDocument/2006/relationships/notesMaster" Target="/ppt/notesMasters/notesMaster1.xml" Id="R469ab7642294470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1cb433f060f4963" /><Relationship Type="http://schemas.openxmlformats.org/officeDocument/2006/relationships/notesMaster" Target="/ppt/notesMasters/notesMaster1.xml" Id="R7b4d7234a6044de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aa4b0c937a34b4b" /><Relationship Type="http://schemas.openxmlformats.org/officeDocument/2006/relationships/notesMaster" Target="/ppt/notesMasters/notesMaster1.xml" Id="Rc2246cd9c6a8463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cd6218a495d47cc" /><Relationship Type="http://schemas.openxmlformats.org/officeDocument/2006/relationships/notesMaster" Target="/ppt/notesMasters/notesMaster1.xml" Id="R3d5dcb5fc3b946f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027dd530cc34012" /><Relationship Type="http://schemas.openxmlformats.org/officeDocument/2006/relationships/notesMaster" Target="/ppt/notesMasters/notesMaster1.xml" Id="Rf1d88de2a7ca48f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2574ee6f72646ed" /><Relationship Type="http://schemas.openxmlformats.org/officeDocument/2006/relationships/notesMaster" Target="/ppt/notesMasters/notesMaster1.xml" Id="R5343f4f46e024e1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230466004cc4193" /><Relationship Type="http://schemas.openxmlformats.org/officeDocument/2006/relationships/notesMaster" Target="/ppt/notesMasters/notesMaster1.xml" Id="R49fd3b65ef50448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c4bd6a826b04c10" /><Relationship Type="http://schemas.openxmlformats.org/officeDocument/2006/relationships/notesMaster" Target="/ppt/notesMasters/notesMaster1.xml" Id="R02760a6c7df24a6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fd0436381f6401c" /><Relationship Type="http://schemas.openxmlformats.org/officeDocument/2006/relationships/notesMaster" Target="/ppt/notesMasters/notesMaster1.xml" Id="R080d4de62ebf41e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37f0224225e4dba" /><Relationship Type="http://schemas.openxmlformats.org/officeDocument/2006/relationships/notesMaster" Target="/ppt/notesMasters/notesMaster1.xml" Id="R00fbaf2ef36c436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a9b230ea7c44160" /><Relationship Type="http://schemas.openxmlformats.org/officeDocument/2006/relationships/notesMaster" Target="/ppt/notesMasters/notesMaster1.xml" Id="Rd2a61c7ba35a477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ea83218b7254a5e" /><Relationship Type="http://schemas.openxmlformats.org/officeDocument/2006/relationships/notesMaster" Target="/ppt/notesMasters/notesMaster1.xml" Id="R66b0be88079f4e4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ef4899d87ad4280" /><Relationship Type="http://schemas.openxmlformats.org/officeDocument/2006/relationships/notesMaster" Target="/ppt/notesMasters/notesMaster1.xml" Id="R38d47d1dbe65492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634e1d4a1f44fa0" /><Relationship Type="http://schemas.openxmlformats.org/officeDocument/2006/relationships/notesMaster" Target="/ppt/notesMasters/notesMaster1.xml" Id="R635d27840b01456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2327ada477b42ba" /><Relationship Type="http://schemas.openxmlformats.org/officeDocument/2006/relationships/notesMaster" Target="/ppt/notesMasters/notesMaster1.xml" Id="R1cdcf2d0ba074651"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Uvod, oko jednog minuta. Predstavi šta će osoba razumjeti: proizvode, poslovni model i konkretan svakodnevni rad. Vrijeme predstavljanja prilagodi publici. Ova prezentacija prikazuje hrvatski poslovni okvir, a FCC mogućnosti prema stanju 4. oktobra 2026.</a:t>
            </a:r>
          </a:p>
          <a:p>
            <a:r>
              <a:t/>
            </a:r>
          </a:p>
          <a:p>
            <a:r>
              <a:t>Izvori:</a:t>
            </a:r>
          </a:p>
          <a:p>
            <a:r>
              <a:t>https://cdn.foreverliving.com/content/MarketingConfigurableContent/HRV/Poslovna%20politika/Poslovna%20politika.pdf</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Predstavi se lično, oko jednog minuta. Govori samo o sopstvenom provjerljivom iskustvu. Zajednički dio nakon ovog uvoda koristi cijeli tim.</a:t>
            </a:r>
          </a:p>
          <a:p>
            <a:r>
              <a:t/>
            </a:r>
          </a:p>
          <a:p>
            <a:r>
              <a:t>Izvori:</a:t>
            </a:r>
          </a:p>
          <a:p>
            <a:r>
              <a:t>Izvorni korisnikov materijal, uvodne fotografije.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jednog minuta. Najavi praktični primjer: osoba bira proizvod ili webinar, razgovara sa kontaktom i bilježi sljedeći dogovor. Nemoj obećati rezultat ili prihod.</a:t>
            </a:r>
          </a:p>
          <a:p>
            <a:r>
              <a:t/>
            </a:r>
          </a:p>
          <a:p>
            <a:r>
              <a:t>Izvori:</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jednog minuta. Forever je osnovan 1978. Broj tržišta razlikuje se na službenim regionalnim stranicama, zato se ovdje ne prikazuje jedinstvena brojka. FCC je poseban, nezavisan sistem tima.</a:t>
            </a:r>
          </a:p>
          <a:p>
            <a:r>
              <a:t/>
            </a:r>
          </a:p>
          <a:p>
            <a:r>
              <a:t>Izvori:</a:t>
            </a:r>
          </a:p>
          <a:p>
            <a:r>
              <a:t>https://foreverliving.com/hrv/hr-hr/about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jednog minuta. Razgovor počinje stvarnom potrebom, navikama i budžetom osobe. Pokaži proizvod, lokalnu deklaraciju i uputstva. Ne izmišljaj zdravstvene efekte. Fotografija je ilustracija ponude, a ne aktuelni lokalni cjenik.</a:t>
            </a:r>
          </a:p>
          <a:p>
            <a:r>
              <a:t/>
            </a:r>
          </a:p>
          <a:p>
            <a:r>
              <a:t>Izvori:</a:t>
            </a:r>
          </a:p>
          <a:p>
            <a:r>
              <a:t>https://foreverliving.com/shop/hrv/hr-hr/products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jednog minuta. Fotografije iz dostavljene prezentacije prikazuju proizvodnju i distribuciju. Govori o odgovornostima kompanije, a ne o obećanju zdravstvenog efekta.</a:t>
            </a:r>
          </a:p>
          <a:p>
            <a:r>
              <a:t/>
            </a:r>
          </a:p>
          <a:p>
            <a:r>
              <a:t>Izvori:</a:t>
            </a:r>
          </a:p>
          <a:p>
            <a:r>
              <a:t>https://foreverliving.com/hrv/hr-hr/about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1,5 minuta. Oba izbora imaju smisla. Poslovni smjer zahtijeva posebnu odluku i lokalne uslove. Pristup FCC-u vezan je uz FCC račun i dostupne pogodnosti, a nije isto što i Forever poslovni račun.</a:t>
            </a:r>
          </a:p>
          <a:p>
            <a:r>
              <a:t/>
            </a:r>
          </a:p>
          <a:p>
            <a:r>
              <a:t>Izvori:</a:t>
            </a:r>
          </a:p>
          <a:p>
            <a:r>
              <a:t>https://cdn.foreverliving.com/content/MarketingConfigurableContent/HRV/Poslovna%20politika/Poslovna%20politika.pdf</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1,5 minuta. Hrvatska poslovna politika, izdanje koje važi od 1. jula 2026. CC su obračunski bodovi proizvoda. Nakon 2 CC u dva uzastopna mjeseca dolazi 30% na naknadne porudžbine i mogućnost posebnog poslovnog optina. Cijenu, sadržaj paketa i trenutak primjene popusta provjeri u službenom lokalnom shopu. Ne preporučuj kupovinu radi bodova bez stvarne potrebe.</a:t>
            </a:r>
          </a:p>
          <a:p>
            <a:r>
              <a:t/>
            </a:r>
          </a:p>
          <a:p>
            <a:r>
              <a:t>Izvori:</a:t>
            </a:r>
          </a:p>
          <a:p>
            <a:r>
              <a:t>https://cdn.foreverliving.com/content/MarketingConfigurableContent/HRV/Poslovna%20politika/Poslovna%20politika.pdf</a:t>
            </a:r>
          </a:p>
          <a:p>
            <a:r>
              <a:t>https://cdn.foreverliving.com/content/MarketingConfigurableContent/HRV/Preuzimanja/Novi_start_paketi_2025.pdf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2 minuta. U Hrvatskoj 30% nakon kvalifikacije nije isto što i lični bonus ili neto prihod. Do 48% prilagođene cijene prema SRP-u je termin iz politike, nije garantovana provizija na svaku porudžbinu. Obračunske osnovice i primjena zavise o vrsti prodaje i politici.</a:t>
            </a:r>
          </a:p>
          <a:p>
            <a:r>
              <a:t/>
            </a:r>
          </a:p>
          <a:p>
            <a:r>
              <a:t>Izvori:</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2 minuta. Ovo je objašnjenje izvora potencijalnog prihoda, a ne prognoza zarade. Stope i osnovice provjeravaju se u lokalnoj politici. Registracija sama ne stvara prihod. Detaljne stope nalaze se u dodatku.</a:t>
            </a:r>
          </a:p>
          <a:p>
            <a:r>
              <a:t/>
            </a:r>
          </a:p>
          <a:p>
            <a:r>
              <a:t>Izvori:</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1,5 minuta. Hrvatska politika 4.01. Supervisor ima prag 10 nemenadžerskih CC, ali rok je protivrječan između 4.01(b) i 4.01(g) iste politike, stoga se ovdje ne navodi. Objasni CC kao prodajni volumen, nikada kao broj registrovanih osoba. Nivo ne garantuje mjesečni bonus.</a:t>
            </a:r>
          </a:p>
          <a:p>
            <a:r>
              <a:t/>
            </a:r>
          </a:p>
          <a:p>
            <a:r>
              <a:t>Izvori:</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1,5 minuta. Prema hrvatskoj politici aktivan FBO ima 4 CC, najmanje 1 lično kupljen. Postignuti nivo i pravo na bonus su odvojeni pojmovi. To nisu univerzalna globalna pravila. Ne kupuje se radi kvalifikacije bez potražnje. Brojčani CC u FCC-u iz FLP360 je agregat, a ne dokaz porudžbine određenog kupca.</a:t>
            </a:r>
          </a:p>
          <a:p>
            <a:r>
              <a:t/>
            </a:r>
          </a:p>
          <a:p>
            <a:r>
              <a:t>Izvori:</a:t>
            </a:r>
          </a:p>
          <a:p>
            <a:r>
              <a:t>https://cdn.foreverliving.com/content/MarketingConfigurableContent/HRV/Poslovna%20politika/Poslovna%20politika.pdf</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jednog minuta. Podsticajni programi imaju dodatne kvalifikacije, održavanje i lokalne uslove. Nemoj ih predstavljati kao besplatan automobil ili garantovano putovanje. Dodatak sadrži sažetak, a politika pune uslove.</a:t>
            </a:r>
          </a:p>
          <a:p>
            <a:r>
              <a:t/>
            </a:r>
          </a:p>
          <a:p>
            <a:r>
              <a:t>Izvori:</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jednog minuta. Jasno izgovori nezavisnost FCC-a. FCC ne proizvodi, ne isporučuje i ne isplaćuje Forever bonuse. Njegovog je uloga organizovati rad, edukaciju, lične preporuke i podršku.</a:t>
            </a:r>
          </a:p>
          <a:p>
            <a:r>
              <a:t/>
            </a:r>
          </a:p>
          <a:p>
            <a:r>
              <a:t>Izvori:</a:t>
            </a:r>
          </a:p>
          <a:p>
            <a:r>
              <a:t>https://forevercard.club/partner</a:t>
            </a:r>
          </a:p>
          <a:p>
            <a:r>
              <a:t>https://foreverliving.com/hrv/hr-hr/about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jednog minuta. Kartica na jednom mjestu okuplja kontakt, sadržaj i Forever Web shop. Novi glavni blok koristi Forever ID iz računa i postojeći resolver. Posjetitelj može provjeriti tržište. Dostupnost proizvoda i uslovi kupovine pripadaju lokalnom Forever shopu.</a:t>
            </a:r>
          </a:p>
          <a:p>
            <a:r>
              <a:t/>
            </a:r>
          </a:p>
          <a:p>
            <a:r>
              <a:t>Izvori:</a:t>
            </a:r>
          </a:p>
          <a:p>
            <a:r>
              <a:t>https://forevercard.club/partner/cards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1,5 minuta. Prikaz stvarne produkcije snimljen 4. oktobra 2026. Primjer je Fiber Fusion. Otvaranje WhatsAppa samo priprema poruku, korisnik je pregledava i sam šalje. Članak i službeni shop su različiti. Nemoj kliknuti slanje u demonstraciji bez stvarne namjere.</a:t>
            </a:r>
          </a:p>
          <a:p>
            <a:r>
              <a:t/>
            </a:r>
          </a:p>
          <a:p>
            <a:r>
              <a:t>Izvori:</a:t>
            </a:r>
          </a:p>
          <a:p>
            <a:r>
              <a:t>https://forevercard.club/partner/share</a:t>
            </a:r>
          </a:p>
          <a:p>
            <a:r>
              <a:t>https://forevercard.club/blog/forever-fiber-fusion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jednog minuta. Preporuka za poslovnu saradnju i Start Your Journey vodi kroz postojeći resolver u službeni lokalni Forever proces sa preporukom saradnika. Cijene, dostupnost i lokalni uslovi nisu jednaki u svim zemljama. Gost sam pregledava i potvrđuje porudžbinu i registraciju.</a:t>
            </a:r>
          </a:p>
          <a:p>
            <a:r>
              <a:t/>
            </a:r>
          </a:p>
          <a:p>
            <a:r>
              <a:t>Izvori:</a:t>
            </a:r>
          </a:p>
          <a:p>
            <a:r>
              <a:t>https://forevercard.club/partner-marketing</a:t>
            </a:r>
          </a:p>
          <a:p>
            <a:r>
              <a:t>https://forevercard.club/partner/cards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1,5 minuta. Kontakti i podsjetnici su dostupni u Free paketu. Prijava za webinar može povezati postojeći kontakt. Naslov i primjer ovdje su zamišljeni, ne lični podaci stvarnih članova. Pripremljena ili kopirana poruka nije poslata, slanje se potvrđuje posebno.</a:t>
            </a:r>
          </a:p>
          <a:p>
            <a:r>
              <a:t/>
            </a:r>
          </a:p>
          <a:p>
            <a:r>
              <a:t>Izvori:</a:t>
            </a:r>
          </a:p>
          <a:p>
            <a:r>
              <a:t>https://forevercard.club/partner/contacts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1,5 minuta. Lični PRO Coach pomaže sa porukom, zadatkom i osvrtom uz poznati kontekst. Ne šalje poruke umjesto korisnika i ne potvrđuje ishod kupovine. Primjer pitanja je zamišljen. Ne prikazuj stvarne privatne razgovore tokom javnog webinara.</a:t>
            </a:r>
          </a:p>
          <a:p>
            <a:r>
              <a:t/>
            </a:r>
          </a:p>
          <a:p>
            <a:r>
              <a:t>Izvori:</a:t>
            </a:r>
          </a:p>
          <a:p>
            <a:r>
              <a:t>https://forevercard.club/partner?view=coach</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1,5 minuta. Aktualni program planira 90 koraka. Dostupnost zavisi o uslovima računa i programa. Nezavršeni korak ostaje dok se ne potvrdi njegov završetak. Sljedeći redovni zadatak dolazi nakon današnjeg završetka prema pravilima programa.</a:t>
            </a:r>
          </a:p>
          <a:p>
            <a:r>
              <a:t/>
            </a:r>
          </a:p>
          <a:p>
            <a:r>
              <a:t>Izvori:</a:t>
            </a:r>
          </a:p>
          <a:p>
            <a:r>
              <a:t>https://forevercard.club/partner</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jednog minuta. Edukacija sadrži šest video lekcija i teme povezane sa razgovorom sa sponzorom ili timom. Pokaži primjer pitanja i kako se ono koristi za razgovor. Prikaz FCC sistema od 4. oktobra 2026.</a:t>
            </a:r>
          </a:p>
          <a:p>
            <a:r>
              <a:t/>
            </a:r>
          </a:p>
          <a:p>
            <a:r>
              <a:t>Izvori:</a:t>
            </a:r>
          </a:p>
          <a:p>
            <a:r>
              <a:t>https://forevercard.club/partner?view=materials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1,5 minuta. Stvarni produkcijski prikaz od 4. oktobra 2026. Termin u demonstraciji je primjer, a ne trajni raspored. Svaki saradnik koristi ličnu pozivnicu. Video i lični uvod zavise o PRO paketu. Otvaranje WhatsAppa ne dokazuje slanje. Poziv možeš prilagoditi i sam podijeliti.</a:t>
            </a:r>
          </a:p>
          <a:p>
            <a:r>
              <a:t/>
            </a:r>
          </a:p>
          <a:p>
            <a:r>
              <a:t>Izvori:</a:t>
            </a:r>
          </a:p>
          <a:p>
            <a:r>
              <a:t>https://forevercard.club/partner/share?type=webinar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2 minuta. Marko je zamišljeni primjer. Prijava je odvojena od dolaska, nema automatskog dokazivanja Zoom učešća. Gost dobija potvrdu i dostupne podsjetnike prema saglasnostima i potvrdi imejla. Ponovna prijava za drugi termin vodi posebnu evidenciju učešća i povezuje isti prepoznati kontakt, uz provjeru kada identitet nije jednoznačan.</a:t>
            </a:r>
          </a:p>
          <a:p>
            <a:r>
              <a:t/>
            </a:r>
          </a:p>
          <a:p>
            <a:r>
              <a:t>Izvori:</a:t>
            </a:r>
          </a:p>
          <a:p>
            <a:r>
              <a:t>https://forevercard.club/partner-webinar?view=activity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1,5 minuta. Organizator s PRO paketom bira jedan ili sedmični termin, jezik i vidljivost samo svojim pozivnicama ili cijelom potvrđenom FCC timu. Članovi njegovog tima mogu pozivati svojim linkom i primaju svoje kontakte. Organizator vidi zbirni broj, ne tuđi privatni CRM. Jezik događaja i jezik računa su odvojeni.</a:t>
            </a:r>
          </a:p>
          <a:p>
            <a:r>
              <a:t/>
            </a:r>
          </a:p>
          <a:p>
            <a:r>
              <a:t>Izvori:</a:t>
            </a:r>
          </a:p>
          <a:p>
            <a:r>
              <a:t>https://forevercard.club/partner-webinar?view=manage</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jednog minuta. PRO prikazuje potvrđenu FCC strukturu, agregatne CC podatke i napredak. CC promjena nije dokaz da je određeni kontakt kupio određeni proizvod. Lično javljanje vodi nacrt, potvrđeno slanje i podsjetnik. Ne prikazuj privatne članove i podatke tokom javne demonstracije.</a:t>
            </a:r>
          </a:p>
          <a:p>
            <a:r>
              <a:t/>
            </a:r>
          </a:p>
          <a:p>
            <a:r>
              <a:t>Izvori:</a:t>
            </a:r>
          </a:p>
          <a:p>
            <a:r>
              <a:t>https://forevercard.club/partner/team</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2 minuta ili kratka demonstracija. Ana je zamišljeni primjer. Pokaži jedan zadatak i jednu pripremljenu poruku bez stvarnog slanja. Zatim pokaži gdje se bilježi dogovor. Ne otvaraj privatne CRM zapise pred publikom.</a:t>
            </a:r>
          </a:p>
          <a:p>
            <a:r>
              <a:t/>
            </a:r>
          </a:p>
          <a:p>
            <a:r>
              <a:t>Izvori:</a:t>
            </a:r>
          </a:p>
          <a:p>
            <a:r>
              <a:t>https://forevercard.club/partner</a:t>
            </a:r>
          </a:p>
          <a:p>
            <a:r>
              <a:t>https://forevercard.club/partner/contacts</a:t>
            </a:r>
          </a:p>
          <a:p>
            <a:r>
              <a:t>https://forevercard.club/partner/share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jednog minuta. Predloženi ritam je primjer organizacije, nije službena obaveza programa. Termin se bira iz aktuelnog rasporeda. Ne pretpostavljaj srijedu, nedjelju ili isti sat za sve timove.</a:t>
            </a:r>
          </a:p>
          <a:p>
            <a:r>
              <a:t/>
            </a:r>
          </a:p>
          <a:p>
            <a:r>
              <a:t>Izvori:</a:t>
            </a:r>
          </a:p>
          <a:p>
            <a:r>
              <a:t>https://forevercard.club/partner/share?type=webinar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1,5 minuta. Ovo je primjer početka sa sponzorom, ne zamjena za konkretne kriterijume programa Moj put. Aktivacija računa i pristup programu imaju svoje uslove. Tempo prilagodi vremenu i znanju osobe.</a:t>
            </a:r>
          </a:p>
          <a:p>
            <a:r>
              <a:t/>
            </a:r>
          </a:p>
          <a:p>
            <a:r>
              <a:t>Izvori:</a:t>
            </a:r>
          </a:p>
          <a:p>
            <a:r>
              <a:t>https://forevercard.club/partner</a:t>
            </a:r>
          </a:p>
          <a:p>
            <a:r>
              <a:t>https://forevercard.club/partner/cards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jednog minuta. Stvarne pogodnosti provjerene u produkciji 4. oktobra 2026. Cijene i tačni limiti mogu se promijeniti, zato se prikazuju u FCC-u. Edukacija je dostupna prema uslovima postojećeg programa. PRO pretplata nije Forever kvalifikacija i ne garantuje prihod.</a:t>
            </a:r>
          </a:p>
          <a:p>
            <a:r>
              <a:t/>
            </a:r>
          </a:p>
          <a:p>
            <a:r>
              <a:t>Izvori:</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2 minuta. Pozovi na stvarna pitanja. Odgovori prema situaciji i lokalnim pravilima. Ako ne znaš odgovor, zapiši pitanje i provjeri službeni izvor ili podršku. Nemoj nuditi projekciju prihoda.</a:t>
            </a:r>
          </a:p>
          <a:p>
            <a:r>
              <a:t/>
            </a:r>
          </a:p>
          <a:p>
            <a:r>
              <a:t>Izvori:</a:t>
            </a:r>
          </a:p>
          <a:p>
            <a:r>
              <a:t>https://cdn.foreverliving.com/content/MarketingConfigurableContent/HRV/Poslovna%20politika/Poslovna%20politika.pdf</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jednog minuta. Dogovori razgovor sa osobom koja je gosta pozvala, po potrebi uz sponzora ili menadžera. Gost ne mora odmah donijeti poslovnu odluku. Ne koristi zajednički kontakt kao zamjenu za ličnog pozivaoca.</a:t>
            </a:r>
          </a:p>
          <a:p>
            <a:r>
              <a:t/>
            </a:r>
          </a:p>
          <a:p>
            <a:r>
              <a:t>Izvori:</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Završetak glavnog dijela. Odgovori na pitanja i podsjeti na lični razgovor. Dodatni slajdovi služe za detaljna pitanja o marketinškom planu, a ne moraju se prolaziti u svakom webinaru.</a:t>
            </a:r>
          </a:p>
          <a:p>
            <a:r>
              <a:t/>
            </a:r>
          </a:p>
          <a:p>
            <a:r>
              <a:t>Izvori:</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Po potrebi. Hrvatska poslovna politika veže lični bonus uz prodajni nivo, aktivnost i propisanu osnovicu. Izraz o prilagođenoj cijeni do 48% ima posebno značenje u politici. Ne znači garantovanu novčanu proviziju na svaku porudžbinu. Ne sabiraj osnovni popust i bonuse kao siguran neto prihod.</a:t>
            </a:r>
          </a:p>
          <a:p>
            <a:r>
              <a:t/>
            </a:r>
          </a:p>
          <a:p>
            <a:r>
              <a:t>Izvori:</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Po potrebi. Hrvatska politika, odjeljak 10. Program je namijenjen aktivnom priznatom Manageru, uz dodatne uslove i održavanje. Kvalifikacija traje tri uzastopna mjeseca. Podsticaj može trajati do 36 mjeseci. Maksimalni iznosi u politici izraženi su u USD. Za lični plan provjeri lokalni obračun i uslove isplate u eurima.</a:t>
            </a:r>
          </a:p>
          <a:p>
            <a:r>
              <a:t/>
            </a:r>
          </a:p>
          <a:p>
            <a:r>
              <a:t>Izvori:</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Po potrebi. Ovo su osnovni pragovi, a puna pravila određuje važeća lokalna politika. Eagle Manager uključuje 720 ukupnih CC, 100 novih CC, tri nove Supervisor linije i dodatne uslove. Global Rally uključuje 1.500 ukupnih CC i 50 novih CC. Novi CC označavaju prodajni volumen novih linija. Chairman’s Bonus ima napredne kvalifikacione uslove, a iznos isplate nije fiksan.</a:t>
            </a:r>
          </a:p>
          <a:p>
            <a:r>
              <a:t/>
            </a:r>
          </a:p>
          <a:p>
            <a:r>
              <a:t>Izvori:</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Po potrebi. Hrvatska politika navodi bonuse 15. sljedećeg mjeseca. Online dobit prenosi se u Global Pay nakon 10., 20. i zadnjeg dana mjeseca. Obračun i priljev na bankovni račun mogu imati različite rokove. Dohodak, porezi i poslovna registracija zavise o stvarnim okolnostima. Lična pitanja upućuj kvalifikovanom savjetniku i službenoj podršci.</a:t>
            </a:r>
          </a:p>
          <a:p>
            <a:r>
              <a:t/>
            </a:r>
          </a:p>
          <a:p>
            <a:r>
              <a:t>Izvori:</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64707d8734454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603b1c9a625400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991a54b21bb4ad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f8e0804b00442d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7e8e4d02edd4dc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01cdb0906e7420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F74769-3CBD-4239-A818-D9166EFEF5B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6042203-E90D-4177-99CB-E5E2C734199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E2FCF2E-2D72-496B-8F60-FE46E13BE07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775AFD-5424-4228-AFD5-4BC8664224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3975AA1-4E8D-49F3-B4BE-05D474ECD03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FCF18A8-1252-41C0-8CBF-B3940F037E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7E68A17-6C5D-4A77-8C64-27A74687D29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BD60F0C-4409-4658-8236-F7B45BD1BD7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5FBD3C-3E2D-4E80-8CD4-5B20E1124F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40E3664-B48C-4CCF-A458-5AD8D6B31AD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b32fd4c33147ec" /><Relationship Type="http://schemas.openxmlformats.org/officeDocument/2006/relationships/slideLayout" Target="/ppt/slideLayouts/slideLayout1.xml" Id="R222ce6330a5b4ca8" /><Relationship Type="http://schemas.openxmlformats.org/officeDocument/2006/relationships/slideLayout" Target="/ppt/slideLayouts/slideLayout2.xml" Id="R6b5e57ad54854d85" /><Relationship Type="http://schemas.openxmlformats.org/officeDocument/2006/relationships/slideLayout" Target="/ppt/slideLayouts/slideLayout3.xml" Id="Rab436a0ab7cb4f40" /><Relationship Type="http://schemas.openxmlformats.org/officeDocument/2006/relationships/slideLayout" Target="/ppt/slideLayouts/slideLayout4.xml" Id="R918e832eccb44b54" /><Relationship Type="http://schemas.openxmlformats.org/officeDocument/2006/relationships/slideLayout" Target="/ppt/slideLayouts/slideLayout5.xml" Id="Rf01cc88d49c044cf" /><Relationship Type="http://schemas.openxmlformats.org/officeDocument/2006/relationships/slideLayout" Target="/ppt/slideLayouts/slideLayout6.xml" Id="Rbb2fac1f08344bd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2ce6330a5b4ca8"/>
    <p:sldLayoutId xmlns:r="http://schemas.openxmlformats.org/officeDocument/2006/relationships" id="2147483650" r:id="R6b5e57ad54854d85"/>
    <p:sldLayoutId xmlns:r="http://schemas.openxmlformats.org/officeDocument/2006/relationships" id="2147483651" r:id="Rab436a0ab7cb4f40"/>
    <p:sldLayoutId xmlns:r="http://schemas.openxmlformats.org/officeDocument/2006/relationships" id="2147483652" r:id="R918e832eccb44b54"/>
    <p:sldLayoutId xmlns:r="http://schemas.openxmlformats.org/officeDocument/2006/relationships" id="2147483653" r:id="Rf01cc88d49c044cf"/>
    <p:sldLayoutId xmlns:r="http://schemas.openxmlformats.org/officeDocument/2006/relationships" id="2147483654" r:id="Rbb2fac1f08344bd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8e8b876870b4bd3" /><Relationship Type="http://schemas.openxmlformats.org/officeDocument/2006/relationships/image" Target="/ppt/media/image.jpeg" Id="R034c0eeccf4948c0" /><Relationship Type="http://schemas.openxmlformats.org/officeDocument/2006/relationships/image" Target="/ppt/media/image.png" Id="R2b8d2ff69cca4c51" /><Relationship Type="http://schemas.openxmlformats.org/officeDocument/2006/relationships/notesSlide" Target="/ppt/notesSlides/notesSlide1.xml" Id="R81b9f33499044c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c036672317249bc" /><Relationship Type="http://schemas.openxmlformats.org/officeDocument/2006/relationships/image" Target="/ppt/media/image2.png" Id="R83eae1d8ff684ca8" /><Relationship Type="http://schemas.openxmlformats.org/officeDocument/2006/relationships/image" Target="/ppt/media/image2.jpeg" Id="R7d26e2f4bdc14ea7" /><Relationship Type="http://schemas.openxmlformats.org/officeDocument/2006/relationships/notesSlide" Target="/ppt/notesSlides/notesSlide2.xml" Id="Rb7545ed1f51d4e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4c735092e2049a9" /><Relationship Type="http://schemas.openxmlformats.org/officeDocument/2006/relationships/image" Target="/ppt/media/image3.png" Id="R242c0c3a74d44c3e" /><Relationship Type="http://schemas.openxmlformats.org/officeDocument/2006/relationships/notesSlide" Target="/ppt/notesSlides/notesSlide3.xml" Id="Rf304fb9e41e44f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a17a4223055445a" /><Relationship Type="http://schemas.openxmlformats.org/officeDocument/2006/relationships/image" Target="/ppt/media/image4.png" Id="Rdae54c54c13e41c1" /><Relationship Type="http://schemas.openxmlformats.org/officeDocument/2006/relationships/image" Target="/ppt/media/image3.jpeg" Id="Ra3daa3908981400c" /><Relationship Type="http://schemas.openxmlformats.org/officeDocument/2006/relationships/notesSlide" Target="/ppt/notesSlides/notesSlide4.xml" Id="R0285fcbda835496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21b2435988947ea" /><Relationship Type="http://schemas.openxmlformats.org/officeDocument/2006/relationships/image" Target="/ppt/media/image5.png" Id="Rba10fc9d1268426c" /><Relationship Type="http://schemas.openxmlformats.org/officeDocument/2006/relationships/image" Target="/ppt/media/image6.png" Id="R5eebdc2fa42747ce" /><Relationship Type="http://schemas.openxmlformats.org/officeDocument/2006/relationships/notesSlide" Target="/ppt/notesSlides/notesSlide5.xml" Id="Rfecf98df9a1a4e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6d898239d1c4bc7" /><Relationship Type="http://schemas.openxmlformats.org/officeDocument/2006/relationships/image" Target="/ppt/media/image7.png" Id="Rc418f7fc157f4c3e" /><Relationship Type="http://schemas.openxmlformats.org/officeDocument/2006/relationships/image" Target="/ppt/media/image4.jpeg" Id="R760ec06578814d61" /><Relationship Type="http://schemas.openxmlformats.org/officeDocument/2006/relationships/image" Target="/ppt/media/image5.jpeg" Id="R67e74f1e1fe24f58" /><Relationship Type="http://schemas.openxmlformats.org/officeDocument/2006/relationships/notesSlide" Target="/ppt/notesSlides/notesSlide6.xml" Id="Rfe88255fd576414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9b6062e5e124a0a" /><Relationship Type="http://schemas.openxmlformats.org/officeDocument/2006/relationships/image" Target="/ppt/media/image8.png" Id="R9d24496200b841ee" /><Relationship Type="http://schemas.openxmlformats.org/officeDocument/2006/relationships/notesSlide" Target="/ppt/notesSlides/notesSlide7.xml" Id="R299db23e058f4f5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9d1c24b5618406a" /><Relationship Type="http://schemas.openxmlformats.org/officeDocument/2006/relationships/image" Target="/ppt/media/image9.png" Id="R051be96e5b284a3e" /><Relationship Type="http://schemas.openxmlformats.org/officeDocument/2006/relationships/notesSlide" Target="/ppt/notesSlides/notesSlide8.xml" Id="R0e3bd16dd9f7403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a0e6f8c9f284a17" /><Relationship Type="http://schemas.openxmlformats.org/officeDocument/2006/relationships/image" Target="/ppt/media/image10.png" Id="Rf661f195b5314748" /><Relationship Type="http://schemas.openxmlformats.org/officeDocument/2006/relationships/notesSlide" Target="/ppt/notesSlides/notesSlide9.xml" Id="Re8ee2aa0c2d745d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2528d2b8f874644" /><Relationship Type="http://schemas.openxmlformats.org/officeDocument/2006/relationships/image" Target="/ppt/media/image11.png" Id="Redb93a4280434ff1" /><Relationship Type="http://schemas.openxmlformats.org/officeDocument/2006/relationships/notesSlide" Target="/ppt/notesSlides/notesSlide10.xml" Id="R6cb81f1d52bb485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b9ab9d061bb401c" /><Relationship Type="http://schemas.openxmlformats.org/officeDocument/2006/relationships/image" Target="/ppt/media/image12.png" Id="R5bc897ca9a314817" /><Relationship Type="http://schemas.openxmlformats.org/officeDocument/2006/relationships/notesSlide" Target="/ppt/notesSlides/notesSlide11.xml" Id="R21c3170dc7f34b8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5fc977a777745a7" /><Relationship Type="http://schemas.openxmlformats.org/officeDocument/2006/relationships/image" Target="/ppt/media/image13.png" Id="Rc8567ceef5234c8d" /><Relationship Type="http://schemas.openxmlformats.org/officeDocument/2006/relationships/notesSlide" Target="/ppt/notesSlides/notesSlide12.xml" Id="R8a3483c1ab694df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32506bf467547bd" /><Relationship Type="http://schemas.openxmlformats.org/officeDocument/2006/relationships/image" Target="/ppt/media/image14.png" Id="Rf83108d97d584295" /><Relationship Type="http://schemas.openxmlformats.org/officeDocument/2006/relationships/notesSlide" Target="/ppt/notesSlides/notesSlide13.xml" Id="Rb81f8c0116bd4fe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c6c16df8f9b4a2d" /><Relationship Type="http://schemas.openxmlformats.org/officeDocument/2006/relationships/notesSlide" Target="/ppt/notesSlides/notesSlide14.xml" Id="R744adfba47b3489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d62801bc3f64cec" /><Relationship Type="http://schemas.openxmlformats.org/officeDocument/2006/relationships/image" Target="/ppt/media/image15.png" Id="R96ec4f327d4d4f96" /><Relationship Type="http://schemas.openxmlformats.org/officeDocument/2006/relationships/notesSlide" Target="/ppt/notesSlides/notesSlide15.xml" Id="R28a7cd00d350454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480e1010a4749a2" /><Relationship Type="http://schemas.openxmlformats.org/officeDocument/2006/relationships/image" Target="/ppt/media/image16.png" Id="Rc17e468844c54e84" /><Relationship Type="http://schemas.openxmlformats.org/officeDocument/2006/relationships/image" Target="/ppt/media/image6.jpeg" Id="R94ff2c7901084e46" /><Relationship Type="http://schemas.openxmlformats.org/officeDocument/2006/relationships/notesSlide" Target="/ppt/notesSlides/notesSlide16.xml" Id="Ree7c05797a5148f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da9fcec88d4440c" /><Relationship Type="http://schemas.openxmlformats.org/officeDocument/2006/relationships/image" Target="/ppt/media/image17.png" Id="R595a642bf0454749" /><Relationship Type="http://schemas.openxmlformats.org/officeDocument/2006/relationships/notesSlide" Target="/ppt/notesSlides/notesSlide17.xml" Id="R989c80c1ab7649a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537c883443c4227" /><Relationship Type="http://schemas.openxmlformats.org/officeDocument/2006/relationships/image" Target="/ppt/media/image18.png" Id="Rcc997d641f674b2e" /><Relationship Type="http://schemas.openxmlformats.org/officeDocument/2006/relationships/notesSlide" Target="/ppt/notesSlides/notesSlide18.xml" Id="R8d03a8edfbe44b2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51ab6cc4d054267" /><Relationship Type="http://schemas.openxmlformats.org/officeDocument/2006/relationships/image" Target="/ppt/media/image19.png" Id="R64b74fa4d54445c9" /><Relationship Type="http://schemas.openxmlformats.org/officeDocument/2006/relationships/notesSlide" Target="/ppt/notesSlides/notesSlide19.xml" Id="R73252235dda1420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04f72282a1f43c7" /><Relationship Type="http://schemas.openxmlformats.org/officeDocument/2006/relationships/image" Target="/ppt/media/image20.png" Id="R5343d6ff4c174578" /><Relationship Type="http://schemas.openxmlformats.org/officeDocument/2006/relationships/notesSlide" Target="/ppt/notesSlides/notesSlide20.xml" Id="R1ae34887bf6b469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ed28d195f35443d" /><Relationship Type="http://schemas.openxmlformats.org/officeDocument/2006/relationships/image" Target="/ppt/media/image21.png" Id="Rd2520270cdcb44be" /><Relationship Type="http://schemas.openxmlformats.org/officeDocument/2006/relationships/image" Target="/ppt/media/image7.jpeg" Id="Rc24afb3e1b784e7e" /><Relationship Type="http://schemas.openxmlformats.org/officeDocument/2006/relationships/notesSlide" Target="/ppt/notesSlides/notesSlide21.xml" Id="Rbc0de2a1637e4a5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e16aecb56c245ae" /><Relationship Type="http://schemas.openxmlformats.org/officeDocument/2006/relationships/image" Target="/ppt/media/image22.png" Id="R9e74150305fa4111" /><Relationship Type="http://schemas.openxmlformats.org/officeDocument/2006/relationships/image" Target="/ppt/media/image8.jpeg" Id="R1e50648732a948d2" /><Relationship Type="http://schemas.openxmlformats.org/officeDocument/2006/relationships/notesSlide" Target="/ppt/notesSlides/notesSlide22.xml" Id="R30e134802af8440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7e27ec12d1a473a" /><Relationship Type="http://schemas.openxmlformats.org/officeDocument/2006/relationships/image" Target="/ppt/media/image23.png" Id="R767dfad8865d4072" /><Relationship Type="http://schemas.openxmlformats.org/officeDocument/2006/relationships/notesSlide" Target="/ppt/notesSlides/notesSlide23.xml" Id="Rcdffd40f7fb54e0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f4213f8477847af" /><Relationship Type="http://schemas.openxmlformats.org/officeDocument/2006/relationships/image" Target="/ppt/media/image24.png" Id="R91a2746f4c374b45" /><Relationship Type="http://schemas.openxmlformats.org/officeDocument/2006/relationships/notesSlide" Target="/ppt/notesSlides/notesSlide24.xml" Id="Re08558424ab0423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31ef9866f844b13" /><Relationship Type="http://schemas.openxmlformats.org/officeDocument/2006/relationships/image" Target="/ppt/media/image25.png" Id="R59ec47a19bc2488c" /><Relationship Type="http://schemas.openxmlformats.org/officeDocument/2006/relationships/notesSlide" Target="/ppt/notesSlides/notesSlide25.xml" Id="Rfe051ce0ad3743a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04e216661cb46d8" /><Relationship Type="http://schemas.openxmlformats.org/officeDocument/2006/relationships/notesSlide" Target="/ppt/notesSlides/notesSlide26.xml" Id="Rd955d76780a0445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31edf40b97d430e" /><Relationship Type="http://schemas.openxmlformats.org/officeDocument/2006/relationships/image" Target="/ppt/media/image26.png" Id="R5fc007ce49884a48" /><Relationship Type="http://schemas.openxmlformats.org/officeDocument/2006/relationships/notesSlide" Target="/ppt/notesSlides/notesSlide27.xml" Id="R6e2c3395d089417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820138f73cd44f4" /><Relationship Type="http://schemas.openxmlformats.org/officeDocument/2006/relationships/image" Target="/ppt/media/image27.png" Id="R2ce76662dc9b4623" /><Relationship Type="http://schemas.openxmlformats.org/officeDocument/2006/relationships/notesSlide" Target="/ppt/notesSlides/notesSlide28.xml" Id="R26fc3c5b9f414fd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d9355eb3c3e4fc5" /><Relationship Type="http://schemas.openxmlformats.org/officeDocument/2006/relationships/image" Target="/ppt/media/image28.png" Id="R5e6a51b14994433f" /><Relationship Type="http://schemas.openxmlformats.org/officeDocument/2006/relationships/notesSlide" Target="/ppt/notesSlides/notesSlide29.xml" Id="Rc99cf4ce3b1f4ee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04d39c204f04178" /><Relationship Type="http://schemas.openxmlformats.org/officeDocument/2006/relationships/image" Target="/ppt/media/image29.png" Id="R90f9cc35fcf0450c" /><Relationship Type="http://schemas.openxmlformats.org/officeDocument/2006/relationships/notesSlide" Target="/ppt/notesSlides/notesSlide30.xml" Id="R84d2f32132a4487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2187c0cea7e4553" /><Relationship Type="http://schemas.openxmlformats.org/officeDocument/2006/relationships/image" Target="/ppt/media/image30.png" Id="R83eb3923d8184bad" /><Relationship Type="http://schemas.openxmlformats.org/officeDocument/2006/relationships/notesSlide" Target="/ppt/notesSlides/notesSlide31.xml" Id="R041eb70f80e446a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50ab2bf6fa284ec2" /><Relationship Type="http://schemas.openxmlformats.org/officeDocument/2006/relationships/notesSlide" Target="/ppt/notesSlides/notesSlide32.xml" Id="Rfba93b99e45c4dc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92ee66e90d034c10" /><Relationship Type="http://schemas.openxmlformats.org/officeDocument/2006/relationships/image" Target="/ppt/media/image31.png" Id="R36ae438961544b63" /><Relationship Type="http://schemas.openxmlformats.org/officeDocument/2006/relationships/notesSlide" Target="/ppt/notesSlides/notesSlide33.xml" Id="R5a1843e749774ba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1b2c9e6ee3d842b0" /><Relationship Type="http://schemas.openxmlformats.org/officeDocument/2006/relationships/image" Target="/ppt/media/image32.png" Id="R9c5ed023181f4870" /><Relationship Type="http://schemas.openxmlformats.org/officeDocument/2006/relationships/notesSlide" Target="/ppt/notesSlides/notesSlide34.xml" Id="R0496a57b86264bb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f9a51a4052a9476f" /><Relationship Type="http://schemas.openxmlformats.org/officeDocument/2006/relationships/image" Target="/ppt/media/image33.png" Id="R58ce5c4bc3ef4c8b" /><Relationship Type="http://schemas.openxmlformats.org/officeDocument/2006/relationships/notesSlide" Target="/ppt/notesSlides/notesSlide35.xml" Id="R2fc1dca00dc3471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a83230092d6b4ea4" /><Relationship Type="http://schemas.openxmlformats.org/officeDocument/2006/relationships/image" Target="/ppt/media/image34.png" Id="R94ed22d42f074bff" /><Relationship Type="http://schemas.openxmlformats.org/officeDocument/2006/relationships/notesSlide" Target="/ppt/notesSlides/notesSlide36.xml" Id="R31e5ae07ec8642d3" /></Relationships>
</file>

<file path=ppt/slides/slide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sp>
        <p:nvSpPr>
          <p:cNvPr id="7" name="">
            <a:extLst>
              <a:ext uri="{FF2B5EF4-FFF2-40B4-BE49-F238E27FC236}">
                <ns2:creationId id="{A7AC97BE-995D-43C8-B710-19D4F10EEBAB}"/>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ME">
                <a:solidFill>
                  <a:srgbClr val="526B63"/>
                </a:solidFill>
                <a:latin typeface="Arial"/>
                <a:ea typeface="Arial"/>
                <a:cs typeface="Arial"/>
              </a:rPr>
              <a:t>01</a:t>
            </a:r>
          </a:p>
        </p:txBody>
      </p:sp>
      <p:pic>
        <p:nvPicPr>
          <p:cNvPr id="2" name="">
            <a:extLst>
              <a:ext uri="{FF2B5EF4-FFF2-40B4-BE49-F238E27FC236}">
                <ns2:creationId id="{256D1567-1E22-4203-8C6B-FAC7BC7E5857}"/>
              </a:ext>
            </a:extLst>
          </p:cNvPr>
          <p:cNvPicPr>
            <a:picLocks noChangeAspect="1"/>
          </p:cNvPicPr>
          <p:nvPr/>
        </p:nvPicPr>
        <p:blipFill>
          <a:blip r:embed="R034c0eeccf4948c0"/>
          <a:srcRect l="24610" t="0" r="24610" b="0"/>
          <a:stretch>
            <a:fillRect l="0" t="0" r="0" b="0"/>
          </a:stretch>
        </p:blipFill>
        <p:spPr>
          <a:xfrm>
            <a:off x="6810375" y="0"/>
            <a:ext cx="5381625" cy="6858000"/>
          </a:xfrm>
          <a:prstGeom prst="rect">
            <a:avLst/>
          </a:prstGeom>
        </p:spPr>
      </p:pic>
      <p:pic>
        <p:nvPicPr>
          <p:cNvPr id="3" name="">
            <a:extLst>
              <a:ext uri="{FF2B5EF4-FFF2-40B4-BE49-F238E27FC236}">
                <ns2:creationId id="{95EA2546-934B-459A-AC59-934CC0E1E9C1}"/>
              </a:ext>
            </a:extLst>
          </p:cNvPr>
          <p:cNvPicPr>
            <a:picLocks noChangeAspect="1"/>
          </p:cNvPicPr>
          <p:nvPr/>
        </p:nvPicPr>
        <p:blipFill>
          <a:blip r:embed="R2b8d2ff69cca4c51"/>
          <a:stretch/>
        </p:blipFill>
        <p:spPr>
          <a:xfrm>
            <a:off x="609600" y="463276"/>
            <a:ext cx="2457450" cy="635547"/>
          </a:xfrm>
          <a:prstGeom prst="rect">
            <a:avLst/>
          </a:prstGeom>
        </p:spPr>
      </p:pic>
      <p:sp>
        <p:nvSpPr>
          <p:cNvPr id="4" name="">
            <a:extLst>
              <a:ext uri="{FF2B5EF4-FFF2-40B4-BE49-F238E27FC236}">
                <ns2:creationId id="{7A84D4CA-7994-4015-BA7A-862B8C85D61A}"/>
              </a:ext>
            </a:extLst>
          </p:cNvPr>
          <p:cNvSpPr>
            <a:spLocks noGrp="1"/>
          </p:cNvSpPr>
          <p:nvPr/>
        </p:nvSpPr>
        <p:spPr>
          <a:xfrm>
            <a:off x="609600" y="1943100"/>
            <a:ext cx="6191250" cy="790575"/>
          </a:xfrm>
          <a:prstGeom prst="rect">
            <a:avLst/>
          </a:prstGeom>
          <a:noFill/>
          <a:ln w="0">
            <a:noFill/>
          </a:ln>
        </p:spPr>
        <p:txBody>
          <a:bodyPr wrap="square" lIns="0" tIns="0" rIns="0" bIns="0" anchor="t">
            <a:noAutofit/>
          </a:bodyPr>
          <a:lstStyle>
            <a:defPPr>
              <a:defRPr sz="4950" b="1">
                <a:solidFill>
                  <a:srgbClr val="153F36"/>
                </a:solidFill>
                <a:latin typeface="Arial"/>
                <a:ea typeface="Arial"/>
                <a:cs typeface="Arial"/>
              </a:defRPr>
            </a:defPPr>
          </a:lstStyle>
          <a:p>
            <a:pPr>
              <a:defRPr sz="4950" b="1">
                <a:solidFill>
                  <a:srgbClr val="153F36"/>
                </a:solidFill>
                <a:latin typeface="Arial"/>
                <a:ea typeface="Arial"/>
                <a:cs typeface="Arial"/>
              </a:defRPr>
            </a:pPr>
            <a:r>
              <a:rPr sz="4950" b="1" lang="sr-Latn-ME">
                <a:solidFill>
                  <a:srgbClr val="153F36"/>
                </a:solidFill>
                <a:latin typeface="Arial"/>
                <a:ea typeface="Arial"/>
                <a:cs typeface="Arial"/>
              </a:rPr>
              <a:t>Forever i FCC</a:t>
            </a:r>
          </a:p>
        </p:txBody>
      </p:sp>
      <p:sp>
        <p:nvSpPr>
          <p:cNvPr id="5" name="">
            <a:extLst>
              <a:ext uri="{FF2B5EF4-FFF2-40B4-BE49-F238E27FC236}">
                <ns2:creationId id="{FC0596C7-1725-4D0C-95AB-F7C38913635E}"/>
              </a:ext>
            </a:extLst>
          </p:cNvPr>
          <p:cNvSpPr>
            <a:spLocks noGrp="1"/>
          </p:cNvSpPr>
          <p:nvPr/>
        </p:nvSpPr>
        <p:spPr>
          <a:xfrm>
            <a:off x="609600" y="2857500"/>
            <a:ext cx="6115050" cy="1676400"/>
          </a:xfrm>
          <a:prstGeom prst="rect">
            <a:avLst/>
          </a:prstGeom>
          <a:noFill/>
          <a:ln w="0">
            <a:noFill/>
          </a:ln>
        </p:spPr>
        <p:txBody>
          <a:bodyPr wrap="square" lIns="0" tIns="0" rIns="0" bIns="0" anchor="t">
            <a:noAutofit/>
          </a:bodyPr>
          <a:lstStyle>
            <a:defPPr>
              <a:defRPr sz="5250" b="1">
                <a:solidFill>
                  <a:srgbClr val="153F36"/>
                </a:solidFill>
                <a:latin typeface="Arial"/>
                <a:ea typeface="Arial"/>
                <a:cs typeface="Arial"/>
              </a:defRPr>
            </a:defPPr>
          </a:lstStyle>
          <a:p>
            <a:pPr>
              <a:defRPr sz="5250" b="1">
                <a:solidFill>
                  <a:srgbClr val="153F36"/>
                </a:solidFill>
                <a:latin typeface="Arial"/>
                <a:ea typeface="Arial"/>
                <a:cs typeface="Arial"/>
              </a:defRPr>
            </a:pPr>
            <a:r>
              <a:rPr sz="5250" b="1" lang="sr-Latn-ME">
                <a:solidFill>
                  <a:srgbClr val="153F36"/>
                </a:solidFill>
                <a:latin typeface="Arial"/>
                <a:ea typeface="Arial"/>
                <a:cs typeface="Arial"/>
              </a:rPr>
              <a:t>Poslovna prilika</a:t>
            </a:r>
          </a:p>
          <a:p>
            <a:pPr>
              <a:defRPr sz="5250" b="1">
                <a:solidFill>
                  <a:srgbClr val="153F36"/>
                </a:solidFill>
                <a:latin typeface="Arial"/>
                <a:ea typeface="Arial"/>
                <a:cs typeface="Arial"/>
              </a:defRPr>
            </a:pPr>
            <a:r>
              <a:rPr sz="5250" b="1" lang="sr-Latn-ME">
                <a:solidFill>
                  <a:srgbClr val="153F36"/>
                </a:solidFill>
                <a:latin typeface="Arial"/>
                <a:ea typeface="Arial"/>
                <a:cs typeface="Arial"/>
              </a:rPr>
              <a:t>u praksi</a:t>
            </a:r>
          </a:p>
        </p:txBody>
      </p:sp>
      <p:sp>
        <p:nvSpPr>
          <p:cNvPr id="6" name="">
            <a:extLst>
              <a:ext uri="{FF2B5EF4-FFF2-40B4-BE49-F238E27FC236}">
                <ns2:creationId id="{1753A05F-C655-42C5-8499-56D405EA3424}"/>
              </a:ext>
            </a:extLst>
          </p:cNvPr>
          <p:cNvSpPr>
            <a:spLocks noGrp="1"/>
          </p:cNvSpPr>
          <p:nvPr/>
        </p:nvSpPr>
        <p:spPr>
          <a:xfrm>
            <a:off x="609600" y="5067300"/>
            <a:ext cx="5772150" cy="990600"/>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sr-Latn-ME">
                <a:solidFill>
                  <a:srgbClr val="526B63"/>
                </a:solidFill>
                <a:latin typeface="Arial"/>
                <a:ea typeface="Arial"/>
                <a:cs typeface="Arial"/>
              </a:rPr>
              <a:t>Proizvodi, saradnja i svakodnevni rad uz digitalnu podršku.</a:t>
            </a:r>
          </a:p>
        </p:txBody>
      </p:sp>
    </p:spTree>
    <p:extLst>
      <p:ext uri="{BB962C8B-B14F-4D97-AF65-F5344CB8AC3E}">
        <ns4:creationId val="1491815882"/>
      </p:ext>
    </p:extLst>
  </p:cSld>
</p:sld>
</file>

<file path=ppt/slides/slide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8" name="">
            <a:extLst>
              <a:ext uri="{FF2B5EF4-FFF2-40B4-BE49-F238E27FC236}">
                <ns2:creationId id="{744F585C-B6A5-433C-8BE0-CC464C4C779F}"/>
              </a:ext>
            </a:extLst>
          </p:cNvPr>
          <p:cNvPicPr>
            <a:picLocks noChangeAspect="1"/>
          </p:cNvPicPr>
          <p:nvPr/>
        </p:nvPicPr>
        <p:blipFill>
          <a:blip r:embed="R83eae1d8ff684ca8"/>
          <a:stretch/>
        </p:blipFill>
        <p:spPr>
          <a:xfrm>
            <a:off x="9867900" y="276061"/>
            <a:ext cx="1695450" cy="438478"/>
          </a:xfrm>
          <a:prstGeom prst="rect">
            <a:avLst/>
          </a:prstGeom>
        </p:spPr>
      </p:pic>
      <p:sp>
        <p:nvSpPr>
          <p:cNvPr id="2" name="">
            <a:extLst>
              <a:ext uri="{FF2B5EF4-FFF2-40B4-BE49-F238E27FC236}">
                <ns2:creationId id="{A68AD40D-226F-4ECC-A3CD-2A2C9C7D53B2}"/>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ME">
                <a:solidFill>
                  <a:srgbClr val="526B63"/>
                </a:solidFill>
                <a:latin typeface="Arial"/>
                <a:ea typeface="Arial"/>
                <a:cs typeface="Arial"/>
              </a:rPr>
              <a:t>02</a:t>
            </a:r>
          </a:p>
        </p:txBody>
      </p:sp>
      <p:sp>
        <p:nvSpPr>
          <p:cNvPr id="3" name="Naslov">
            <a:extLst>
              <a:ext uri="{FF2B5EF4-FFF2-40B4-BE49-F238E27FC236}">
                <ns2:creationId id="{1176B0B2-066B-4212-A51F-514684F66C87}"/>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ME">
                <a:solidFill>
                  <a:srgbClr val="153F36"/>
                </a:solidFill>
                <a:latin typeface="Arial"/>
                <a:ea typeface="Arial"/>
                <a:cs typeface="Arial"/>
              </a:rPr>
              <a:t>Vaši domaćini</a:t>
            </a:r>
          </a:p>
        </p:txBody>
      </p:sp>
      <p:sp>
        <p:nvSpPr>
          <p:cNvPr id="4" name="Predavač, ime">
            <a:extLst>
              <a:ext uri="{FF2B5EF4-FFF2-40B4-BE49-F238E27FC236}">
                <ns2:creationId id="{8C10299F-EDB2-4E7F-B49E-4F214720F8FE}"/>
              </a:ext>
            </a:extLst>
          </p:cNvPr>
          <p:cNvSpPr>
            <a:spLocks noGrp="1"/>
          </p:cNvSpPr>
          <p:nvPr/>
        </p:nvSpPr>
        <p:spPr>
          <a:xfrm>
            <a:off x="609600" y="2181225"/>
            <a:ext cx="5381625" cy="1314450"/>
          </a:xfrm>
          <a:prstGeom prst="rect">
            <a:avLst/>
          </a:prstGeom>
          <a:noFill/>
          <a:ln w="0">
            <a:noFill/>
          </a:ln>
        </p:spPr>
        <p:txBody>
          <a:bodyPr wrap="square" lIns="0" tIns="0" rIns="0" bIns="0" anchor="t">
            <a:noAutofit/>
          </a:bodyPr>
          <a:lstStyle>
            <a:defPPr>
              <a:defRPr sz="3975" b="1">
                <a:solidFill>
                  <a:srgbClr val="153F36"/>
                </a:solidFill>
                <a:latin typeface="Arial"/>
                <a:ea typeface="Arial"/>
                <a:cs typeface="Arial"/>
              </a:defRPr>
            </a:defPPr>
          </a:lstStyle>
          <a:p>
            <a:pPr>
              <a:defRPr sz="3975" b="1">
                <a:solidFill>
                  <a:srgbClr val="153F36"/>
                </a:solidFill>
                <a:latin typeface="Arial"/>
                <a:ea typeface="Arial"/>
                <a:cs typeface="Arial"/>
              </a:defRPr>
            </a:pPr>
            <a:r>
              <a:rPr sz="3975" b="1" lang="sr-Latn-ME">
                <a:solidFill>
                  <a:srgbClr val="153F36"/>
                </a:solidFill>
                <a:latin typeface="Arial"/>
                <a:ea typeface="Arial"/>
                <a:cs typeface="Arial"/>
              </a:rPr>
              <a:t>Stjepan i</a:t>
            </a:r>
          </a:p>
          <a:p>
            <a:pPr>
              <a:defRPr sz="3975" b="1">
                <a:solidFill>
                  <a:srgbClr val="153F36"/>
                </a:solidFill>
                <a:latin typeface="Arial"/>
                <a:ea typeface="Arial"/>
                <a:cs typeface="Arial"/>
              </a:defRPr>
            </a:pPr>
            <a:r>
              <a:rPr sz="3975" b="1" lang="sr-Latn-ME">
                <a:solidFill>
                  <a:srgbClr val="153F36"/>
                </a:solidFill>
                <a:latin typeface="Arial"/>
                <a:ea typeface="Arial"/>
                <a:cs typeface="Arial"/>
              </a:rPr>
              <a:t>Snježana Beloša</a:t>
            </a:r>
          </a:p>
        </p:txBody>
      </p:sp>
      <p:sp>
        <p:nvSpPr>
          <p:cNvPr id="5" name="Predavač, opis">
            <a:extLst>
              <a:ext uri="{FF2B5EF4-FFF2-40B4-BE49-F238E27FC236}">
                <ns2:creationId id="{C8BD6CD1-D5ED-485E-A612-0D7A42166A3E}"/>
              </a:ext>
            </a:extLst>
          </p:cNvPr>
          <p:cNvSpPr>
            <a:spLocks noGrp="1"/>
          </p:cNvSpPr>
          <p:nvPr/>
        </p:nvSpPr>
        <p:spPr>
          <a:xfrm>
            <a:off x="609600" y="3810000"/>
            <a:ext cx="5076825" cy="990600"/>
          </a:xfrm>
          <a:prstGeom prst="rect">
            <a:avLst/>
          </a:prstGeom>
          <a:noFill/>
          <a:ln w="0">
            <a:noFill/>
          </a:ln>
        </p:spPr>
        <p:txBody>
          <a:bodyPr wrap="square" lIns="0" tIns="0" rIns="0" bIns="0" anchor="t">
            <a:noAutofit/>
          </a:bodyPr>
          <a:lstStyle>
            <a:defPPr>
              <a:defRPr sz="2250" b="0">
                <a:solidFill>
                  <a:srgbClr val="526B63"/>
                </a:solidFill>
                <a:latin typeface="Arial"/>
                <a:ea typeface="Arial"/>
                <a:cs typeface="Arial"/>
              </a:defRPr>
            </a:defPPr>
          </a:lstStyle>
          <a:p>
            <a:pPr>
              <a:defRPr sz="2250" b="0">
                <a:solidFill>
                  <a:srgbClr val="526B63"/>
                </a:solidFill>
                <a:latin typeface="Arial"/>
                <a:ea typeface="Arial"/>
                <a:cs typeface="Arial"/>
              </a:defRPr>
            </a:pPr>
            <a:r>
              <a:rPr sz="2250" b="0" lang="sr-Latn-ME">
                <a:solidFill>
                  <a:srgbClr val="526B63"/>
                </a:solidFill>
                <a:latin typeface="Arial"/>
                <a:ea typeface="Arial"/>
                <a:cs typeface="Arial"/>
              </a:rPr>
              <a:t>Kreatori Forever Card Cluba</a:t>
            </a:r>
          </a:p>
          <a:p>
            <a:pPr>
              <a:defRPr sz="2250" b="0">
                <a:solidFill>
                  <a:srgbClr val="526B63"/>
                </a:solidFill>
                <a:latin typeface="Arial"/>
                <a:ea typeface="Arial"/>
                <a:cs typeface="Arial"/>
              </a:defRPr>
            </a:pPr>
            <a:r>
              <a:rPr sz="2250" b="0" lang="sr-Latn-ME">
                <a:solidFill>
                  <a:srgbClr val="526B63"/>
                </a:solidFill>
                <a:latin typeface="Arial"/>
                <a:ea typeface="Arial"/>
                <a:cs typeface="Arial"/>
              </a:rPr>
              <a:t>i mentori našeg tima.</a:t>
            </a:r>
          </a:p>
        </p:txBody>
      </p:sp>
      <p:sp>
        <p:nvSpPr>
          <p:cNvPr id="6" name="Predavač, lična poruka">
            <a:extLst>
              <a:ext uri="{FF2B5EF4-FFF2-40B4-BE49-F238E27FC236}">
                <ns2:creationId id="{C7EB62E8-86BA-442F-820A-95F8E087C2C6}"/>
              </a:ext>
            </a:extLst>
          </p:cNvPr>
          <p:cNvSpPr>
            <a:spLocks noGrp="1"/>
          </p:cNvSpPr>
          <p:nvPr/>
        </p:nvSpPr>
        <p:spPr>
          <a:xfrm>
            <a:off x="609600" y="5124450"/>
            <a:ext cx="5076825" cy="857250"/>
          </a:xfrm>
          <a:prstGeom prst="rect">
            <a:avLst/>
          </a:prstGeom>
          <a:noFill/>
          <a:ln w="0">
            <a:noFill/>
          </a:ln>
        </p:spPr>
        <p:txBody>
          <a:bodyPr wrap="square" lIns="0" tIns="0" rIns="0" bIns="0" anchor="t">
            <a:noAutofit/>
          </a:bodyPr>
          <a:lstStyle>
            <a:defPPr>
              <a:defRPr sz="2100" b="0">
                <a:solidFill>
                  <a:srgbClr val="153F36"/>
                </a:solidFill>
                <a:latin typeface="Arial"/>
                <a:ea typeface="Arial"/>
                <a:cs typeface="Arial"/>
              </a:defRPr>
            </a:defPPr>
          </a:lstStyle>
          <a:p>
            <a:pPr>
              <a:defRPr sz="2100" b="0">
                <a:solidFill>
                  <a:srgbClr val="153F36"/>
                </a:solidFill>
                <a:latin typeface="Arial"/>
                <a:ea typeface="Arial"/>
                <a:cs typeface="Arial"/>
              </a:defRPr>
            </a:pPr>
            <a:r>
              <a:rPr sz="2100" b="0" lang="sr-Latn-ME">
                <a:solidFill>
                  <a:srgbClr val="153F36"/>
                </a:solidFill>
                <a:latin typeface="Arial"/>
                <a:ea typeface="Arial"/>
                <a:cs typeface="Arial"/>
              </a:rPr>
              <a:t>Pomažemo vam razumjeti mogućnosti i izabrati ostvariv početak.</a:t>
            </a:r>
          </a:p>
        </p:txBody>
      </p:sp>
      <p:pic>
        <p:nvPicPr>
          <p:cNvPr id="7" name="">
            <a:extLst>
              <a:ext uri="{FF2B5EF4-FFF2-40B4-BE49-F238E27FC236}">
                <ns2:creationId id="{1CC6FBA4-AAA8-41D9-9116-49E85FDFC736}"/>
              </a:ext>
            </a:extLst>
          </p:cNvPr>
          <p:cNvPicPr>
            <a:picLocks noChangeAspect="1"/>
          </p:cNvPicPr>
          <p:nvPr/>
        </p:nvPicPr>
        <p:blipFill>
          <a:blip r:embed="R7d26e2f4bdc14ea7"/>
          <a:srcRect l="0" t="63" r="0" b="63"/>
          <a:stretch>
            <a:fillRect l="0" t="0" r="0" b="0"/>
          </a:stretch>
        </p:blipFill>
        <p:spPr>
          <a:xfrm>
            <a:off x="6572250" y="1952625"/>
            <a:ext cx="5010150" cy="3752850"/>
          </a:xfrm>
          <a:prstGeom prst="rect">
            <a:avLst/>
          </a:prstGeom>
        </p:spPr>
      </p:pic>
    </p:spTree>
    <p:extLst>
      <p:ext uri="{BB962C8B-B14F-4D97-AF65-F5344CB8AC3E}">
        <ns4:creationId val="1588096114"/>
      </p:ext>
    </p:extLst>
  </p:cSld>
</p:sld>
</file>

<file path=ppt/slides/slide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5E6FCE42-34ED-49DB-917B-885BF7A07AF1}"/>
              </a:ext>
            </a:extLst>
          </p:cNvPr>
          <p:cNvPicPr>
            <a:picLocks noChangeAspect="1"/>
          </p:cNvPicPr>
          <p:nvPr/>
        </p:nvPicPr>
        <p:blipFill>
          <a:blip r:embed="R242c0c3a74d44c3e"/>
          <a:stretch/>
        </p:blipFill>
        <p:spPr>
          <a:xfrm>
            <a:off x="9867900" y="276061"/>
            <a:ext cx="1695450" cy="438478"/>
          </a:xfrm>
          <a:prstGeom prst="rect">
            <a:avLst/>
          </a:prstGeom>
        </p:spPr>
      </p:pic>
      <p:sp>
        <p:nvSpPr>
          <p:cNvPr id="2" name="">
            <a:extLst>
              <a:ext uri="{FF2B5EF4-FFF2-40B4-BE49-F238E27FC236}">
                <ns2:creationId id="{1B1032C0-79B5-4738-8E25-D6937A3C85A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ME">
                <a:solidFill>
                  <a:srgbClr val="526B63"/>
                </a:solidFill>
                <a:latin typeface="Arial"/>
                <a:ea typeface="Arial"/>
                <a:cs typeface="Arial"/>
              </a:rPr>
              <a:t>03</a:t>
            </a:r>
          </a:p>
        </p:txBody>
      </p:sp>
      <p:sp>
        <p:nvSpPr>
          <p:cNvPr id="3" name="Naslov">
            <a:extLst>
              <a:ext uri="{FF2B5EF4-FFF2-40B4-BE49-F238E27FC236}">
                <ns2:creationId id="{0C2BCB8F-C404-42C6-BD3A-B39A251103DF}"/>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ME">
                <a:solidFill>
                  <a:srgbClr val="153F36"/>
                </a:solidFill>
                <a:latin typeface="Arial"/>
                <a:ea typeface="Arial"/>
                <a:cs typeface="Arial"/>
              </a:rPr>
              <a:t>Šta ćete danas upoznati</a:t>
            </a:r>
          </a:p>
        </p:txBody>
      </p:sp>
      <p:sp>
        <p:nvSpPr>
          <p:cNvPr id="4" name="">
            <a:extLst>
              <a:ext uri="{FF2B5EF4-FFF2-40B4-BE49-F238E27FC236}">
                <ns2:creationId id="{7090349B-17CB-4069-9021-E9AC8929150C}"/>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ME">
                <a:solidFill>
                  <a:srgbClr val="148977"/>
                </a:solidFill>
                <a:latin typeface="Arial"/>
                <a:ea typeface="Arial"/>
                <a:cs typeface="Arial"/>
              </a:rPr>
              <a:t>1.</a:t>
            </a:r>
          </a:p>
        </p:txBody>
      </p:sp>
      <p:sp>
        <p:nvSpPr>
          <p:cNvPr id="5" name="">
            <a:extLst>
              <a:ext uri="{FF2B5EF4-FFF2-40B4-BE49-F238E27FC236}">
                <ns2:creationId id="{B790FCFE-A2F7-46DA-9AAA-E3D158B44E5E}"/>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ME">
                <a:solidFill>
                  <a:srgbClr val="153F36"/>
                </a:solidFill>
                <a:latin typeface="Arial"/>
                <a:ea typeface="Arial"/>
                <a:cs typeface="Arial"/>
              </a:rPr>
              <a:t>Forever</a:t>
            </a:r>
          </a:p>
        </p:txBody>
      </p:sp>
      <p:sp>
        <p:nvSpPr>
          <p:cNvPr id="6" name="">
            <a:extLst>
              <a:ext uri="{FF2B5EF4-FFF2-40B4-BE49-F238E27FC236}">
                <ns2:creationId id="{62CF0980-2434-4AA9-A846-7ADF450EF6D5}"/>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Proizvodi, službena porudžbina i poslovna pravila.</a:t>
            </a:r>
          </a:p>
        </p:txBody>
      </p:sp>
      <p:sp>
        <p:nvSpPr>
          <p:cNvPr id="7" name="">
            <a:extLst>
              <a:ext uri="{FF2B5EF4-FFF2-40B4-BE49-F238E27FC236}">
                <ns2:creationId id="{8096E1E2-CF39-4546-9C54-85736B904FB3}"/>
              </a:ext>
            </a:extLst>
          </p:cNvPr>
          <p:cNvSpPr>
            <a:spLocks noGrp="1"/>
          </p:cNvSpPr>
          <p:nvPr/>
        </p:nvSpPr>
        <p:spPr>
          <a:xfrm>
            <a:off x="609600" y="28384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ME">
                <a:solidFill>
                  <a:srgbClr val="148977"/>
                </a:solidFill>
                <a:latin typeface="Arial"/>
                <a:ea typeface="Arial"/>
                <a:cs typeface="Arial"/>
              </a:rPr>
              <a:t>2.</a:t>
            </a:r>
          </a:p>
        </p:txBody>
      </p:sp>
      <p:sp>
        <p:nvSpPr>
          <p:cNvPr id="8" name="">
            <a:extLst>
              <a:ext uri="{FF2B5EF4-FFF2-40B4-BE49-F238E27FC236}">
                <ns2:creationId id="{D93BAFA1-E082-42C0-AF07-8A3F5D4A51BF}"/>
              </a:ext>
            </a:extLst>
          </p:cNvPr>
          <p:cNvSpPr>
            <a:spLocks noGrp="1"/>
          </p:cNvSpPr>
          <p:nvPr/>
        </p:nvSpPr>
        <p:spPr>
          <a:xfrm>
            <a:off x="1257300" y="28384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ME">
                <a:solidFill>
                  <a:srgbClr val="153F36"/>
                </a:solidFill>
                <a:latin typeface="Arial"/>
                <a:ea typeface="Arial"/>
                <a:cs typeface="Arial"/>
              </a:rPr>
              <a:t>Vaš izbor</a:t>
            </a:r>
          </a:p>
        </p:txBody>
      </p:sp>
      <p:sp>
        <p:nvSpPr>
          <p:cNvPr id="9" name="">
            <a:extLst>
              <a:ext uri="{FF2B5EF4-FFF2-40B4-BE49-F238E27FC236}">
                <ns2:creationId id="{DC87F678-8ACE-44B6-8B16-8B5A0F8B7F0C}"/>
              </a:ext>
            </a:extLst>
          </p:cNvPr>
          <p:cNvSpPr>
            <a:spLocks noGrp="1"/>
          </p:cNvSpPr>
          <p:nvPr/>
        </p:nvSpPr>
        <p:spPr>
          <a:xfrm>
            <a:off x="1257300" y="32480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Korišćenje proizvoda ili razvoj sopstvenog poslovanja.</a:t>
            </a:r>
          </a:p>
        </p:txBody>
      </p:sp>
      <p:sp>
        <p:nvSpPr>
          <p:cNvPr id="10" name="">
            <a:extLst>
              <a:ext uri="{FF2B5EF4-FFF2-40B4-BE49-F238E27FC236}">
                <ns2:creationId id="{3860522A-792D-4373-A4F3-28F5656DBD92}"/>
              </a:ext>
            </a:extLst>
          </p:cNvPr>
          <p:cNvSpPr>
            <a:spLocks noGrp="1"/>
          </p:cNvSpPr>
          <p:nvPr/>
        </p:nvSpPr>
        <p:spPr>
          <a:xfrm>
            <a:off x="609600" y="37147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ME">
                <a:solidFill>
                  <a:srgbClr val="148977"/>
                </a:solidFill>
                <a:latin typeface="Arial"/>
                <a:ea typeface="Arial"/>
                <a:cs typeface="Arial"/>
              </a:rPr>
              <a:t>3.</a:t>
            </a:r>
          </a:p>
        </p:txBody>
      </p:sp>
      <p:sp>
        <p:nvSpPr>
          <p:cNvPr id="11" name="">
            <a:extLst>
              <a:ext uri="{FF2B5EF4-FFF2-40B4-BE49-F238E27FC236}">
                <ns2:creationId id="{34D75F7B-C2E5-44A0-9838-83056B206B41}"/>
              </a:ext>
            </a:extLst>
          </p:cNvPr>
          <p:cNvSpPr>
            <a:spLocks noGrp="1"/>
          </p:cNvSpPr>
          <p:nvPr/>
        </p:nvSpPr>
        <p:spPr>
          <a:xfrm>
            <a:off x="1257300" y="37147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ME">
                <a:solidFill>
                  <a:srgbClr val="153F36"/>
                </a:solidFill>
                <a:latin typeface="Arial"/>
                <a:ea typeface="Arial"/>
                <a:cs typeface="Arial"/>
              </a:rPr>
              <a:t>FCC u praksi</a:t>
            </a:r>
          </a:p>
        </p:txBody>
      </p:sp>
      <p:sp>
        <p:nvSpPr>
          <p:cNvPr id="12" name="">
            <a:extLst>
              <a:ext uri="{FF2B5EF4-FFF2-40B4-BE49-F238E27FC236}">
                <ns2:creationId id="{C9D45EDC-05EA-4018-BAB4-F46975DFEACA}"/>
              </a:ext>
            </a:extLst>
          </p:cNvPr>
          <p:cNvSpPr>
            <a:spLocks noGrp="1"/>
          </p:cNvSpPr>
          <p:nvPr/>
        </p:nvSpPr>
        <p:spPr>
          <a:xfrm>
            <a:off x="1257300" y="41243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Lična preporuka, kontakti, webinar i podrška.</a:t>
            </a:r>
          </a:p>
        </p:txBody>
      </p:sp>
      <p:sp>
        <p:nvSpPr>
          <p:cNvPr id="13" name="">
            <a:extLst>
              <a:ext uri="{FF2B5EF4-FFF2-40B4-BE49-F238E27FC236}">
                <ns2:creationId id="{2E7A5D7F-6A19-4AFA-BB4D-57AF548C10AF}"/>
              </a:ext>
            </a:extLst>
          </p:cNvPr>
          <p:cNvSpPr>
            <a:spLocks noGrp="1"/>
          </p:cNvSpPr>
          <p:nvPr/>
        </p:nvSpPr>
        <p:spPr>
          <a:xfrm>
            <a:off x="609600" y="45910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ME">
                <a:solidFill>
                  <a:srgbClr val="148977"/>
                </a:solidFill>
                <a:latin typeface="Arial"/>
                <a:ea typeface="Arial"/>
                <a:cs typeface="Arial"/>
              </a:rPr>
              <a:t>4.</a:t>
            </a:r>
          </a:p>
        </p:txBody>
      </p:sp>
      <p:sp>
        <p:nvSpPr>
          <p:cNvPr id="14" name="">
            <a:extLst>
              <a:ext uri="{FF2B5EF4-FFF2-40B4-BE49-F238E27FC236}">
                <ns2:creationId id="{E46D0B6C-8B28-440C-9B75-E7B279A7BD4E}"/>
              </a:ext>
            </a:extLst>
          </p:cNvPr>
          <p:cNvSpPr>
            <a:spLocks noGrp="1"/>
          </p:cNvSpPr>
          <p:nvPr/>
        </p:nvSpPr>
        <p:spPr>
          <a:xfrm>
            <a:off x="1257300" y="45910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ME">
                <a:solidFill>
                  <a:srgbClr val="153F36"/>
                </a:solidFill>
                <a:latin typeface="Arial"/>
                <a:ea typeface="Arial"/>
                <a:cs typeface="Arial"/>
              </a:rPr>
              <a:t>Prva sedmica</a:t>
            </a:r>
          </a:p>
        </p:txBody>
      </p:sp>
      <p:sp>
        <p:nvSpPr>
          <p:cNvPr id="15" name="">
            <a:extLst>
              <a:ext uri="{FF2B5EF4-FFF2-40B4-BE49-F238E27FC236}">
                <ns2:creationId id="{6829D74A-201C-438E-A0A9-426869F09F1D}"/>
              </a:ext>
            </a:extLst>
          </p:cNvPr>
          <p:cNvSpPr>
            <a:spLocks noGrp="1"/>
          </p:cNvSpPr>
          <p:nvPr/>
        </p:nvSpPr>
        <p:spPr>
          <a:xfrm>
            <a:off x="1257300" y="50006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Konkretan početak uz osobu koja vas je pozvala.</a:t>
            </a:r>
          </a:p>
        </p:txBody>
      </p:sp>
    </p:spTree>
    <p:extLst>
      <p:ext uri="{BB962C8B-B14F-4D97-AF65-F5344CB8AC3E}">
        <ns4:creationId val="15104013"/>
      </p:ext>
    </p:extLst>
  </p:cSld>
</p:sld>
</file>

<file path=ppt/slides/slide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8" name="">
            <a:extLst>
              <a:ext uri="{FF2B5EF4-FFF2-40B4-BE49-F238E27FC236}">
                <ns2:creationId id="{031F2DBE-3CEF-4AB1-808D-82DFD8D39AE4}"/>
              </a:ext>
            </a:extLst>
          </p:cNvPr>
          <p:cNvPicPr>
            <a:picLocks noChangeAspect="1"/>
          </p:cNvPicPr>
          <p:nvPr/>
        </p:nvPicPr>
        <p:blipFill>
          <a:blip r:embed="Rdae54c54c13e41c1"/>
          <a:stretch/>
        </p:blipFill>
        <p:spPr>
          <a:xfrm>
            <a:off x="9867900" y="276061"/>
            <a:ext cx="1695450" cy="438478"/>
          </a:xfrm>
          <a:prstGeom prst="rect">
            <a:avLst/>
          </a:prstGeom>
        </p:spPr>
      </p:pic>
      <p:sp>
        <p:nvSpPr>
          <p:cNvPr id="2" name="">
            <a:extLst>
              <a:ext uri="{FF2B5EF4-FFF2-40B4-BE49-F238E27FC236}">
                <ns2:creationId id="{A8A277E5-B6B2-4E06-B214-ACC2911CBCFB}"/>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ME">
                <a:solidFill>
                  <a:srgbClr val="526B63"/>
                </a:solidFill>
                <a:latin typeface="Arial"/>
                <a:ea typeface="Arial"/>
                <a:cs typeface="Arial"/>
              </a:rPr>
              <a:t>04</a:t>
            </a:r>
          </a:p>
        </p:txBody>
      </p:sp>
      <p:sp>
        <p:nvSpPr>
          <p:cNvPr id="3" name="Naslov">
            <a:extLst>
              <a:ext uri="{FF2B5EF4-FFF2-40B4-BE49-F238E27FC236}">
                <ns2:creationId id="{B03E3510-0DEE-482B-A50E-CCFBC65CBF8B}"/>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ME">
                <a:solidFill>
                  <a:srgbClr val="153F36"/>
                </a:solidFill>
                <a:latin typeface="Arial"/>
                <a:ea typeface="Arial"/>
                <a:cs typeface="Arial"/>
              </a:rPr>
              <a:t>Forever Living Products</a:t>
            </a:r>
          </a:p>
        </p:txBody>
      </p:sp>
      <p:sp>
        <p:nvSpPr>
          <p:cNvPr id="4" name="">
            <a:extLst>
              <a:ext uri="{FF2B5EF4-FFF2-40B4-BE49-F238E27FC236}">
                <ns2:creationId id="{D1A63BA3-11AF-41C5-A0DB-F238BF1FED1D}"/>
              </a:ext>
            </a:extLst>
          </p:cNvPr>
          <p:cNvSpPr>
            <a:spLocks noGrp="1"/>
          </p:cNvSpPr>
          <p:nvPr/>
        </p:nvSpPr>
        <p:spPr>
          <a:xfrm>
            <a:off x="609600" y="2133600"/>
            <a:ext cx="5353050" cy="1495425"/>
          </a:xfrm>
          <a:prstGeom prst="rect">
            <a:avLst/>
          </a:prstGeom>
          <a:noFill/>
          <a:ln w="0">
            <a:noFill/>
          </a:ln>
        </p:spPr>
        <p:txBody>
          <a:bodyPr wrap="square" lIns="0" tIns="0" rIns="0" bIns="0" anchor="t">
            <a:noAutofit/>
          </a:bodyPr>
          <a:lstStyle>
            <a:defPPr>
              <a:defRPr sz="8100" b="1">
                <a:solidFill>
                  <a:srgbClr val="153F36"/>
                </a:solidFill>
                <a:latin typeface="Arial"/>
                <a:ea typeface="Arial"/>
                <a:cs typeface="Arial"/>
              </a:defRPr>
            </a:defPPr>
          </a:lstStyle>
          <a:p>
            <a:pPr>
              <a:defRPr sz="8100" b="1">
                <a:solidFill>
                  <a:srgbClr val="153F36"/>
                </a:solidFill>
                <a:latin typeface="Arial"/>
                <a:ea typeface="Arial"/>
                <a:cs typeface="Arial"/>
              </a:defRPr>
            </a:pPr>
            <a:r>
              <a:rPr sz="8100" b="1" lang="sr-Latn-ME">
                <a:solidFill>
                  <a:srgbClr val="153F36"/>
                </a:solidFill>
                <a:latin typeface="Arial"/>
                <a:ea typeface="Arial"/>
                <a:cs typeface="Arial"/>
              </a:rPr>
              <a:t>1978.</a:t>
            </a:r>
          </a:p>
        </p:txBody>
      </p:sp>
      <p:sp>
        <p:nvSpPr>
          <p:cNvPr id="5" name="">
            <a:extLst>
              <a:ext uri="{FF2B5EF4-FFF2-40B4-BE49-F238E27FC236}">
                <ns2:creationId id="{3E7CC058-7669-4F2A-8739-E7D03E723F65}"/>
              </a:ext>
            </a:extLst>
          </p:cNvPr>
          <p:cNvSpPr>
            <a:spLocks noGrp="1"/>
          </p:cNvSpPr>
          <p:nvPr/>
        </p:nvSpPr>
        <p:spPr>
          <a:xfrm>
            <a:off x="647700" y="3609975"/>
            <a:ext cx="4953000" cy="542925"/>
          </a:xfrm>
          <a:prstGeom prst="rect">
            <a:avLst/>
          </a:prstGeom>
          <a:noFill/>
          <a:ln w="0">
            <a:noFill/>
          </a:ln>
        </p:spPr>
        <p:txBody>
          <a:bodyPr wrap="square" lIns="0" tIns="0" rIns="0" bIns="0" anchor="t">
            <a:noAutofit/>
          </a:bodyPr>
          <a:lstStyle>
            <a:defPPr>
              <a:defRPr sz="2475" b="1">
                <a:solidFill>
                  <a:srgbClr val="153F36"/>
                </a:solidFill>
                <a:latin typeface="Arial"/>
                <a:ea typeface="Arial"/>
                <a:cs typeface="Arial"/>
              </a:defRPr>
            </a:defPPr>
          </a:lstStyle>
          <a:p>
            <a:pPr>
              <a:defRPr sz="2475" b="1">
                <a:solidFill>
                  <a:srgbClr val="153F36"/>
                </a:solidFill>
                <a:latin typeface="Arial"/>
                <a:ea typeface="Arial"/>
                <a:cs typeface="Arial"/>
              </a:defRPr>
            </a:pPr>
            <a:r>
              <a:rPr sz="2475" b="1" lang="sr-Latn-ME">
                <a:solidFill>
                  <a:srgbClr val="153F36"/>
                </a:solidFill>
                <a:latin typeface="Arial"/>
                <a:ea typeface="Arial"/>
                <a:cs typeface="Arial"/>
              </a:rPr>
              <a:t>Godina osnivanja</a:t>
            </a:r>
          </a:p>
        </p:txBody>
      </p:sp>
      <p:sp>
        <p:nvSpPr>
          <p:cNvPr id="6" name="">
            <a:extLst>
              <a:ext uri="{FF2B5EF4-FFF2-40B4-BE49-F238E27FC236}">
                <ns2:creationId id="{9F9A23A7-5EC9-47CD-A30C-C9479DD7485A}"/>
              </a:ext>
            </a:extLst>
          </p:cNvPr>
          <p:cNvSpPr>
            <a:spLocks noGrp="1"/>
          </p:cNvSpPr>
          <p:nvPr/>
        </p:nvSpPr>
        <p:spPr>
          <a:xfrm>
            <a:off x="609600" y="4457700"/>
            <a:ext cx="5248275" cy="1428750"/>
          </a:xfrm>
          <a:prstGeom prst="rect">
            <a:avLst/>
          </a:prstGeom>
          <a:noFill/>
          <a:ln w="0">
            <a:noFill/>
          </a:ln>
        </p:spPr>
        <p:txBody>
          <a:bodyPr wrap="square" lIns="0" tIns="0" rIns="0" bIns="0" anchor="t">
            <a:noAutofit/>
          </a:bodyPr>
          <a:lstStyle>
            <a:defPPr>
              <a:defRPr sz="2250" b="0">
                <a:solidFill>
                  <a:srgbClr val="526B63"/>
                </a:solidFill>
                <a:latin typeface="Arial"/>
                <a:ea typeface="Arial"/>
                <a:cs typeface="Arial"/>
              </a:defRPr>
            </a:defPPr>
          </a:lstStyle>
          <a:p>
            <a:pPr>
              <a:defRPr sz="2250" b="0">
                <a:solidFill>
                  <a:srgbClr val="526B63"/>
                </a:solidFill>
                <a:latin typeface="Arial"/>
                <a:ea typeface="Arial"/>
                <a:cs typeface="Arial"/>
              </a:defRPr>
            </a:pPr>
            <a:r>
              <a:rPr sz="2250" b="0" lang="sr-Latn-ME">
                <a:solidFill>
                  <a:srgbClr val="526B63"/>
                </a:solidFill>
                <a:latin typeface="Arial"/>
                <a:ea typeface="Arial"/>
                <a:cs typeface="Arial"/>
              </a:rPr>
              <a:t>Globalna kompanija sa proizvodima, prodajnom mrežom i službenim pravilima poslovanja.</a:t>
            </a:r>
          </a:p>
        </p:txBody>
      </p:sp>
      <p:pic>
        <p:nvPicPr>
          <p:cNvPr id="7" name="">
            <a:extLst>
              <a:ext uri="{FF2B5EF4-FFF2-40B4-BE49-F238E27FC236}">
                <ns2:creationId id="{0B1CC924-CD88-4010-9FE5-A5B82838F629}"/>
              </a:ext>
            </a:extLst>
          </p:cNvPr>
          <p:cNvPicPr>
            <a:picLocks noChangeAspect="1"/>
          </p:cNvPicPr>
          <p:nvPr/>
        </p:nvPicPr>
        <p:blipFill>
          <a:blip r:embed="Ra3daa3908981400c"/>
          <a:srcRect l="2187" t="0" r="2187" b="0"/>
          <a:stretch>
            <a:fillRect l="0" t="0" r="0" b="0"/>
          </a:stretch>
        </p:blipFill>
        <p:spPr>
          <a:xfrm>
            <a:off x="6438900" y="2057400"/>
            <a:ext cx="5143500" cy="3429000"/>
          </a:xfrm>
          <a:prstGeom prst="rect">
            <a:avLst/>
          </a:prstGeom>
        </p:spPr>
      </p:pic>
    </p:spTree>
    <p:extLst>
      <p:ext uri="{BB962C8B-B14F-4D97-AF65-F5344CB8AC3E}">
        <ns4:creationId val="708542696"/>
      </p:ext>
    </p:extLst>
  </p:cSld>
</p:sld>
</file>

<file path=ppt/slides/slide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8C8D58AB-6E9E-4036-91B3-2CE93502D8AF}"/>
              </a:ext>
            </a:extLst>
          </p:cNvPr>
          <p:cNvPicPr>
            <a:picLocks noChangeAspect="1"/>
          </p:cNvPicPr>
          <p:nvPr/>
        </p:nvPicPr>
        <p:blipFill>
          <a:blip r:embed="Rba10fc9d1268426c"/>
          <a:stretch/>
        </p:blipFill>
        <p:spPr>
          <a:xfrm>
            <a:off x="9867900" y="276061"/>
            <a:ext cx="1695450" cy="438478"/>
          </a:xfrm>
          <a:prstGeom prst="rect">
            <a:avLst/>
          </a:prstGeom>
        </p:spPr>
      </p:pic>
      <p:sp>
        <p:nvSpPr>
          <p:cNvPr id="2" name="">
            <a:extLst>
              <a:ext uri="{FF2B5EF4-FFF2-40B4-BE49-F238E27FC236}">
                <ns2:creationId id="{E6F95587-9DD7-454A-A7A0-50CA5576146D}"/>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ME">
                <a:solidFill>
                  <a:srgbClr val="526B63"/>
                </a:solidFill>
                <a:latin typeface="Arial"/>
                <a:ea typeface="Arial"/>
                <a:cs typeface="Arial"/>
              </a:rPr>
              <a:t>05</a:t>
            </a:r>
          </a:p>
        </p:txBody>
      </p:sp>
      <p:sp>
        <p:nvSpPr>
          <p:cNvPr id="3" name="Naslov">
            <a:extLst>
              <a:ext uri="{FF2B5EF4-FFF2-40B4-BE49-F238E27FC236}">
                <ns2:creationId id="{3F971641-B408-403C-9558-0637FE54DB8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ME">
                <a:solidFill>
                  <a:srgbClr val="153F36"/>
                </a:solidFill>
                <a:latin typeface="Arial"/>
                <a:ea typeface="Arial"/>
                <a:cs typeface="Arial"/>
              </a:rPr>
              <a:t>Proizvodi u svakodnevnom životu</a:t>
            </a:r>
          </a:p>
        </p:txBody>
      </p:sp>
      <p:sp>
        <p:nvSpPr>
          <p:cNvPr id="4" name="">
            <a:extLst>
              <a:ext uri="{FF2B5EF4-FFF2-40B4-BE49-F238E27FC236}">
                <ns2:creationId id="{BA40F1F6-713C-4513-869A-F89CBDFF95A4}"/>
              </a:ext>
            </a:extLst>
          </p:cNvPr>
          <p:cNvSpPr>
            <a:spLocks noGrp="1"/>
          </p:cNvSpPr>
          <p:nvPr/>
        </p:nvSpPr>
        <p:spPr>
          <a:xfrm>
            <a:off x="609600" y="2047875"/>
            <a:ext cx="5438775" cy="1981200"/>
          </a:xfrm>
          <a:prstGeom prst="rect">
            <a:avLst/>
          </a:prstGeom>
          <a:noFill/>
          <a:ln w="0">
            <a:noFill/>
          </a:ln>
        </p:spPr>
        <p:txBody>
          <a:bodyPr wrap="square" lIns="0" tIns="0" rIns="0" bIns="0" anchor="t">
            <a:noAutofit/>
          </a:bodyPr>
          <a:lstStyle>
            <a:defPPr>
              <a:defRPr sz="2925" b="1">
                <a:solidFill>
                  <a:srgbClr val="153F36"/>
                </a:solidFill>
                <a:latin typeface="Arial"/>
                <a:ea typeface="Arial"/>
                <a:cs typeface="Arial"/>
              </a:defRPr>
            </a:defPPr>
          </a:lstStyle>
          <a:p>
            <a:pPr>
              <a:defRPr sz="2925" b="1">
                <a:solidFill>
                  <a:srgbClr val="153F36"/>
                </a:solidFill>
                <a:latin typeface="Arial"/>
                <a:ea typeface="Arial"/>
                <a:cs typeface="Arial"/>
              </a:defRPr>
            </a:pPr>
            <a:r>
              <a:rPr sz="2925" b="1" lang="sr-Latn-ME">
                <a:solidFill>
                  <a:srgbClr val="153F36"/>
                </a:solidFill>
                <a:latin typeface="Arial"/>
                <a:ea typeface="Arial"/>
                <a:cs typeface="Arial"/>
              </a:rPr>
              <a:t>Lična njega</a:t>
            </a:r>
          </a:p>
          <a:p>
            <a:pPr>
              <a:defRPr sz="2925" b="1">
                <a:solidFill>
                  <a:srgbClr val="153F36"/>
                </a:solidFill>
                <a:latin typeface="Arial"/>
                <a:ea typeface="Arial"/>
                <a:cs typeface="Arial"/>
              </a:defRPr>
            </a:pPr>
            <a:r>
              <a:rPr sz="2925" b="1" lang="sr-Latn-ME">
                <a:solidFill>
                  <a:srgbClr val="153F36"/>
                </a:solidFill>
                <a:latin typeface="Arial"/>
                <a:ea typeface="Arial"/>
                <a:cs typeface="Arial"/>
              </a:rPr>
              <a:t>Napici</a:t>
            </a:r>
          </a:p>
          <a:p>
            <a:pPr>
              <a:defRPr sz="2925" b="1">
                <a:solidFill>
                  <a:srgbClr val="153F36"/>
                </a:solidFill>
                <a:latin typeface="Arial"/>
                <a:ea typeface="Arial"/>
                <a:cs typeface="Arial"/>
              </a:defRPr>
            </a:pPr>
            <a:r>
              <a:rPr sz="2925" b="1" lang="sr-Latn-ME">
                <a:solidFill>
                  <a:srgbClr val="153F36"/>
                </a:solidFill>
                <a:latin typeface="Arial"/>
                <a:ea typeface="Arial"/>
                <a:cs typeface="Arial"/>
              </a:rPr>
              <a:t>Dodaci ishrani</a:t>
            </a:r>
          </a:p>
        </p:txBody>
      </p:sp>
      <p:sp>
        <p:nvSpPr>
          <p:cNvPr id="5" name="">
            <a:extLst>
              <a:ext uri="{FF2B5EF4-FFF2-40B4-BE49-F238E27FC236}">
                <ns2:creationId id="{1D9888A3-65A4-4BA0-A252-BAFF4B247E14}"/>
              </a:ext>
            </a:extLst>
          </p:cNvPr>
          <p:cNvSpPr>
            <a:spLocks noGrp="1"/>
          </p:cNvSpPr>
          <p:nvPr/>
        </p:nvSpPr>
        <p:spPr>
          <a:xfrm>
            <a:off x="609600" y="4314825"/>
            <a:ext cx="5410200" cy="1114425"/>
          </a:xfrm>
          <a:prstGeom prst="rect">
            <a:avLst/>
          </a:prstGeom>
          <a:noFill/>
          <a:ln w="0">
            <a:noFill/>
          </a:ln>
        </p:spPr>
        <p:txBody>
          <a:bodyPr wrap="square" lIns="0" tIns="0" rIns="0" bIns="0" anchor="t">
            <a:noAutofit/>
          </a:bodyPr>
          <a:lstStyle>
            <a:defPPr>
              <a:defRPr sz="2325" b="0">
                <a:solidFill>
                  <a:srgbClr val="526B63"/>
                </a:solidFill>
                <a:latin typeface="Arial"/>
                <a:ea typeface="Arial"/>
                <a:cs typeface="Arial"/>
              </a:defRPr>
            </a:defPPr>
          </a:lstStyle>
          <a:p>
            <a:pPr>
              <a:defRPr sz="2325" b="0">
                <a:solidFill>
                  <a:srgbClr val="526B63"/>
                </a:solidFill>
                <a:latin typeface="Arial"/>
                <a:ea typeface="Arial"/>
                <a:cs typeface="Arial"/>
              </a:defRPr>
            </a:pPr>
            <a:r>
              <a:rPr sz="2325" b="0" lang="sr-Latn-ME">
                <a:solidFill>
                  <a:srgbClr val="526B63"/>
                </a:solidFill>
                <a:latin typeface="Arial"/>
                <a:ea typeface="Arial"/>
                <a:cs typeface="Arial"/>
              </a:rPr>
              <a:t>Preporuka ima smisla kada proizvod odgovara osobi i njezinoj rutini.</a:t>
            </a:r>
          </a:p>
        </p:txBody>
      </p:sp>
      <p:pic>
        <p:nvPicPr>
          <p:cNvPr id="6" name="">
            <a:extLst>
              <a:ext uri="{FF2B5EF4-FFF2-40B4-BE49-F238E27FC236}">
                <ns2:creationId id="{FBA35493-A3D8-4CDD-B285-CEAA1756B8A5}"/>
              </a:ext>
            </a:extLst>
          </p:cNvPr>
          <p:cNvPicPr>
            <a:picLocks noChangeAspect="1"/>
          </p:cNvPicPr>
          <p:nvPr/>
        </p:nvPicPr>
        <p:blipFill>
          <a:blip r:embed="R5eebdc2fa42747ce"/>
          <a:srcRect l="0" t="449" r="0" b="449"/>
          <a:stretch>
            <a:fillRect l="0" t="0" r="0" b="0"/>
          </a:stretch>
        </p:blipFill>
        <p:spPr>
          <a:xfrm>
            <a:off x="7286625" y="1914525"/>
            <a:ext cx="3714750" cy="3876675"/>
          </a:xfrm>
          <a:prstGeom prst="rect">
            <a:avLst/>
          </a:prstGeom>
        </p:spPr>
      </p:pic>
    </p:spTree>
    <p:extLst>
      <p:ext uri="{BB962C8B-B14F-4D97-AF65-F5344CB8AC3E}">
        <ns4:creationId val="1185823960"/>
      </p:ext>
    </p:extLst>
  </p:cSld>
</p:sld>
</file>

<file path=ppt/slides/slide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8" name="">
            <a:extLst>
              <a:ext uri="{FF2B5EF4-FFF2-40B4-BE49-F238E27FC236}">
                <ns2:creationId id="{C46B7334-D258-4863-BDBC-0EC0B34D3EC6}"/>
              </a:ext>
            </a:extLst>
          </p:cNvPr>
          <p:cNvPicPr>
            <a:picLocks noChangeAspect="1"/>
          </p:cNvPicPr>
          <p:nvPr/>
        </p:nvPicPr>
        <p:blipFill>
          <a:blip r:embed="Rc418f7fc157f4c3e"/>
          <a:stretch/>
        </p:blipFill>
        <p:spPr>
          <a:xfrm>
            <a:off x="9867900" y="276061"/>
            <a:ext cx="1695450" cy="438478"/>
          </a:xfrm>
          <a:prstGeom prst="rect">
            <a:avLst/>
          </a:prstGeom>
        </p:spPr>
      </p:pic>
      <p:sp>
        <p:nvSpPr>
          <p:cNvPr id="2" name="">
            <a:extLst>
              <a:ext uri="{FF2B5EF4-FFF2-40B4-BE49-F238E27FC236}">
                <ns2:creationId id="{5DB4D99C-680C-4273-AA73-EE7C5D30111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ME">
                <a:solidFill>
                  <a:srgbClr val="526B63"/>
                </a:solidFill>
                <a:latin typeface="Arial"/>
                <a:ea typeface="Arial"/>
                <a:cs typeface="Arial"/>
              </a:rPr>
              <a:t>06</a:t>
            </a:r>
          </a:p>
        </p:txBody>
      </p:sp>
      <p:sp>
        <p:nvSpPr>
          <p:cNvPr id="3" name="Naslov">
            <a:extLst>
              <a:ext uri="{FF2B5EF4-FFF2-40B4-BE49-F238E27FC236}">
                <ns2:creationId id="{6D53AC0C-2BDA-402D-9E9D-A573631BA1CB}"/>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ME">
                <a:solidFill>
                  <a:srgbClr val="153F36"/>
                </a:solidFill>
                <a:latin typeface="Arial"/>
                <a:ea typeface="Arial"/>
                <a:cs typeface="Arial"/>
              </a:rPr>
              <a:t>Od uzgoja do službene porudžbine</a:t>
            </a:r>
          </a:p>
        </p:txBody>
      </p:sp>
      <p:pic>
        <p:nvPicPr>
          <p:cNvPr id="4" name="">
            <a:extLst>
              <a:ext uri="{FF2B5EF4-FFF2-40B4-BE49-F238E27FC236}">
                <ns2:creationId id="{5D0A6E93-1A12-423D-9899-8ABB22E67C8D}"/>
              </a:ext>
            </a:extLst>
          </p:cNvPr>
          <p:cNvPicPr>
            <a:picLocks noChangeAspect="1"/>
          </p:cNvPicPr>
          <p:nvPr/>
        </p:nvPicPr>
        <p:blipFill>
          <a:blip r:embed="R760ec06578814d61"/>
          <a:srcRect l="0" t="11760" r="0" b="11760"/>
          <a:stretch>
            <a:fillRect l="0" t="0" r="0" b="0"/>
          </a:stretch>
        </p:blipFill>
        <p:spPr>
          <a:xfrm>
            <a:off x="609600" y="1981200"/>
            <a:ext cx="5257800" cy="2600325"/>
          </a:xfrm>
          <a:prstGeom prst="rect">
            <a:avLst/>
          </a:prstGeom>
        </p:spPr>
      </p:pic>
      <p:pic>
        <p:nvPicPr>
          <p:cNvPr id="5" name="">
            <a:extLst>
              <a:ext uri="{FF2B5EF4-FFF2-40B4-BE49-F238E27FC236}">
                <ns2:creationId id="{B207C59F-8F2C-47BF-BC54-ADB1CA9C1458}"/>
              </a:ext>
            </a:extLst>
          </p:cNvPr>
          <p:cNvPicPr>
            <a:picLocks noChangeAspect="1"/>
          </p:cNvPicPr>
          <p:nvPr/>
        </p:nvPicPr>
        <p:blipFill>
          <a:blip r:embed="R67e74f1e1fe24f58"/>
          <a:srcRect l="0" t="17029" r="0" b="17029"/>
          <a:stretch>
            <a:fillRect l="0" t="0" r="0" b="0"/>
          </a:stretch>
        </p:blipFill>
        <p:spPr>
          <a:xfrm>
            <a:off x="6324600" y="1981200"/>
            <a:ext cx="5257800" cy="2600325"/>
          </a:xfrm>
          <a:prstGeom prst="rect">
            <a:avLst/>
          </a:prstGeom>
        </p:spPr>
      </p:pic>
      <p:sp>
        <p:nvSpPr>
          <p:cNvPr id="6" name="">
            <a:extLst>
              <a:ext uri="{FF2B5EF4-FFF2-40B4-BE49-F238E27FC236}">
                <ns2:creationId id="{043BAD13-5883-4683-B52C-68D2B5637D91}"/>
              </a:ext>
            </a:extLst>
          </p:cNvPr>
          <p:cNvSpPr>
            <a:spLocks noGrp="1"/>
          </p:cNvSpPr>
          <p:nvPr/>
        </p:nvSpPr>
        <p:spPr>
          <a:xfrm>
            <a:off x="609600" y="4953000"/>
            <a:ext cx="10382250" cy="62865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r-Latn-ME">
                <a:solidFill>
                  <a:srgbClr val="153F36"/>
                </a:solidFill>
                <a:latin typeface="Arial"/>
                <a:ea typeface="Arial"/>
                <a:cs typeface="Arial"/>
              </a:rPr>
              <a:t>Forever vodi proizvodnju, porudžbine i isporuku.</a:t>
            </a:r>
          </a:p>
        </p:txBody>
      </p:sp>
      <p:sp>
        <p:nvSpPr>
          <p:cNvPr id="7" name="">
            <a:extLst>
              <a:ext uri="{FF2B5EF4-FFF2-40B4-BE49-F238E27FC236}">
                <ns2:creationId id="{E65AD224-944D-41B6-800D-07B566B65B36}"/>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ME">
                <a:solidFill>
                  <a:srgbClr val="526B63"/>
                </a:solidFill>
                <a:latin typeface="Arial"/>
                <a:ea typeface="Arial"/>
                <a:cs typeface="Arial"/>
              </a:rPr>
              <a:t>Saradnik pomaže osobi izabrati proizvod i koristiti službeni kanal kupovine.</a:t>
            </a:r>
          </a:p>
        </p:txBody>
      </p:sp>
    </p:spTree>
    <p:extLst>
      <p:ext uri="{BB962C8B-B14F-4D97-AF65-F5344CB8AC3E}">
        <ns4:creationId val="206011841"/>
      </p:ext>
    </p:extLst>
  </p:cSld>
</p:sld>
</file>

<file path=ppt/slides/slide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9" name="">
            <a:extLst>
              <a:ext uri="{FF2B5EF4-FFF2-40B4-BE49-F238E27FC236}">
                <ns2:creationId id="{2E54AF73-E036-4720-891A-5121EB809BF9}"/>
              </a:ext>
            </a:extLst>
          </p:cNvPr>
          <p:cNvPicPr>
            <a:picLocks noChangeAspect="1"/>
          </p:cNvPicPr>
          <p:nvPr/>
        </p:nvPicPr>
        <p:blipFill>
          <a:blip r:embed="R9d24496200b841ee"/>
          <a:stretch/>
        </p:blipFill>
        <p:spPr>
          <a:xfrm>
            <a:off x="9867900" y="276061"/>
            <a:ext cx="1695450" cy="438478"/>
          </a:xfrm>
          <a:prstGeom prst="rect">
            <a:avLst/>
          </a:prstGeom>
        </p:spPr>
      </p:pic>
      <p:sp>
        <p:nvSpPr>
          <p:cNvPr id="2" name="">
            <a:extLst>
              <a:ext uri="{FF2B5EF4-FFF2-40B4-BE49-F238E27FC236}">
                <ns2:creationId id="{67E37213-3D26-4825-BBB6-2E564E93A553}"/>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ME">
                <a:solidFill>
                  <a:srgbClr val="526B63"/>
                </a:solidFill>
                <a:latin typeface="Arial"/>
                <a:ea typeface="Arial"/>
                <a:cs typeface="Arial"/>
              </a:rPr>
              <a:t>07</a:t>
            </a:r>
          </a:p>
        </p:txBody>
      </p:sp>
      <p:sp>
        <p:nvSpPr>
          <p:cNvPr id="3" name="Naslov">
            <a:extLst>
              <a:ext uri="{FF2B5EF4-FFF2-40B4-BE49-F238E27FC236}">
                <ns2:creationId id="{1383C903-881D-4840-A4D5-5DDD9FAFC1F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ME">
                <a:solidFill>
                  <a:srgbClr val="153F36"/>
                </a:solidFill>
                <a:latin typeface="Arial"/>
                <a:ea typeface="Arial"/>
                <a:cs typeface="Arial"/>
              </a:rPr>
              <a:t>Korisnik ili poslovni saradnik</a:t>
            </a:r>
          </a:p>
        </p:txBody>
      </p:sp>
      <p:sp>
        <p:nvSpPr>
          <p:cNvPr id="4" name="">
            <a:extLst>
              <a:ext uri="{FF2B5EF4-FFF2-40B4-BE49-F238E27FC236}">
                <ns2:creationId id="{2E14BC8A-29A8-4C50-9C5C-973F016EBCBF}"/>
              </a:ext>
            </a:extLst>
          </p:cNvPr>
          <p:cNvSpPr>
            <a:spLocks noGrp="1"/>
          </p:cNvSpPr>
          <p:nvPr/>
        </p:nvSpPr>
        <p:spPr>
          <a:xfrm>
            <a:off x="60960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r-Latn-ME">
                <a:solidFill>
                  <a:srgbClr val="153F36"/>
                </a:solidFill>
                <a:latin typeface="Arial"/>
                <a:ea typeface="Arial"/>
                <a:cs typeface="Arial"/>
              </a:rPr>
              <a:t>Korisnik proizvoda</a:t>
            </a:r>
          </a:p>
        </p:txBody>
      </p:sp>
      <p:sp>
        <p:nvSpPr>
          <p:cNvPr id="5" name="">
            <a:extLst>
              <a:ext uri="{FF2B5EF4-FFF2-40B4-BE49-F238E27FC236}">
                <ns2:creationId id="{44DDA104-5A1E-4779-A60F-E3CEA86C4451}"/>
              </a:ext>
            </a:extLst>
          </p:cNvPr>
          <p:cNvSpPr>
            <a:spLocks noGrp="1"/>
          </p:cNvSpPr>
          <p:nvPr/>
        </p:nvSpPr>
        <p:spPr>
          <a:xfrm>
            <a:off x="60960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sr-Latn-ME">
                <a:solidFill>
                  <a:srgbClr val="526B63"/>
                </a:solidFill>
                <a:latin typeface="Arial"/>
                <a:ea typeface="Arial"/>
                <a:cs typeface="Arial"/>
              </a:rPr>
              <a:t>Bira proizvode za ličnu upotrebu.</a:t>
            </a:r>
          </a:p>
          <a:p>
            <a:r>
              <a:t/>
            </a:r>
          </a:p>
          <a:p>
            <a:pPr>
              <a:defRPr sz="2175" b="0">
                <a:solidFill>
                  <a:srgbClr val="526B63"/>
                </a:solidFill>
                <a:latin typeface="Arial"/>
                <a:ea typeface="Arial"/>
                <a:cs typeface="Arial"/>
              </a:defRPr>
            </a:pPr>
            <a:r>
              <a:rPr sz="2175" b="0" lang="sr-Latn-ME">
                <a:solidFill>
                  <a:srgbClr val="526B63"/>
                </a:solidFill>
                <a:latin typeface="Arial"/>
                <a:ea typeface="Arial"/>
                <a:cs typeface="Arial"/>
              </a:rPr>
              <a:t>Provjerava popust i uslove svog tržišta.</a:t>
            </a:r>
          </a:p>
        </p:txBody>
      </p:sp>
      <p:sp>
        <p:nvSpPr>
          <p:cNvPr id="6" name="">
            <a:extLst>
              <a:ext uri="{FF2B5EF4-FFF2-40B4-BE49-F238E27FC236}">
                <ns2:creationId id="{CB3AEC29-C6AB-4B40-B4A4-BBBBB4FC86ED}"/>
              </a:ext>
            </a:extLst>
          </p:cNvPr>
          <p:cNvSpPr>
            <a:spLocks noGrp="1"/>
          </p:cNvSpPr>
          <p:nvPr/>
        </p:nvSpPr>
        <p:spPr>
          <a:xfrm>
            <a:off x="641985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r-Latn-ME">
                <a:solidFill>
                  <a:srgbClr val="153F36"/>
                </a:solidFill>
                <a:latin typeface="Arial"/>
                <a:ea typeface="Arial"/>
                <a:cs typeface="Arial"/>
              </a:rPr>
              <a:t>Poslovni saradnik</a:t>
            </a:r>
          </a:p>
        </p:txBody>
      </p:sp>
      <p:sp>
        <p:nvSpPr>
          <p:cNvPr id="7" name="">
            <a:extLst>
              <a:ext uri="{FF2B5EF4-FFF2-40B4-BE49-F238E27FC236}">
                <ns2:creationId id="{3D3E645E-563B-44E3-A32F-90226B46A13C}"/>
              </a:ext>
            </a:extLst>
          </p:cNvPr>
          <p:cNvSpPr>
            <a:spLocks noGrp="1"/>
          </p:cNvSpPr>
          <p:nvPr/>
        </p:nvSpPr>
        <p:spPr>
          <a:xfrm>
            <a:off x="641985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sr-Latn-ME">
                <a:solidFill>
                  <a:srgbClr val="526B63"/>
                </a:solidFill>
                <a:latin typeface="Arial"/>
                <a:ea typeface="Arial"/>
                <a:cs typeface="Arial"/>
              </a:rPr>
              <a:t>Uči preporučivati proizvode i raditi sa kupcima.</a:t>
            </a:r>
          </a:p>
          <a:p>
            <a:r>
              <a:t/>
            </a:r>
          </a:p>
          <a:p>
            <a:pPr>
              <a:defRPr sz="2175" b="0">
                <a:solidFill>
                  <a:srgbClr val="526B63"/>
                </a:solidFill>
                <a:latin typeface="Arial"/>
                <a:ea typeface="Arial"/>
                <a:cs typeface="Arial"/>
              </a:defRPr>
            </a:pPr>
            <a:r>
              <a:rPr sz="2175" b="0" lang="sr-Latn-ME">
                <a:solidFill>
                  <a:srgbClr val="526B63"/>
                </a:solidFill>
                <a:latin typeface="Arial"/>
                <a:ea typeface="Arial"/>
                <a:cs typeface="Arial"/>
              </a:rPr>
              <a:t>Može razvijati tim prema službenom planu.</a:t>
            </a:r>
          </a:p>
        </p:txBody>
      </p:sp>
      <p:sp>
        <p:nvSpPr>
          <p:cNvPr id="8" name="">
            <a:extLst>
              <a:ext uri="{FF2B5EF4-FFF2-40B4-BE49-F238E27FC236}">
                <ns2:creationId id="{0E0D066F-E836-4495-B6BA-02C6081856E4}"/>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ME">
                <a:solidFill>
                  <a:srgbClr val="526B63"/>
                </a:solidFill>
                <a:latin typeface="Arial"/>
                <a:ea typeface="Arial"/>
                <a:cs typeface="Arial"/>
              </a:rPr>
              <a:t>Prvi razgovor pomaže izabrati smjer koji odgovara osobi.</a:t>
            </a:r>
          </a:p>
        </p:txBody>
      </p:sp>
    </p:spTree>
    <p:extLst>
      <p:ext uri="{BB962C8B-B14F-4D97-AF65-F5344CB8AC3E}">
        <ns4:creationId val="72070813"/>
      </p:ext>
    </p:extLst>
  </p:cSld>
</p:sld>
</file>

<file path=ppt/slides/slide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9" name="">
            <a:extLst>
              <a:ext uri="{FF2B5EF4-FFF2-40B4-BE49-F238E27FC236}">
                <ns2:creationId id="{452BAE09-4A28-4FDF-B4F1-D84AE45B9CCE}"/>
              </a:ext>
            </a:extLst>
          </p:cNvPr>
          <p:cNvPicPr>
            <a:picLocks noChangeAspect="1"/>
          </p:cNvPicPr>
          <p:nvPr/>
        </p:nvPicPr>
        <p:blipFill>
          <a:blip r:embed="R051be96e5b284a3e"/>
          <a:stretch/>
        </p:blipFill>
        <p:spPr>
          <a:xfrm>
            <a:off x="9867900" y="276061"/>
            <a:ext cx="1695450" cy="438478"/>
          </a:xfrm>
          <a:prstGeom prst="rect">
            <a:avLst/>
          </a:prstGeom>
        </p:spPr>
      </p:pic>
      <p:sp>
        <p:nvSpPr>
          <p:cNvPr id="2" name="">
            <a:extLst>
              <a:ext uri="{FF2B5EF4-FFF2-40B4-BE49-F238E27FC236}">
                <ns2:creationId id="{7AF10F6B-11A4-4082-8474-F8BB8D3A628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ME">
                <a:solidFill>
                  <a:srgbClr val="526B63"/>
                </a:solidFill>
                <a:latin typeface="Arial"/>
                <a:ea typeface="Arial"/>
                <a:cs typeface="Arial"/>
              </a:rPr>
              <a:t>08</a:t>
            </a:r>
          </a:p>
        </p:txBody>
      </p:sp>
      <p:sp>
        <p:nvSpPr>
          <p:cNvPr id="3" name="Naslov">
            <a:extLst>
              <a:ext uri="{FF2B5EF4-FFF2-40B4-BE49-F238E27FC236}">
                <ns2:creationId id="{FFD17B86-6F5B-4AC9-A45D-61B841C5305A}"/>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ME">
                <a:solidFill>
                  <a:srgbClr val="153F36"/>
                </a:solidFill>
                <a:latin typeface="Arial"/>
                <a:ea typeface="Arial"/>
                <a:cs typeface="Arial"/>
              </a:rPr>
              <a:t>Početna kvalifikacija: 2 CC</a:t>
            </a:r>
          </a:p>
        </p:txBody>
      </p:sp>
      <p:sp>
        <p:nvSpPr>
          <p:cNvPr id="4" name="">
            <a:extLst>
              <a:ext uri="{FF2B5EF4-FFF2-40B4-BE49-F238E27FC236}">
                <ns2:creationId id="{1305E928-94E3-4B55-A605-33368A8BE1FE}"/>
              </a:ext>
            </a:extLst>
          </p:cNvPr>
          <p:cNvSpPr>
            <a:spLocks noGrp="1"/>
          </p:cNvSpPr>
          <p:nvPr/>
        </p:nvSpPr>
        <p:spPr>
          <a:xfrm>
            <a:off x="609600" y="2095500"/>
            <a:ext cx="4810125" cy="1285875"/>
          </a:xfrm>
          <a:prstGeom prst="rect">
            <a:avLst/>
          </a:prstGeom>
          <a:noFill/>
          <a:ln w="0">
            <a:noFill/>
          </a:ln>
        </p:spPr>
        <p:txBody>
          <a:bodyPr wrap="square" lIns="0" tIns="0" rIns="0" bIns="0" anchor="t">
            <a:noAutofit/>
          </a:bodyPr>
          <a:lstStyle>
            <a:defPPr>
              <a:defRPr sz="7650" b="1">
                <a:solidFill>
                  <a:srgbClr val="153F36"/>
                </a:solidFill>
                <a:latin typeface="Arial"/>
                <a:ea typeface="Arial"/>
                <a:cs typeface="Arial"/>
              </a:defRPr>
            </a:defPPr>
          </a:lstStyle>
          <a:p>
            <a:pPr>
              <a:defRPr sz="7650" b="1">
                <a:solidFill>
                  <a:srgbClr val="153F36"/>
                </a:solidFill>
                <a:latin typeface="Arial"/>
                <a:ea typeface="Arial"/>
                <a:cs typeface="Arial"/>
              </a:defRPr>
            </a:pPr>
            <a:r>
              <a:rPr sz="7650" b="1" lang="sr-Latn-ME">
                <a:solidFill>
                  <a:srgbClr val="153F36"/>
                </a:solidFill>
                <a:latin typeface="Arial"/>
                <a:ea typeface="Arial"/>
                <a:cs typeface="Arial"/>
              </a:rPr>
              <a:t>2 CC</a:t>
            </a:r>
          </a:p>
        </p:txBody>
      </p:sp>
      <p:sp>
        <p:nvSpPr>
          <p:cNvPr id="5" name="">
            <a:extLst>
              <a:ext uri="{FF2B5EF4-FFF2-40B4-BE49-F238E27FC236}">
                <ns2:creationId id="{8E600297-3522-4464-94CB-5C48591DB8FF}"/>
              </a:ext>
            </a:extLst>
          </p:cNvPr>
          <p:cNvSpPr>
            <a:spLocks noGrp="1"/>
          </p:cNvSpPr>
          <p:nvPr/>
        </p:nvSpPr>
        <p:spPr>
          <a:xfrm>
            <a:off x="4572000" y="2333625"/>
            <a:ext cx="6715125" cy="1104900"/>
          </a:xfrm>
          <a:prstGeom prst="rect">
            <a:avLst/>
          </a:prstGeom>
          <a:noFill/>
          <a:ln w="0">
            <a:noFill/>
          </a:ln>
        </p:spPr>
        <p:txBody>
          <a:bodyPr wrap="square" lIns="0" tIns="0" rIns="0" bIns="0" anchor="t">
            <a:noAutofit/>
          </a:bodyPr>
          <a:lstStyle>
            <a:defPPr>
              <a:defRPr sz="2700" b="1">
                <a:solidFill>
                  <a:srgbClr val="153F36"/>
                </a:solidFill>
                <a:latin typeface="Arial"/>
                <a:ea typeface="Arial"/>
                <a:cs typeface="Arial"/>
              </a:defRPr>
            </a:defPPr>
          </a:lstStyle>
          <a:p>
            <a:pPr>
              <a:defRPr sz="2700" b="1">
                <a:solidFill>
                  <a:srgbClr val="153F36"/>
                </a:solidFill>
                <a:latin typeface="Arial"/>
                <a:ea typeface="Arial"/>
                <a:cs typeface="Arial"/>
              </a:defRPr>
            </a:pPr>
            <a:r>
              <a:rPr sz="2700" b="1" lang="sr-Latn-ME">
                <a:solidFill>
                  <a:srgbClr val="153F36"/>
                </a:solidFill>
                <a:latin typeface="Arial"/>
                <a:ea typeface="Arial"/>
                <a:cs typeface="Arial"/>
              </a:rPr>
              <a:t>CC su obračunski</a:t>
            </a:r>
          </a:p>
          <a:p>
            <a:pPr>
              <a:defRPr sz="2700" b="1">
                <a:solidFill>
                  <a:srgbClr val="153F36"/>
                </a:solidFill>
                <a:latin typeface="Arial"/>
                <a:ea typeface="Arial"/>
                <a:cs typeface="Arial"/>
              </a:defRPr>
            </a:pPr>
            <a:r>
              <a:rPr sz="2700" b="1" lang="sr-Latn-ME">
                <a:solidFill>
                  <a:srgbClr val="153F36"/>
                </a:solidFill>
                <a:latin typeface="Arial"/>
                <a:ea typeface="Arial"/>
                <a:cs typeface="Arial"/>
              </a:rPr>
              <a:t>bodovi proizvoda.</a:t>
            </a:r>
          </a:p>
        </p:txBody>
      </p:sp>
      <p:sp>
        <p:nvSpPr>
          <p:cNvPr id="6" name="">
            <a:extLst>
              <a:ext uri="{FF2B5EF4-FFF2-40B4-BE49-F238E27FC236}">
                <ns2:creationId id="{0D2CE9B8-81CE-4B05-9A88-8AA42B134161}"/>
              </a:ext>
            </a:extLst>
          </p:cNvPr>
          <p:cNvSpPr>
            <a:spLocks noGrp="1"/>
          </p:cNvSpPr>
          <p:nvPr/>
        </p:nvSpPr>
        <p:spPr>
          <a:xfrm>
            <a:off x="609600" y="3486150"/>
            <a:ext cx="9753600" cy="6858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r-Latn-ME">
                <a:solidFill>
                  <a:srgbClr val="153F36"/>
                </a:solidFill>
                <a:latin typeface="Arial"/>
                <a:ea typeface="Arial"/>
                <a:cs typeface="Arial"/>
              </a:rPr>
              <a:t>U dva uzastopna mjeseca</a:t>
            </a:r>
          </a:p>
        </p:txBody>
      </p:sp>
      <p:sp>
        <p:nvSpPr>
          <p:cNvPr id="7" name="">
            <a:extLst>
              <a:ext uri="{FF2B5EF4-FFF2-40B4-BE49-F238E27FC236}">
                <ns2:creationId id="{F38A0995-25A3-4169-84D9-35E62D33DC4A}"/>
              </a:ext>
            </a:extLst>
          </p:cNvPr>
          <p:cNvSpPr>
            <a:spLocks noGrp="1"/>
          </p:cNvSpPr>
          <p:nvPr/>
        </p:nvSpPr>
        <p:spPr>
          <a:xfrm>
            <a:off x="609600" y="4495800"/>
            <a:ext cx="9525000" cy="933450"/>
          </a:xfrm>
          <a:prstGeom prst="rect">
            <a:avLst/>
          </a:prstGeom>
          <a:noFill/>
          <a:ln w="0">
            <a:noFill/>
          </a:ln>
        </p:spPr>
        <p:txBody>
          <a:bodyPr wrap="square" lIns="0" tIns="0" rIns="0" bIns="0" anchor="t">
            <a:noAutofit/>
          </a:bodyPr>
          <a:lstStyle>
            <a:defPPr>
              <a:defRPr sz="2325" b="0">
                <a:solidFill>
                  <a:srgbClr val="526B63"/>
                </a:solidFill>
                <a:latin typeface="Arial"/>
                <a:ea typeface="Arial"/>
                <a:cs typeface="Arial"/>
              </a:defRPr>
            </a:defPPr>
          </a:lstStyle>
          <a:p>
            <a:pPr>
              <a:defRPr sz="2325" b="0">
                <a:solidFill>
                  <a:srgbClr val="526B63"/>
                </a:solidFill>
                <a:latin typeface="Arial"/>
                <a:ea typeface="Arial"/>
                <a:cs typeface="Arial"/>
              </a:defRPr>
            </a:pPr>
            <a:r>
              <a:rPr sz="2325" b="0" lang="sr-Latn-ME">
                <a:solidFill>
                  <a:srgbClr val="526B63"/>
                </a:solidFill>
                <a:latin typeface="Arial"/>
                <a:ea typeface="Arial"/>
                <a:cs typeface="Arial"/>
              </a:rPr>
              <a:t>Odgovarajući početni paket ili kombinacija proizvoda prema aktuelnim uslovima.</a:t>
            </a:r>
          </a:p>
        </p:txBody>
      </p:sp>
      <p:sp>
        <p:nvSpPr>
          <p:cNvPr id="8" name="">
            <a:extLst>
              <a:ext uri="{FF2B5EF4-FFF2-40B4-BE49-F238E27FC236}">
                <ns2:creationId id="{77AFF33C-FD64-4E61-B81A-785DDD31156C}"/>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ME">
                <a:solidFill>
                  <a:srgbClr val="526B63"/>
                </a:solidFill>
                <a:latin typeface="Arial"/>
                <a:ea typeface="Arial"/>
                <a:cs typeface="Arial"/>
              </a:rPr>
              <a:t>Hrvatski tržišni okvir. Cijena i dostupnost provjeravaju se u službenom shopu.</a:t>
            </a:r>
          </a:p>
        </p:txBody>
      </p:sp>
    </p:spTree>
    <p:extLst>
      <p:ext uri="{BB962C8B-B14F-4D97-AF65-F5344CB8AC3E}">
        <ns4:creationId val="302156339"/>
      </p:ext>
    </p:extLst>
  </p:cSld>
</p:sld>
</file>

<file path=ppt/slides/slide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54B81B2D-1CCA-483A-BFD7-E57A9B46F8C8}"/>
              </a:ext>
            </a:extLst>
          </p:cNvPr>
          <p:cNvPicPr>
            <a:picLocks noChangeAspect="1"/>
          </p:cNvPicPr>
          <p:nvPr/>
        </p:nvPicPr>
        <p:blipFill>
          <a:blip r:embed="Rf661f195b5314748"/>
          <a:stretch/>
        </p:blipFill>
        <p:spPr>
          <a:xfrm>
            <a:off x="9867900" y="276061"/>
            <a:ext cx="1695450" cy="438478"/>
          </a:xfrm>
          <a:prstGeom prst="rect">
            <a:avLst/>
          </a:prstGeom>
        </p:spPr>
      </p:pic>
      <p:sp>
        <p:nvSpPr>
          <p:cNvPr id="2" name="">
            <a:extLst>
              <a:ext uri="{FF2B5EF4-FFF2-40B4-BE49-F238E27FC236}">
                <ns2:creationId id="{54A71095-8359-4EA0-A4C1-36D0120F2536}"/>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ME">
                <a:solidFill>
                  <a:srgbClr val="526B63"/>
                </a:solidFill>
                <a:latin typeface="Arial"/>
                <a:ea typeface="Arial"/>
                <a:cs typeface="Arial"/>
              </a:rPr>
              <a:t>09</a:t>
            </a:r>
          </a:p>
        </p:txBody>
      </p:sp>
      <p:sp>
        <p:nvSpPr>
          <p:cNvPr id="3" name="Naslov">
            <a:extLst>
              <a:ext uri="{FF2B5EF4-FFF2-40B4-BE49-F238E27FC236}">
                <ns2:creationId id="{616FFF80-E49E-4FEC-A237-32EC69152722}"/>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ME">
                <a:solidFill>
                  <a:srgbClr val="153F36"/>
                </a:solidFill>
                <a:latin typeface="Arial"/>
                <a:ea typeface="Arial"/>
                <a:cs typeface="Arial"/>
              </a:rPr>
              <a:t>Popust, prodajna dobit i bonus</a:t>
            </a:r>
          </a:p>
        </p:txBody>
      </p:sp>
      <p:sp>
        <p:nvSpPr>
          <p:cNvPr id="4" name="">
            <a:extLst>
              <a:ext uri="{FF2B5EF4-FFF2-40B4-BE49-F238E27FC236}">
                <ns2:creationId id="{BDDED255-1812-4E04-914B-6B332C90B5B4}"/>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r-Latn-ME">
                <a:solidFill>
                  <a:srgbClr val="148977"/>
                </a:solidFill>
                <a:latin typeface="Arial"/>
                <a:ea typeface="Arial"/>
                <a:cs typeface="Arial"/>
              </a:rPr>
              <a:t>1.</a:t>
            </a:r>
          </a:p>
        </p:txBody>
      </p:sp>
      <p:sp>
        <p:nvSpPr>
          <p:cNvPr id="5" name="">
            <a:extLst>
              <a:ext uri="{FF2B5EF4-FFF2-40B4-BE49-F238E27FC236}">
                <ns2:creationId id="{FD37A62D-3C45-4D0E-A38A-9915FE68876C}"/>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r-Latn-ME">
                <a:solidFill>
                  <a:srgbClr val="153F36"/>
                </a:solidFill>
                <a:latin typeface="Arial"/>
                <a:ea typeface="Arial"/>
                <a:cs typeface="Arial"/>
              </a:rPr>
              <a:t>30% nakon početne kvalifikacije</a:t>
            </a:r>
          </a:p>
        </p:txBody>
      </p:sp>
      <p:sp>
        <p:nvSpPr>
          <p:cNvPr id="6" name="">
            <a:extLst>
              <a:ext uri="{FF2B5EF4-FFF2-40B4-BE49-F238E27FC236}">
                <ns2:creationId id="{0AEF7DBB-93FC-4643-9868-0D9C3B4364E5}"/>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Popust na naknadne porudžbine u hrvatskom tržišnom okviru.</a:t>
            </a:r>
          </a:p>
        </p:txBody>
      </p:sp>
      <p:sp>
        <p:nvSpPr>
          <p:cNvPr id="7" name="">
            <a:extLst>
              <a:ext uri="{FF2B5EF4-FFF2-40B4-BE49-F238E27FC236}">
                <ns2:creationId id="{7B9CB7F3-4139-4611-87F8-435F9FF741FD}"/>
              </a:ext>
            </a:extLst>
          </p:cNvPr>
          <p:cNvSpPr>
            <a:spLocks noGrp="1"/>
          </p:cNvSpPr>
          <p:nvPr/>
        </p:nvSpPr>
        <p:spPr>
          <a:xfrm>
            <a:off x="609600" y="312420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r-Latn-ME">
                <a:solidFill>
                  <a:srgbClr val="148977"/>
                </a:solidFill>
                <a:latin typeface="Arial"/>
                <a:ea typeface="Arial"/>
                <a:cs typeface="Arial"/>
              </a:rPr>
              <a:t>2.</a:t>
            </a:r>
          </a:p>
        </p:txBody>
      </p:sp>
      <p:sp>
        <p:nvSpPr>
          <p:cNvPr id="8" name="">
            <a:extLst>
              <a:ext uri="{FF2B5EF4-FFF2-40B4-BE49-F238E27FC236}">
                <ns2:creationId id="{9C21A969-5A0A-4363-B933-89E397B75B42}"/>
              </a:ext>
            </a:extLst>
          </p:cNvPr>
          <p:cNvSpPr>
            <a:spLocks noGrp="1"/>
          </p:cNvSpPr>
          <p:nvPr/>
        </p:nvSpPr>
        <p:spPr>
          <a:xfrm>
            <a:off x="1257300" y="312420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r-Latn-ME">
                <a:solidFill>
                  <a:srgbClr val="153F36"/>
                </a:solidFill>
                <a:latin typeface="Arial"/>
                <a:ea typeface="Arial"/>
                <a:cs typeface="Arial"/>
              </a:rPr>
              <a:t>Prodajna dobit</a:t>
            </a:r>
          </a:p>
        </p:txBody>
      </p:sp>
      <p:sp>
        <p:nvSpPr>
          <p:cNvPr id="9" name="">
            <a:extLst>
              <a:ext uri="{FF2B5EF4-FFF2-40B4-BE49-F238E27FC236}">
                <ns2:creationId id="{A037074A-E68A-4282-99A4-49DED4CAE7F8}"/>
              </a:ext>
            </a:extLst>
          </p:cNvPr>
          <p:cNvSpPr>
            <a:spLocks noGrp="1"/>
          </p:cNvSpPr>
          <p:nvPr/>
        </p:nvSpPr>
        <p:spPr>
          <a:xfrm>
            <a:off x="1257300" y="3533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Zavisi o stvarnoj prodajnoj i nabavnoj cijeni.</a:t>
            </a:r>
          </a:p>
        </p:txBody>
      </p:sp>
      <p:sp>
        <p:nvSpPr>
          <p:cNvPr id="10" name="">
            <a:extLst>
              <a:ext uri="{FF2B5EF4-FFF2-40B4-BE49-F238E27FC236}">
                <ns2:creationId id="{3D570E6E-8B24-4330-A562-3E522F970A4D}"/>
              </a:ext>
            </a:extLst>
          </p:cNvPr>
          <p:cNvSpPr>
            <a:spLocks noGrp="1"/>
          </p:cNvSpPr>
          <p:nvPr/>
        </p:nvSpPr>
        <p:spPr>
          <a:xfrm>
            <a:off x="609600" y="42862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r-Latn-ME">
                <a:solidFill>
                  <a:srgbClr val="148977"/>
                </a:solidFill>
                <a:latin typeface="Arial"/>
                <a:ea typeface="Arial"/>
                <a:cs typeface="Arial"/>
              </a:rPr>
              <a:t>3.</a:t>
            </a:r>
          </a:p>
        </p:txBody>
      </p:sp>
      <p:sp>
        <p:nvSpPr>
          <p:cNvPr id="11" name="">
            <a:extLst>
              <a:ext uri="{FF2B5EF4-FFF2-40B4-BE49-F238E27FC236}">
                <ns2:creationId id="{141569BD-0969-41EC-B9D6-1548A3721055}"/>
              </a:ext>
            </a:extLst>
          </p:cNvPr>
          <p:cNvSpPr>
            <a:spLocks noGrp="1"/>
          </p:cNvSpPr>
          <p:nvPr/>
        </p:nvSpPr>
        <p:spPr>
          <a:xfrm>
            <a:off x="1257300" y="42862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r-Latn-ME">
                <a:solidFill>
                  <a:srgbClr val="153F36"/>
                </a:solidFill>
                <a:latin typeface="Arial"/>
                <a:ea typeface="Arial"/>
                <a:cs typeface="Arial"/>
              </a:rPr>
              <a:t>Bonus</a:t>
            </a:r>
          </a:p>
        </p:txBody>
      </p:sp>
      <p:sp>
        <p:nvSpPr>
          <p:cNvPr id="12" name="">
            <a:extLst>
              <a:ext uri="{FF2B5EF4-FFF2-40B4-BE49-F238E27FC236}">
                <ns2:creationId id="{44D69AAF-0CFB-4734-B419-43D03A1B0923}"/>
              </a:ext>
            </a:extLst>
          </p:cNvPr>
          <p:cNvSpPr>
            <a:spLocks noGrp="1"/>
          </p:cNvSpPr>
          <p:nvPr/>
        </p:nvSpPr>
        <p:spPr>
          <a:xfrm>
            <a:off x="1257300" y="46958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Obračunava se za priznatu prodaju uz propisane uslove.</a:t>
            </a:r>
          </a:p>
        </p:txBody>
      </p:sp>
      <p:sp>
        <p:nvSpPr>
          <p:cNvPr id="13" name="">
            <a:extLst>
              <a:ext uri="{FF2B5EF4-FFF2-40B4-BE49-F238E27FC236}">
                <ns2:creationId id="{BD566267-66F1-4515-8129-B602138DC9B1}"/>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ME">
                <a:solidFill>
                  <a:srgbClr val="526B63"/>
                </a:solidFill>
                <a:latin typeface="Arial"/>
                <a:ea typeface="Arial"/>
                <a:cs typeface="Arial"/>
              </a:rPr>
              <a:t>Neto prihod zavisi i o troškovima, povratima te porezima.</a:t>
            </a:r>
          </a:p>
        </p:txBody>
      </p:sp>
    </p:spTree>
    <p:extLst>
      <p:ext uri="{BB962C8B-B14F-4D97-AF65-F5344CB8AC3E}">
        <ns4:creationId val="402010883"/>
      </p:ext>
    </p:extLst>
  </p:cSld>
</p:sld>
</file>

<file path=ppt/slides/slide1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840DF7EE-0EBF-4A51-BCCA-50E40AAC8CD9}"/>
              </a:ext>
            </a:extLst>
          </p:cNvPr>
          <p:cNvPicPr>
            <a:picLocks noChangeAspect="1"/>
          </p:cNvPicPr>
          <p:nvPr/>
        </p:nvPicPr>
        <p:blipFill>
          <a:blip r:embed="Redb93a4280434ff1"/>
          <a:stretch/>
        </p:blipFill>
        <p:spPr>
          <a:xfrm>
            <a:off x="9867900" y="276061"/>
            <a:ext cx="1695450" cy="438478"/>
          </a:xfrm>
          <a:prstGeom prst="rect">
            <a:avLst/>
          </a:prstGeom>
        </p:spPr>
      </p:pic>
      <p:sp>
        <p:nvSpPr>
          <p:cNvPr id="2" name="">
            <a:extLst>
              <a:ext uri="{FF2B5EF4-FFF2-40B4-BE49-F238E27FC236}">
                <ns2:creationId id="{F88BD6BA-C85F-4ABA-8F08-31047BB24EE0}"/>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ME">
                <a:solidFill>
                  <a:srgbClr val="526B63"/>
                </a:solidFill>
                <a:latin typeface="Arial"/>
                <a:ea typeface="Arial"/>
                <a:cs typeface="Arial"/>
              </a:rPr>
              <a:t>10</a:t>
            </a:r>
          </a:p>
        </p:txBody>
      </p:sp>
      <p:sp>
        <p:nvSpPr>
          <p:cNvPr id="3" name="Naslov">
            <a:extLst>
              <a:ext uri="{FF2B5EF4-FFF2-40B4-BE49-F238E27FC236}">
                <ns2:creationId id="{3292CFF6-A88B-4EB8-9D76-22FE62599277}"/>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ME">
                <a:solidFill>
                  <a:srgbClr val="153F36"/>
                </a:solidFill>
                <a:latin typeface="Arial"/>
                <a:ea typeface="Arial"/>
                <a:cs typeface="Arial"/>
              </a:rPr>
              <a:t>Načini ostvarivanja prihoda</a:t>
            </a:r>
          </a:p>
        </p:txBody>
      </p:sp>
      <p:sp>
        <p:nvSpPr>
          <p:cNvPr id="4" name="">
            <a:extLst>
              <a:ext uri="{FF2B5EF4-FFF2-40B4-BE49-F238E27FC236}">
                <ns2:creationId id="{E4F37C57-BB38-4268-A186-D1B747EFAAB6}"/>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ME">
                <a:solidFill>
                  <a:srgbClr val="148977"/>
                </a:solidFill>
                <a:latin typeface="Arial"/>
                <a:ea typeface="Arial"/>
                <a:cs typeface="Arial"/>
              </a:rPr>
              <a:t>1.</a:t>
            </a:r>
          </a:p>
        </p:txBody>
      </p:sp>
      <p:sp>
        <p:nvSpPr>
          <p:cNvPr id="5" name="">
            <a:extLst>
              <a:ext uri="{FF2B5EF4-FFF2-40B4-BE49-F238E27FC236}">
                <ns2:creationId id="{961A0C47-68F2-4FC3-AC65-BF70D8BE9435}"/>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ME">
                <a:solidFill>
                  <a:srgbClr val="153F36"/>
                </a:solidFill>
                <a:latin typeface="Arial"/>
                <a:ea typeface="Arial"/>
                <a:cs typeface="Arial"/>
              </a:rPr>
              <a:t>Maloprodajna i online prodaja</a:t>
            </a:r>
          </a:p>
        </p:txBody>
      </p:sp>
      <p:sp>
        <p:nvSpPr>
          <p:cNvPr id="6" name="">
            <a:extLst>
              <a:ext uri="{FF2B5EF4-FFF2-40B4-BE49-F238E27FC236}">
                <ns2:creationId id="{63F83357-877E-4FF3-915F-C3938DABCDED}"/>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Dobit vezana uz stvarnu kupovinu proizvoda.</a:t>
            </a:r>
          </a:p>
        </p:txBody>
      </p:sp>
      <p:sp>
        <p:nvSpPr>
          <p:cNvPr id="7" name="">
            <a:extLst>
              <a:ext uri="{FF2B5EF4-FFF2-40B4-BE49-F238E27FC236}">
                <ns2:creationId id="{DADDE4B6-6F20-47E2-A08D-2141BD840EEE}"/>
              </a:ext>
            </a:extLst>
          </p:cNvPr>
          <p:cNvSpPr>
            <a:spLocks noGrp="1"/>
          </p:cNvSpPr>
          <p:nvPr/>
        </p:nvSpPr>
        <p:spPr>
          <a:xfrm>
            <a:off x="609600" y="28575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ME">
                <a:solidFill>
                  <a:srgbClr val="148977"/>
                </a:solidFill>
                <a:latin typeface="Arial"/>
                <a:ea typeface="Arial"/>
                <a:cs typeface="Arial"/>
              </a:rPr>
              <a:t>2.</a:t>
            </a:r>
          </a:p>
        </p:txBody>
      </p:sp>
      <p:sp>
        <p:nvSpPr>
          <p:cNvPr id="8" name="">
            <a:extLst>
              <a:ext uri="{FF2B5EF4-FFF2-40B4-BE49-F238E27FC236}">
                <ns2:creationId id="{67D8978D-38A0-4FC8-BFC8-BC13A9976728}"/>
              </a:ext>
            </a:extLst>
          </p:cNvPr>
          <p:cNvSpPr>
            <a:spLocks noGrp="1"/>
          </p:cNvSpPr>
          <p:nvPr/>
        </p:nvSpPr>
        <p:spPr>
          <a:xfrm>
            <a:off x="1257300" y="28575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ME">
                <a:solidFill>
                  <a:srgbClr val="153F36"/>
                </a:solidFill>
                <a:latin typeface="Arial"/>
                <a:ea typeface="Arial"/>
                <a:cs typeface="Arial"/>
              </a:rPr>
              <a:t>Lični i Preferred Customer bonus</a:t>
            </a:r>
          </a:p>
        </p:txBody>
      </p:sp>
      <p:sp>
        <p:nvSpPr>
          <p:cNvPr id="9" name="">
            <a:extLst>
              <a:ext uri="{FF2B5EF4-FFF2-40B4-BE49-F238E27FC236}">
                <ns2:creationId id="{C231494E-33FE-4508-9785-F00A2151446B}"/>
              </a:ext>
            </a:extLst>
          </p:cNvPr>
          <p:cNvSpPr>
            <a:spLocks noGrp="1"/>
          </p:cNvSpPr>
          <p:nvPr/>
        </p:nvSpPr>
        <p:spPr>
          <a:xfrm>
            <a:off x="1257300" y="32670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Obračun prema prodajnom nivou i uslovima.</a:t>
            </a:r>
          </a:p>
        </p:txBody>
      </p:sp>
      <p:sp>
        <p:nvSpPr>
          <p:cNvPr id="10" name="">
            <a:extLst>
              <a:ext uri="{FF2B5EF4-FFF2-40B4-BE49-F238E27FC236}">
                <ns2:creationId id="{6C5B4166-CAE5-400B-9E51-0F8ECA7D451A}"/>
              </a:ext>
            </a:extLst>
          </p:cNvPr>
          <p:cNvSpPr>
            <a:spLocks noGrp="1"/>
          </p:cNvSpPr>
          <p:nvPr/>
        </p:nvSpPr>
        <p:spPr>
          <a:xfrm>
            <a:off x="609600" y="37528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ME">
                <a:solidFill>
                  <a:srgbClr val="148977"/>
                </a:solidFill>
                <a:latin typeface="Arial"/>
                <a:ea typeface="Arial"/>
                <a:cs typeface="Arial"/>
              </a:rPr>
              <a:t>3.</a:t>
            </a:r>
          </a:p>
        </p:txBody>
      </p:sp>
      <p:sp>
        <p:nvSpPr>
          <p:cNvPr id="11" name="">
            <a:extLst>
              <a:ext uri="{FF2B5EF4-FFF2-40B4-BE49-F238E27FC236}">
                <ns2:creationId id="{50834E28-49CA-44B2-B93E-18D9D4627CA3}"/>
              </a:ext>
            </a:extLst>
          </p:cNvPr>
          <p:cNvSpPr>
            <a:spLocks noGrp="1"/>
          </p:cNvSpPr>
          <p:nvPr/>
        </p:nvSpPr>
        <p:spPr>
          <a:xfrm>
            <a:off x="1257300" y="37528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ME">
                <a:solidFill>
                  <a:srgbClr val="153F36"/>
                </a:solidFill>
                <a:latin typeface="Arial"/>
                <a:ea typeface="Arial"/>
                <a:cs typeface="Arial"/>
              </a:rPr>
              <a:t>Volume bonus</a:t>
            </a:r>
          </a:p>
        </p:txBody>
      </p:sp>
      <p:sp>
        <p:nvSpPr>
          <p:cNvPr id="12" name="">
            <a:extLst>
              <a:ext uri="{FF2B5EF4-FFF2-40B4-BE49-F238E27FC236}">
                <ns2:creationId id="{5407DF9D-985F-4E8D-8C98-F0B86ED67E9E}"/>
              </a:ext>
            </a:extLst>
          </p:cNvPr>
          <p:cNvSpPr>
            <a:spLocks noGrp="1"/>
          </p:cNvSpPr>
          <p:nvPr/>
        </p:nvSpPr>
        <p:spPr>
          <a:xfrm>
            <a:off x="1257300" y="41624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Kvalifikovana prodaja nižih nivoa u organizaciji.</a:t>
            </a:r>
          </a:p>
        </p:txBody>
      </p:sp>
      <p:sp>
        <p:nvSpPr>
          <p:cNvPr id="13" name="">
            <a:extLst>
              <a:ext uri="{FF2B5EF4-FFF2-40B4-BE49-F238E27FC236}">
                <ns2:creationId id="{E9580FA4-DD30-4C4A-BAB0-1DC98066621F}"/>
              </a:ext>
            </a:extLst>
          </p:cNvPr>
          <p:cNvSpPr>
            <a:spLocks noGrp="1"/>
          </p:cNvSpPr>
          <p:nvPr/>
        </p:nvSpPr>
        <p:spPr>
          <a:xfrm>
            <a:off x="609600" y="46482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ME">
                <a:solidFill>
                  <a:srgbClr val="148977"/>
                </a:solidFill>
                <a:latin typeface="Arial"/>
                <a:ea typeface="Arial"/>
                <a:cs typeface="Arial"/>
              </a:rPr>
              <a:t>4.</a:t>
            </a:r>
          </a:p>
        </p:txBody>
      </p:sp>
      <p:sp>
        <p:nvSpPr>
          <p:cNvPr id="14" name="">
            <a:extLst>
              <a:ext uri="{FF2B5EF4-FFF2-40B4-BE49-F238E27FC236}">
                <ns2:creationId id="{E50EC679-BBB4-46B2-81C9-AC16645DB86B}"/>
              </a:ext>
            </a:extLst>
          </p:cNvPr>
          <p:cNvSpPr>
            <a:spLocks noGrp="1"/>
          </p:cNvSpPr>
          <p:nvPr/>
        </p:nvSpPr>
        <p:spPr>
          <a:xfrm>
            <a:off x="1257300" y="46482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ME">
                <a:solidFill>
                  <a:srgbClr val="153F36"/>
                </a:solidFill>
                <a:latin typeface="Arial"/>
                <a:ea typeface="Arial"/>
                <a:cs typeface="Arial"/>
              </a:rPr>
              <a:t>Leadership bonus</a:t>
            </a:r>
          </a:p>
        </p:txBody>
      </p:sp>
      <p:sp>
        <p:nvSpPr>
          <p:cNvPr id="15" name="">
            <a:extLst>
              <a:ext uri="{FF2B5EF4-FFF2-40B4-BE49-F238E27FC236}">
                <ns2:creationId id="{A8964C4B-0C42-4F0F-9058-0454BA2D8106}"/>
              </a:ext>
            </a:extLst>
          </p:cNvPr>
          <p:cNvSpPr>
            <a:spLocks noGrp="1"/>
          </p:cNvSpPr>
          <p:nvPr/>
        </p:nvSpPr>
        <p:spPr>
          <a:xfrm>
            <a:off x="1257300" y="5057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Kvalifikovane Manager generacije i uslovi plana.</a:t>
            </a:r>
          </a:p>
        </p:txBody>
      </p:sp>
    </p:spTree>
    <p:extLst>
      <p:ext uri="{BB962C8B-B14F-4D97-AF65-F5344CB8AC3E}">
        <ns4:creationId val="992325245"/>
      </p:ext>
    </p:extLst>
  </p:cSld>
</p:sld>
</file>

<file path=ppt/slides/slide1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6" name="">
            <a:extLst>
              <a:ext uri="{FF2B5EF4-FFF2-40B4-BE49-F238E27FC236}">
                <ns2:creationId id="{A9AB977B-9D5E-4F10-952B-A0122802EBF9}"/>
              </a:ext>
            </a:extLst>
          </p:cNvPr>
          <p:cNvPicPr>
            <a:picLocks noChangeAspect="1"/>
          </p:cNvPicPr>
          <p:nvPr/>
        </p:nvPicPr>
        <p:blipFill>
          <a:blip r:embed="R5bc897ca9a314817"/>
          <a:stretch/>
        </p:blipFill>
        <p:spPr>
          <a:xfrm>
            <a:off x="9867900" y="276061"/>
            <a:ext cx="1695450" cy="438478"/>
          </a:xfrm>
          <a:prstGeom prst="rect">
            <a:avLst/>
          </a:prstGeom>
        </p:spPr>
      </p:pic>
      <p:sp>
        <p:nvSpPr>
          <p:cNvPr id="2" name="">
            <a:extLst>
              <a:ext uri="{FF2B5EF4-FFF2-40B4-BE49-F238E27FC236}">
                <ns2:creationId id="{E1206217-E73A-4CEB-9B09-737F10EA58F5}"/>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ME">
                <a:solidFill>
                  <a:srgbClr val="526B63"/>
                </a:solidFill>
                <a:latin typeface="Arial"/>
                <a:ea typeface="Arial"/>
                <a:cs typeface="Arial"/>
              </a:rPr>
              <a:t>11</a:t>
            </a:r>
          </a:p>
        </p:txBody>
      </p:sp>
      <p:sp>
        <p:nvSpPr>
          <p:cNvPr id="3" name="Naslov">
            <a:extLst>
              <a:ext uri="{FF2B5EF4-FFF2-40B4-BE49-F238E27FC236}">
                <ns2:creationId id="{F97FCDE6-31DA-49CD-A3B9-7E9B8A32A524}"/>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ME">
                <a:solidFill>
                  <a:srgbClr val="153F36"/>
                </a:solidFill>
                <a:latin typeface="Arial"/>
                <a:ea typeface="Arial"/>
                <a:cs typeface="Arial"/>
              </a:rPr>
              <a:t>Prodajni nivoi</a:t>
            </a:r>
          </a:p>
        </p:txBody>
      </p:sp>
      <p:graphicFrame>
        <p:nvGraphicFramePr>
          <p:cNvPr id="4" name="">
            <a:extLst>
              <a:ext uri="{FF2B5EF4-FFF2-40B4-BE49-F238E27FC236}">
                <ns2:creationId id="{BC47871F-1D3A-4769-8DAA-F613396509F8}"/>
              </a:ext>
            </a:extLst>
          </p:cNvPr>
          <p:cNvGraphicFramePr/>
          <p:nvPr/>
        </p:nvGraphicFramePr>
        <p:xfrm>
          <a:off x="609600" y="2114550"/>
          <a:ext cx="10953750" cy="3171825"/>
        </p:xfrm>
        <a:graphic>
          <a:graphicData uri="http://schemas.openxmlformats.org/drawingml/2006/table">
            <a:tbl>
              <a:tblPr/>
              <a:tblGrid>
                <a:gridCol w="3981450"/>
                <a:gridCol w="6972300"/>
              </a:tblGrid>
              <a:tr h="634365">
                <a:tc>
                  <a:txBody>
                    <a:bodyPr lIns="152400" tIns="133350" rIns="152400" bIns="114300">
                      <a:noAutofit/>
                    </a:bodyPr>
                    <a:lstStyle/>
                    <a:p>
                      <a:r>
                        <a:rPr sz="2025" b="1" lang="sr-Latn-ME">
                          <a:solidFill>
                            <a:srgbClr val="FFFFFF"/>
                          </a:solidFill>
                          <a:latin typeface="Arial"/>
                          <a:ea typeface="Arial"/>
                          <a:cs typeface="Arial"/>
                        </a:rPr>
                        <a:t>Nivo</a:t>
                      </a:r>
                    </a:p>
                  </a:txBody>
                  <a:tcPr marL="91440" marR="91440" marT="45720" marB="45720">
                    <a:solidFill>
                      <a:srgbClr val="153F36"/>
                    </a:solidFill>
                  </a:tcPr>
                </a:tc>
                <a:tc>
                  <a:txBody>
                    <a:bodyPr lIns="152400" tIns="133350" rIns="152400" bIns="114300">
                      <a:noAutofit/>
                    </a:bodyPr>
                    <a:lstStyle/>
                    <a:p>
                      <a:r>
                        <a:rPr sz="2025" b="1" lang="sr-Latn-ME">
                          <a:solidFill>
                            <a:srgbClr val="FFFFFF"/>
                          </a:solidFill>
                          <a:latin typeface="Arial"/>
                          <a:ea typeface="Arial"/>
                          <a:cs typeface="Arial"/>
                        </a:rPr>
                        <a:t>Kvalifikacioni volumen</a:t>
                      </a:r>
                    </a:p>
                  </a:txBody>
                  <a:tcPr marL="91440" marR="91440" marT="45720" marB="45720">
                    <a:solidFill>
                      <a:srgbClr val="153F36"/>
                    </a:solidFill>
                  </a:tcPr>
                </a:tc>
              </a:tr>
              <a:tr h="634365">
                <a:tc>
                  <a:txBody>
                    <a:bodyPr lIns="152400" tIns="133350" rIns="152400" bIns="114300">
                      <a:noAutofit/>
                    </a:bodyPr>
                    <a:lstStyle/>
                    <a:p>
                      <a:r>
                        <a:rPr sz="2025" b="0" lang="sr-Latn-ME">
                          <a:solidFill>
                            <a:srgbClr val="153F36"/>
                          </a:solidFill>
                          <a:latin typeface="Arial"/>
                          <a:ea typeface="Arial"/>
                          <a:cs typeface="Arial"/>
                        </a:rPr>
                        <a:t>Assistant Supervisor</a:t>
                      </a:r>
                    </a:p>
                  </a:txBody>
                  <a:tcPr marL="91440" marR="91440" marT="45720" marB="45720">
                    <a:solidFill>
                      <a:srgbClr val="FFFFFF"/>
                    </a:solidFill>
                  </a:tcPr>
                </a:tc>
                <a:tc>
                  <a:txBody>
                    <a:bodyPr lIns="152400" tIns="133350" rIns="152400" bIns="114300">
                      <a:noAutofit/>
                    </a:bodyPr>
                    <a:lstStyle/>
                    <a:p>
                      <a:r>
                        <a:rPr sz="2025" b="0" lang="sr-Latn-ME">
                          <a:solidFill>
                            <a:srgbClr val="153F36"/>
                          </a:solidFill>
                          <a:latin typeface="Arial"/>
                          <a:ea typeface="Arial"/>
                          <a:cs typeface="Arial"/>
                        </a:rPr>
                        <a:t>2 CC u dva uzastopna mjeseca</a:t>
                      </a:r>
                    </a:p>
                  </a:txBody>
                  <a:tcPr marL="91440" marR="91440" marT="45720" marB="45720">
                    <a:solidFill>
                      <a:srgbClr val="FFFFFF"/>
                    </a:solidFill>
                  </a:tcPr>
                </a:tc>
              </a:tr>
              <a:tr h="634365">
                <a:tc>
                  <a:txBody>
                    <a:bodyPr lIns="152400" tIns="133350" rIns="152400" bIns="114300">
                      <a:noAutofit/>
                    </a:bodyPr>
                    <a:lstStyle/>
                    <a:p>
                      <a:r>
                        <a:rPr sz="2025" b="0" lang="sr-Latn-ME">
                          <a:solidFill>
                            <a:srgbClr val="153F36"/>
                          </a:solidFill>
                          <a:latin typeface="Arial"/>
                          <a:ea typeface="Arial"/>
                          <a:cs typeface="Arial"/>
                        </a:rPr>
                        <a:t>Supervisor</a:t>
                      </a:r>
                    </a:p>
                  </a:txBody>
                  <a:tcPr marL="91440" marR="91440" marT="45720" marB="45720">
                    <a:solidFill>
                      <a:srgbClr val="F3F7F2"/>
                    </a:solidFill>
                  </a:tcPr>
                </a:tc>
                <a:tc>
                  <a:txBody>
                    <a:bodyPr lIns="152400" tIns="133350" rIns="152400" bIns="114300">
                      <a:noAutofit/>
                    </a:bodyPr>
                    <a:lstStyle/>
                    <a:p>
                      <a:r>
                        <a:rPr sz="2025" b="0" lang="sr-Latn-ME">
                          <a:solidFill>
                            <a:srgbClr val="153F36"/>
                          </a:solidFill>
                          <a:latin typeface="Arial"/>
                          <a:ea typeface="Arial"/>
                          <a:cs typeface="Arial"/>
                        </a:rPr>
                        <a:t>10 CC, rok provjeriti lokalno</a:t>
                      </a:r>
                    </a:p>
                  </a:txBody>
                  <a:tcPr marL="91440" marR="91440" marT="45720" marB="45720">
                    <a:solidFill>
                      <a:srgbClr val="F3F7F2"/>
                    </a:solidFill>
                  </a:tcPr>
                </a:tc>
              </a:tr>
              <a:tr h="634365">
                <a:tc>
                  <a:txBody>
                    <a:bodyPr lIns="152400" tIns="133350" rIns="152400" bIns="114300">
                      <a:noAutofit/>
                    </a:bodyPr>
                    <a:lstStyle/>
                    <a:p>
                      <a:r>
                        <a:rPr sz="2025" b="0" lang="sr-Latn-ME">
                          <a:solidFill>
                            <a:srgbClr val="153F36"/>
                          </a:solidFill>
                          <a:latin typeface="Arial"/>
                          <a:ea typeface="Arial"/>
                          <a:cs typeface="Arial"/>
                        </a:rPr>
                        <a:t>Assistant Manager</a:t>
                      </a:r>
                    </a:p>
                  </a:txBody>
                  <a:tcPr marL="91440" marR="91440" marT="45720" marB="45720">
                    <a:solidFill>
                      <a:srgbClr val="FFFFFF"/>
                    </a:solidFill>
                  </a:tcPr>
                </a:tc>
                <a:tc>
                  <a:txBody>
                    <a:bodyPr lIns="152400" tIns="133350" rIns="152400" bIns="114300">
                      <a:noAutofit/>
                    </a:bodyPr>
                    <a:lstStyle/>
                    <a:p>
                      <a:r>
                        <a:rPr sz="2025" b="0" lang="sr-Latn-ME">
                          <a:solidFill>
                            <a:srgbClr val="153F36"/>
                          </a:solidFill>
                          <a:latin typeface="Arial"/>
                          <a:ea typeface="Arial"/>
                          <a:cs typeface="Arial"/>
                        </a:rPr>
                        <a:t>60 CC u dva uzastopna mjeseca</a:t>
                      </a:r>
                    </a:p>
                  </a:txBody>
                  <a:tcPr marL="91440" marR="91440" marT="45720" marB="45720">
                    <a:solidFill>
                      <a:srgbClr val="FFFFFF"/>
                    </a:solidFill>
                  </a:tcPr>
                </a:tc>
              </a:tr>
              <a:tr h="634365">
                <a:tc>
                  <a:txBody>
                    <a:bodyPr lIns="152400" tIns="133350" rIns="152400" bIns="114300">
                      <a:noAutofit/>
                    </a:bodyPr>
                    <a:lstStyle/>
                    <a:p>
                      <a:r>
                        <a:rPr sz="2025" b="0" lang="sr-Latn-ME">
                          <a:solidFill>
                            <a:srgbClr val="153F36"/>
                          </a:solidFill>
                          <a:latin typeface="Arial"/>
                          <a:ea typeface="Arial"/>
                          <a:cs typeface="Arial"/>
                        </a:rPr>
                        <a:t>Manager</a:t>
                      </a:r>
                    </a:p>
                  </a:txBody>
                  <a:tcPr marL="91440" marR="91440" marT="45720" marB="45720">
                    <a:solidFill>
                      <a:srgbClr val="F3F7F2"/>
                    </a:solidFill>
                  </a:tcPr>
                </a:tc>
                <a:tc>
                  <a:txBody>
                    <a:bodyPr lIns="152400" tIns="133350" rIns="152400" bIns="114300">
                      <a:noAutofit/>
                    </a:bodyPr>
                    <a:lstStyle/>
                    <a:p>
                      <a:r>
                        <a:rPr sz="2025" b="0" lang="sr-Latn-ME">
                          <a:solidFill>
                            <a:srgbClr val="153F36"/>
                          </a:solidFill>
                          <a:latin typeface="Arial"/>
                          <a:ea typeface="Arial"/>
                          <a:cs typeface="Arial"/>
                        </a:rPr>
                        <a:t>120 CC u 1 ili 2 mj., ili 150 CC u 3 ili 4 mj.</a:t>
                      </a:r>
                    </a:p>
                  </a:txBody>
                  <a:tcPr marL="91440" marR="91440" marT="45720" marB="45720">
                    <a:solidFill>
                      <a:srgbClr val="F3F7F2"/>
                    </a:solidFill>
                  </a:tcPr>
                </a:tc>
              </a:tr>
            </a:tbl>
          </a:graphicData>
        </a:graphic>
      </p:graphicFrame>
      <p:sp>
        <p:nvSpPr>
          <p:cNvPr id="5" name="">
            <a:extLst>
              <a:ext uri="{FF2B5EF4-FFF2-40B4-BE49-F238E27FC236}">
                <ns2:creationId id="{9DFB2BCF-6AA8-4740-A837-9F538AEBF00A}"/>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ME">
                <a:solidFill>
                  <a:srgbClr val="526B63"/>
                </a:solidFill>
                <a:latin typeface="Arial"/>
                <a:ea typeface="Arial"/>
                <a:cs typeface="Arial"/>
              </a:rPr>
              <a:t>Hrvatski okvir. Napredovanje prati priznati promet proizvoda.</a:t>
            </a:r>
          </a:p>
        </p:txBody>
      </p:sp>
    </p:spTree>
    <p:extLst>
      <p:ext uri="{BB962C8B-B14F-4D97-AF65-F5344CB8AC3E}">
        <ns4:creationId val="1649879452"/>
      </p:ext>
    </p:extLst>
  </p:cSld>
</p:sld>
</file>

<file path=ppt/slides/slide1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9" name="">
            <a:extLst>
              <a:ext uri="{FF2B5EF4-FFF2-40B4-BE49-F238E27FC236}">
                <ns2:creationId id="{E97F2449-B0C8-45FF-9BA5-1467F6340A5D}"/>
              </a:ext>
            </a:extLst>
          </p:cNvPr>
          <p:cNvPicPr>
            <a:picLocks noChangeAspect="1"/>
          </p:cNvPicPr>
          <p:nvPr/>
        </p:nvPicPr>
        <p:blipFill>
          <a:blip r:embed="Rc8567ceef5234c8d"/>
          <a:stretch/>
        </p:blipFill>
        <p:spPr>
          <a:xfrm>
            <a:off x="9867900" y="276061"/>
            <a:ext cx="1695450" cy="438478"/>
          </a:xfrm>
          <a:prstGeom prst="rect">
            <a:avLst/>
          </a:prstGeom>
        </p:spPr>
      </p:pic>
      <p:sp>
        <p:nvSpPr>
          <p:cNvPr id="2" name="">
            <a:extLst>
              <a:ext uri="{FF2B5EF4-FFF2-40B4-BE49-F238E27FC236}">
                <ns2:creationId id="{B9FFE9D7-C589-4DAD-A5DC-C4584AC8344D}"/>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ME">
                <a:solidFill>
                  <a:srgbClr val="526B63"/>
                </a:solidFill>
                <a:latin typeface="Arial"/>
                <a:ea typeface="Arial"/>
                <a:cs typeface="Arial"/>
              </a:rPr>
              <a:t>12</a:t>
            </a:r>
          </a:p>
        </p:txBody>
      </p:sp>
      <p:sp>
        <p:nvSpPr>
          <p:cNvPr id="3" name="Naslov">
            <a:extLst>
              <a:ext uri="{FF2B5EF4-FFF2-40B4-BE49-F238E27FC236}">
                <ns2:creationId id="{F91E5C4C-3C31-4F72-9B91-81AAABDBF56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ME">
                <a:solidFill>
                  <a:srgbClr val="153F36"/>
                </a:solidFill>
                <a:latin typeface="Arial"/>
                <a:ea typeface="Arial"/>
                <a:cs typeface="Arial"/>
              </a:rPr>
              <a:t>Nivo i mjesečna aktivnost</a:t>
            </a:r>
          </a:p>
        </p:txBody>
      </p:sp>
      <p:sp>
        <p:nvSpPr>
          <p:cNvPr id="4" name="">
            <a:extLst>
              <a:ext uri="{FF2B5EF4-FFF2-40B4-BE49-F238E27FC236}">
                <ns2:creationId id="{703903BE-E1EA-4755-AF0E-DDC0FD0D2C54}"/>
              </a:ext>
            </a:extLst>
          </p:cNvPr>
          <p:cNvSpPr>
            <a:spLocks noGrp="1"/>
          </p:cNvSpPr>
          <p:nvPr/>
        </p:nvSpPr>
        <p:spPr>
          <a:xfrm>
            <a:off x="60960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r-Latn-ME">
                <a:solidFill>
                  <a:srgbClr val="153F36"/>
                </a:solidFill>
                <a:latin typeface="Arial"/>
                <a:ea typeface="Arial"/>
                <a:cs typeface="Arial"/>
              </a:rPr>
              <a:t>Postignuti nivo</a:t>
            </a:r>
          </a:p>
        </p:txBody>
      </p:sp>
      <p:sp>
        <p:nvSpPr>
          <p:cNvPr id="5" name="">
            <a:extLst>
              <a:ext uri="{FF2B5EF4-FFF2-40B4-BE49-F238E27FC236}">
                <ns2:creationId id="{9A996385-7B48-4296-A854-5EB0CE2EE565}"/>
              </a:ext>
            </a:extLst>
          </p:cNvPr>
          <p:cNvSpPr>
            <a:spLocks noGrp="1"/>
          </p:cNvSpPr>
          <p:nvPr/>
        </p:nvSpPr>
        <p:spPr>
          <a:xfrm>
            <a:off x="60960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sr-Latn-ME">
                <a:solidFill>
                  <a:srgbClr val="526B63"/>
                </a:solidFill>
                <a:latin typeface="Arial"/>
                <a:ea typeface="Arial"/>
                <a:cs typeface="Arial"/>
              </a:rPr>
              <a:t>Pokazuje ostvarenu prodajnu kvalifikaciju.</a:t>
            </a:r>
          </a:p>
          <a:p>
            <a:r>
              <a:t/>
            </a:r>
          </a:p>
          <a:p>
            <a:pPr>
              <a:defRPr sz="2175" b="0">
                <a:solidFill>
                  <a:srgbClr val="526B63"/>
                </a:solidFill>
                <a:latin typeface="Arial"/>
                <a:ea typeface="Arial"/>
                <a:cs typeface="Arial"/>
              </a:defRPr>
            </a:pPr>
            <a:r>
              <a:rPr sz="2175" b="0" lang="sr-Latn-ME">
                <a:solidFill>
                  <a:srgbClr val="526B63"/>
                </a:solidFill>
                <a:latin typeface="Arial"/>
                <a:ea typeface="Arial"/>
                <a:cs typeface="Arial"/>
              </a:rPr>
              <a:t>Određene isplate i dalje imaju mjesečne uslove.</a:t>
            </a:r>
          </a:p>
        </p:txBody>
      </p:sp>
      <p:sp>
        <p:nvSpPr>
          <p:cNvPr id="6" name="">
            <a:extLst>
              <a:ext uri="{FF2B5EF4-FFF2-40B4-BE49-F238E27FC236}">
                <ns2:creationId id="{77D1FAA2-01AE-4439-AF68-AFF32BA013D3}"/>
              </a:ext>
            </a:extLst>
          </p:cNvPr>
          <p:cNvSpPr>
            <a:spLocks noGrp="1"/>
          </p:cNvSpPr>
          <p:nvPr/>
        </p:nvSpPr>
        <p:spPr>
          <a:xfrm>
            <a:off x="641985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r-Latn-ME">
                <a:solidFill>
                  <a:srgbClr val="153F36"/>
                </a:solidFill>
                <a:latin typeface="Arial"/>
                <a:ea typeface="Arial"/>
                <a:cs typeface="Arial"/>
              </a:rPr>
              <a:t>Aktivnost u Hrvatskoj</a:t>
            </a:r>
          </a:p>
        </p:txBody>
      </p:sp>
      <p:sp>
        <p:nvSpPr>
          <p:cNvPr id="7" name="">
            <a:extLst>
              <a:ext uri="{FF2B5EF4-FFF2-40B4-BE49-F238E27FC236}">
                <ns2:creationId id="{DE9F55C7-C377-46B3-ABD2-90B1875D63BE}"/>
              </a:ext>
            </a:extLst>
          </p:cNvPr>
          <p:cNvSpPr>
            <a:spLocks noGrp="1"/>
          </p:cNvSpPr>
          <p:nvPr/>
        </p:nvSpPr>
        <p:spPr>
          <a:xfrm>
            <a:off x="641985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sr-Latn-ME">
                <a:solidFill>
                  <a:srgbClr val="526B63"/>
                </a:solidFill>
                <a:latin typeface="Arial"/>
                <a:ea typeface="Arial"/>
                <a:cs typeface="Arial"/>
              </a:rPr>
              <a:t>4 CC u mjesecu, uz najmanje 1 lično kupljen CC.</a:t>
            </a:r>
          </a:p>
          <a:p>
            <a:r>
              <a:t/>
            </a:r>
          </a:p>
          <a:p>
            <a:pPr>
              <a:defRPr sz="2175" b="0">
                <a:solidFill>
                  <a:srgbClr val="526B63"/>
                </a:solidFill>
                <a:latin typeface="Arial"/>
                <a:ea typeface="Arial"/>
                <a:cs typeface="Arial"/>
              </a:defRPr>
            </a:pPr>
            <a:r>
              <a:rPr sz="2175" b="0" lang="sr-Latn-ME">
                <a:solidFill>
                  <a:srgbClr val="526B63"/>
                </a:solidFill>
                <a:latin typeface="Arial"/>
                <a:ea typeface="Arial"/>
                <a:cs typeface="Arial"/>
              </a:rPr>
              <a:t>Primjenjuje se na određene bonuse i kvalifikacije.</a:t>
            </a:r>
          </a:p>
        </p:txBody>
      </p:sp>
      <p:sp>
        <p:nvSpPr>
          <p:cNvPr id="8" name="">
            <a:extLst>
              <a:ext uri="{FF2B5EF4-FFF2-40B4-BE49-F238E27FC236}">
                <ns2:creationId id="{FD9B8A60-55C5-4285-811D-8CC7872E0136}"/>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ME">
                <a:solidFill>
                  <a:srgbClr val="526B63"/>
                </a:solidFill>
                <a:latin typeface="Arial"/>
                <a:ea typeface="Arial"/>
                <a:cs typeface="Arial"/>
              </a:rPr>
              <a:t>Pravila svog tržišta i plan prodaje prođi sa sponzorom ili menadžerom.</a:t>
            </a:r>
          </a:p>
        </p:txBody>
      </p:sp>
    </p:spTree>
    <p:extLst>
      <p:ext uri="{BB962C8B-B14F-4D97-AF65-F5344CB8AC3E}">
        <ns4:creationId val="1437305113"/>
      </p:ext>
    </p:extLst>
  </p:cSld>
</p:sld>
</file>

<file path=ppt/slides/slide1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7CE17F46-7524-406F-87EF-22855383B637}"/>
              </a:ext>
            </a:extLst>
          </p:cNvPr>
          <p:cNvPicPr>
            <a:picLocks noChangeAspect="1"/>
          </p:cNvPicPr>
          <p:nvPr/>
        </p:nvPicPr>
        <p:blipFill>
          <a:blip r:embed="Rf83108d97d584295"/>
          <a:stretch/>
        </p:blipFill>
        <p:spPr>
          <a:xfrm>
            <a:off x="9867900" y="276061"/>
            <a:ext cx="1695450" cy="438478"/>
          </a:xfrm>
          <a:prstGeom prst="rect">
            <a:avLst/>
          </a:prstGeom>
        </p:spPr>
      </p:pic>
      <p:sp>
        <p:nvSpPr>
          <p:cNvPr id="2" name="">
            <a:extLst>
              <a:ext uri="{FF2B5EF4-FFF2-40B4-BE49-F238E27FC236}">
                <ns2:creationId id="{40911F3A-0291-4E27-930B-9F7571F7C8F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ME">
                <a:solidFill>
                  <a:srgbClr val="526B63"/>
                </a:solidFill>
                <a:latin typeface="Arial"/>
                <a:ea typeface="Arial"/>
                <a:cs typeface="Arial"/>
              </a:rPr>
              <a:t>13</a:t>
            </a:r>
          </a:p>
        </p:txBody>
      </p:sp>
      <p:sp>
        <p:nvSpPr>
          <p:cNvPr id="3" name="Naslov">
            <a:extLst>
              <a:ext uri="{FF2B5EF4-FFF2-40B4-BE49-F238E27FC236}">
                <ns2:creationId id="{EC120288-5F29-45BC-8AC5-7E6A97B0B8D2}"/>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ME">
                <a:solidFill>
                  <a:srgbClr val="153F36"/>
                </a:solidFill>
                <a:latin typeface="Arial"/>
                <a:ea typeface="Arial"/>
                <a:cs typeface="Arial"/>
              </a:rPr>
              <a:t>Mogućnosti daljeg razvoja</a:t>
            </a:r>
          </a:p>
        </p:txBody>
      </p:sp>
      <p:sp>
        <p:nvSpPr>
          <p:cNvPr id="4" name="">
            <a:extLst>
              <a:ext uri="{FF2B5EF4-FFF2-40B4-BE49-F238E27FC236}">
                <ns2:creationId id="{941C9B93-C75E-4126-A8E8-C4081A9BAE11}"/>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ME">
                <a:solidFill>
                  <a:srgbClr val="148977"/>
                </a:solidFill>
                <a:latin typeface="Arial"/>
                <a:ea typeface="Arial"/>
                <a:cs typeface="Arial"/>
              </a:rPr>
              <a:t>1.</a:t>
            </a:r>
          </a:p>
        </p:txBody>
      </p:sp>
      <p:sp>
        <p:nvSpPr>
          <p:cNvPr id="5" name="">
            <a:extLst>
              <a:ext uri="{FF2B5EF4-FFF2-40B4-BE49-F238E27FC236}">
                <ns2:creationId id="{73D521F0-969B-4577-8CDA-78D20D152E22}"/>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ME">
                <a:solidFill>
                  <a:srgbClr val="153F36"/>
                </a:solidFill>
                <a:latin typeface="Arial"/>
                <a:ea typeface="Arial"/>
                <a:cs typeface="Arial"/>
              </a:rPr>
              <a:t>Forever2Drive</a:t>
            </a:r>
          </a:p>
        </p:txBody>
      </p:sp>
      <p:sp>
        <p:nvSpPr>
          <p:cNvPr id="6" name="">
            <a:extLst>
              <a:ext uri="{FF2B5EF4-FFF2-40B4-BE49-F238E27FC236}">
                <ns2:creationId id="{ACF17F9F-E8A8-40BE-883F-DDC4827BF5EB}"/>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Podsticaj uz kvalifikaciju i održavanje uslova.</a:t>
            </a:r>
          </a:p>
        </p:txBody>
      </p:sp>
      <p:sp>
        <p:nvSpPr>
          <p:cNvPr id="7" name="">
            <a:extLst>
              <a:ext uri="{FF2B5EF4-FFF2-40B4-BE49-F238E27FC236}">
                <ns2:creationId id="{359B9063-6C13-4CE2-BCD9-9BD3727E9FED}"/>
              </a:ext>
            </a:extLst>
          </p:cNvPr>
          <p:cNvSpPr>
            <a:spLocks noGrp="1"/>
          </p:cNvSpPr>
          <p:nvPr/>
        </p:nvSpPr>
        <p:spPr>
          <a:xfrm>
            <a:off x="609600" y="284797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ME">
                <a:solidFill>
                  <a:srgbClr val="148977"/>
                </a:solidFill>
                <a:latin typeface="Arial"/>
                <a:ea typeface="Arial"/>
                <a:cs typeface="Arial"/>
              </a:rPr>
              <a:t>2.</a:t>
            </a:r>
          </a:p>
        </p:txBody>
      </p:sp>
      <p:sp>
        <p:nvSpPr>
          <p:cNvPr id="8" name="">
            <a:extLst>
              <a:ext uri="{FF2B5EF4-FFF2-40B4-BE49-F238E27FC236}">
                <ns2:creationId id="{75478720-3A7B-4E47-9017-69248B3E4C2D}"/>
              </a:ext>
            </a:extLst>
          </p:cNvPr>
          <p:cNvSpPr>
            <a:spLocks noGrp="1"/>
          </p:cNvSpPr>
          <p:nvPr/>
        </p:nvSpPr>
        <p:spPr>
          <a:xfrm>
            <a:off x="1257300" y="284797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ME">
                <a:solidFill>
                  <a:srgbClr val="153F36"/>
                </a:solidFill>
                <a:latin typeface="Arial"/>
                <a:ea typeface="Arial"/>
                <a:cs typeface="Arial"/>
              </a:rPr>
              <a:t>Eagle Manager</a:t>
            </a:r>
          </a:p>
        </p:txBody>
      </p:sp>
      <p:sp>
        <p:nvSpPr>
          <p:cNvPr id="9" name="">
            <a:extLst>
              <a:ext uri="{FF2B5EF4-FFF2-40B4-BE49-F238E27FC236}">
                <ns2:creationId id="{57C824BA-1407-4003-AE3E-95F40257C3D7}"/>
              </a:ext>
            </a:extLst>
          </p:cNvPr>
          <p:cNvSpPr>
            <a:spLocks noGrp="1"/>
          </p:cNvSpPr>
          <p:nvPr/>
        </p:nvSpPr>
        <p:spPr>
          <a:xfrm>
            <a:off x="1257300" y="325755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Razvoj ljudi, prodajne organizacije i kvalifikacija.</a:t>
            </a:r>
          </a:p>
        </p:txBody>
      </p:sp>
      <p:sp>
        <p:nvSpPr>
          <p:cNvPr id="10" name="">
            <a:extLst>
              <a:ext uri="{FF2B5EF4-FFF2-40B4-BE49-F238E27FC236}">
                <ns2:creationId id="{C7DEDA4A-108F-4739-BF5B-CB0EC39ED372}"/>
              </a:ext>
            </a:extLst>
          </p:cNvPr>
          <p:cNvSpPr>
            <a:spLocks noGrp="1"/>
          </p:cNvSpPr>
          <p:nvPr/>
        </p:nvSpPr>
        <p:spPr>
          <a:xfrm>
            <a:off x="609600" y="37338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ME">
                <a:solidFill>
                  <a:srgbClr val="148977"/>
                </a:solidFill>
                <a:latin typeface="Arial"/>
                <a:ea typeface="Arial"/>
                <a:cs typeface="Arial"/>
              </a:rPr>
              <a:t>3.</a:t>
            </a:r>
          </a:p>
        </p:txBody>
      </p:sp>
      <p:sp>
        <p:nvSpPr>
          <p:cNvPr id="11" name="">
            <a:extLst>
              <a:ext uri="{FF2B5EF4-FFF2-40B4-BE49-F238E27FC236}">
                <ns2:creationId id="{FC77939D-3BE0-48FF-BD9E-9E2DA6EB9D4D}"/>
              </a:ext>
            </a:extLst>
          </p:cNvPr>
          <p:cNvSpPr>
            <a:spLocks noGrp="1"/>
          </p:cNvSpPr>
          <p:nvPr/>
        </p:nvSpPr>
        <p:spPr>
          <a:xfrm>
            <a:off x="1257300" y="37338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ME">
                <a:solidFill>
                  <a:srgbClr val="153F36"/>
                </a:solidFill>
                <a:latin typeface="Arial"/>
                <a:ea typeface="Arial"/>
                <a:cs typeface="Arial"/>
              </a:rPr>
              <a:t>Global Rally</a:t>
            </a:r>
          </a:p>
        </p:txBody>
      </p:sp>
      <p:sp>
        <p:nvSpPr>
          <p:cNvPr id="12" name="">
            <a:extLst>
              <a:ext uri="{FF2B5EF4-FFF2-40B4-BE49-F238E27FC236}">
                <ns2:creationId id="{9D0D43DD-DCED-4D9D-A8DF-DF03C8EDE1E3}"/>
              </a:ext>
            </a:extLst>
          </p:cNvPr>
          <p:cNvSpPr>
            <a:spLocks noGrp="1"/>
          </p:cNvSpPr>
          <p:nvPr/>
        </p:nvSpPr>
        <p:spPr>
          <a:xfrm>
            <a:off x="1257300" y="41433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Godišnja kvalifikacija prema priznatim CC.</a:t>
            </a:r>
          </a:p>
        </p:txBody>
      </p:sp>
      <p:sp>
        <p:nvSpPr>
          <p:cNvPr id="13" name="">
            <a:extLst>
              <a:ext uri="{FF2B5EF4-FFF2-40B4-BE49-F238E27FC236}">
                <ns2:creationId id="{0DE06633-3104-4D5D-AFC2-6DD58A379127}"/>
              </a:ext>
            </a:extLst>
          </p:cNvPr>
          <p:cNvSpPr>
            <a:spLocks noGrp="1"/>
          </p:cNvSpPr>
          <p:nvPr/>
        </p:nvSpPr>
        <p:spPr>
          <a:xfrm>
            <a:off x="609600" y="461962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ME">
                <a:solidFill>
                  <a:srgbClr val="148977"/>
                </a:solidFill>
                <a:latin typeface="Arial"/>
                <a:ea typeface="Arial"/>
                <a:cs typeface="Arial"/>
              </a:rPr>
              <a:t>4.</a:t>
            </a:r>
          </a:p>
        </p:txBody>
      </p:sp>
      <p:sp>
        <p:nvSpPr>
          <p:cNvPr id="14" name="">
            <a:extLst>
              <a:ext uri="{FF2B5EF4-FFF2-40B4-BE49-F238E27FC236}">
                <ns2:creationId id="{7181DCFD-1327-4AEA-A125-DB42B98E41DD}"/>
              </a:ext>
            </a:extLst>
          </p:cNvPr>
          <p:cNvSpPr>
            <a:spLocks noGrp="1"/>
          </p:cNvSpPr>
          <p:nvPr/>
        </p:nvSpPr>
        <p:spPr>
          <a:xfrm>
            <a:off x="1257300" y="461962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ME">
                <a:solidFill>
                  <a:srgbClr val="153F36"/>
                </a:solidFill>
                <a:latin typeface="Arial"/>
                <a:ea typeface="Arial"/>
                <a:cs typeface="Arial"/>
              </a:rPr>
              <a:t>Chairman’s Bonus</a:t>
            </a:r>
          </a:p>
        </p:txBody>
      </p:sp>
      <p:sp>
        <p:nvSpPr>
          <p:cNvPr id="15" name="">
            <a:extLst>
              <a:ext uri="{FF2B5EF4-FFF2-40B4-BE49-F238E27FC236}">
                <ns2:creationId id="{0FC1322E-D4F3-4F90-B54D-8742B0118D65}"/>
              </a:ext>
            </a:extLst>
          </p:cNvPr>
          <p:cNvSpPr>
            <a:spLocks noGrp="1"/>
          </p:cNvSpPr>
          <p:nvPr/>
        </p:nvSpPr>
        <p:spPr>
          <a:xfrm>
            <a:off x="1257300" y="50292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Napredna kvalifikacija i udjeli u bonusnom fondu.</a:t>
            </a:r>
          </a:p>
        </p:txBody>
      </p:sp>
    </p:spTree>
    <p:extLst>
      <p:ext uri="{BB962C8B-B14F-4D97-AF65-F5344CB8AC3E}">
        <ns4:creationId val="237719923"/>
      </p:ext>
    </p:extLst>
  </p:cSld>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153F36"/>
        </a:solidFill>
      </p:bgPr>
    </p:bg>
    <p:spTree>
      <p:nvGrpSpPr>
        <p:cNvPr id="1" name=""/>
        <p:cNvGrpSpPr/>
        <p:nvPr/>
      </p:nvGrpSpPr>
      <p:grpSpPr>
        <a:xfrm/>
      </p:grpSpPr>
      <p:sp>
        <p:nvSpPr>
          <p:cNvPr id="8" name="">
            <a:extLst>
              <a:ext uri="{FF2B5EF4-FFF2-40B4-BE49-F238E27FC236}">
                <ns2:creationId id="{F113DD45-36D4-4DA6-8B79-68B74FBB84D7}"/>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D4E8DD"/>
                </a:solidFill>
                <a:latin typeface="Arial"/>
                <a:ea typeface="Arial"/>
                <a:cs typeface="Arial"/>
              </a:defRPr>
            </a:defPPr>
          </a:lstStyle>
          <a:p>
            <a:pPr>
              <a:defRPr sz="1350" b="0">
                <a:solidFill>
                  <a:srgbClr val="D4E8DD"/>
                </a:solidFill>
                <a:latin typeface="Arial"/>
                <a:ea typeface="Arial"/>
                <a:cs typeface="Arial"/>
              </a:defRPr>
            </a:pPr>
            <a:r>
              <a:rPr sz="1350" b="0" lang="sr-Latn-ME">
                <a:solidFill>
                  <a:srgbClr val="D4E8DD"/>
                </a:solidFill>
                <a:latin typeface="Arial"/>
                <a:ea typeface="Arial"/>
                <a:cs typeface="Arial"/>
              </a:rPr>
              <a:t>14</a:t>
            </a:r>
          </a:p>
        </p:txBody>
      </p:sp>
      <p:sp>
        <p:nvSpPr>
          <p:cNvPr id="2" name="Naslov">
            <a:extLst>
              <a:ext uri="{FF2B5EF4-FFF2-40B4-BE49-F238E27FC236}">
                <ns2:creationId id="{CAA3B91D-F917-4DA2-B226-01A327BB4928}"/>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FFFFFF"/>
                </a:solidFill>
                <a:latin typeface="Arial"/>
                <a:ea typeface="Arial"/>
                <a:cs typeface="Arial"/>
              </a:defRPr>
            </a:defPPr>
          </a:lstStyle>
          <a:p>
            <a:pPr>
              <a:defRPr sz="3600" b="1">
                <a:solidFill>
                  <a:srgbClr val="FFFFFF"/>
                </a:solidFill>
                <a:latin typeface="Arial"/>
                <a:ea typeface="Arial"/>
                <a:cs typeface="Arial"/>
              </a:defRPr>
            </a:pPr>
            <a:r>
              <a:rPr sz="3600" b="1" lang="sr-Latn-ME">
                <a:solidFill>
                  <a:srgbClr val="FFFFFF"/>
                </a:solidFill>
                <a:latin typeface="Arial"/>
                <a:ea typeface="Arial"/>
                <a:cs typeface="Arial"/>
              </a:rPr>
              <a:t>Forever i FCC: podjela uloga</a:t>
            </a:r>
          </a:p>
        </p:txBody>
      </p:sp>
      <p:sp>
        <p:nvSpPr>
          <p:cNvPr id="3" name="">
            <a:extLst>
              <a:ext uri="{FF2B5EF4-FFF2-40B4-BE49-F238E27FC236}">
                <ns2:creationId id="{87010EBA-D139-47AC-B90D-AEF1B6E02C00}"/>
              </a:ext>
            </a:extLst>
          </p:cNvPr>
          <p:cNvSpPr>
            <a:spLocks noGrp="1"/>
          </p:cNvSpPr>
          <p:nvPr/>
        </p:nvSpPr>
        <p:spPr>
          <a:xfrm>
            <a:off x="609600" y="2105025"/>
            <a:ext cx="4953000" cy="838200"/>
          </a:xfrm>
          <a:prstGeom prst="rect">
            <a:avLst/>
          </a:prstGeom>
          <a:noFill/>
          <a:ln w="0">
            <a:noFill/>
          </a:ln>
        </p:spPr>
        <p:txBody>
          <a:bodyPr wrap="square" lIns="0" tIns="0" rIns="0" bIns="0" anchor="t">
            <a:noAutofit/>
          </a:bodyPr>
          <a:lstStyle>
            <a:defPPr>
              <a:defRPr sz="2625" b="1">
                <a:solidFill>
                  <a:srgbClr val="FFFFFF"/>
                </a:solidFill>
                <a:latin typeface="Arial"/>
                <a:ea typeface="Arial"/>
                <a:cs typeface="Arial"/>
              </a:defRPr>
            </a:defPPr>
          </a:lstStyle>
          <a:p>
            <a:pPr>
              <a:defRPr sz="2625" b="1">
                <a:solidFill>
                  <a:srgbClr val="FFFFFF"/>
                </a:solidFill>
                <a:latin typeface="Arial"/>
                <a:ea typeface="Arial"/>
                <a:cs typeface="Arial"/>
              </a:defRPr>
            </a:pPr>
            <a:r>
              <a:rPr sz="2625" b="1" lang="sr-Latn-ME">
                <a:solidFill>
                  <a:srgbClr val="FFFFFF"/>
                </a:solidFill>
                <a:latin typeface="Arial"/>
                <a:ea typeface="Arial"/>
                <a:cs typeface="Arial"/>
              </a:rPr>
              <a:t>Forever</a:t>
            </a:r>
          </a:p>
        </p:txBody>
      </p:sp>
      <p:sp>
        <p:nvSpPr>
          <p:cNvPr id="4" name="">
            <a:extLst>
              <a:ext uri="{FF2B5EF4-FFF2-40B4-BE49-F238E27FC236}">
                <ns2:creationId id="{5D9D1F61-7188-45FC-9FBB-33255E60669E}"/>
              </a:ext>
            </a:extLst>
          </p:cNvPr>
          <p:cNvSpPr>
            <a:spLocks noGrp="1"/>
          </p:cNvSpPr>
          <p:nvPr/>
        </p:nvSpPr>
        <p:spPr>
          <a:xfrm>
            <a:off x="609600" y="3105150"/>
            <a:ext cx="4857750" cy="2524125"/>
          </a:xfrm>
          <a:prstGeom prst="rect">
            <a:avLst/>
          </a:prstGeom>
          <a:noFill/>
          <a:ln w="0">
            <a:noFill/>
          </a:ln>
        </p:spPr>
        <p:txBody>
          <a:bodyPr wrap="square" lIns="0" tIns="0" rIns="0" bIns="0" anchor="t">
            <a:noAutofit/>
          </a:bodyPr>
          <a:lstStyle>
            <a:defPPr>
              <a:defRPr sz="2175" b="0">
                <a:solidFill>
                  <a:srgbClr val="D4E8DD"/>
                </a:solidFill>
                <a:latin typeface="Arial"/>
                <a:ea typeface="Arial"/>
                <a:cs typeface="Arial"/>
              </a:defRPr>
            </a:defPPr>
          </a:lstStyle>
          <a:p>
            <a:pPr>
              <a:defRPr sz="2175" b="0">
                <a:solidFill>
                  <a:srgbClr val="D4E8DD"/>
                </a:solidFill>
                <a:latin typeface="Arial"/>
                <a:ea typeface="Arial"/>
                <a:cs typeface="Arial"/>
              </a:defRPr>
            </a:pPr>
            <a:r>
              <a:rPr sz="2175" b="0" lang="sr-Latn-ME">
                <a:solidFill>
                  <a:srgbClr val="D4E8DD"/>
                </a:solidFill>
                <a:latin typeface="Arial"/>
                <a:ea typeface="Arial"/>
                <a:cs typeface="Arial"/>
              </a:rPr>
              <a:t>Proizvodi, službena kupovina, prodajna politika i obračun.</a:t>
            </a:r>
          </a:p>
        </p:txBody>
      </p:sp>
      <p:sp>
        <p:nvSpPr>
          <p:cNvPr id="5" name="">
            <a:extLst>
              <a:ext uri="{FF2B5EF4-FFF2-40B4-BE49-F238E27FC236}">
                <ns2:creationId id="{F68DF54D-E5BD-4144-BF02-CF641CC1EC3A}"/>
              </a:ext>
            </a:extLst>
          </p:cNvPr>
          <p:cNvSpPr>
            <a:spLocks noGrp="1"/>
          </p:cNvSpPr>
          <p:nvPr/>
        </p:nvSpPr>
        <p:spPr>
          <a:xfrm>
            <a:off x="6419850" y="2105025"/>
            <a:ext cx="4953000" cy="838200"/>
          </a:xfrm>
          <a:prstGeom prst="rect">
            <a:avLst/>
          </a:prstGeom>
          <a:noFill/>
          <a:ln w="0">
            <a:noFill/>
          </a:ln>
        </p:spPr>
        <p:txBody>
          <a:bodyPr wrap="square" lIns="0" tIns="0" rIns="0" bIns="0" anchor="t">
            <a:noAutofit/>
          </a:bodyPr>
          <a:lstStyle>
            <a:defPPr>
              <a:defRPr sz="2625" b="1">
                <a:solidFill>
                  <a:srgbClr val="FFFFFF"/>
                </a:solidFill>
                <a:latin typeface="Arial"/>
                <a:ea typeface="Arial"/>
                <a:cs typeface="Arial"/>
              </a:defRPr>
            </a:defPPr>
          </a:lstStyle>
          <a:p>
            <a:pPr>
              <a:defRPr sz="2625" b="1">
                <a:solidFill>
                  <a:srgbClr val="FFFFFF"/>
                </a:solidFill>
                <a:latin typeface="Arial"/>
                <a:ea typeface="Arial"/>
                <a:cs typeface="Arial"/>
              </a:defRPr>
            </a:pPr>
            <a:r>
              <a:rPr sz="2625" b="1" lang="sr-Latn-ME">
                <a:solidFill>
                  <a:srgbClr val="FFFFFF"/>
                </a:solidFill>
                <a:latin typeface="Arial"/>
                <a:ea typeface="Arial"/>
                <a:cs typeface="Arial"/>
              </a:rPr>
              <a:t>Forever Card Club</a:t>
            </a:r>
          </a:p>
        </p:txBody>
      </p:sp>
      <p:sp>
        <p:nvSpPr>
          <p:cNvPr id="6" name="">
            <a:extLst>
              <a:ext uri="{FF2B5EF4-FFF2-40B4-BE49-F238E27FC236}">
                <ns2:creationId id="{FBAF949A-07D7-451F-B687-7E2C03D536B3}"/>
              </a:ext>
            </a:extLst>
          </p:cNvPr>
          <p:cNvSpPr>
            <a:spLocks noGrp="1"/>
          </p:cNvSpPr>
          <p:nvPr/>
        </p:nvSpPr>
        <p:spPr>
          <a:xfrm>
            <a:off x="6419850" y="3105150"/>
            <a:ext cx="4857750" cy="2524125"/>
          </a:xfrm>
          <a:prstGeom prst="rect">
            <a:avLst/>
          </a:prstGeom>
          <a:noFill/>
          <a:ln w="0">
            <a:noFill/>
          </a:ln>
        </p:spPr>
        <p:txBody>
          <a:bodyPr wrap="square" lIns="0" tIns="0" rIns="0" bIns="0" anchor="t">
            <a:noAutofit/>
          </a:bodyPr>
          <a:lstStyle>
            <a:defPPr>
              <a:defRPr sz="2175" b="0">
                <a:solidFill>
                  <a:srgbClr val="D4E8DD"/>
                </a:solidFill>
                <a:latin typeface="Arial"/>
                <a:ea typeface="Arial"/>
                <a:cs typeface="Arial"/>
              </a:defRPr>
            </a:defPPr>
          </a:lstStyle>
          <a:p>
            <a:pPr>
              <a:defRPr sz="2175" b="0">
                <a:solidFill>
                  <a:srgbClr val="D4E8DD"/>
                </a:solidFill>
                <a:latin typeface="Arial"/>
                <a:ea typeface="Arial"/>
                <a:cs typeface="Arial"/>
              </a:defRPr>
            </a:pPr>
            <a:r>
              <a:rPr sz="2175" b="0" lang="sr-Latn-ME">
                <a:solidFill>
                  <a:srgbClr val="D4E8DD"/>
                </a:solidFill>
                <a:latin typeface="Arial"/>
                <a:ea typeface="Arial"/>
                <a:cs typeface="Arial"/>
              </a:rPr>
              <a:t>Tvoj radni prostor za preporuke, kontakte, edukaciju i podršku.</a:t>
            </a:r>
          </a:p>
        </p:txBody>
      </p:sp>
      <p:sp>
        <p:nvSpPr>
          <p:cNvPr id="7" name="">
            <a:extLst>
              <a:ext uri="{FF2B5EF4-FFF2-40B4-BE49-F238E27FC236}">
                <ns2:creationId id="{E0555F00-9647-448C-9424-76B402954AD8}"/>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D4E8DD"/>
                </a:solidFill>
                <a:latin typeface="Arial"/>
                <a:ea typeface="Arial"/>
                <a:cs typeface="Arial"/>
              </a:defRPr>
            </a:defPPr>
          </a:lstStyle>
          <a:p>
            <a:pPr>
              <a:defRPr sz="1650" b="0">
                <a:solidFill>
                  <a:srgbClr val="D4E8DD"/>
                </a:solidFill>
                <a:latin typeface="Arial"/>
                <a:ea typeface="Arial"/>
                <a:cs typeface="Arial"/>
              </a:defRPr>
            </a:pPr>
            <a:r>
              <a:rPr sz="1650" b="0" lang="sr-Latn-ME">
                <a:solidFill>
                  <a:srgbClr val="D4E8DD"/>
                </a:solidFill>
                <a:latin typeface="Arial"/>
                <a:ea typeface="Arial"/>
                <a:cs typeface="Arial"/>
              </a:rPr>
              <a:t>FCC je nezavisan sistem našeg tima, a nije službena Forever aplikacija.</a:t>
            </a:r>
          </a:p>
        </p:txBody>
      </p:sp>
    </p:spTree>
    <p:extLst>
      <p:ext uri="{BB962C8B-B14F-4D97-AF65-F5344CB8AC3E}">
        <ns3:creationId val="126074295"/>
      </p:ext>
    </p:extLst>
  </p:cSld>
</p:sld>
</file>

<file path=ppt/slides/slide1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101BC16A-314B-4D63-87BE-75099EBE651E}"/>
              </a:ext>
            </a:extLst>
          </p:cNvPr>
          <p:cNvPicPr>
            <a:picLocks noChangeAspect="1"/>
          </p:cNvPicPr>
          <p:nvPr/>
        </p:nvPicPr>
        <p:blipFill>
          <a:blip r:embed="R96ec4f327d4d4f96"/>
          <a:stretch/>
        </p:blipFill>
        <p:spPr>
          <a:xfrm>
            <a:off x="9867900" y="276061"/>
            <a:ext cx="1695450" cy="438478"/>
          </a:xfrm>
          <a:prstGeom prst="rect">
            <a:avLst/>
          </a:prstGeom>
        </p:spPr>
      </p:pic>
      <p:sp>
        <p:nvSpPr>
          <p:cNvPr id="2" name="">
            <a:extLst>
              <a:ext uri="{FF2B5EF4-FFF2-40B4-BE49-F238E27FC236}">
                <ns2:creationId id="{96C0FEC2-0597-4F16-BB30-8FE640BEF54C}"/>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ME">
                <a:solidFill>
                  <a:srgbClr val="526B63"/>
                </a:solidFill>
                <a:latin typeface="Arial"/>
                <a:ea typeface="Arial"/>
                <a:cs typeface="Arial"/>
              </a:rPr>
              <a:t>15</a:t>
            </a:r>
          </a:p>
        </p:txBody>
      </p:sp>
      <p:sp>
        <p:nvSpPr>
          <p:cNvPr id="3" name="Naslov">
            <a:extLst>
              <a:ext uri="{FF2B5EF4-FFF2-40B4-BE49-F238E27FC236}">
                <ns2:creationId id="{C4C47A17-4BAE-477D-A7D2-C5494BB18311}"/>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ME">
                <a:solidFill>
                  <a:srgbClr val="153F36"/>
                </a:solidFill>
                <a:latin typeface="Arial"/>
                <a:ea typeface="Arial"/>
                <a:cs typeface="Arial"/>
              </a:rPr>
              <a:t>Tvoja digitalna kartica</a:t>
            </a:r>
          </a:p>
        </p:txBody>
      </p:sp>
      <p:sp>
        <p:nvSpPr>
          <p:cNvPr id="4" name="">
            <a:extLst>
              <a:ext uri="{FF2B5EF4-FFF2-40B4-BE49-F238E27FC236}">
                <ns2:creationId id="{DE9E9B70-73E3-471A-B7FE-01385382147F}"/>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r-Latn-ME">
                <a:solidFill>
                  <a:srgbClr val="148977"/>
                </a:solidFill>
                <a:latin typeface="Arial"/>
                <a:ea typeface="Arial"/>
                <a:cs typeface="Arial"/>
              </a:rPr>
              <a:t>1.</a:t>
            </a:r>
          </a:p>
        </p:txBody>
      </p:sp>
      <p:sp>
        <p:nvSpPr>
          <p:cNvPr id="5" name="">
            <a:extLst>
              <a:ext uri="{FF2B5EF4-FFF2-40B4-BE49-F238E27FC236}">
                <ns2:creationId id="{EA5D95E4-3717-4599-8D18-236CE754C736}"/>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r-Latn-ME">
                <a:solidFill>
                  <a:srgbClr val="153F36"/>
                </a:solidFill>
                <a:latin typeface="Arial"/>
                <a:ea typeface="Arial"/>
                <a:cs typeface="Arial"/>
              </a:rPr>
              <a:t>Lični kontakt</a:t>
            </a:r>
          </a:p>
        </p:txBody>
      </p:sp>
      <p:sp>
        <p:nvSpPr>
          <p:cNvPr id="6" name="">
            <a:extLst>
              <a:ext uri="{FF2B5EF4-FFF2-40B4-BE49-F238E27FC236}">
                <ns2:creationId id="{3C52910B-BE23-448E-BCE0-7FCB4EBEA6D6}"/>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Ime, fotografija i način da ti se osoba javi.</a:t>
            </a:r>
          </a:p>
        </p:txBody>
      </p:sp>
      <p:sp>
        <p:nvSpPr>
          <p:cNvPr id="7" name="">
            <a:extLst>
              <a:ext uri="{FF2B5EF4-FFF2-40B4-BE49-F238E27FC236}">
                <ns2:creationId id="{87157C25-E8A9-4655-80D1-71405D608FB7}"/>
              </a:ext>
            </a:extLst>
          </p:cNvPr>
          <p:cNvSpPr>
            <a:spLocks noGrp="1"/>
          </p:cNvSpPr>
          <p:nvPr/>
        </p:nvSpPr>
        <p:spPr>
          <a:xfrm>
            <a:off x="609600" y="3095625"/>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r-Latn-ME">
                <a:solidFill>
                  <a:srgbClr val="148977"/>
                </a:solidFill>
                <a:latin typeface="Arial"/>
                <a:ea typeface="Arial"/>
                <a:cs typeface="Arial"/>
              </a:rPr>
              <a:t>2.</a:t>
            </a:r>
          </a:p>
        </p:txBody>
      </p:sp>
      <p:sp>
        <p:nvSpPr>
          <p:cNvPr id="8" name="">
            <a:extLst>
              <a:ext uri="{FF2B5EF4-FFF2-40B4-BE49-F238E27FC236}">
                <ns2:creationId id="{09DDF819-9E51-4A20-8401-B97FBA911693}"/>
              </a:ext>
            </a:extLst>
          </p:cNvPr>
          <p:cNvSpPr>
            <a:spLocks noGrp="1"/>
          </p:cNvSpPr>
          <p:nvPr/>
        </p:nvSpPr>
        <p:spPr>
          <a:xfrm>
            <a:off x="1257300" y="3095625"/>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r-Latn-ME">
                <a:solidFill>
                  <a:srgbClr val="153F36"/>
                </a:solidFill>
                <a:latin typeface="Arial"/>
                <a:ea typeface="Arial"/>
                <a:cs typeface="Arial"/>
              </a:rPr>
              <a:t>Korisni sadržaji</a:t>
            </a:r>
          </a:p>
        </p:txBody>
      </p:sp>
      <p:sp>
        <p:nvSpPr>
          <p:cNvPr id="9" name="">
            <a:extLst>
              <a:ext uri="{FF2B5EF4-FFF2-40B4-BE49-F238E27FC236}">
                <ns2:creationId id="{BD50225C-D510-4BFD-809A-B44813DEDCE5}"/>
              </a:ext>
            </a:extLst>
          </p:cNvPr>
          <p:cNvSpPr>
            <a:spLocks noGrp="1"/>
          </p:cNvSpPr>
          <p:nvPr/>
        </p:nvSpPr>
        <p:spPr>
          <a:xfrm>
            <a:off x="1257300" y="35052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Proizvodi i poslovne informacije koje želiš podijeliti.</a:t>
            </a:r>
          </a:p>
        </p:txBody>
      </p:sp>
      <p:sp>
        <p:nvSpPr>
          <p:cNvPr id="10" name="">
            <a:extLst>
              <a:ext uri="{FF2B5EF4-FFF2-40B4-BE49-F238E27FC236}">
                <ns2:creationId id="{9E10415B-E2F5-4078-8A2C-FD1B2869469C}"/>
              </a:ext>
            </a:extLst>
          </p:cNvPr>
          <p:cNvSpPr>
            <a:spLocks noGrp="1"/>
          </p:cNvSpPr>
          <p:nvPr/>
        </p:nvSpPr>
        <p:spPr>
          <a:xfrm>
            <a:off x="609600" y="422910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r-Latn-ME">
                <a:solidFill>
                  <a:srgbClr val="148977"/>
                </a:solidFill>
                <a:latin typeface="Arial"/>
                <a:ea typeface="Arial"/>
                <a:cs typeface="Arial"/>
              </a:rPr>
              <a:t>3.</a:t>
            </a:r>
          </a:p>
        </p:txBody>
      </p:sp>
      <p:sp>
        <p:nvSpPr>
          <p:cNvPr id="11" name="">
            <a:extLst>
              <a:ext uri="{FF2B5EF4-FFF2-40B4-BE49-F238E27FC236}">
                <ns2:creationId id="{01B69A65-A2D9-4BED-93F5-6FE4434AFD3B}"/>
              </a:ext>
            </a:extLst>
          </p:cNvPr>
          <p:cNvSpPr>
            <a:spLocks noGrp="1"/>
          </p:cNvSpPr>
          <p:nvPr/>
        </p:nvSpPr>
        <p:spPr>
          <a:xfrm>
            <a:off x="1257300" y="422910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r-Latn-ME">
                <a:solidFill>
                  <a:srgbClr val="153F36"/>
                </a:solidFill>
                <a:latin typeface="Arial"/>
                <a:ea typeface="Arial"/>
                <a:cs typeface="Arial"/>
              </a:rPr>
              <a:t>Forever Web shop</a:t>
            </a:r>
          </a:p>
        </p:txBody>
      </p:sp>
      <p:sp>
        <p:nvSpPr>
          <p:cNvPr id="12" name="">
            <a:extLst>
              <a:ext uri="{FF2B5EF4-FFF2-40B4-BE49-F238E27FC236}">
                <ns2:creationId id="{D2CB6E9D-15B6-4BE1-97AF-B7FD2905CACC}"/>
              </a:ext>
            </a:extLst>
          </p:cNvPr>
          <p:cNvSpPr>
            <a:spLocks noGrp="1"/>
          </p:cNvSpPr>
          <p:nvPr/>
        </p:nvSpPr>
        <p:spPr>
          <a:xfrm>
            <a:off x="1257300" y="46386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Preporuka povezana sa tvojim Forever ID brojem.</a:t>
            </a:r>
          </a:p>
        </p:txBody>
      </p:sp>
      <p:sp>
        <p:nvSpPr>
          <p:cNvPr id="13" name="">
            <a:extLst>
              <a:ext uri="{FF2B5EF4-FFF2-40B4-BE49-F238E27FC236}">
                <ns2:creationId id="{A0B246FC-D94D-416D-BD28-5AF3DCBEB6D9}"/>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ME">
                <a:solidFill>
                  <a:srgbClr val="526B63"/>
                </a:solidFill>
                <a:latin typeface="Arial"/>
                <a:ea typeface="Arial"/>
                <a:cs typeface="Arial"/>
              </a:rPr>
              <a:t>Karticu uređuješ u Moja kartica i dijeliš svojim ličnim linkom.</a:t>
            </a:r>
          </a:p>
        </p:txBody>
      </p:sp>
    </p:spTree>
    <p:extLst>
      <p:ext uri="{BB962C8B-B14F-4D97-AF65-F5344CB8AC3E}">
        <ns4:creationId val="476486187"/>
      </p:ext>
    </p:extLst>
  </p:cSld>
</p:sld>
</file>

<file path=ppt/slides/slide1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3AC82866-4F1A-473C-B145-078052CC4BB7}"/>
              </a:ext>
            </a:extLst>
          </p:cNvPr>
          <p:cNvPicPr>
            <a:picLocks noChangeAspect="1"/>
          </p:cNvPicPr>
          <p:nvPr/>
        </p:nvPicPr>
        <p:blipFill>
          <a:blip r:embed="Rc17e468844c54e84"/>
          <a:stretch/>
        </p:blipFill>
        <p:spPr>
          <a:xfrm>
            <a:off x="9867900" y="276061"/>
            <a:ext cx="1695450" cy="438478"/>
          </a:xfrm>
          <a:prstGeom prst="rect">
            <a:avLst/>
          </a:prstGeom>
        </p:spPr>
      </p:pic>
      <p:sp>
        <p:nvSpPr>
          <p:cNvPr id="2" name="">
            <a:extLst>
              <a:ext uri="{FF2B5EF4-FFF2-40B4-BE49-F238E27FC236}">
                <ns2:creationId id="{70619AB1-E169-480F-B897-BB94CF101CC3}"/>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ME">
                <a:solidFill>
                  <a:srgbClr val="526B63"/>
                </a:solidFill>
                <a:latin typeface="Arial"/>
                <a:ea typeface="Arial"/>
                <a:cs typeface="Arial"/>
              </a:rPr>
              <a:t>16</a:t>
            </a:r>
          </a:p>
        </p:txBody>
      </p:sp>
      <p:sp>
        <p:nvSpPr>
          <p:cNvPr id="3" name="Naslov">
            <a:extLst>
              <a:ext uri="{FF2B5EF4-FFF2-40B4-BE49-F238E27FC236}">
                <ns2:creationId id="{2F32543F-6D32-4352-8392-5F2ECBEDC6A8}"/>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ME">
                <a:solidFill>
                  <a:srgbClr val="153F36"/>
                </a:solidFill>
                <a:latin typeface="Arial"/>
                <a:ea typeface="Arial"/>
                <a:cs typeface="Arial"/>
              </a:rPr>
              <a:t>Preporuka proizvoda</a:t>
            </a:r>
          </a:p>
        </p:txBody>
      </p:sp>
      <p:sp>
        <p:nvSpPr>
          <p:cNvPr id="4" name="">
            <a:extLst>
              <a:ext uri="{FF2B5EF4-FFF2-40B4-BE49-F238E27FC236}">
                <ns2:creationId id="{0F8C843F-A45D-45FF-AF7C-9289C1804CAF}"/>
              </a:ext>
            </a:extLst>
          </p:cNvPr>
          <p:cNvSpPr>
            <a:spLocks noGrp="1"/>
          </p:cNvSpPr>
          <p:nvPr/>
        </p:nvSpPr>
        <p:spPr>
          <a:xfrm>
            <a:off x="609600" y="2152650"/>
            <a:ext cx="5810250" cy="2543175"/>
          </a:xfrm>
          <a:prstGeom prst="rect">
            <a:avLst/>
          </a:prstGeom>
          <a:noFill/>
          <a:ln w="0">
            <a:noFill/>
          </a:ln>
        </p:spPr>
        <p:txBody>
          <a:bodyPr wrap="square" lIns="0" tIns="0" rIns="0" bIns="0" anchor="t">
            <a:noAutofit/>
          </a:bodyPr>
          <a:lstStyle>
            <a:defPPr>
              <a:defRPr sz="3150" b="1">
                <a:solidFill>
                  <a:srgbClr val="153F36"/>
                </a:solidFill>
                <a:latin typeface="Arial"/>
                <a:ea typeface="Arial"/>
                <a:cs typeface="Arial"/>
              </a:defRPr>
            </a:defPPr>
          </a:lstStyle>
          <a:p>
            <a:pPr>
              <a:defRPr sz="3150" b="1">
                <a:solidFill>
                  <a:srgbClr val="153F36"/>
                </a:solidFill>
                <a:latin typeface="Arial"/>
                <a:ea typeface="Arial"/>
                <a:cs typeface="Arial"/>
              </a:defRPr>
            </a:pPr>
            <a:r>
              <a:rPr sz="3150" b="1" lang="sr-Latn-ME">
                <a:solidFill>
                  <a:srgbClr val="153F36"/>
                </a:solidFill>
                <a:latin typeface="Arial"/>
                <a:ea typeface="Arial"/>
                <a:cs typeface="Arial"/>
              </a:rPr>
              <a:t>Izaberi proizvod.</a:t>
            </a:r>
          </a:p>
          <a:p>
            <a:pPr>
              <a:defRPr sz="3150" b="1">
                <a:solidFill>
                  <a:srgbClr val="153F36"/>
                </a:solidFill>
                <a:latin typeface="Arial"/>
                <a:ea typeface="Arial"/>
                <a:cs typeface="Arial"/>
              </a:defRPr>
            </a:pPr>
            <a:r>
              <a:rPr sz="3150" b="1" lang="sr-Latn-ME">
                <a:solidFill>
                  <a:srgbClr val="153F36"/>
                </a:solidFill>
                <a:latin typeface="Arial"/>
                <a:ea typeface="Arial"/>
                <a:cs typeface="Arial"/>
              </a:rPr>
              <a:t>Prilagodi poruku.</a:t>
            </a:r>
          </a:p>
          <a:p>
            <a:pPr>
              <a:defRPr sz="3150" b="1">
                <a:solidFill>
                  <a:srgbClr val="153F36"/>
                </a:solidFill>
                <a:latin typeface="Arial"/>
                <a:ea typeface="Arial"/>
                <a:cs typeface="Arial"/>
              </a:defRPr>
            </a:pPr>
            <a:r>
              <a:rPr sz="3150" b="1" lang="sr-Latn-ME">
                <a:solidFill>
                  <a:srgbClr val="153F36"/>
                </a:solidFill>
                <a:latin typeface="Arial"/>
                <a:ea typeface="Arial"/>
                <a:cs typeface="Arial"/>
              </a:rPr>
              <a:t>Podijeli svoju</a:t>
            </a:r>
          </a:p>
          <a:p>
            <a:pPr>
              <a:defRPr sz="3150" b="1">
                <a:solidFill>
                  <a:srgbClr val="153F36"/>
                </a:solidFill>
                <a:latin typeface="Arial"/>
                <a:ea typeface="Arial"/>
                <a:cs typeface="Arial"/>
              </a:defRPr>
            </a:pPr>
            <a:r>
              <a:rPr sz="3150" b="1" lang="sr-Latn-ME">
                <a:solidFill>
                  <a:srgbClr val="153F36"/>
                </a:solidFill>
                <a:latin typeface="Arial"/>
                <a:ea typeface="Arial"/>
                <a:cs typeface="Arial"/>
              </a:rPr>
              <a:t>preporuku.</a:t>
            </a:r>
          </a:p>
        </p:txBody>
      </p:sp>
      <p:sp>
        <p:nvSpPr>
          <p:cNvPr id="5" name="">
            <a:extLst>
              <a:ext uri="{FF2B5EF4-FFF2-40B4-BE49-F238E27FC236}">
                <ns2:creationId id="{9618F7B4-8815-4E7A-9AA5-F7752A962CA8}"/>
              </a:ext>
            </a:extLst>
          </p:cNvPr>
          <p:cNvSpPr>
            <a:spLocks noGrp="1"/>
          </p:cNvSpPr>
          <p:nvPr/>
        </p:nvSpPr>
        <p:spPr>
          <a:xfrm>
            <a:off x="609600" y="4962525"/>
            <a:ext cx="5505450" cy="1104900"/>
          </a:xfrm>
          <a:prstGeom prst="rect">
            <a:avLst/>
          </a:prstGeom>
          <a:noFill/>
          <a:ln w="0">
            <a:noFill/>
          </a:ln>
        </p:spPr>
        <p:txBody>
          <a:bodyPr wrap="square" lIns="0" tIns="0" rIns="0" bIns="0" anchor="t">
            <a:noAutofit/>
          </a:bodyPr>
          <a:lstStyle>
            <a:defPPr>
              <a:defRPr sz="2325" b="0">
                <a:solidFill>
                  <a:srgbClr val="526B63"/>
                </a:solidFill>
                <a:latin typeface="Arial"/>
                <a:ea typeface="Arial"/>
                <a:cs typeface="Arial"/>
              </a:defRPr>
            </a:defPPr>
          </a:lstStyle>
          <a:p>
            <a:pPr>
              <a:defRPr sz="2325" b="0">
                <a:solidFill>
                  <a:srgbClr val="526B63"/>
                </a:solidFill>
                <a:latin typeface="Arial"/>
                <a:ea typeface="Arial"/>
                <a:cs typeface="Arial"/>
              </a:defRPr>
            </a:pPr>
            <a:r>
              <a:rPr sz="2325" b="0" lang="sr-Latn-ME">
                <a:solidFill>
                  <a:srgbClr val="526B63"/>
                </a:solidFill>
                <a:latin typeface="Arial"/>
                <a:ea typeface="Arial"/>
                <a:cs typeface="Arial"/>
              </a:rPr>
              <a:t>Kupovina se završava u službenom shopu izabranog tržišta.</a:t>
            </a:r>
          </a:p>
        </p:txBody>
      </p:sp>
      <p:pic>
        <p:nvPicPr>
          <p:cNvPr id="6" name="">
            <a:extLst>
              <a:ext uri="{FF2B5EF4-FFF2-40B4-BE49-F238E27FC236}">
                <ns2:creationId id="{39976A63-FB8D-4AF1-9CE1-E346A83FF05D}"/>
              </a:ext>
            </a:extLst>
          </p:cNvPr>
          <p:cNvPicPr>
            <a:picLocks noChangeAspect="1"/>
          </p:cNvPicPr>
          <p:nvPr/>
        </p:nvPicPr>
        <p:blipFill>
          <a:blip r:embed="R94ff2c7901084e46"/>
          <a:srcRect l="19844" t="9722" r="55156" b="28472"/>
          <a:stretch/>
        </p:blipFill>
        <p:spPr>
          <a:xfrm>
            <a:off x="7286625" y="1695450"/>
            <a:ext cx="3714750" cy="5124450"/>
          </a:xfrm>
          <a:prstGeom prst="rect">
            <a:avLst/>
          </a:prstGeom>
        </p:spPr>
      </p:pic>
      <p:sp>
        <p:nvSpPr>
          <p:cNvPr id="8" name="Interface example"/>
          <p:cNvSpPr>
            <a:spLocks noGrp="1"/>
          </p:cNvSpPr>
          <p:nvPr/>
        </p:nvSpPr>
        <p:spPr>
          <a:xfrm>
            <a:off x="609600" y="6238875"/>
            <a:ext cx="6191250" cy="28575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lgn="l"/>
            <a:r>
              <a:rPr sz="1400" b="0" lang="sr-Latn-ME" dirty="0">
                <a:solidFill>
                  <a:srgbClr val="526B63"/>
                </a:solidFill>
                <a:latin typeface="Arial"/>
              </a:rPr>
              <a:t>Primjer hrvatskog FCC interfejsa.</a:t>
            </a:r>
          </a:p>
        </p:txBody>
      </p:sp>
    </p:spTree>
    <p:extLst>
      <p:ext uri="{BB962C8B-B14F-4D97-AF65-F5344CB8AC3E}">
        <ns4:creationId val="881719525"/>
      </p:ext>
    </p:extLst>
  </p:cSld>
</p:sld>
</file>

<file path=ppt/slides/slide1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F86D17C0-D7F3-45EA-967D-967E55EE8F83}"/>
              </a:ext>
            </a:extLst>
          </p:cNvPr>
          <p:cNvPicPr>
            <a:picLocks noChangeAspect="1"/>
          </p:cNvPicPr>
          <p:nvPr/>
        </p:nvPicPr>
        <p:blipFill>
          <a:blip r:embed="R595a642bf0454749"/>
          <a:stretch/>
        </p:blipFill>
        <p:spPr>
          <a:xfrm>
            <a:off x="9867900" y="276061"/>
            <a:ext cx="1695450" cy="438478"/>
          </a:xfrm>
          <a:prstGeom prst="rect">
            <a:avLst/>
          </a:prstGeom>
        </p:spPr>
      </p:pic>
      <p:sp>
        <p:nvSpPr>
          <p:cNvPr id="2" name="">
            <a:extLst>
              <a:ext uri="{FF2B5EF4-FFF2-40B4-BE49-F238E27FC236}">
                <ns2:creationId id="{4CEB6670-C2AA-4467-91EC-97E39F1D73FA}"/>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ME">
                <a:solidFill>
                  <a:srgbClr val="526B63"/>
                </a:solidFill>
                <a:latin typeface="Arial"/>
                <a:ea typeface="Arial"/>
                <a:cs typeface="Arial"/>
              </a:rPr>
              <a:t>17</a:t>
            </a:r>
          </a:p>
        </p:txBody>
      </p:sp>
      <p:sp>
        <p:nvSpPr>
          <p:cNvPr id="3" name="Naslov">
            <a:extLst>
              <a:ext uri="{FF2B5EF4-FFF2-40B4-BE49-F238E27FC236}">
                <ns2:creationId id="{40317049-7FB1-4A36-BA93-DFB89F66E1F3}"/>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ME">
                <a:solidFill>
                  <a:srgbClr val="153F36"/>
                </a:solidFill>
                <a:latin typeface="Arial"/>
                <a:ea typeface="Arial"/>
                <a:cs typeface="Arial"/>
              </a:rPr>
              <a:t>Poslovna saradnja i početni paket</a:t>
            </a:r>
          </a:p>
        </p:txBody>
      </p:sp>
      <p:sp>
        <p:nvSpPr>
          <p:cNvPr id="4" name="">
            <a:extLst>
              <a:ext uri="{FF2B5EF4-FFF2-40B4-BE49-F238E27FC236}">
                <ns2:creationId id="{423E083F-38C2-4E49-88D7-BD3CEBE4AA0C}"/>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r-Latn-ME">
                <a:solidFill>
                  <a:srgbClr val="148977"/>
                </a:solidFill>
                <a:latin typeface="Arial"/>
                <a:ea typeface="Arial"/>
                <a:cs typeface="Arial"/>
              </a:rPr>
              <a:t>1.</a:t>
            </a:r>
          </a:p>
        </p:txBody>
      </p:sp>
      <p:sp>
        <p:nvSpPr>
          <p:cNvPr id="5" name="">
            <a:extLst>
              <a:ext uri="{FF2B5EF4-FFF2-40B4-BE49-F238E27FC236}">
                <ns2:creationId id="{B7C7534D-288A-42A5-83E7-F29F37899079}"/>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r-Latn-ME">
                <a:solidFill>
                  <a:srgbClr val="153F36"/>
                </a:solidFill>
                <a:latin typeface="Arial"/>
                <a:ea typeface="Arial"/>
                <a:cs typeface="Arial"/>
              </a:rPr>
              <a:t>Poslovni sadržaj</a:t>
            </a:r>
          </a:p>
        </p:txBody>
      </p:sp>
      <p:sp>
        <p:nvSpPr>
          <p:cNvPr id="6" name="">
            <a:extLst>
              <a:ext uri="{FF2B5EF4-FFF2-40B4-BE49-F238E27FC236}">
                <ns2:creationId id="{AD6CE61F-E3C0-4E6E-8FEE-073F384D663E}"/>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Osobi daje pregled mogućnosti prije odluke.</a:t>
            </a:r>
          </a:p>
        </p:txBody>
      </p:sp>
      <p:sp>
        <p:nvSpPr>
          <p:cNvPr id="7" name="">
            <a:extLst>
              <a:ext uri="{FF2B5EF4-FFF2-40B4-BE49-F238E27FC236}">
                <ns2:creationId id="{7123A8D0-039A-4339-9BAB-CFD9A4CDFA90}"/>
              </a:ext>
            </a:extLst>
          </p:cNvPr>
          <p:cNvSpPr>
            <a:spLocks noGrp="1"/>
          </p:cNvSpPr>
          <p:nvPr/>
        </p:nvSpPr>
        <p:spPr>
          <a:xfrm>
            <a:off x="609600" y="3114675"/>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r-Latn-ME">
                <a:solidFill>
                  <a:srgbClr val="148977"/>
                </a:solidFill>
                <a:latin typeface="Arial"/>
                <a:ea typeface="Arial"/>
                <a:cs typeface="Arial"/>
              </a:rPr>
              <a:t>2.</a:t>
            </a:r>
          </a:p>
        </p:txBody>
      </p:sp>
      <p:sp>
        <p:nvSpPr>
          <p:cNvPr id="8" name="">
            <a:extLst>
              <a:ext uri="{FF2B5EF4-FFF2-40B4-BE49-F238E27FC236}">
                <ns2:creationId id="{0846DCA2-8253-49B5-A450-922F0FC34097}"/>
              </a:ext>
            </a:extLst>
          </p:cNvPr>
          <p:cNvSpPr>
            <a:spLocks noGrp="1"/>
          </p:cNvSpPr>
          <p:nvPr/>
        </p:nvSpPr>
        <p:spPr>
          <a:xfrm>
            <a:off x="1257300" y="3114675"/>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r-Latn-ME">
                <a:solidFill>
                  <a:srgbClr val="153F36"/>
                </a:solidFill>
                <a:latin typeface="Arial"/>
                <a:ea typeface="Arial"/>
                <a:cs typeface="Arial"/>
              </a:rPr>
              <a:t>Početni paket</a:t>
            </a:r>
          </a:p>
        </p:txBody>
      </p:sp>
      <p:sp>
        <p:nvSpPr>
          <p:cNvPr id="9" name="">
            <a:extLst>
              <a:ext uri="{FF2B5EF4-FFF2-40B4-BE49-F238E27FC236}">
                <ns2:creationId id="{23B5AF94-FCC0-4FD5-97DB-CA7ECAF7E006}"/>
              </a:ext>
            </a:extLst>
          </p:cNvPr>
          <p:cNvSpPr>
            <a:spLocks noGrp="1"/>
          </p:cNvSpPr>
          <p:nvPr/>
        </p:nvSpPr>
        <p:spPr>
          <a:xfrm>
            <a:off x="1257300" y="352425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Link prema službenom lokalnom procesu.</a:t>
            </a:r>
          </a:p>
        </p:txBody>
      </p:sp>
      <p:sp>
        <p:nvSpPr>
          <p:cNvPr id="10" name="">
            <a:extLst>
              <a:ext uri="{FF2B5EF4-FFF2-40B4-BE49-F238E27FC236}">
                <ns2:creationId id="{44091B20-92BD-4F96-81CB-4C2569DDA57E}"/>
              </a:ext>
            </a:extLst>
          </p:cNvPr>
          <p:cNvSpPr>
            <a:spLocks noGrp="1"/>
          </p:cNvSpPr>
          <p:nvPr/>
        </p:nvSpPr>
        <p:spPr>
          <a:xfrm>
            <a:off x="609600" y="426720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r-Latn-ME">
                <a:solidFill>
                  <a:srgbClr val="148977"/>
                </a:solidFill>
                <a:latin typeface="Arial"/>
                <a:ea typeface="Arial"/>
                <a:cs typeface="Arial"/>
              </a:rPr>
              <a:t>3.</a:t>
            </a:r>
          </a:p>
        </p:txBody>
      </p:sp>
      <p:sp>
        <p:nvSpPr>
          <p:cNvPr id="11" name="">
            <a:extLst>
              <a:ext uri="{FF2B5EF4-FFF2-40B4-BE49-F238E27FC236}">
                <ns2:creationId id="{FB3A53A3-847D-42D5-BE6A-327E911D5457}"/>
              </a:ext>
            </a:extLst>
          </p:cNvPr>
          <p:cNvSpPr>
            <a:spLocks noGrp="1"/>
          </p:cNvSpPr>
          <p:nvPr/>
        </p:nvSpPr>
        <p:spPr>
          <a:xfrm>
            <a:off x="1257300" y="426720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r-Latn-ME">
                <a:solidFill>
                  <a:srgbClr val="153F36"/>
                </a:solidFill>
                <a:latin typeface="Arial"/>
                <a:ea typeface="Arial"/>
                <a:cs typeface="Arial"/>
              </a:rPr>
              <a:t>Tvoja preporuka</a:t>
            </a:r>
          </a:p>
        </p:txBody>
      </p:sp>
      <p:sp>
        <p:nvSpPr>
          <p:cNvPr id="12" name="">
            <a:extLst>
              <a:ext uri="{FF2B5EF4-FFF2-40B4-BE49-F238E27FC236}">
                <ns2:creationId id="{CD6900A3-9105-4B4A-8204-3F1851783DA4}"/>
              </a:ext>
            </a:extLst>
          </p:cNvPr>
          <p:cNvSpPr>
            <a:spLocks noGrp="1"/>
          </p:cNvSpPr>
          <p:nvPr/>
        </p:nvSpPr>
        <p:spPr>
          <a:xfrm>
            <a:off x="1257300" y="4676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Povezana sa Forever ID brojem prema pravilima tržišta.</a:t>
            </a:r>
          </a:p>
        </p:txBody>
      </p:sp>
      <p:sp>
        <p:nvSpPr>
          <p:cNvPr id="13" name="">
            <a:extLst>
              <a:ext uri="{FF2B5EF4-FFF2-40B4-BE49-F238E27FC236}">
                <ns2:creationId id="{86D648FA-AB6C-449A-89C6-E053C9F302EA}"/>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ME">
                <a:solidFill>
                  <a:srgbClr val="526B63"/>
                </a:solidFill>
                <a:latin typeface="Arial"/>
                <a:ea typeface="Arial"/>
                <a:cs typeface="Arial"/>
              </a:rPr>
              <a:t>Prije odluke zajedno provjerite sadržaj paketa, cijenu i poslovne uslove.</a:t>
            </a:r>
          </a:p>
        </p:txBody>
      </p:sp>
    </p:spTree>
    <p:extLst>
      <p:ext uri="{BB962C8B-B14F-4D97-AF65-F5344CB8AC3E}">
        <ns4:creationId val="1985799901"/>
      </p:ext>
    </p:extLst>
  </p:cSld>
</p:sld>
</file>

<file path=ppt/slides/slide1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36D3208E-D467-45B6-B84F-993282DA2C05}"/>
              </a:ext>
            </a:extLst>
          </p:cNvPr>
          <p:cNvPicPr>
            <a:picLocks noChangeAspect="1"/>
          </p:cNvPicPr>
          <p:nvPr/>
        </p:nvPicPr>
        <p:blipFill>
          <a:blip r:embed="Rcc997d641f674b2e"/>
          <a:stretch/>
        </p:blipFill>
        <p:spPr>
          <a:xfrm>
            <a:off x="9867900" y="276061"/>
            <a:ext cx="1695450" cy="438478"/>
          </a:xfrm>
          <a:prstGeom prst="rect">
            <a:avLst/>
          </a:prstGeom>
        </p:spPr>
      </p:pic>
      <p:sp>
        <p:nvSpPr>
          <p:cNvPr id="2" name="">
            <a:extLst>
              <a:ext uri="{FF2B5EF4-FFF2-40B4-BE49-F238E27FC236}">
                <ns2:creationId id="{350745C5-7885-44C5-A038-D3DF1BE3084D}"/>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ME">
                <a:solidFill>
                  <a:srgbClr val="526B63"/>
                </a:solidFill>
                <a:latin typeface="Arial"/>
                <a:ea typeface="Arial"/>
                <a:cs typeface="Arial"/>
              </a:rPr>
              <a:t>18</a:t>
            </a:r>
          </a:p>
        </p:txBody>
      </p:sp>
      <p:sp>
        <p:nvSpPr>
          <p:cNvPr id="3" name="Naslov">
            <a:extLst>
              <a:ext uri="{FF2B5EF4-FFF2-40B4-BE49-F238E27FC236}">
                <ns2:creationId id="{716B21D9-4588-41FE-B7DE-88EE1983E4B0}"/>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ME">
                <a:solidFill>
                  <a:srgbClr val="153F36"/>
                </a:solidFill>
                <a:latin typeface="Arial"/>
                <a:ea typeface="Arial"/>
                <a:cs typeface="Arial"/>
              </a:rPr>
              <a:t>Kontakti i dogovorena javljanja</a:t>
            </a:r>
          </a:p>
        </p:txBody>
      </p:sp>
      <p:sp>
        <p:nvSpPr>
          <p:cNvPr id="4" name="">
            <a:extLst>
              <a:ext uri="{FF2B5EF4-FFF2-40B4-BE49-F238E27FC236}">
                <ns2:creationId id="{35A73B73-CF45-46EB-A7C8-ADD62F54412B}"/>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sr-Latn-ME">
                <a:solidFill>
                  <a:srgbClr val="148977"/>
                </a:solidFill>
                <a:latin typeface="Arial"/>
                <a:ea typeface="Arial"/>
                <a:cs typeface="Arial"/>
              </a:rPr>
              <a:t>1.</a:t>
            </a:r>
          </a:p>
        </p:txBody>
      </p:sp>
      <p:sp>
        <p:nvSpPr>
          <p:cNvPr id="5" name="">
            <a:extLst>
              <a:ext uri="{FF2B5EF4-FFF2-40B4-BE49-F238E27FC236}">
                <ns2:creationId id="{2EA067BA-7EDF-4565-9395-E5B2E840046D}"/>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sr-Latn-ME">
                <a:solidFill>
                  <a:srgbClr val="153F36"/>
                </a:solidFill>
                <a:latin typeface="Arial"/>
                <a:ea typeface="Arial"/>
                <a:cs typeface="Arial"/>
              </a:rPr>
              <a:t>Zabilježi razlog interesa</a:t>
            </a:r>
          </a:p>
        </p:txBody>
      </p:sp>
      <p:sp>
        <p:nvSpPr>
          <p:cNvPr id="6" name="">
            <a:extLst>
              <a:ext uri="{FF2B5EF4-FFF2-40B4-BE49-F238E27FC236}">
                <ns2:creationId id="{174972BC-F64E-4F59-881A-3ADD61DB6C4F}"/>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Proizvod, poslovna mogućnost ili izabrani webinar.</a:t>
            </a:r>
          </a:p>
        </p:txBody>
      </p:sp>
      <p:sp>
        <p:nvSpPr>
          <p:cNvPr id="7" name="">
            <a:extLst>
              <a:ext uri="{FF2B5EF4-FFF2-40B4-BE49-F238E27FC236}">
                <ns2:creationId id="{A980A2D7-D029-4CA9-98EA-E1E24BDC96E8}"/>
              </a:ext>
            </a:extLst>
          </p:cNvPr>
          <p:cNvSpPr>
            <a:spLocks noGrp="1"/>
          </p:cNvSpPr>
          <p:nvPr/>
        </p:nvSpPr>
        <p:spPr>
          <a:xfrm>
            <a:off x="609600" y="3133725"/>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sr-Latn-ME">
                <a:solidFill>
                  <a:srgbClr val="148977"/>
                </a:solidFill>
                <a:latin typeface="Arial"/>
                <a:ea typeface="Arial"/>
                <a:cs typeface="Arial"/>
              </a:rPr>
              <a:t>2.</a:t>
            </a:r>
          </a:p>
        </p:txBody>
      </p:sp>
      <p:sp>
        <p:nvSpPr>
          <p:cNvPr id="8" name="">
            <a:extLst>
              <a:ext uri="{FF2B5EF4-FFF2-40B4-BE49-F238E27FC236}">
                <ns2:creationId id="{21F348C9-ADAE-4A31-9086-7382091A7469}"/>
              </a:ext>
            </a:extLst>
          </p:cNvPr>
          <p:cNvSpPr>
            <a:spLocks noGrp="1"/>
          </p:cNvSpPr>
          <p:nvPr/>
        </p:nvSpPr>
        <p:spPr>
          <a:xfrm>
            <a:off x="1257300" y="3133725"/>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sr-Latn-ME">
                <a:solidFill>
                  <a:srgbClr val="153F36"/>
                </a:solidFill>
                <a:latin typeface="Arial"/>
                <a:ea typeface="Arial"/>
                <a:cs typeface="Arial"/>
              </a:rPr>
              <a:t>Sačuvaj dogovor</a:t>
            </a:r>
          </a:p>
        </p:txBody>
      </p:sp>
      <p:sp>
        <p:nvSpPr>
          <p:cNvPr id="9" name="">
            <a:extLst>
              <a:ext uri="{FF2B5EF4-FFF2-40B4-BE49-F238E27FC236}">
                <ns2:creationId id="{1939F4C9-7AC8-4E57-95EE-A8ED90B8F700}"/>
              </a:ext>
            </a:extLst>
          </p:cNvPr>
          <p:cNvSpPr>
            <a:spLocks noGrp="1"/>
          </p:cNvSpPr>
          <p:nvPr/>
        </p:nvSpPr>
        <p:spPr>
          <a:xfrm>
            <a:off x="1257300" y="35433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O čemu ste razgovarali i kada ćete se ponovo javiti.</a:t>
            </a:r>
          </a:p>
        </p:txBody>
      </p:sp>
      <p:sp>
        <p:nvSpPr>
          <p:cNvPr id="10" name="">
            <a:extLst>
              <a:ext uri="{FF2B5EF4-FFF2-40B4-BE49-F238E27FC236}">
                <ns2:creationId id="{1FB78878-179B-4961-98D8-1E538F979850}"/>
              </a:ext>
            </a:extLst>
          </p:cNvPr>
          <p:cNvSpPr>
            <a:spLocks noGrp="1"/>
          </p:cNvSpPr>
          <p:nvPr/>
        </p:nvSpPr>
        <p:spPr>
          <a:xfrm>
            <a:off x="609600" y="430530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sr-Latn-ME">
                <a:solidFill>
                  <a:srgbClr val="148977"/>
                </a:solidFill>
                <a:latin typeface="Arial"/>
                <a:ea typeface="Arial"/>
                <a:cs typeface="Arial"/>
              </a:rPr>
              <a:t>3.</a:t>
            </a:r>
          </a:p>
        </p:txBody>
      </p:sp>
      <p:sp>
        <p:nvSpPr>
          <p:cNvPr id="11" name="">
            <a:extLst>
              <a:ext uri="{FF2B5EF4-FFF2-40B4-BE49-F238E27FC236}">
                <ns2:creationId id="{069C8E17-B1D6-4228-B6CE-91556722565C}"/>
              </a:ext>
            </a:extLst>
          </p:cNvPr>
          <p:cNvSpPr>
            <a:spLocks noGrp="1"/>
          </p:cNvSpPr>
          <p:nvPr/>
        </p:nvSpPr>
        <p:spPr>
          <a:xfrm>
            <a:off x="1257300" y="430530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sr-Latn-ME">
                <a:solidFill>
                  <a:srgbClr val="153F36"/>
                </a:solidFill>
                <a:latin typeface="Arial"/>
                <a:ea typeface="Arial"/>
                <a:cs typeface="Arial"/>
              </a:rPr>
              <a:t>Potvrdi stvarnu radnju</a:t>
            </a:r>
          </a:p>
        </p:txBody>
      </p:sp>
      <p:sp>
        <p:nvSpPr>
          <p:cNvPr id="12" name="">
            <a:extLst>
              <a:ext uri="{FF2B5EF4-FFF2-40B4-BE49-F238E27FC236}">
                <ns2:creationId id="{1A8CF46B-3238-4DDE-9E94-1ABCB125750F}"/>
              </a:ext>
            </a:extLst>
          </p:cNvPr>
          <p:cNvSpPr>
            <a:spLocks noGrp="1"/>
          </p:cNvSpPr>
          <p:nvPr/>
        </p:nvSpPr>
        <p:spPr>
          <a:xfrm>
            <a:off x="1257300" y="47148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Nacrt i stvarno poslata poruka imaju različit status.</a:t>
            </a:r>
          </a:p>
        </p:txBody>
      </p:sp>
      <p:sp>
        <p:nvSpPr>
          <p:cNvPr id="13" name="">
            <a:extLst>
              <a:ext uri="{FF2B5EF4-FFF2-40B4-BE49-F238E27FC236}">
                <ns2:creationId id="{2F5FF45C-FE0C-45D2-9A2F-99DE8DEC9997}"/>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ME">
                <a:solidFill>
                  <a:srgbClr val="526B63"/>
                </a:solidFill>
                <a:latin typeface="Arial"/>
                <a:ea typeface="Arial"/>
                <a:cs typeface="Arial"/>
              </a:rPr>
              <a:t>Primjer: Ana želi detalje o proizvodu. Dogovorili ste razgovor u četvrtak.</a:t>
            </a:r>
          </a:p>
        </p:txBody>
      </p:sp>
    </p:spTree>
    <p:extLst>
      <p:ext uri="{BB962C8B-B14F-4D97-AF65-F5344CB8AC3E}">
        <ns4:creationId val="449993391"/>
      </p:ext>
    </p:extLst>
  </p:cSld>
</p:sld>
</file>

<file path=ppt/slides/slide1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5ADCFCC7-A789-4960-978D-09BFFD23F46C}"/>
              </a:ext>
            </a:extLst>
          </p:cNvPr>
          <p:cNvPicPr>
            <a:picLocks noChangeAspect="1"/>
          </p:cNvPicPr>
          <p:nvPr/>
        </p:nvPicPr>
        <p:blipFill>
          <a:blip r:embed="R64b74fa4d54445c9"/>
          <a:stretch/>
        </p:blipFill>
        <p:spPr>
          <a:xfrm>
            <a:off x="9867900" y="276061"/>
            <a:ext cx="1695450" cy="438478"/>
          </a:xfrm>
          <a:prstGeom prst="rect">
            <a:avLst/>
          </a:prstGeom>
        </p:spPr>
      </p:pic>
      <p:sp>
        <p:nvSpPr>
          <p:cNvPr id="2" name="">
            <a:extLst>
              <a:ext uri="{FF2B5EF4-FFF2-40B4-BE49-F238E27FC236}">
                <ns2:creationId id="{FAC00C27-9DC4-4087-B955-2DAE7D6A8F6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ME">
                <a:solidFill>
                  <a:srgbClr val="526B63"/>
                </a:solidFill>
                <a:latin typeface="Arial"/>
                <a:ea typeface="Arial"/>
                <a:cs typeface="Arial"/>
              </a:rPr>
              <a:t>19</a:t>
            </a:r>
          </a:p>
        </p:txBody>
      </p:sp>
      <p:sp>
        <p:nvSpPr>
          <p:cNvPr id="3" name="Naslov">
            <a:extLst>
              <a:ext uri="{FF2B5EF4-FFF2-40B4-BE49-F238E27FC236}">
                <ns2:creationId id="{DF82E299-944A-4628-8F4C-EE73BB76D6E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ME">
                <a:solidFill>
                  <a:srgbClr val="153F36"/>
                </a:solidFill>
                <a:latin typeface="Arial"/>
                <a:ea typeface="Arial"/>
                <a:cs typeface="Arial"/>
              </a:rPr>
              <a:t>AI Coach uz tvoj konkretan korak</a:t>
            </a:r>
          </a:p>
        </p:txBody>
      </p:sp>
      <p:sp>
        <p:nvSpPr>
          <p:cNvPr id="4" name="">
            <a:extLst>
              <a:ext uri="{FF2B5EF4-FFF2-40B4-BE49-F238E27FC236}">
                <ns2:creationId id="{4618C986-4CF7-4F17-A8A6-90697A6FBD9C}"/>
              </a:ext>
            </a:extLst>
          </p:cNvPr>
          <p:cNvSpPr>
            <a:spLocks noGrp="1"/>
          </p:cNvSpPr>
          <p:nvPr/>
        </p:nvSpPr>
        <p:spPr>
          <a:xfrm>
            <a:off x="609600" y="2171700"/>
            <a:ext cx="10620375" cy="1905000"/>
          </a:xfrm>
          <a:prstGeom prst="rect">
            <a:avLst/>
          </a:prstGeom>
          <a:noFill/>
          <a:ln w="0">
            <a:noFill/>
          </a:ln>
        </p:spPr>
        <p:txBody>
          <a:bodyPr wrap="square" lIns="0" tIns="0" rIns="0" bIns="0" anchor="t">
            <a:noAutofit/>
          </a:bodyPr>
          <a:lstStyle>
            <a:defPPr>
              <a:defRPr sz="3150" b="1">
                <a:solidFill>
                  <a:srgbClr val="153F36"/>
                </a:solidFill>
                <a:latin typeface="Arial"/>
                <a:ea typeface="Arial"/>
                <a:cs typeface="Arial"/>
              </a:defRPr>
            </a:defPPr>
          </a:lstStyle>
          <a:p>
            <a:pPr>
              <a:defRPr sz="3150" b="1">
                <a:solidFill>
                  <a:srgbClr val="153F36"/>
                </a:solidFill>
                <a:latin typeface="Arial"/>
                <a:ea typeface="Arial"/>
                <a:cs typeface="Arial"/>
              </a:defRPr>
            </a:pPr>
            <a:r>
              <a:rPr sz="3150" b="1" lang="sr-Latn-ME">
                <a:solidFill>
                  <a:srgbClr val="153F36"/>
                </a:solidFill>
                <a:latin typeface="Arial"/>
                <a:ea typeface="Arial"/>
                <a:cs typeface="Arial"/>
              </a:rPr>
              <a:t>„Ana želi saznati više o proizvodu.</a:t>
            </a:r>
          </a:p>
          <a:p>
            <a:pPr>
              <a:defRPr sz="3150" b="1">
                <a:solidFill>
                  <a:srgbClr val="153F36"/>
                </a:solidFill>
                <a:latin typeface="Arial"/>
                <a:ea typeface="Arial"/>
                <a:cs typeface="Arial"/>
              </a:defRPr>
            </a:pPr>
            <a:r>
              <a:rPr sz="3150" b="1" lang="sr-Latn-ME">
                <a:solidFill>
                  <a:srgbClr val="153F36"/>
                </a:solidFill>
                <a:latin typeface="Arial"/>
                <a:ea typeface="Arial"/>
                <a:cs typeface="Arial"/>
              </a:rPr>
              <a:t>Pomogni mi napisati kratku poruku</a:t>
            </a:r>
          </a:p>
          <a:p>
            <a:pPr>
              <a:defRPr sz="3150" b="1">
                <a:solidFill>
                  <a:srgbClr val="153F36"/>
                </a:solidFill>
                <a:latin typeface="Arial"/>
                <a:ea typeface="Arial"/>
                <a:cs typeface="Arial"/>
              </a:defRPr>
            </a:pPr>
            <a:r>
              <a:rPr sz="3150" b="1" lang="sr-Latn-ME">
                <a:solidFill>
                  <a:srgbClr val="153F36"/>
                </a:solidFill>
                <a:latin typeface="Arial"/>
                <a:ea typeface="Arial"/>
                <a:cs typeface="Arial"/>
              </a:rPr>
              <a:t>i predložiti sljedeći razgovor.”</a:t>
            </a:r>
          </a:p>
        </p:txBody>
      </p:sp>
      <p:sp>
        <p:nvSpPr>
          <p:cNvPr id="5" name="">
            <a:extLst>
              <a:ext uri="{FF2B5EF4-FFF2-40B4-BE49-F238E27FC236}">
                <ns2:creationId id="{7A79F3E1-BCA2-4DD5-8614-AB0D88B13E50}"/>
              </a:ext>
            </a:extLst>
          </p:cNvPr>
          <p:cNvSpPr>
            <a:spLocks noGrp="1"/>
          </p:cNvSpPr>
          <p:nvPr/>
        </p:nvSpPr>
        <p:spPr>
          <a:xfrm>
            <a:off x="609600" y="4429125"/>
            <a:ext cx="9810750" cy="952500"/>
          </a:xfrm>
          <a:prstGeom prst="rect">
            <a:avLst/>
          </a:prstGeom>
          <a:noFill/>
          <a:ln w="0">
            <a:noFill/>
          </a:ln>
        </p:spPr>
        <p:txBody>
          <a:bodyPr wrap="square" lIns="0" tIns="0" rIns="0" bIns="0" anchor="t">
            <a:noAutofit/>
          </a:bodyPr>
          <a:lstStyle>
            <a:defPPr>
              <a:defRPr sz="2400" b="0">
                <a:solidFill>
                  <a:srgbClr val="526B63"/>
                </a:solidFill>
                <a:latin typeface="Arial"/>
                <a:ea typeface="Arial"/>
                <a:cs typeface="Arial"/>
              </a:defRPr>
            </a:defPPr>
          </a:lstStyle>
          <a:p>
            <a:pPr>
              <a:defRPr sz="2400" b="0">
                <a:solidFill>
                  <a:srgbClr val="526B63"/>
                </a:solidFill>
                <a:latin typeface="Arial"/>
                <a:ea typeface="Arial"/>
                <a:cs typeface="Arial"/>
              </a:defRPr>
            </a:pPr>
            <a:r>
              <a:rPr sz="2400" b="0" lang="sr-Latn-ME">
                <a:solidFill>
                  <a:srgbClr val="526B63"/>
                </a:solidFill>
                <a:latin typeface="Arial"/>
                <a:ea typeface="Arial"/>
                <a:cs typeface="Arial"/>
              </a:rPr>
              <a:t>Dobijeni tekst pregledavaš i prilagođavaš svom načinu govora.</a:t>
            </a:r>
          </a:p>
        </p:txBody>
      </p:sp>
      <p:sp>
        <p:nvSpPr>
          <p:cNvPr id="6" name="">
            <a:extLst>
              <a:ext uri="{FF2B5EF4-FFF2-40B4-BE49-F238E27FC236}">
                <ns2:creationId id="{22416B2D-1F11-433C-BBC2-0F785465E814}"/>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ME">
                <a:solidFill>
                  <a:srgbClr val="526B63"/>
                </a:solidFill>
                <a:latin typeface="Arial"/>
                <a:ea typeface="Arial"/>
                <a:cs typeface="Arial"/>
              </a:rPr>
              <a:t>PRO mogućnost. Ti odlučuješ šta ćeš poslati i potvrđuješ stvarno slanje.</a:t>
            </a:r>
          </a:p>
        </p:txBody>
      </p:sp>
    </p:spTree>
    <p:extLst>
      <p:ext uri="{BB962C8B-B14F-4D97-AF65-F5344CB8AC3E}">
        <ns4:creationId val="1346486136"/>
      </p:ext>
    </p:extLst>
  </p:cSld>
</p:sld>
</file>

<file path=ppt/slides/slide2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8" name="">
            <a:extLst>
              <a:ext uri="{FF2B5EF4-FFF2-40B4-BE49-F238E27FC236}">
                <ns2:creationId id="{FF8A0D6A-54B6-4B2D-9DB0-C5BDDF808E3D}"/>
              </a:ext>
            </a:extLst>
          </p:cNvPr>
          <p:cNvPicPr>
            <a:picLocks noChangeAspect="1"/>
          </p:cNvPicPr>
          <p:nvPr/>
        </p:nvPicPr>
        <p:blipFill>
          <a:blip r:embed="R5343d6ff4c174578"/>
          <a:stretch/>
        </p:blipFill>
        <p:spPr>
          <a:xfrm>
            <a:off x="9867900" y="276061"/>
            <a:ext cx="1695450" cy="438478"/>
          </a:xfrm>
          <a:prstGeom prst="rect">
            <a:avLst/>
          </a:prstGeom>
        </p:spPr>
      </p:pic>
      <p:sp>
        <p:nvSpPr>
          <p:cNvPr id="2" name="">
            <a:extLst>
              <a:ext uri="{FF2B5EF4-FFF2-40B4-BE49-F238E27FC236}">
                <ns2:creationId id="{E6769AB0-AB42-4284-BB52-4656C71D4B12}"/>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ME">
                <a:solidFill>
                  <a:srgbClr val="526B63"/>
                </a:solidFill>
                <a:latin typeface="Arial"/>
                <a:ea typeface="Arial"/>
                <a:cs typeface="Arial"/>
              </a:rPr>
              <a:t>20</a:t>
            </a:r>
          </a:p>
        </p:txBody>
      </p:sp>
      <p:sp>
        <p:nvSpPr>
          <p:cNvPr id="3" name="Naslov">
            <a:extLst>
              <a:ext uri="{FF2B5EF4-FFF2-40B4-BE49-F238E27FC236}">
                <ns2:creationId id="{90491E5F-0446-4BAA-B6BE-4190663616A3}"/>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ME">
                <a:solidFill>
                  <a:srgbClr val="153F36"/>
                </a:solidFill>
                <a:latin typeface="Arial"/>
                <a:ea typeface="Arial"/>
                <a:cs typeface="Arial"/>
              </a:rPr>
              <a:t>Moj put: vođeni svakodnevni rad</a:t>
            </a:r>
          </a:p>
        </p:txBody>
      </p:sp>
      <p:sp>
        <p:nvSpPr>
          <p:cNvPr id="4" name="">
            <a:extLst>
              <a:ext uri="{FF2B5EF4-FFF2-40B4-BE49-F238E27FC236}">
                <ns2:creationId id="{92687A41-C742-4378-AD11-49975B1C34BB}"/>
              </a:ext>
            </a:extLst>
          </p:cNvPr>
          <p:cNvSpPr>
            <a:spLocks noGrp="1"/>
          </p:cNvSpPr>
          <p:nvPr/>
        </p:nvSpPr>
        <p:spPr>
          <a:xfrm>
            <a:off x="609600" y="2076450"/>
            <a:ext cx="3333750" cy="1428750"/>
          </a:xfrm>
          <a:prstGeom prst="rect">
            <a:avLst/>
          </a:prstGeom>
          <a:noFill/>
          <a:ln w="0">
            <a:noFill/>
          </a:ln>
        </p:spPr>
        <p:txBody>
          <a:bodyPr wrap="square" lIns="0" tIns="0" rIns="0" bIns="0" anchor="t">
            <a:noAutofit/>
          </a:bodyPr>
          <a:lstStyle>
            <a:defPPr>
              <a:defRPr sz="8400" b="1">
                <a:solidFill>
                  <a:srgbClr val="153F36"/>
                </a:solidFill>
                <a:latin typeface="Arial"/>
                <a:ea typeface="Arial"/>
                <a:cs typeface="Arial"/>
              </a:defRPr>
            </a:defPPr>
          </a:lstStyle>
          <a:p>
            <a:pPr>
              <a:defRPr sz="8400" b="1">
                <a:solidFill>
                  <a:srgbClr val="153F36"/>
                </a:solidFill>
                <a:latin typeface="Arial"/>
                <a:ea typeface="Arial"/>
                <a:cs typeface="Arial"/>
              </a:defRPr>
            </a:pPr>
            <a:r>
              <a:rPr sz="8400" b="1" lang="sr-Latn-ME">
                <a:solidFill>
                  <a:srgbClr val="153F36"/>
                </a:solidFill>
                <a:latin typeface="Arial"/>
                <a:ea typeface="Arial"/>
                <a:cs typeface="Arial"/>
              </a:rPr>
              <a:t>90</a:t>
            </a:r>
          </a:p>
        </p:txBody>
      </p:sp>
      <p:sp>
        <p:nvSpPr>
          <p:cNvPr id="5" name="">
            <a:extLst>
              <a:ext uri="{FF2B5EF4-FFF2-40B4-BE49-F238E27FC236}">
                <ns2:creationId id="{ADADDF67-C3F1-4410-80F0-92B1ADC7D175}"/>
              </a:ext>
            </a:extLst>
          </p:cNvPr>
          <p:cNvSpPr>
            <a:spLocks noGrp="1"/>
          </p:cNvSpPr>
          <p:nvPr/>
        </p:nvSpPr>
        <p:spPr>
          <a:xfrm>
            <a:off x="4038600" y="2343150"/>
            <a:ext cx="7010400" cy="1066800"/>
          </a:xfrm>
          <a:prstGeom prst="rect">
            <a:avLst/>
          </a:prstGeom>
          <a:noFill/>
          <a:ln w="0">
            <a:noFill/>
          </a:ln>
        </p:spPr>
        <p:txBody>
          <a:bodyPr wrap="square" lIns="0" tIns="0" rIns="0" bIns="0" anchor="t">
            <a:noAutofit/>
          </a:bodyPr>
          <a:lstStyle>
            <a:defPPr>
              <a:defRPr sz="3225" b="1">
                <a:solidFill>
                  <a:srgbClr val="153F36"/>
                </a:solidFill>
                <a:latin typeface="Arial"/>
                <a:ea typeface="Arial"/>
                <a:cs typeface="Arial"/>
              </a:defRPr>
            </a:defPPr>
          </a:lstStyle>
          <a:p>
            <a:pPr>
              <a:defRPr sz="3225" b="1">
                <a:solidFill>
                  <a:srgbClr val="153F36"/>
                </a:solidFill>
                <a:latin typeface="Arial"/>
                <a:ea typeface="Arial"/>
                <a:cs typeface="Arial"/>
              </a:defRPr>
            </a:pPr>
            <a:r>
              <a:rPr sz="3225" b="1" lang="sr-Latn-ME">
                <a:solidFill>
                  <a:srgbClr val="153F36"/>
                </a:solidFill>
                <a:latin typeface="Arial"/>
                <a:ea typeface="Arial"/>
                <a:cs typeface="Arial"/>
              </a:rPr>
              <a:t>Koraka za učenje kroz stvarne radnje</a:t>
            </a:r>
          </a:p>
        </p:txBody>
      </p:sp>
      <p:sp>
        <p:nvSpPr>
          <p:cNvPr id="6" name="">
            <a:extLst>
              <a:ext uri="{FF2B5EF4-FFF2-40B4-BE49-F238E27FC236}">
                <ns2:creationId id="{7C5AB490-C659-4C9B-B69E-DD904A82A66E}"/>
              </a:ext>
            </a:extLst>
          </p:cNvPr>
          <p:cNvSpPr>
            <a:spLocks noGrp="1"/>
          </p:cNvSpPr>
          <p:nvPr/>
        </p:nvSpPr>
        <p:spPr>
          <a:xfrm>
            <a:off x="609600" y="4105275"/>
            <a:ext cx="10382250" cy="857250"/>
          </a:xfrm>
          <a:prstGeom prst="rect">
            <a:avLst/>
          </a:prstGeom>
          <a:noFill/>
          <a:ln w="0">
            <a:noFill/>
          </a:ln>
        </p:spPr>
        <p:txBody>
          <a:bodyPr wrap="square" lIns="0" tIns="0" rIns="0" bIns="0" anchor="t">
            <a:noAutofit/>
          </a:bodyPr>
          <a:lstStyle>
            <a:defPPr>
              <a:defRPr sz="2475" b="0">
                <a:solidFill>
                  <a:srgbClr val="526B63"/>
                </a:solidFill>
                <a:latin typeface="Arial"/>
                <a:ea typeface="Arial"/>
                <a:cs typeface="Arial"/>
              </a:defRPr>
            </a:defPPr>
          </a:lstStyle>
          <a:p>
            <a:pPr>
              <a:defRPr sz="2475" b="0">
                <a:solidFill>
                  <a:srgbClr val="526B63"/>
                </a:solidFill>
                <a:latin typeface="Arial"/>
                <a:ea typeface="Arial"/>
                <a:cs typeface="Arial"/>
              </a:defRPr>
            </a:pPr>
            <a:r>
              <a:rPr sz="2475" b="0" lang="sr-Latn-ME">
                <a:solidFill>
                  <a:srgbClr val="526B63"/>
                </a:solidFill>
                <a:latin typeface="Arial"/>
                <a:ea typeface="Arial"/>
                <a:cs typeface="Arial"/>
              </a:rPr>
              <a:t>Današnji zadatak ima konkretnu radnju, pomoć i kriterijum završetka.</a:t>
            </a:r>
          </a:p>
        </p:txBody>
      </p:sp>
      <p:sp>
        <p:nvSpPr>
          <p:cNvPr id="7" name="">
            <a:extLst>
              <a:ext uri="{FF2B5EF4-FFF2-40B4-BE49-F238E27FC236}">
                <ns2:creationId id="{0E5742C4-2A4A-4AB4-9CFF-680A82FB8898}"/>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ME">
                <a:solidFill>
                  <a:srgbClr val="526B63"/>
                </a:solidFill>
                <a:latin typeface="Arial"/>
                <a:ea typeface="Arial"/>
                <a:cs typeface="Arial"/>
              </a:rPr>
              <a:t>4 Core: Regrutacija, Zadržavanje, Produktivnost i Razvoj. Pristup prema uslovima programa.</a:t>
            </a:r>
          </a:p>
        </p:txBody>
      </p:sp>
    </p:spTree>
    <p:extLst>
      <p:ext uri="{BB962C8B-B14F-4D97-AF65-F5344CB8AC3E}">
        <ns4:creationId val="779428553"/>
      </p:ext>
    </p:extLst>
  </p:cSld>
</p:sld>
</file>

<file path=ppt/slides/slide2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6" name="">
            <a:extLst>
              <a:ext uri="{FF2B5EF4-FFF2-40B4-BE49-F238E27FC236}">
                <ns2:creationId id="{755CBF8A-CF99-4296-B52A-929A5B188D96}"/>
              </a:ext>
            </a:extLst>
          </p:cNvPr>
          <p:cNvPicPr>
            <a:picLocks noChangeAspect="1"/>
          </p:cNvPicPr>
          <p:nvPr/>
        </p:nvPicPr>
        <p:blipFill>
          <a:blip r:embed="Rd2520270cdcb44be"/>
          <a:stretch/>
        </p:blipFill>
        <p:spPr>
          <a:xfrm>
            <a:off x="9867900" y="276061"/>
            <a:ext cx="1695450" cy="438478"/>
          </a:xfrm>
          <a:prstGeom prst="rect">
            <a:avLst/>
          </a:prstGeom>
        </p:spPr>
      </p:pic>
      <p:sp>
        <p:nvSpPr>
          <p:cNvPr id="2" name="">
            <a:extLst>
              <a:ext uri="{FF2B5EF4-FFF2-40B4-BE49-F238E27FC236}">
                <ns2:creationId id="{D632DCC3-6502-4FE5-A452-5728A3FF9CB3}"/>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ME">
                <a:solidFill>
                  <a:srgbClr val="526B63"/>
                </a:solidFill>
                <a:latin typeface="Arial"/>
                <a:ea typeface="Arial"/>
                <a:cs typeface="Arial"/>
              </a:rPr>
              <a:t>21</a:t>
            </a:r>
          </a:p>
        </p:txBody>
      </p:sp>
      <p:sp>
        <p:nvSpPr>
          <p:cNvPr id="3" name="Naslov">
            <a:extLst>
              <a:ext uri="{FF2B5EF4-FFF2-40B4-BE49-F238E27FC236}">
                <ns2:creationId id="{9CA21175-6AB5-4D8F-B8A5-DF0C57ACDEB4}"/>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ME">
                <a:solidFill>
                  <a:srgbClr val="153F36"/>
                </a:solidFill>
                <a:latin typeface="Arial"/>
                <a:ea typeface="Arial"/>
                <a:cs typeface="Arial"/>
              </a:rPr>
              <a:t>Edukacija povezana s primjenom</a:t>
            </a:r>
          </a:p>
        </p:txBody>
      </p:sp>
      <p:sp>
        <p:nvSpPr>
          <p:cNvPr id="4" name="">
            <a:extLst>
              <a:ext uri="{FF2B5EF4-FFF2-40B4-BE49-F238E27FC236}">
                <ns2:creationId id="{5601D9A2-9AD3-4AD3-8BED-F082627DE474}"/>
              </a:ext>
            </a:extLst>
          </p:cNvPr>
          <p:cNvSpPr>
            <a:spLocks noGrp="1"/>
          </p:cNvSpPr>
          <p:nvPr/>
        </p:nvSpPr>
        <p:spPr>
          <a:xfrm>
            <a:off x="609600" y="1819275"/>
            <a:ext cx="10477500" cy="59055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r-Latn-ME">
                <a:solidFill>
                  <a:srgbClr val="153F36"/>
                </a:solidFill>
                <a:latin typeface="Arial"/>
                <a:ea typeface="Arial"/>
                <a:cs typeface="Arial"/>
              </a:rPr>
              <a:t>Temu odmah pretvori u koristan razgovor.</a:t>
            </a:r>
          </a:p>
        </p:txBody>
      </p:sp>
      <p:pic>
        <p:nvPicPr>
          <p:cNvPr id="5" name="">
            <a:extLst>
              <a:ext uri="{FF2B5EF4-FFF2-40B4-BE49-F238E27FC236}">
                <ns2:creationId id="{A42EF5A1-048A-40A7-8EB7-D73F3B145432}"/>
              </a:ext>
            </a:extLst>
          </p:cNvPr>
          <p:cNvPicPr>
            <a:picLocks noChangeAspect="1"/>
          </p:cNvPicPr>
          <p:nvPr/>
        </p:nvPicPr>
        <p:blipFill>
          <a:blip r:embed="Rc24afb3e1b784e7e"/>
          <a:srcRect l="21797" t="23750" r="4141" b="31389"/>
          <a:stretch/>
        </p:blipFill>
        <p:spPr>
          <a:xfrm>
            <a:off x="609600" y="2552700"/>
            <a:ext cx="10953750" cy="3733800"/>
          </a:xfrm>
          <a:prstGeom prst="rect">
            <a:avLst/>
          </a:prstGeom>
        </p:spPr>
      </p:pic>
      <p:sp>
        <p:nvSpPr>
          <p:cNvPr id="7" name="Interface example"/>
          <p:cNvSpPr>
            <a:spLocks noGrp="1"/>
          </p:cNvSpPr>
          <p:nvPr/>
        </p:nvSpPr>
        <p:spPr>
          <a:xfrm>
            <a:off x="609600" y="6362700"/>
            <a:ext cx="10477500" cy="28575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lgn="l"/>
            <a:r>
              <a:rPr sz="1400" b="0" lang="sr-Latn-ME" dirty="0">
                <a:solidFill>
                  <a:srgbClr val="526B63"/>
                </a:solidFill>
                <a:latin typeface="Arial"/>
              </a:rPr>
              <a:t>Primjer hrvatskog FCC interfejsa.</a:t>
            </a:r>
          </a:p>
        </p:txBody>
      </p:sp>
    </p:spTree>
    <p:extLst>
      <p:ext uri="{BB962C8B-B14F-4D97-AF65-F5344CB8AC3E}">
        <ns4:creationId val="872864147"/>
      </p:ext>
    </p:extLst>
  </p:cSld>
</p:sld>
</file>

<file path=ppt/slides/slide2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429D5618-D6D1-4709-9032-CCBDE1794EC0}"/>
              </a:ext>
            </a:extLst>
          </p:cNvPr>
          <p:cNvPicPr>
            <a:picLocks noChangeAspect="1"/>
          </p:cNvPicPr>
          <p:nvPr/>
        </p:nvPicPr>
        <p:blipFill>
          <a:blip r:embed="R9e74150305fa4111"/>
          <a:stretch/>
        </p:blipFill>
        <p:spPr>
          <a:xfrm>
            <a:off x="9867900" y="276061"/>
            <a:ext cx="1695450" cy="438478"/>
          </a:xfrm>
          <a:prstGeom prst="rect">
            <a:avLst/>
          </a:prstGeom>
        </p:spPr>
      </p:pic>
      <p:sp>
        <p:nvSpPr>
          <p:cNvPr id="2" name="">
            <a:extLst>
              <a:ext uri="{FF2B5EF4-FFF2-40B4-BE49-F238E27FC236}">
                <ns2:creationId id="{6D26F613-9E2D-4BC5-A70E-316C062077E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ME">
                <a:solidFill>
                  <a:srgbClr val="526B63"/>
                </a:solidFill>
                <a:latin typeface="Arial"/>
                <a:ea typeface="Arial"/>
                <a:cs typeface="Arial"/>
              </a:rPr>
              <a:t>22</a:t>
            </a:r>
          </a:p>
        </p:txBody>
      </p:sp>
      <p:sp>
        <p:nvSpPr>
          <p:cNvPr id="3" name="Naslov">
            <a:extLst>
              <a:ext uri="{FF2B5EF4-FFF2-40B4-BE49-F238E27FC236}">
                <ns2:creationId id="{3DBF11A3-4EDF-4D18-977F-B4AACE2BE63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ME">
                <a:solidFill>
                  <a:srgbClr val="153F36"/>
                </a:solidFill>
                <a:latin typeface="Arial"/>
                <a:ea typeface="Arial"/>
                <a:cs typeface="Arial"/>
              </a:rPr>
              <a:t>Pozivnica za izabrani webinar</a:t>
            </a:r>
          </a:p>
        </p:txBody>
      </p:sp>
      <p:sp>
        <p:nvSpPr>
          <p:cNvPr id="4" name="">
            <a:extLst>
              <a:ext uri="{FF2B5EF4-FFF2-40B4-BE49-F238E27FC236}">
                <ns2:creationId id="{64A80DF6-83D6-420D-B270-58B477A61493}"/>
              </a:ext>
            </a:extLst>
          </p:cNvPr>
          <p:cNvSpPr>
            <a:spLocks noGrp="1"/>
          </p:cNvSpPr>
          <p:nvPr/>
        </p:nvSpPr>
        <p:spPr>
          <a:xfrm>
            <a:off x="609600" y="2152650"/>
            <a:ext cx="3333750" cy="2657475"/>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r-Latn-ME">
                <a:solidFill>
                  <a:srgbClr val="153F36"/>
                </a:solidFill>
                <a:latin typeface="Arial"/>
                <a:ea typeface="Arial"/>
                <a:cs typeface="Arial"/>
              </a:rPr>
              <a:t>Izaberi termin.</a:t>
            </a:r>
          </a:p>
          <a:p>
            <a:pPr>
              <a:defRPr sz="2625" b="1">
                <a:solidFill>
                  <a:srgbClr val="153F36"/>
                </a:solidFill>
                <a:latin typeface="Arial"/>
                <a:ea typeface="Arial"/>
                <a:cs typeface="Arial"/>
              </a:defRPr>
            </a:pPr>
            <a:r>
              <a:rPr sz="2625" b="1" lang="sr-Latn-ME">
                <a:solidFill>
                  <a:srgbClr val="153F36"/>
                </a:solidFill>
                <a:latin typeface="Arial"/>
                <a:ea typeface="Arial"/>
                <a:cs typeface="Arial"/>
              </a:rPr>
              <a:t>Dodaj lični</a:t>
            </a:r>
          </a:p>
          <a:p>
            <a:pPr>
              <a:defRPr sz="2625" b="1">
                <a:solidFill>
                  <a:srgbClr val="153F36"/>
                </a:solidFill>
                <a:latin typeface="Arial"/>
                <a:ea typeface="Arial"/>
                <a:cs typeface="Arial"/>
              </a:defRPr>
            </a:pPr>
            <a:r>
              <a:rPr sz="2625" b="1" lang="sr-Latn-ME">
                <a:solidFill>
                  <a:srgbClr val="153F36"/>
                </a:solidFill>
                <a:latin typeface="Arial"/>
                <a:ea typeface="Arial"/>
                <a:cs typeface="Arial"/>
              </a:rPr>
              <a:t>razlog poziva.</a:t>
            </a:r>
          </a:p>
          <a:p>
            <a:pPr>
              <a:defRPr sz="2625" b="1">
                <a:solidFill>
                  <a:srgbClr val="153F36"/>
                </a:solidFill>
                <a:latin typeface="Arial"/>
                <a:ea typeface="Arial"/>
                <a:cs typeface="Arial"/>
              </a:defRPr>
            </a:pPr>
            <a:r>
              <a:rPr sz="2625" b="1" lang="sr-Latn-ME">
                <a:solidFill>
                  <a:srgbClr val="153F36"/>
                </a:solidFill>
                <a:latin typeface="Arial"/>
                <a:ea typeface="Arial"/>
                <a:cs typeface="Arial"/>
              </a:rPr>
              <a:t>Pošalji svoj link.</a:t>
            </a:r>
          </a:p>
        </p:txBody>
      </p:sp>
      <p:sp>
        <p:nvSpPr>
          <p:cNvPr id="5" name="">
            <a:extLst>
              <a:ext uri="{FF2B5EF4-FFF2-40B4-BE49-F238E27FC236}">
                <ns2:creationId id="{958B8E7C-0CB5-4427-A2CD-626ACD27829B}"/>
              </a:ext>
            </a:extLst>
          </p:cNvPr>
          <p:cNvSpPr>
            <a:spLocks noGrp="1"/>
          </p:cNvSpPr>
          <p:nvPr/>
        </p:nvSpPr>
        <p:spPr>
          <a:xfrm>
            <a:off x="609600" y="4972050"/>
            <a:ext cx="3333750" cy="1123950"/>
          </a:xfrm>
          <a:prstGeom prst="rect">
            <a:avLst/>
          </a:prstGeom>
          <a:noFill/>
          <a:ln w="0">
            <a:noFill/>
          </a:ln>
        </p:spPr>
        <p:txBody>
          <a:bodyPr wrap="square" lIns="0" tIns="0" rIns="0" bIns="0" anchor="t">
            <a:noAutofit/>
          </a:bodyPr>
          <a:lstStyle>
            <a:defPPr>
              <a:defRPr sz="2025" b="0">
                <a:solidFill>
                  <a:srgbClr val="526B63"/>
                </a:solidFill>
                <a:latin typeface="Arial"/>
                <a:ea typeface="Arial"/>
                <a:cs typeface="Arial"/>
              </a:defRPr>
            </a:defPPr>
          </a:lstStyle>
          <a:p>
            <a:pPr>
              <a:defRPr sz="2025" b="0">
                <a:solidFill>
                  <a:srgbClr val="526B63"/>
                </a:solidFill>
                <a:latin typeface="Arial"/>
                <a:ea typeface="Arial"/>
                <a:cs typeface="Arial"/>
              </a:defRPr>
            </a:pPr>
            <a:r>
              <a:rPr sz="2025" b="0" lang="sr-Latn-ME">
                <a:solidFill>
                  <a:srgbClr val="526B63"/>
                </a:solidFill>
                <a:latin typeface="Arial"/>
                <a:ea typeface="Arial"/>
                <a:cs typeface="Arial"/>
              </a:rPr>
              <a:t>Gost se prijavljuje za konkretan susret preko tvoje pozivnice.</a:t>
            </a:r>
          </a:p>
        </p:txBody>
      </p:sp>
      <p:pic>
        <p:nvPicPr>
          <p:cNvPr id="6" name="">
            <a:extLst>
              <a:ext uri="{FF2B5EF4-FFF2-40B4-BE49-F238E27FC236}">
                <ns2:creationId id="{3390DCC8-0B52-4314-8F10-D4E2C4601566}"/>
              </a:ext>
            </a:extLst>
          </p:cNvPr>
          <p:cNvPicPr>
            <a:picLocks noChangeAspect="1"/>
          </p:cNvPicPr>
          <p:nvPr/>
        </p:nvPicPr>
        <p:blipFill>
          <a:blip r:embed="R1e50648732a948d2"/>
          <a:srcRect l="56250" t="24028" r="4531" b="22222"/>
          <a:stretch/>
        </p:blipFill>
        <p:spPr>
          <a:xfrm>
            <a:off x="5667375" y="1924050"/>
            <a:ext cx="5524500" cy="4257675"/>
          </a:xfrm>
          <a:prstGeom prst="rect">
            <a:avLst/>
          </a:prstGeom>
        </p:spPr>
      </p:pic>
      <p:sp>
        <p:nvSpPr>
          <p:cNvPr id="8" name="Interface example"/>
          <p:cNvSpPr>
            <a:spLocks noGrp="1"/>
          </p:cNvSpPr>
          <p:nvPr/>
        </p:nvSpPr>
        <p:spPr>
          <a:xfrm>
            <a:off x="609600" y="6238875"/>
            <a:ext cx="6191250" cy="28575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lgn="l"/>
            <a:r>
              <a:rPr sz="1400" b="0" lang="sr-Latn-ME" dirty="0">
                <a:solidFill>
                  <a:srgbClr val="526B63"/>
                </a:solidFill>
                <a:latin typeface="Arial"/>
              </a:rPr>
              <a:t>Primjer hrvatskog FCC interfejsa.</a:t>
            </a:r>
          </a:p>
        </p:txBody>
      </p:sp>
    </p:spTree>
    <p:extLst>
      <p:ext uri="{BB962C8B-B14F-4D97-AF65-F5344CB8AC3E}">
        <ns4:creationId val="700804711"/>
      </p:ext>
    </p:extLst>
  </p:cSld>
</p:sld>
</file>

<file path=ppt/slides/slide2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D5E12F88-80BE-4ED3-9045-0929104BF85E}"/>
              </a:ext>
            </a:extLst>
          </p:cNvPr>
          <p:cNvPicPr>
            <a:picLocks noChangeAspect="1"/>
          </p:cNvPicPr>
          <p:nvPr/>
        </p:nvPicPr>
        <p:blipFill>
          <a:blip r:embed="R767dfad8865d4072"/>
          <a:stretch/>
        </p:blipFill>
        <p:spPr>
          <a:xfrm>
            <a:off x="9867900" y="276061"/>
            <a:ext cx="1695450" cy="438478"/>
          </a:xfrm>
          <a:prstGeom prst="rect">
            <a:avLst/>
          </a:prstGeom>
        </p:spPr>
      </p:pic>
      <p:sp>
        <p:nvSpPr>
          <p:cNvPr id="2" name="">
            <a:extLst>
              <a:ext uri="{FF2B5EF4-FFF2-40B4-BE49-F238E27FC236}">
                <ns2:creationId id="{6C95CCE3-AAC8-46D2-A89D-918660909B14}"/>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ME">
                <a:solidFill>
                  <a:srgbClr val="526B63"/>
                </a:solidFill>
                <a:latin typeface="Arial"/>
                <a:ea typeface="Arial"/>
                <a:cs typeface="Arial"/>
              </a:rPr>
              <a:t>23</a:t>
            </a:r>
          </a:p>
        </p:txBody>
      </p:sp>
      <p:sp>
        <p:nvSpPr>
          <p:cNvPr id="3" name="Naslov">
            <a:extLst>
              <a:ext uri="{FF2B5EF4-FFF2-40B4-BE49-F238E27FC236}">
                <ns2:creationId id="{86A969A1-FE90-4CAE-9E4D-B1F25AAE345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ME">
                <a:solidFill>
                  <a:srgbClr val="153F36"/>
                </a:solidFill>
                <a:latin typeface="Arial"/>
                <a:ea typeface="Arial"/>
                <a:cs typeface="Arial"/>
              </a:rPr>
              <a:t>Marko se prijavio. Šta slijedi?</a:t>
            </a:r>
          </a:p>
        </p:txBody>
      </p:sp>
      <p:sp>
        <p:nvSpPr>
          <p:cNvPr id="4" name="">
            <a:extLst>
              <a:ext uri="{FF2B5EF4-FFF2-40B4-BE49-F238E27FC236}">
                <ns2:creationId id="{E5F1DAFA-2528-492F-B2BE-F6718195409F}"/>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ME">
                <a:solidFill>
                  <a:srgbClr val="148977"/>
                </a:solidFill>
                <a:latin typeface="Arial"/>
                <a:ea typeface="Arial"/>
                <a:cs typeface="Arial"/>
              </a:rPr>
              <a:t>1.</a:t>
            </a:r>
          </a:p>
        </p:txBody>
      </p:sp>
      <p:sp>
        <p:nvSpPr>
          <p:cNvPr id="5" name="">
            <a:extLst>
              <a:ext uri="{FF2B5EF4-FFF2-40B4-BE49-F238E27FC236}">
                <ns2:creationId id="{4DB35653-FBDF-4BEC-83F0-6FBB39603769}"/>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ME">
                <a:solidFill>
                  <a:srgbClr val="153F36"/>
                </a:solidFill>
                <a:latin typeface="Arial"/>
                <a:ea typeface="Arial"/>
                <a:cs typeface="Arial"/>
              </a:rPr>
              <a:t>Prijava za određeni termin</a:t>
            </a:r>
          </a:p>
        </p:txBody>
      </p:sp>
      <p:sp>
        <p:nvSpPr>
          <p:cNvPr id="6" name="">
            <a:extLst>
              <a:ext uri="{FF2B5EF4-FFF2-40B4-BE49-F238E27FC236}">
                <ns2:creationId id="{CB2364BB-A3BB-4784-8D31-FC7726F1C590}"/>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Kontakt i prijava ostaju povezani sa osobom koja poziva.</a:t>
            </a:r>
          </a:p>
        </p:txBody>
      </p:sp>
      <p:sp>
        <p:nvSpPr>
          <p:cNvPr id="7" name="">
            <a:extLst>
              <a:ext uri="{FF2B5EF4-FFF2-40B4-BE49-F238E27FC236}">
                <ns2:creationId id="{AD290595-7437-4728-8D3A-3E8B1D2B748F}"/>
              </a:ext>
            </a:extLst>
          </p:cNvPr>
          <p:cNvSpPr>
            <a:spLocks noGrp="1"/>
          </p:cNvSpPr>
          <p:nvPr/>
        </p:nvSpPr>
        <p:spPr>
          <a:xfrm>
            <a:off x="609600" y="284797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ME">
                <a:solidFill>
                  <a:srgbClr val="148977"/>
                </a:solidFill>
                <a:latin typeface="Arial"/>
                <a:ea typeface="Arial"/>
                <a:cs typeface="Arial"/>
              </a:rPr>
              <a:t>2.</a:t>
            </a:r>
          </a:p>
        </p:txBody>
      </p:sp>
      <p:sp>
        <p:nvSpPr>
          <p:cNvPr id="8" name="">
            <a:extLst>
              <a:ext uri="{FF2B5EF4-FFF2-40B4-BE49-F238E27FC236}">
                <ns2:creationId id="{46695ECA-CB8D-4B9F-A2E8-B65C37B9556C}"/>
              </a:ext>
            </a:extLst>
          </p:cNvPr>
          <p:cNvSpPr>
            <a:spLocks noGrp="1"/>
          </p:cNvSpPr>
          <p:nvPr/>
        </p:nvSpPr>
        <p:spPr>
          <a:xfrm>
            <a:off x="1257300" y="284797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ME">
                <a:solidFill>
                  <a:srgbClr val="153F36"/>
                </a:solidFill>
                <a:latin typeface="Arial"/>
                <a:ea typeface="Arial"/>
                <a:cs typeface="Arial"/>
              </a:rPr>
              <a:t>Prije webinara</a:t>
            </a:r>
          </a:p>
        </p:txBody>
      </p:sp>
      <p:sp>
        <p:nvSpPr>
          <p:cNvPr id="9" name="">
            <a:extLst>
              <a:ext uri="{FF2B5EF4-FFF2-40B4-BE49-F238E27FC236}">
                <ns2:creationId id="{62BE4D3F-BC4E-41C9-B048-D3D0AD57E314}"/>
              </a:ext>
            </a:extLst>
          </p:cNvPr>
          <p:cNvSpPr>
            <a:spLocks noGrp="1"/>
          </p:cNvSpPr>
          <p:nvPr/>
        </p:nvSpPr>
        <p:spPr>
          <a:xfrm>
            <a:off x="1257300" y="325755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Potvrda i izabrani podsjetnici pomažu gostu doći.</a:t>
            </a:r>
          </a:p>
        </p:txBody>
      </p:sp>
      <p:sp>
        <p:nvSpPr>
          <p:cNvPr id="10" name="">
            <a:extLst>
              <a:ext uri="{FF2B5EF4-FFF2-40B4-BE49-F238E27FC236}">
                <ns2:creationId id="{8ECC572D-40C3-4866-9005-CFF07D7DA9C3}"/>
              </a:ext>
            </a:extLst>
          </p:cNvPr>
          <p:cNvSpPr>
            <a:spLocks noGrp="1"/>
          </p:cNvSpPr>
          <p:nvPr/>
        </p:nvSpPr>
        <p:spPr>
          <a:xfrm>
            <a:off x="609600" y="37338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ME">
                <a:solidFill>
                  <a:srgbClr val="148977"/>
                </a:solidFill>
                <a:latin typeface="Arial"/>
                <a:ea typeface="Arial"/>
                <a:cs typeface="Arial"/>
              </a:rPr>
              <a:t>3.</a:t>
            </a:r>
          </a:p>
        </p:txBody>
      </p:sp>
      <p:sp>
        <p:nvSpPr>
          <p:cNvPr id="11" name="">
            <a:extLst>
              <a:ext uri="{FF2B5EF4-FFF2-40B4-BE49-F238E27FC236}">
                <ns2:creationId id="{9B07424D-9E40-46F4-B29D-C0C5CD66F25E}"/>
              </a:ext>
            </a:extLst>
          </p:cNvPr>
          <p:cNvSpPr>
            <a:spLocks noGrp="1"/>
          </p:cNvSpPr>
          <p:nvPr/>
        </p:nvSpPr>
        <p:spPr>
          <a:xfrm>
            <a:off x="1257300" y="37338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ME">
                <a:solidFill>
                  <a:srgbClr val="153F36"/>
                </a:solidFill>
                <a:latin typeface="Arial"/>
                <a:ea typeface="Arial"/>
                <a:cs typeface="Arial"/>
              </a:rPr>
              <a:t>Nakon webinara</a:t>
            </a:r>
          </a:p>
        </p:txBody>
      </p:sp>
      <p:sp>
        <p:nvSpPr>
          <p:cNvPr id="12" name="">
            <a:extLst>
              <a:ext uri="{FF2B5EF4-FFF2-40B4-BE49-F238E27FC236}">
                <ns2:creationId id="{CC04F91B-0460-4471-969A-A7A5BB25A43D}"/>
              </a:ext>
            </a:extLst>
          </p:cNvPr>
          <p:cNvSpPr>
            <a:spLocks noGrp="1"/>
          </p:cNvSpPr>
          <p:nvPr/>
        </p:nvSpPr>
        <p:spPr>
          <a:xfrm>
            <a:off x="1257300" y="41433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Saradnik potvrđuje dolazak i dogovara razgovor.</a:t>
            </a:r>
          </a:p>
        </p:txBody>
      </p:sp>
      <p:sp>
        <p:nvSpPr>
          <p:cNvPr id="13" name="">
            <a:extLst>
              <a:ext uri="{FF2B5EF4-FFF2-40B4-BE49-F238E27FC236}">
                <ns2:creationId id="{1996C6A4-A7E3-4F17-8120-05460EF79D98}"/>
              </a:ext>
            </a:extLst>
          </p:cNvPr>
          <p:cNvSpPr>
            <a:spLocks noGrp="1"/>
          </p:cNvSpPr>
          <p:nvPr/>
        </p:nvSpPr>
        <p:spPr>
          <a:xfrm>
            <a:off x="609600" y="461962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ME">
                <a:solidFill>
                  <a:srgbClr val="148977"/>
                </a:solidFill>
                <a:latin typeface="Arial"/>
                <a:ea typeface="Arial"/>
                <a:cs typeface="Arial"/>
              </a:rPr>
              <a:t>4.</a:t>
            </a:r>
          </a:p>
        </p:txBody>
      </p:sp>
      <p:sp>
        <p:nvSpPr>
          <p:cNvPr id="14" name="">
            <a:extLst>
              <a:ext uri="{FF2B5EF4-FFF2-40B4-BE49-F238E27FC236}">
                <ns2:creationId id="{0015C3FA-BB82-4048-81E2-1B20DA03DFA6}"/>
              </a:ext>
            </a:extLst>
          </p:cNvPr>
          <p:cNvSpPr>
            <a:spLocks noGrp="1"/>
          </p:cNvSpPr>
          <p:nvPr/>
        </p:nvSpPr>
        <p:spPr>
          <a:xfrm>
            <a:off x="1257300" y="461962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ME">
                <a:solidFill>
                  <a:srgbClr val="153F36"/>
                </a:solidFill>
                <a:latin typeface="Arial"/>
                <a:ea typeface="Arial"/>
                <a:cs typeface="Arial"/>
              </a:rPr>
              <a:t>Ako nije učestvovao</a:t>
            </a:r>
          </a:p>
        </p:txBody>
      </p:sp>
      <p:sp>
        <p:nvSpPr>
          <p:cNvPr id="15" name="">
            <a:extLst>
              <a:ext uri="{FF2B5EF4-FFF2-40B4-BE49-F238E27FC236}">
                <ns2:creationId id="{67891E00-CB5A-48F8-9822-D3F7DBF396CA}"/>
              </a:ext>
            </a:extLst>
          </p:cNvPr>
          <p:cNvSpPr>
            <a:spLocks noGrp="1"/>
          </p:cNvSpPr>
          <p:nvPr/>
        </p:nvSpPr>
        <p:spPr>
          <a:xfrm>
            <a:off x="1257300" y="50292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Lični razgovor i nova pozivnica za novi termin.</a:t>
            </a:r>
          </a:p>
        </p:txBody>
      </p:sp>
    </p:spTree>
    <p:extLst>
      <p:ext uri="{BB962C8B-B14F-4D97-AF65-F5344CB8AC3E}">
        <ns4:creationId val="2122822085"/>
      </p:ext>
    </p:extLst>
  </p:cSld>
</p:sld>
</file>

<file path=ppt/slides/slide2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B9472236-3934-486C-A23A-6370DE23E664}"/>
              </a:ext>
            </a:extLst>
          </p:cNvPr>
          <p:cNvPicPr>
            <a:picLocks noChangeAspect="1"/>
          </p:cNvPicPr>
          <p:nvPr/>
        </p:nvPicPr>
        <p:blipFill>
          <a:blip r:embed="R91a2746f4c374b45"/>
          <a:stretch/>
        </p:blipFill>
        <p:spPr>
          <a:xfrm>
            <a:off x="9867900" y="276061"/>
            <a:ext cx="1695450" cy="438478"/>
          </a:xfrm>
          <a:prstGeom prst="rect">
            <a:avLst/>
          </a:prstGeom>
        </p:spPr>
      </p:pic>
      <p:sp>
        <p:nvSpPr>
          <p:cNvPr id="2" name="">
            <a:extLst>
              <a:ext uri="{FF2B5EF4-FFF2-40B4-BE49-F238E27FC236}">
                <ns2:creationId id="{68B0361B-9635-4166-AE62-4CF793B4F1A3}"/>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ME">
                <a:solidFill>
                  <a:srgbClr val="526B63"/>
                </a:solidFill>
                <a:latin typeface="Arial"/>
                <a:ea typeface="Arial"/>
                <a:cs typeface="Arial"/>
              </a:rPr>
              <a:t>24</a:t>
            </a:r>
          </a:p>
        </p:txBody>
      </p:sp>
      <p:sp>
        <p:nvSpPr>
          <p:cNvPr id="3" name="Naslov">
            <a:extLst>
              <a:ext uri="{FF2B5EF4-FFF2-40B4-BE49-F238E27FC236}">
                <ns2:creationId id="{A3F07F94-2F35-418F-817F-9743B462CB62}"/>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ME">
                <a:solidFill>
                  <a:srgbClr val="153F36"/>
                </a:solidFill>
                <a:latin typeface="Arial"/>
                <a:ea typeface="Arial"/>
                <a:cs typeface="Arial"/>
              </a:rPr>
              <a:t>Lični i timski webinari</a:t>
            </a:r>
          </a:p>
        </p:txBody>
      </p:sp>
      <p:sp>
        <p:nvSpPr>
          <p:cNvPr id="4" name="">
            <a:extLst>
              <a:ext uri="{FF2B5EF4-FFF2-40B4-BE49-F238E27FC236}">
                <ns2:creationId id="{15C68868-CAC3-4747-A74E-8D8DCC287173}"/>
              </a:ext>
            </a:extLst>
          </p:cNvPr>
          <p:cNvSpPr>
            <a:spLocks noGrp="1"/>
          </p:cNvSpPr>
          <p:nvPr/>
        </p:nvSpPr>
        <p:spPr>
          <a:xfrm>
            <a:off x="609600" y="2181225"/>
            <a:ext cx="10591800" cy="2190750"/>
          </a:xfrm>
          <a:prstGeom prst="rect">
            <a:avLst/>
          </a:prstGeom>
          <a:noFill/>
          <a:ln w="0">
            <a:noFill/>
          </a:ln>
        </p:spPr>
        <p:txBody>
          <a:bodyPr wrap="square" lIns="0" tIns="0" rIns="0" bIns="0" anchor="t">
            <a:noAutofit/>
          </a:bodyPr>
          <a:lstStyle>
            <a:defPPr>
              <a:defRPr sz="3150" b="1">
                <a:solidFill>
                  <a:srgbClr val="153F36"/>
                </a:solidFill>
                <a:latin typeface="Arial"/>
                <a:ea typeface="Arial"/>
                <a:cs typeface="Arial"/>
              </a:defRPr>
            </a:defPPr>
          </a:lstStyle>
          <a:p>
            <a:pPr>
              <a:defRPr sz="3150" b="1">
                <a:solidFill>
                  <a:srgbClr val="153F36"/>
                </a:solidFill>
                <a:latin typeface="Arial"/>
                <a:ea typeface="Arial"/>
                <a:cs typeface="Arial"/>
              </a:defRPr>
            </a:pPr>
            <a:r>
              <a:rPr sz="3150" b="1" lang="sr-Latn-ME">
                <a:solidFill>
                  <a:srgbClr val="153F36"/>
                </a:solidFill>
                <a:latin typeface="Arial"/>
                <a:ea typeface="Arial"/>
                <a:cs typeface="Arial"/>
              </a:rPr>
              <a:t>Jedan termin ili redovni susret.</a:t>
            </a:r>
          </a:p>
          <a:p>
            <a:pPr>
              <a:defRPr sz="3150" b="1">
                <a:solidFill>
                  <a:srgbClr val="153F36"/>
                </a:solidFill>
                <a:latin typeface="Arial"/>
                <a:ea typeface="Arial"/>
                <a:cs typeface="Arial"/>
              </a:defRPr>
            </a:pPr>
            <a:r>
              <a:rPr sz="3150" b="1" lang="sr-Latn-ME">
                <a:solidFill>
                  <a:srgbClr val="153F36"/>
                </a:solidFill>
                <a:latin typeface="Arial"/>
                <a:ea typeface="Arial"/>
                <a:cs typeface="Arial"/>
              </a:rPr>
              <a:t>Na izabranom jeziku.</a:t>
            </a:r>
          </a:p>
          <a:p>
            <a:pPr>
              <a:defRPr sz="3150" b="1">
                <a:solidFill>
                  <a:srgbClr val="153F36"/>
                </a:solidFill>
                <a:latin typeface="Arial"/>
                <a:ea typeface="Arial"/>
                <a:cs typeface="Arial"/>
              </a:defRPr>
            </a:pPr>
            <a:r>
              <a:rPr sz="3150" b="1" lang="sr-Latn-ME">
                <a:solidFill>
                  <a:srgbClr val="153F36"/>
                </a:solidFill>
                <a:latin typeface="Arial"/>
                <a:ea typeface="Arial"/>
                <a:cs typeface="Arial"/>
              </a:rPr>
              <a:t>Za sopstvene pozive ili svoj FCC tim.</a:t>
            </a:r>
          </a:p>
        </p:txBody>
      </p:sp>
      <p:sp>
        <p:nvSpPr>
          <p:cNvPr id="5" name="">
            <a:extLst>
              <a:ext uri="{FF2B5EF4-FFF2-40B4-BE49-F238E27FC236}">
                <ns2:creationId id="{CA141C86-D453-47CD-8181-922C077B11D4}"/>
              </a:ext>
            </a:extLst>
          </p:cNvPr>
          <p:cNvSpPr>
            <a:spLocks noGrp="1"/>
          </p:cNvSpPr>
          <p:nvPr/>
        </p:nvSpPr>
        <p:spPr>
          <a:xfrm>
            <a:off x="609600" y="4733925"/>
            <a:ext cx="10448925" cy="866775"/>
          </a:xfrm>
          <a:prstGeom prst="rect">
            <a:avLst/>
          </a:prstGeom>
          <a:noFill/>
          <a:ln w="0">
            <a:noFill/>
          </a:ln>
        </p:spPr>
        <p:txBody>
          <a:bodyPr wrap="square" lIns="0" tIns="0" rIns="0" bIns="0" anchor="t">
            <a:noAutofit/>
          </a:bodyPr>
          <a:lstStyle>
            <a:defPPr>
              <a:defRPr sz="2325" b="0">
                <a:solidFill>
                  <a:srgbClr val="526B63"/>
                </a:solidFill>
                <a:latin typeface="Arial"/>
                <a:ea typeface="Arial"/>
                <a:cs typeface="Arial"/>
              </a:defRPr>
            </a:defPPr>
          </a:lstStyle>
          <a:p>
            <a:pPr>
              <a:defRPr sz="2325" b="0">
                <a:solidFill>
                  <a:srgbClr val="526B63"/>
                </a:solidFill>
                <a:latin typeface="Arial"/>
                <a:ea typeface="Arial"/>
                <a:cs typeface="Arial"/>
              </a:defRPr>
            </a:pPr>
            <a:r>
              <a:rPr sz="2325" b="0" lang="sr-Latn-ME">
                <a:solidFill>
                  <a:srgbClr val="526B63"/>
                </a:solidFill>
                <a:latin typeface="Arial"/>
                <a:ea typeface="Arial"/>
                <a:cs typeface="Arial"/>
              </a:rPr>
              <a:t>Svaki član poziva svojim linkom i zadržava svoje kontakte.</a:t>
            </a:r>
          </a:p>
        </p:txBody>
      </p:sp>
      <p:sp>
        <p:nvSpPr>
          <p:cNvPr id="6" name="">
            <a:extLst>
              <a:ext uri="{FF2B5EF4-FFF2-40B4-BE49-F238E27FC236}">
                <ns2:creationId id="{330A4E96-5E13-4241-96CF-B5C8186A91E4}"/>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ME">
                <a:solidFill>
                  <a:srgbClr val="526B63"/>
                </a:solidFill>
                <a:latin typeface="Arial"/>
                <a:ea typeface="Arial"/>
                <a:cs typeface="Arial"/>
              </a:rPr>
              <a:t>Kreiranje vlastitih webinara dostupno je u PRO paketu.</a:t>
            </a:r>
          </a:p>
        </p:txBody>
      </p:sp>
    </p:spTree>
    <p:extLst>
      <p:ext uri="{BB962C8B-B14F-4D97-AF65-F5344CB8AC3E}">
        <ns4:creationId val="1264850231"/>
      </p:ext>
    </p:extLst>
  </p:cSld>
</p:sld>
</file>

<file path=ppt/slides/slide2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5E86031B-74C2-4608-8EC0-F7A06E16AB36}"/>
              </a:ext>
            </a:extLst>
          </p:cNvPr>
          <p:cNvPicPr>
            <a:picLocks noChangeAspect="1"/>
          </p:cNvPicPr>
          <p:nvPr/>
        </p:nvPicPr>
        <p:blipFill>
          <a:blip r:embed="R59ec47a19bc2488c"/>
          <a:stretch/>
        </p:blipFill>
        <p:spPr>
          <a:xfrm>
            <a:off x="9867900" y="276061"/>
            <a:ext cx="1695450" cy="438478"/>
          </a:xfrm>
          <a:prstGeom prst="rect">
            <a:avLst/>
          </a:prstGeom>
        </p:spPr>
      </p:pic>
      <p:sp>
        <p:nvSpPr>
          <p:cNvPr id="2" name="">
            <a:extLst>
              <a:ext uri="{FF2B5EF4-FFF2-40B4-BE49-F238E27FC236}">
                <ns2:creationId id="{93698D6B-5742-4E5B-834D-CB8A1A514169}"/>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ME">
                <a:solidFill>
                  <a:srgbClr val="526B63"/>
                </a:solidFill>
                <a:latin typeface="Arial"/>
                <a:ea typeface="Arial"/>
                <a:cs typeface="Arial"/>
              </a:rPr>
              <a:t>25</a:t>
            </a:r>
          </a:p>
        </p:txBody>
      </p:sp>
      <p:sp>
        <p:nvSpPr>
          <p:cNvPr id="3" name="Naslov">
            <a:extLst>
              <a:ext uri="{FF2B5EF4-FFF2-40B4-BE49-F238E27FC236}">
                <ns2:creationId id="{E8A14DF5-11A1-4D9F-9B08-F9C64AB2045B}"/>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ME">
                <a:solidFill>
                  <a:srgbClr val="153F36"/>
                </a:solidFill>
                <a:latin typeface="Arial"/>
                <a:ea typeface="Arial"/>
                <a:cs typeface="Arial"/>
              </a:rPr>
              <a:t>Podrška saradnicima u rubrici Moj tim</a:t>
            </a:r>
          </a:p>
        </p:txBody>
      </p:sp>
      <p:sp>
        <p:nvSpPr>
          <p:cNvPr id="4" name="">
            <a:extLst>
              <a:ext uri="{FF2B5EF4-FFF2-40B4-BE49-F238E27FC236}">
                <ns2:creationId id="{5C794550-AB76-4651-9D65-FCC54402C9DF}"/>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r-Latn-ME">
                <a:solidFill>
                  <a:srgbClr val="148977"/>
                </a:solidFill>
                <a:latin typeface="Arial"/>
                <a:ea typeface="Arial"/>
                <a:cs typeface="Arial"/>
              </a:rPr>
              <a:t>1.</a:t>
            </a:r>
          </a:p>
        </p:txBody>
      </p:sp>
      <p:sp>
        <p:nvSpPr>
          <p:cNvPr id="5" name="">
            <a:extLst>
              <a:ext uri="{FF2B5EF4-FFF2-40B4-BE49-F238E27FC236}">
                <ns2:creationId id="{0D790686-2438-4A73-8815-5D8A40D9C276}"/>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r-Latn-ME">
                <a:solidFill>
                  <a:srgbClr val="153F36"/>
                </a:solidFill>
                <a:latin typeface="Arial"/>
                <a:ea typeface="Arial"/>
                <a:cs typeface="Arial"/>
              </a:rPr>
              <a:t>Pregled ljudi i napretka</a:t>
            </a:r>
          </a:p>
        </p:txBody>
      </p:sp>
      <p:sp>
        <p:nvSpPr>
          <p:cNvPr id="6" name="">
            <a:extLst>
              <a:ext uri="{FF2B5EF4-FFF2-40B4-BE49-F238E27FC236}">
                <ns2:creationId id="{57A656BD-9E7D-4723-A3EB-C0005AB55657}"/>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Lakše vidiš gdje razgovor i podrška imaju smisla.</a:t>
            </a:r>
          </a:p>
        </p:txBody>
      </p:sp>
      <p:sp>
        <p:nvSpPr>
          <p:cNvPr id="7" name="">
            <a:extLst>
              <a:ext uri="{FF2B5EF4-FFF2-40B4-BE49-F238E27FC236}">
                <ns2:creationId id="{967AC6C6-2AA2-4DBF-B458-584184EDCB24}"/>
              </a:ext>
            </a:extLst>
          </p:cNvPr>
          <p:cNvSpPr>
            <a:spLocks noGrp="1"/>
          </p:cNvSpPr>
          <p:nvPr/>
        </p:nvSpPr>
        <p:spPr>
          <a:xfrm>
            <a:off x="609600" y="3105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r-Latn-ME">
                <a:solidFill>
                  <a:srgbClr val="148977"/>
                </a:solidFill>
                <a:latin typeface="Arial"/>
                <a:ea typeface="Arial"/>
                <a:cs typeface="Arial"/>
              </a:rPr>
              <a:t>2.</a:t>
            </a:r>
          </a:p>
        </p:txBody>
      </p:sp>
      <p:sp>
        <p:nvSpPr>
          <p:cNvPr id="8" name="">
            <a:extLst>
              <a:ext uri="{FF2B5EF4-FFF2-40B4-BE49-F238E27FC236}">
                <ns2:creationId id="{56B851E9-6FC5-431B-859B-AF028D6FEB8F}"/>
              </a:ext>
            </a:extLst>
          </p:cNvPr>
          <p:cNvSpPr>
            <a:spLocks noGrp="1"/>
          </p:cNvSpPr>
          <p:nvPr/>
        </p:nvSpPr>
        <p:spPr>
          <a:xfrm>
            <a:off x="1257300" y="3105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r-Latn-ME">
                <a:solidFill>
                  <a:srgbClr val="153F36"/>
                </a:solidFill>
                <a:latin typeface="Arial"/>
                <a:ea typeface="Arial"/>
                <a:cs typeface="Arial"/>
              </a:rPr>
              <a:t>Lično javljanje</a:t>
            </a:r>
          </a:p>
        </p:txBody>
      </p:sp>
      <p:sp>
        <p:nvSpPr>
          <p:cNvPr id="9" name="">
            <a:extLst>
              <a:ext uri="{FF2B5EF4-FFF2-40B4-BE49-F238E27FC236}">
                <ns2:creationId id="{818F0784-40F3-44C9-9582-B7A15C5FB7EE}"/>
              </a:ext>
            </a:extLst>
          </p:cNvPr>
          <p:cNvSpPr>
            <a:spLocks noGrp="1"/>
          </p:cNvSpPr>
          <p:nvPr/>
        </p:nvSpPr>
        <p:spPr>
          <a:xfrm>
            <a:off x="1257300" y="3514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Priprema poruke i potvrda da je stvarno poslata.</a:t>
            </a:r>
          </a:p>
        </p:txBody>
      </p:sp>
      <p:sp>
        <p:nvSpPr>
          <p:cNvPr id="10" name="">
            <a:extLst>
              <a:ext uri="{FF2B5EF4-FFF2-40B4-BE49-F238E27FC236}">
                <ns2:creationId id="{B9F0BD01-52B3-41AC-98C0-040405407F1A}"/>
              </a:ext>
            </a:extLst>
          </p:cNvPr>
          <p:cNvSpPr>
            <a:spLocks noGrp="1"/>
          </p:cNvSpPr>
          <p:nvPr/>
        </p:nvSpPr>
        <p:spPr>
          <a:xfrm>
            <a:off x="609600" y="4248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r-Latn-ME">
                <a:solidFill>
                  <a:srgbClr val="148977"/>
                </a:solidFill>
                <a:latin typeface="Arial"/>
                <a:ea typeface="Arial"/>
                <a:cs typeface="Arial"/>
              </a:rPr>
              <a:t>3.</a:t>
            </a:r>
          </a:p>
        </p:txBody>
      </p:sp>
      <p:sp>
        <p:nvSpPr>
          <p:cNvPr id="11" name="">
            <a:extLst>
              <a:ext uri="{FF2B5EF4-FFF2-40B4-BE49-F238E27FC236}">
                <ns2:creationId id="{481DB09C-DD2D-4344-86DC-1D4C290AFDE8}"/>
              </a:ext>
            </a:extLst>
          </p:cNvPr>
          <p:cNvSpPr>
            <a:spLocks noGrp="1"/>
          </p:cNvSpPr>
          <p:nvPr/>
        </p:nvSpPr>
        <p:spPr>
          <a:xfrm>
            <a:off x="1257300" y="4248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r-Latn-ME">
                <a:solidFill>
                  <a:srgbClr val="153F36"/>
                </a:solidFill>
                <a:latin typeface="Arial"/>
                <a:ea typeface="Arial"/>
                <a:cs typeface="Arial"/>
              </a:rPr>
              <a:t>Sljedeći dogovor</a:t>
            </a:r>
          </a:p>
        </p:txBody>
      </p:sp>
      <p:sp>
        <p:nvSpPr>
          <p:cNvPr id="12" name="">
            <a:extLst>
              <a:ext uri="{FF2B5EF4-FFF2-40B4-BE49-F238E27FC236}">
                <ns2:creationId id="{FA5462F9-CF88-452C-9CD7-60E7B954693D}"/>
              </a:ext>
            </a:extLst>
          </p:cNvPr>
          <p:cNvSpPr>
            <a:spLocks noGrp="1"/>
          </p:cNvSpPr>
          <p:nvPr/>
        </p:nvSpPr>
        <p:spPr>
          <a:xfrm>
            <a:off x="1257300" y="4657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Podsjetnik za razgovor i nastavak podrške.</a:t>
            </a:r>
          </a:p>
        </p:txBody>
      </p:sp>
      <p:sp>
        <p:nvSpPr>
          <p:cNvPr id="13" name="">
            <a:extLst>
              <a:ext uri="{FF2B5EF4-FFF2-40B4-BE49-F238E27FC236}">
                <ns2:creationId id="{EA4F5EE5-D9B7-490A-8B9A-397E2C501279}"/>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ME">
                <a:solidFill>
                  <a:srgbClr val="526B63"/>
                </a:solidFill>
                <a:latin typeface="Arial"/>
                <a:ea typeface="Arial"/>
                <a:cs typeface="Arial"/>
              </a:rPr>
              <a:t>PRO mogućnost. Brojčani podaci pomažu razgovoru, a ne zamjenjuju ga.</a:t>
            </a:r>
          </a:p>
        </p:txBody>
      </p:sp>
    </p:spTree>
    <p:extLst>
      <p:ext uri="{BB962C8B-B14F-4D97-AF65-F5344CB8AC3E}">
        <ns4:creationId val="743576115"/>
      </p:ext>
    </p:extLst>
  </p:cSld>
</p:sld>
</file>

<file path=ppt/slides/slide2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153F36"/>
        </a:solidFill>
      </p:bgPr>
    </p:bg>
    <p:spTree>
      <p:nvGrpSpPr>
        <p:cNvPr id="1" name=""/>
        <p:cNvGrpSpPr/>
        <p:nvPr/>
      </p:nvGrpSpPr>
      <p:grpSpPr>
        <a:xfrm/>
      </p:grpSpPr>
      <p:sp>
        <p:nvSpPr>
          <p:cNvPr id="15" name="">
            <a:extLst>
              <a:ext uri="{FF2B5EF4-FFF2-40B4-BE49-F238E27FC236}">
                <ns2:creationId id="{8FD54B42-D5D9-4C8E-A795-D8C9DC824F7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D4E8DD"/>
                </a:solidFill>
                <a:latin typeface="Arial"/>
                <a:ea typeface="Arial"/>
                <a:cs typeface="Arial"/>
              </a:defRPr>
            </a:defPPr>
          </a:lstStyle>
          <a:p>
            <a:pPr>
              <a:defRPr sz="1350" b="0">
                <a:solidFill>
                  <a:srgbClr val="D4E8DD"/>
                </a:solidFill>
                <a:latin typeface="Arial"/>
                <a:ea typeface="Arial"/>
                <a:cs typeface="Arial"/>
              </a:defRPr>
            </a:pPr>
            <a:r>
              <a:rPr sz="1350" b="0" lang="sr-Latn-ME">
                <a:solidFill>
                  <a:srgbClr val="D4E8DD"/>
                </a:solidFill>
                <a:latin typeface="Arial"/>
                <a:ea typeface="Arial"/>
                <a:cs typeface="Arial"/>
              </a:rPr>
              <a:t>26</a:t>
            </a:r>
          </a:p>
        </p:txBody>
      </p:sp>
      <p:sp>
        <p:nvSpPr>
          <p:cNvPr id="2" name="Naslov">
            <a:extLst>
              <a:ext uri="{FF2B5EF4-FFF2-40B4-BE49-F238E27FC236}">
                <ns2:creationId id="{0A8A4CAC-4231-4F7F-ACB0-D9A1910CA91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FFFFFF"/>
                </a:solidFill>
                <a:latin typeface="Arial"/>
                <a:ea typeface="Arial"/>
                <a:cs typeface="Arial"/>
              </a:defRPr>
            </a:defPPr>
          </a:lstStyle>
          <a:p>
            <a:pPr>
              <a:defRPr sz="3600" b="1">
                <a:solidFill>
                  <a:srgbClr val="FFFFFF"/>
                </a:solidFill>
                <a:latin typeface="Arial"/>
                <a:ea typeface="Arial"/>
                <a:cs typeface="Arial"/>
              </a:defRPr>
            </a:pPr>
            <a:r>
              <a:rPr sz="3600" b="1" lang="sr-Latn-ME">
                <a:solidFill>
                  <a:srgbClr val="FFFFFF"/>
                </a:solidFill>
                <a:latin typeface="Arial"/>
                <a:ea typeface="Arial"/>
                <a:cs typeface="Arial"/>
              </a:rPr>
              <a:t>Jedan svakodnevni primjer</a:t>
            </a:r>
          </a:p>
        </p:txBody>
      </p:sp>
      <p:sp>
        <p:nvSpPr>
          <p:cNvPr id="3" name="">
            <a:extLst>
              <a:ext uri="{FF2B5EF4-FFF2-40B4-BE49-F238E27FC236}">
                <ns2:creationId id="{95AA7EBA-6878-4508-B7DD-388E8A06A72D}"/>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D4E8DD"/>
                </a:solidFill>
                <a:latin typeface="Arial"/>
                <a:ea typeface="Arial"/>
                <a:cs typeface="Arial"/>
              </a:defRPr>
            </a:defPPr>
          </a:lstStyle>
          <a:p>
            <a:pPr>
              <a:defRPr sz="2250" b="1">
                <a:solidFill>
                  <a:srgbClr val="D4E8DD"/>
                </a:solidFill>
                <a:latin typeface="Arial"/>
                <a:ea typeface="Arial"/>
                <a:cs typeface="Arial"/>
              </a:defRPr>
            </a:pPr>
            <a:r>
              <a:rPr sz="2250" b="1" lang="sr-Latn-ME">
                <a:solidFill>
                  <a:srgbClr val="D4E8DD"/>
                </a:solidFill>
                <a:latin typeface="Arial"/>
                <a:ea typeface="Arial"/>
                <a:cs typeface="Arial"/>
              </a:rPr>
              <a:t>1.</a:t>
            </a:r>
          </a:p>
        </p:txBody>
      </p:sp>
      <p:sp>
        <p:nvSpPr>
          <p:cNvPr id="4" name="">
            <a:extLst>
              <a:ext uri="{FF2B5EF4-FFF2-40B4-BE49-F238E27FC236}">
                <ns2:creationId id="{03646A3A-C104-4F37-B92F-BB2EAE187254}"/>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FFFFFF"/>
                </a:solidFill>
                <a:latin typeface="Arial"/>
                <a:ea typeface="Arial"/>
                <a:cs typeface="Arial"/>
              </a:defRPr>
            </a:defPPr>
          </a:lstStyle>
          <a:p>
            <a:pPr>
              <a:defRPr sz="2250" b="1">
                <a:solidFill>
                  <a:srgbClr val="FFFFFF"/>
                </a:solidFill>
                <a:latin typeface="Arial"/>
                <a:ea typeface="Arial"/>
                <a:cs typeface="Arial"/>
              </a:defRPr>
            </a:pPr>
            <a:r>
              <a:rPr sz="2250" b="1" lang="sr-Latn-ME">
                <a:solidFill>
                  <a:srgbClr val="FFFFFF"/>
                </a:solidFill>
                <a:latin typeface="Arial"/>
                <a:ea typeface="Arial"/>
                <a:cs typeface="Arial"/>
              </a:rPr>
              <a:t>Današnji korak</a:t>
            </a:r>
          </a:p>
        </p:txBody>
      </p:sp>
      <p:sp>
        <p:nvSpPr>
          <p:cNvPr id="5" name="">
            <a:extLst>
              <a:ext uri="{FF2B5EF4-FFF2-40B4-BE49-F238E27FC236}">
                <ns2:creationId id="{FE393999-B9B5-4679-B5D3-6DB274700D35}"/>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D4E8DD"/>
                </a:solidFill>
                <a:latin typeface="Arial"/>
                <a:ea typeface="Arial"/>
                <a:cs typeface="Arial"/>
              </a:defRPr>
            </a:defPPr>
          </a:lstStyle>
          <a:p>
            <a:pPr>
              <a:defRPr sz="1875" b="0">
                <a:solidFill>
                  <a:srgbClr val="D4E8DD"/>
                </a:solidFill>
                <a:latin typeface="Arial"/>
                <a:ea typeface="Arial"/>
                <a:cs typeface="Arial"/>
              </a:defRPr>
            </a:pPr>
            <a:r>
              <a:rPr sz="1875" b="0" lang="sr-Latn-ME">
                <a:solidFill>
                  <a:srgbClr val="D4E8DD"/>
                </a:solidFill>
                <a:latin typeface="Arial"/>
                <a:ea typeface="Arial"/>
                <a:cs typeface="Arial"/>
              </a:rPr>
              <a:t>Otvaram zadatak i razumijem šta treba napraviti.</a:t>
            </a:r>
          </a:p>
        </p:txBody>
      </p:sp>
      <p:sp>
        <p:nvSpPr>
          <p:cNvPr id="6" name="">
            <a:extLst>
              <a:ext uri="{FF2B5EF4-FFF2-40B4-BE49-F238E27FC236}">
                <ns2:creationId id="{91FEC0DE-5CB4-4CA9-AAEC-3F72A813B357}"/>
              </a:ext>
            </a:extLst>
          </p:cNvPr>
          <p:cNvSpPr>
            <a:spLocks noGrp="1"/>
          </p:cNvSpPr>
          <p:nvPr/>
        </p:nvSpPr>
        <p:spPr>
          <a:xfrm>
            <a:off x="609600" y="2876550"/>
            <a:ext cx="523875" cy="495300"/>
          </a:xfrm>
          <a:prstGeom prst="rect">
            <a:avLst/>
          </a:prstGeom>
          <a:noFill/>
          <a:ln w="0">
            <a:noFill/>
          </a:ln>
        </p:spPr>
        <p:txBody>
          <a:bodyPr wrap="square" lIns="0" tIns="0" rIns="0" bIns="0" anchor="t">
            <a:noAutofit/>
          </a:bodyPr>
          <a:lstStyle>
            <a:defPPr>
              <a:defRPr sz="2250" b="1">
                <a:solidFill>
                  <a:srgbClr val="D4E8DD"/>
                </a:solidFill>
                <a:latin typeface="Arial"/>
                <a:ea typeface="Arial"/>
                <a:cs typeface="Arial"/>
              </a:defRPr>
            </a:defPPr>
          </a:lstStyle>
          <a:p>
            <a:pPr>
              <a:defRPr sz="2250" b="1">
                <a:solidFill>
                  <a:srgbClr val="D4E8DD"/>
                </a:solidFill>
                <a:latin typeface="Arial"/>
                <a:ea typeface="Arial"/>
                <a:cs typeface="Arial"/>
              </a:defRPr>
            </a:pPr>
            <a:r>
              <a:rPr sz="2250" b="1" lang="sr-Latn-ME">
                <a:solidFill>
                  <a:srgbClr val="D4E8DD"/>
                </a:solidFill>
                <a:latin typeface="Arial"/>
                <a:ea typeface="Arial"/>
                <a:cs typeface="Arial"/>
              </a:rPr>
              <a:t>2.</a:t>
            </a:r>
          </a:p>
        </p:txBody>
      </p:sp>
      <p:sp>
        <p:nvSpPr>
          <p:cNvPr id="7" name="">
            <a:extLst>
              <a:ext uri="{FF2B5EF4-FFF2-40B4-BE49-F238E27FC236}">
                <ns2:creationId id="{DAD20ADD-6670-452E-AC38-4568348090F2}"/>
              </a:ext>
            </a:extLst>
          </p:cNvPr>
          <p:cNvSpPr>
            <a:spLocks noGrp="1"/>
          </p:cNvSpPr>
          <p:nvPr/>
        </p:nvSpPr>
        <p:spPr>
          <a:xfrm>
            <a:off x="1257300" y="2876550"/>
            <a:ext cx="9925050" cy="457200"/>
          </a:xfrm>
          <a:prstGeom prst="rect">
            <a:avLst/>
          </a:prstGeom>
          <a:noFill/>
          <a:ln w="0">
            <a:noFill/>
          </a:ln>
        </p:spPr>
        <p:txBody>
          <a:bodyPr wrap="square" lIns="0" tIns="0" rIns="0" bIns="0" anchor="t">
            <a:noAutofit/>
          </a:bodyPr>
          <a:lstStyle>
            <a:defPPr>
              <a:defRPr sz="2250" b="1">
                <a:solidFill>
                  <a:srgbClr val="FFFFFF"/>
                </a:solidFill>
                <a:latin typeface="Arial"/>
                <a:ea typeface="Arial"/>
                <a:cs typeface="Arial"/>
              </a:defRPr>
            </a:defPPr>
          </a:lstStyle>
          <a:p>
            <a:pPr>
              <a:defRPr sz="2250" b="1">
                <a:solidFill>
                  <a:srgbClr val="FFFFFF"/>
                </a:solidFill>
                <a:latin typeface="Arial"/>
                <a:ea typeface="Arial"/>
                <a:cs typeface="Arial"/>
              </a:defRPr>
            </a:pPr>
            <a:r>
              <a:rPr sz="2250" b="1" lang="sr-Latn-ME">
                <a:solidFill>
                  <a:srgbClr val="FFFFFF"/>
                </a:solidFill>
                <a:latin typeface="Arial"/>
                <a:ea typeface="Arial"/>
                <a:cs typeface="Arial"/>
              </a:rPr>
              <a:t>Ana i njezin interes</a:t>
            </a:r>
          </a:p>
        </p:txBody>
      </p:sp>
      <p:sp>
        <p:nvSpPr>
          <p:cNvPr id="8" name="">
            <a:extLst>
              <a:ext uri="{FF2B5EF4-FFF2-40B4-BE49-F238E27FC236}">
                <ns2:creationId id="{65D3A541-A07B-40D6-996F-497837E3F221}"/>
              </a:ext>
            </a:extLst>
          </p:cNvPr>
          <p:cNvSpPr>
            <a:spLocks noGrp="1"/>
          </p:cNvSpPr>
          <p:nvPr/>
        </p:nvSpPr>
        <p:spPr>
          <a:xfrm>
            <a:off x="1257300" y="3286125"/>
            <a:ext cx="9925050" cy="552450"/>
          </a:xfrm>
          <a:prstGeom prst="rect">
            <a:avLst/>
          </a:prstGeom>
          <a:noFill/>
          <a:ln w="0">
            <a:noFill/>
          </a:ln>
        </p:spPr>
        <p:txBody>
          <a:bodyPr wrap="square" lIns="0" tIns="0" rIns="0" bIns="0" anchor="t">
            <a:noAutofit/>
          </a:bodyPr>
          <a:lstStyle>
            <a:defPPr>
              <a:defRPr sz="1875" b="0">
                <a:solidFill>
                  <a:srgbClr val="D4E8DD"/>
                </a:solidFill>
                <a:latin typeface="Arial"/>
                <a:ea typeface="Arial"/>
                <a:cs typeface="Arial"/>
              </a:defRPr>
            </a:defPPr>
          </a:lstStyle>
          <a:p>
            <a:pPr>
              <a:defRPr sz="1875" b="0">
                <a:solidFill>
                  <a:srgbClr val="D4E8DD"/>
                </a:solidFill>
                <a:latin typeface="Arial"/>
                <a:ea typeface="Arial"/>
                <a:cs typeface="Arial"/>
              </a:defRPr>
            </a:pPr>
            <a:r>
              <a:rPr sz="1875" b="0" lang="sr-Latn-ME">
                <a:solidFill>
                  <a:srgbClr val="D4E8DD"/>
                </a:solidFill>
                <a:latin typeface="Arial"/>
                <a:ea typeface="Arial"/>
                <a:cs typeface="Arial"/>
              </a:rPr>
              <a:t>Pripremam korisnu poruku prema razgovoru.</a:t>
            </a:r>
          </a:p>
        </p:txBody>
      </p:sp>
      <p:sp>
        <p:nvSpPr>
          <p:cNvPr id="9" name="">
            <a:extLst>
              <a:ext uri="{FF2B5EF4-FFF2-40B4-BE49-F238E27FC236}">
                <ns2:creationId id="{B0B45942-1C82-4F2E-A57D-A14033966DFD}"/>
              </a:ext>
            </a:extLst>
          </p:cNvPr>
          <p:cNvSpPr>
            <a:spLocks noGrp="1"/>
          </p:cNvSpPr>
          <p:nvPr/>
        </p:nvSpPr>
        <p:spPr>
          <a:xfrm>
            <a:off x="609600" y="3790950"/>
            <a:ext cx="523875" cy="495300"/>
          </a:xfrm>
          <a:prstGeom prst="rect">
            <a:avLst/>
          </a:prstGeom>
          <a:noFill/>
          <a:ln w="0">
            <a:noFill/>
          </a:ln>
        </p:spPr>
        <p:txBody>
          <a:bodyPr wrap="square" lIns="0" tIns="0" rIns="0" bIns="0" anchor="t">
            <a:noAutofit/>
          </a:bodyPr>
          <a:lstStyle>
            <a:defPPr>
              <a:defRPr sz="2250" b="1">
                <a:solidFill>
                  <a:srgbClr val="D4E8DD"/>
                </a:solidFill>
                <a:latin typeface="Arial"/>
                <a:ea typeface="Arial"/>
                <a:cs typeface="Arial"/>
              </a:defRPr>
            </a:defPPr>
          </a:lstStyle>
          <a:p>
            <a:pPr>
              <a:defRPr sz="2250" b="1">
                <a:solidFill>
                  <a:srgbClr val="D4E8DD"/>
                </a:solidFill>
                <a:latin typeface="Arial"/>
                <a:ea typeface="Arial"/>
                <a:cs typeface="Arial"/>
              </a:defRPr>
            </a:pPr>
            <a:r>
              <a:rPr sz="2250" b="1" lang="sr-Latn-ME">
                <a:solidFill>
                  <a:srgbClr val="D4E8DD"/>
                </a:solidFill>
                <a:latin typeface="Arial"/>
                <a:ea typeface="Arial"/>
                <a:cs typeface="Arial"/>
              </a:rPr>
              <a:t>3.</a:t>
            </a:r>
          </a:p>
        </p:txBody>
      </p:sp>
      <p:sp>
        <p:nvSpPr>
          <p:cNvPr id="10" name="">
            <a:extLst>
              <a:ext uri="{FF2B5EF4-FFF2-40B4-BE49-F238E27FC236}">
                <ns2:creationId id="{60121B05-21D8-491D-8733-458B22AA21A7}"/>
              </a:ext>
            </a:extLst>
          </p:cNvPr>
          <p:cNvSpPr>
            <a:spLocks noGrp="1"/>
          </p:cNvSpPr>
          <p:nvPr/>
        </p:nvSpPr>
        <p:spPr>
          <a:xfrm>
            <a:off x="1257300" y="3790950"/>
            <a:ext cx="9925050" cy="457200"/>
          </a:xfrm>
          <a:prstGeom prst="rect">
            <a:avLst/>
          </a:prstGeom>
          <a:noFill/>
          <a:ln w="0">
            <a:noFill/>
          </a:ln>
        </p:spPr>
        <p:txBody>
          <a:bodyPr wrap="square" lIns="0" tIns="0" rIns="0" bIns="0" anchor="t">
            <a:noAutofit/>
          </a:bodyPr>
          <a:lstStyle>
            <a:defPPr>
              <a:defRPr sz="2250" b="1">
                <a:solidFill>
                  <a:srgbClr val="FFFFFF"/>
                </a:solidFill>
                <a:latin typeface="Arial"/>
                <a:ea typeface="Arial"/>
                <a:cs typeface="Arial"/>
              </a:defRPr>
            </a:defPPr>
          </a:lstStyle>
          <a:p>
            <a:pPr>
              <a:defRPr sz="2250" b="1">
                <a:solidFill>
                  <a:srgbClr val="FFFFFF"/>
                </a:solidFill>
                <a:latin typeface="Arial"/>
                <a:ea typeface="Arial"/>
                <a:cs typeface="Arial"/>
              </a:defRPr>
            </a:pPr>
            <a:r>
              <a:rPr sz="2250" b="1" lang="sr-Latn-ME">
                <a:solidFill>
                  <a:srgbClr val="FFFFFF"/>
                </a:solidFill>
                <a:latin typeface="Arial"/>
                <a:ea typeface="Arial"/>
                <a:cs typeface="Arial"/>
              </a:rPr>
              <a:t>Moja preporuka</a:t>
            </a:r>
          </a:p>
        </p:txBody>
      </p:sp>
      <p:sp>
        <p:nvSpPr>
          <p:cNvPr id="11" name="">
            <a:extLst>
              <a:ext uri="{FF2B5EF4-FFF2-40B4-BE49-F238E27FC236}">
                <ns2:creationId id="{F6AE71F9-B8CE-4986-8A1F-59474B627BB0}"/>
              </a:ext>
            </a:extLst>
          </p:cNvPr>
          <p:cNvSpPr>
            <a:spLocks noGrp="1"/>
          </p:cNvSpPr>
          <p:nvPr/>
        </p:nvSpPr>
        <p:spPr>
          <a:xfrm>
            <a:off x="1257300" y="4200525"/>
            <a:ext cx="9925050" cy="552450"/>
          </a:xfrm>
          <a:prstGeom prst="rect">
            <a:avLst/>
          </a:prstGeom>
          <a:noFill/>
          <a:ln w="0">
            <a:noFill/>
          </a:ln>
        </p:spPr>
        <p:txBody>
          <a:bodyPr wrap="square" lIns="0" tIns="0" rIns="0" bIns="0" anchor="t">
            <a:noAutofit/>
          </a:bodyPr>
          <a:lstStyle>
            <a:defPPr>
              <a:defRPr sz="1875" b="0">
                <a:solidFill>
                  <a:srgbClr val="D4E8DD"/>
                </a:solidFill>
                <a:latin typeface="Arial"/>
                <a:ea typeface="Arial"/>
                <a:cs typeface="Arial"/>
              </a:defRPr>
            </a:defPPr>
          </a:lstStyle>
          <a:p>
            <a:pPr>
              <a:defRPr sz="1875" b="0">
                <a:solidFill>
                  <a:srgbClr val="D4E8DD"/>
                </a:solidFill>
                <a:latin typeface="Arial"/>
                <a:ea typeface="Arial"/>
                <a:cs typeface="Arial"/>
              </a:defRPr>
            </a:pPr>
            <a:r>
              <a:rPr sz="1875" b="0" lang="sr-Latn-ME">
                <a:solidFill>
                  <a:srgbClr val="D4E8DD"/>
                </a:solidFill>
                <a:latin typeface="Arial"/>
                <a:ea typeface="Arial"/>
                <a:cs typeface="Arial"/>
              </a:rPr>
              <a:t>Dijelim proizvod ili pozivnicu za izabrani termin.</a:t>
            </a:r>
          </a:p>
        </p:txBody>
      </p:sp>
      <p:sp>
        <p:nvSpPr>
          <p:cNvPr id="12" name="">
            <a:extLst>
              <a:ext uri="{FF2B5EF4-FFF2-40B4-BE49-F238E27FC236}">
                <ns2:creationId id="{F4A4571D-FA77-422B-9D76-F3ACB7D696EF}"/>
              </a:ext>
            </a:extLst>
          </p:cNvPr>
          <p:cNvSpPr>
            <a:spLocks noGrp="1"/>
          </p:cNvSpPr>
          <p:nvPr/>
        </p:nvSpPr>
        <p:spPr>
          <a:xfrm>
            <a:off x="609600" y="4705350"/>
            <a:ext cx="523875" cy="495300"/>
          </a:xfrm>
          <a:prstGeom prst="rect">
            <a:avLst/>
          </a:prstGeom>
          <a:noFill/>
          <a:ln w="0">
            <a:noFill/>
          </a:ln>
        </p:spPr>
        <p:txBody>
          <a:bodyPr wrap="square" lIns="0" tIns="0" rIns="0" bIns="0" anchor="t">
            <a:noAutofit/>
          </a:bodyPr>
          <a:lstStyle>
            <a:defPPr>
              <a:defRPr sz="2250" b="1">
                <a:solidFill>
                  <a:srgbClr val="D4E8DD"/>
                </a:solidFill>
                <a:latin typeface="Arial"/>
                <a:ea typeface="Arial"/>
                <a:cs typeface="Arial"/>
              </a:defRPr>
            </a:defPPr>
          </a:lstStyle>
          <a:p>
            <a:pPr>
              <a:defRPr sz="2250" b="1">
                <a:solidFill>
                  <a:srgbClr val="D4E8DD"/>
                </a:solidFill>
                <a:latin typeface="Arial"/>
                <a:ea typeface="Arial"/>
                <a:cs typeface="Arial"/>
              </a:defRPr>
            </a:pPr>
            <a:r>
              <a:rPr sz="2250" b="1" lang="sr-Latn-ME">
                <a:solidFill>
                  <a:srgbClr val="D4E8DD"/>
                </a:solidFill>
                <a:latin typeface="Arial"/>
                <a:ea typeface="Arial"/>
                <a:cs typeface="Arial"/>
              </a:rPr>
              <a:t>4.</a:t>
            </a:r>
          </a:p>
        </p:txBody>
      </p:sp>
      <p:sp>
        <p:nvSpPr>
          <p:cNvPr id="13" name="">
            <a:extLst>
              <a:ext uri="{FF2B5EF4-FFF2-40B4-BE49-F238E27FC236}">
                <ns2:creationId id="{7F97F9DF-E177-4FFC-BEA3-E8607C5F908E}"/>
              </a:ext>
            </a:extLst>
          </p:cNvPr>
          <p:cNvSpPr>
            <a:spLocks noGrp="1"/>
          </p:cNvSpPr>
          <p:nvPr/>
        </p:nvSpPr>
        <p:spPr>
          <a:xfrm>
            <a:off x="1257300" y="4705350"/>
            <a:ext cx="9925050" cy="457200"/>
          </a:xfrm>
          <a:prstGeom prst="rect">
            <a:avLst/>
          </a:prstGeom>
          <a:noFill/>
          <a:ln w="0">
            <a:noFill/>
          </a:ln>
        </p:spPr>
        <p:txBody>
          <a:bodyPr wrap="square" lIns="0" tIns="0" rIns="0" bIns="0" anchor="t">
            <a:noAutofit/>
          </a:bodyPr>
          <a:lstStyle>
            <a:defPPr>
              <a:defRPr sz="2250" b="1">
                <a:solidFill>
                  <a:srgbClr val="FFFFFF"/>
                </a:solidFill>
                <a:latin typeface="Arial"/>
                <a:ea typeface="Arial"/>
                <a:cs typeface="Arial"/>
              </a:defRPr>
            </a:defPPr>
          </a:lstStyle>
          <a:p>
            <a:pPr>
              <a:defRPr sz="2250" b="1">
                <a:solidFill>
                  <a:srgbClr val="FFFFFF"/>
                </a:solidFill>
                <a:latin typeface="Arial"/>
                <a:ea typeface="Arial"/>
                <a:cs typeface="Arial"/>
              </a:defRPr>
            </a:pPr>
            <a:r>
              <a:rPr sz="2250" b="1" lang="sr-Latn-ME">
                <a:solidFill>
                  <a:srgbClr val="FFFFFF"/>
                </a:solidFill>
                <a:latin typeface="Arial"/>
                <a:ea typeface="Arial"/>
                <a:cs typeface="Arial"/>
              </a:rPr>
              <a:t>Sljedeći dogovor</a:t>
            </a:r>
          </a:p>
        </p:txBody>
      </p:sp>
      <p:sp>
        <p:nvSpPr>
          <p:cNvPr id="14" name="">
            <a:extLst>
              <a:ext uri="{FF2B5EF4-FFF2-40B4-BE49-F238E27FC236}">
                <ns2:creationId id="{AE76C082-5565-4973-AD5C-698FD8AAAAA8}"/>
              </a:ext>
            </a:extLst>
          </p:cNvPr>
          <p:cNvSpPr>
            <a:spLocks noGrp="1"/>
          </p:cNvSpPr>
          <p:nvPr/>
        </p:nvSpPr>
        <p:spPr>
          <a:xfrm>
            <a:off x="1257300" y="5114925"/>
            <a:ext cx="9925050" cy="552450"/>
          </a:xfrm>
          <a:prstGeom prst="rect">
            <a:avLst/>
          </a:prstGeom>
          <a:noFill/>
          <a:ln w="0">
            <a:noFill/>
          </a:ln>
        </p:spPr>
        <p:txBody>
          <a:bodyPr wrap="square" lIns="0" tIns="0" rIns="0" bIns="0" anchor="t">
            <a:noAutofit/>
          </a:bodyPr>
          <a:lstStyle>
            <a:defPPr>
              <a:defRPr sz="1875" b="0">
                <a:solidFill>
                  <a:srgbClr val="D4E8DD"/>
                </a:solidFill>
                <a:latin typeface="Arial"/>
                <a:ea typeface="Arial"/>
                <a:cs typeface="Arial"/>
              </a:defRPr>
            </a:defPPr>
          </a:lstStyle>
          <a:p>
            <a:pPr>
              <a:defRPr sz="1875" b="0">
                <a:solidFill>
                  <a:srgbClr val="D4E8DD"/>
                </a:solidFill>
                <a:latin typeface="Arial"/>
                <a:ea typeface="Arial"/>
                <a:cs typeface="Arial"/>
              </a:defRPr>
            </a:pPr>
            <a:r>
              <a:rPr sz="1875" b="0" lang="sr-Latn-ME">
                <a:solidFill>
                  <a:srgbClr val="D4E8DD"/>
                </a:solidFill>
                <a:latin typeface="Arial"/>
                <a:ea typeface="Arial"/>
                <a:cs typeface="Arial"/>
              </a:rPr>
              <a:t>Bilježim radnju i datum ponovnog javljanja.</a:t>
            </a:r>
          </a:p>
        </p:txBody>
      </p:sp>
    </p:spTree>
    <p:extLst>
      <p:ext uri="{BB962C8B-B14F-4D97-AF65-F5344CB8AC3E}">
        <ns3:creationId val="1769184539"/>
      </p:ext>
    </p:extLst>
  </p:cSld>
</p:sld>
</file>

<file path=ppt/slides/slide2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AD69F793-5AC2-4B61-8E08-807EA3E82C93}"/>
              </a:ext>
            </a:extLst>
          </p:cNvPr>
          <p:cNvPicPr>
            <a:picLocks noChangeAspect="1"/>
          </p:cNvPicPr>
          <p:nvPr/>
        </p:nvPicPr>
        <p:blipFill>
          <a:blip r:embed="R5fc007ce49884a48"/>
          <a:stretch/>
        </p:blipFill>
        <p:spPr>
          <a:xfrm>
            <a:off x="9867900" y="276061"/>
            <a:ext cx="1695450" cy="438478"/>
          </a:xfrm>
          <a:prstGeom prst="rect">
            <a:avLst/>
          </a:prstGeom>
        </p:spPr>
      </p:pic>
      <p:sp>
        <p:nvSpPr>
          <p:cNvPr id="2" name="">
            <a:extLst>
              <a:ext uri="{FF2B5EF4-FFF2-40B4-BE49-F238E27FC236}">
                <ns2:creationId id="{D599A719-1E57-4637-B8AE-2EADBB60B92A}"/>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ME">
                <a:solidFill>
                  <a:srgbClr val="526B63"/>
                </a:solidFill>
                <a:latin typeface="Arial"/>
                <a:ea typeface="Arial"/>
                <a:cs typeface="Arial"/>
              </a:rPr>
              <a:t>27</a:t>
            </a:r>
          </a:p>
        </p:txBody>
      </p:sp>
      <p:sp>
        <p:nvSpPr>
          <p:cNvPr id="3" name="Naslov">
            <a:extLst>
              <a:ext uri="{FF2B5EF4-FFF2-40B4-BE49-F238E27FC236}">
                <ns2:creationId id="{8BB1BE9D-040A-44D0-AEAF-D2C3ACE9FBD0}"/>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ME">
                <a:solidFill>
                  <a:srgbClr val="153F36"/>
                </a:solidFill>
                <a:latin typeface="Arial"/>
                <a:ea typeface="Arial"/>
                <a:cs typeface="Arial"/>
              </a:rPr>
              <a:t>Sedmica oko svog webinara</a:t>
            </a:r>
          </a:p>
        </p:txBody>
      </p:sp>
      <p:sp>
        <p:nvSpPr>
          <p:cNvPr id="4" name="">
            <a:extLst>
              <a:ext uri="{FF2B5EF4-FFF2-40B4-BE49-F238E27FC236}">
                <ns2:creationId id="{0F5BB3E7-43FB-4F91-B6E5-6557057A7B6C}"/>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r-Latn-ME">
                <a:solidFill>
                  <a:srgbClr val="148977"/>
                </a:solidFill>
                <a:latin typeface="Arial"/>
                <a:ea typeface="Arial"/>
                <a:cs typeface="Arial"/>
              </a:rPr>
              <a:t>1.</a:t>
            </a:r>
          </a:p>
        </p:txBody>
      </p:sp>
      <p:sp>
        <p:nvSpPr>
          <p:cNvPr id="5" name="">
            <a:extLst>
              <a:ext uri="{FF2B5EF4-FFF2-40B4-BE49-F238E27FC236}">
                <ns2:creationId id="{82D731A5-172B-48C5-9CD0-E353F39BF95A}"/>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r-Latn-ME">
                <a:solidFill>
                  <a:srgbClr val="153F36"/>
                </a:solidFill>
                <a:latin typeface="Arial"/>
                <a:ea typeface="Arial"/>
                <a:cs typeface="Arial"/>
              </a:rPr>
              <a:t>Prije termina</a:t>
            </a:r>
          </a:p>
        </p:txBody>
      </p:sp>
      <p:sp>
        <p:nvSpPr>
          <p:cNvPr id="6" name="">
            <a:extLst>
              <a:ext uri="{FF2B5EF4-FFF2-40B4-BE49-F238E27FC236}">
                <ns2:creationId id="{DE5EA19D-E7B5-44A8-9292-5670686D93E3}"/>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Pozovi osobe kojima tema odgovara i prati prijave.</a:t>
            </a:r>
          </a:p>
        </p:txBody>
      </p:sp>
      <p:sp>
        <p:nvSpPr>
          <p:cNvPr id="7" name="">
            <a:extLst>
              <a:ext uri="{FF2B5EF4-FFF2-40B4-BE49-F238E27FC236}">
                <ns2:creationId id="{3563B572-16E0-4754-AEA8-67452D850777}"/>
              </a:ext>
            </a:extLst>
          </p:cNvPr>
          <p:cNvSpPr>
            <a:spLocks noGrp="1"/>
          </p:cNvSpPr>
          <p:nvPr/>
        </p:nvSpPr>
        <p:spPr>
          <a:xfrm>
            <a:off x="609600" y="3133725"/>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r-Latn-ME">
                <a:solidFill>
                  <a:srgbClr val="148977"/>
                </a:solidFill>
                <a:latin typeface="Arial"/>
                <a:ea typeface="Arial"/>
                <a:cs typeface="Arial"/>
              </a:rPr>
              <a:t>2.</a:t>
            </a:r>
          </a:p>
        </p:txBody>
      </p:sp>
      <p:sp>
        <p:nvSpPr>
          <p:cNvPr id="8" name="">
            <a:extLst>
              <a:ext uri="{FF2B5EF4-FFF2-40B4-BE49-F238E27FC236}">
                <ns2:creationId id="{8ADC08C2-B626-42AB-8FE0-A6E440453B26}"/>
              </a:ext>
            </a:extLst>
          </p:cNvPr>
          <p:cNvSpPr>
            <a:spLocks noGrp="1"/>
          </p:cNvSpPr>
          <p:nvPr/>
        </p:nvSpPr>
        <p:spPr>
          <a:xfrm>
            <a:off x="1257300" y="3133725"/>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r-Latn-ME">
                <a:solidFill>
                  <a:srgbClr val="153F36"/>
                </a:solidFill>
                <a:latin typeface="Arial"/>
                <a:ea typeface="Arial"/>
                <a:cs typeface="Arial"/>
              </a:rPr>
              <a:t>Na dan webinara</a:t>
            </a:r>
          </a:p>
        </p:txBody>
      </p:sp>
      <p:sp>
        <p:nvSpPr>
          <p:cNvPr id="9" name="">
            <a:extLst>
              <a:ext uri="{FF2B5EF4-FFF2-40B4-BE49-F238E27FC236}">
                <ns2:creationId id="{DADD1F90-51F6-4480-B898-7B0301DA703B}"/>
              </a:ext>
            </a:extLst>
          </p:cNvPr>
          <p:cNvSpPr>
            <a:spLocks noGrp="1"/>
          </p:cNvSpPr>
          <p:nvPr/>
        </p:nvSpPr>
        <p:spPr>
          <a:xfrm>
            <a:off x="1257300" y="35433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Provjeri dogovor sa gostima i pristupni link.</a:t>
            </a:r>
          </a:p>
        </p:txBody>
      </p:sp>
      <p:sp>
        <p:nvSpPr>
          <p:cNvPr id="10" name="">
            <a:extLst>
              <a:ext uri="{FF2B5EF4-FFF2-40B4-BE49-F238E27FC236}">
                <ns2:creationId id="{484C3046-0C6A-4B03-8AD2-29A084085E35}"/>
              </a:ext>
            </a:extLst>
          </p:cNvPr>
          <p:cNvSpPr>
            <a:spLocks noGrp="1"/>
          </p:cNvSpPr>
          <p:nvPr/>
        </p:nvSpPr>
        <p:spPr>
          <a:xfrm>
            <a:off x="609600" y="430530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r-Latn-ME">
                <a:solidFill>
                  <a:srgbClr val="148977"/>
                </a:solidFill>
                <a:latin typeface="Arial"/>
                <a:ea typeface="Arial"/>
                <a:cs typeface="Arial"/>
              </a:rPr>
              <a:t>3.</a:t>
            </a:r>
          </a:p>
        </p:txBody>
      </p:sp>
      <p:sp>
        <p:nvSpPr>
          <p:cNvPr id="11" name="">
            <a:extLst>
              <a:ext uri="{FF2B5EF4-FFF2-40B4-BE49-F238E27FC236}">
                <ns2:creationId id="{9A55AF0B-C2C8-4E43-9E8D-6C7703D217C1}"/>
              </a:ext>
            </a:extLst>
          </p:cNvPr>
          <p:cNvSpPr>
            <a:spLocks noGrp="1"/>
          </p:cNvSpPr>
          <p:nvPr/>
        </p:nvSpPr>
        <p:spPr>
          <a:xfrm>
            <a:off x="1257300" y="430530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r-Latn-ME">
                <a:solidFill>
                  <a:srgbClr val="153F36"/>
                </a:solidFill>
                <a:latin typeface="Arial"/>
                <a:ea typeface="Arial"/>
                <a:cs typeface="Arial"/>
              </a:rPr>
              <a:t>Nakon susreta</a:t>
            </a:r>
          </a:p>
        </p:txBody>
      </p:sp>
      <p:sp>
        <p:nvSpPr>
          <p:cNvPr id="12" name="">
            <a:extLst>
              <a:ext uri="{FF2B5EF4-FFF2-40B4-BE49-F238E27FC236}">
                <ns2:creationId id="{DB263AC0-53C8-4704-9C0D-1FE463EBD2D5}"/>
              </a:ext>
            </a:extLst>
          </p:cNvPr>
          <p:cNvSpPr>
            <a:spLocks noGrp="1"/>
          </p:cNvSpPr>
          <p:nvPr/>
        </p:nvSpPr>
        <p:spPr>
          <a:xfrm>
            <a:off x="1257300" y="47148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Razgovaraj o interesu i dogovori sljedeći korak.</a:t>
            </a:r>
          </a:p>
        </p:txBody>
      </p:sp>
      <p:sp>
        <p:nvSpPr>
          <p:cNvPr id="13" name="">
            <a:extLst>
              <a:ext uri="{FF2B5EF4-FFF2-40B4-BE49-F238E27FC236}">
                <ns2:creationId id="{75B3B4AC-FE57-4B6D-896B-D75217171EA0}"/>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ME">
                <a:solidFill>
                  <a:srgbClr val="526B63"/>
                </a:solidFill>
                <a:latin typeface="Arial"/>
                <a:ea typeface="Arial"/>
                <a:cs typeface="Arial"/>
              </a:rPr>
              <a:t>Između susreta radiš sa kupcima i nastavljaš dostupne korake programa Moj put.</a:t>
            </a:r>
          </a:p>
        </p:txBody>
      </p:sp>
    </p:spTree>
    <p:extLst>
      <p:ext uri="{BB962C8B-B14F-4D97-AF65-F5344CB8AC3E}">
        <ns4:creationId val="1050284790"/>
      </p:ext>
    </p:extLst>
  </p:cSld>
</p:sld>
</file>

<file path=ppt/slides/slide2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90AF6069-FCC7-4456-B755-1C11B7C5D272}"/>
              </a:ext>
            </a:extLst>
          </p:cNvPr>
          <p:cNvPicPr>
            <a:picLocks noChangeAspect="1"/>
          </p:cNvPicPr>
          <p:nvPr/>
        </p:nvPicPr>
        <p:blipFill>
          <a:blip r:embed="R2ce76662dc9b4623"/>
          <a:stretch/>
        </p:blipFill>
        <p:spPr>
          <a:xfrm>
            <a:off x="9867900" y="276061"/>
            <a:ext cx="1695450" cy="438478"/>
          </a:xfrm>
          <a:prstGeom prst="rect">
            <a:avLst/>
          </a:prstGeom>
        </p:spPr>
      </p:pic>
      <p:sp>
        <p:nvSpPr>
          <p:cNvPr id="2" name="">
            <a:extLst>
              <a:ext uri="{FF2B5EF4-FFF2-40B4-BE49-F238E27FC236}">
                <ns2:creationId id="{C23F1E39-5BF0-44A4-A298-3D226CF4DBA5}"/>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ME">
                <a:solidFill>
                  <a:srgbClr val="526B63"/>
                </a:solidFill>
                <a:latin typeface="Arial"/>
                <a:ea typeface="Arial"/>
                <a:cs typeface="Arial"/>
              </a:rPr>
              <a:t>28</a:t>
            </a:r>
          </a:p>
        </p:txBody>
      </p:sp>
      <p:sp>
        <p:nvSpPr>
          <p:cNvPr id="3" name="Naslov">
            <a:extLst>
              <a:ext uri="{FF2B5EF4-FFF2-40B4-BE49-F238E27FC236}">
                <ns2:creationId id="{AB0951CD-823B-4F14-9076-B1C104C88A1D}"/>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ME">
                <a:solidFill>
                  <a:srgbClr val="153F36"/>
                </a:solidFill>
                <a:latin typeface="Arial"/>
                <a:ea typeface="Arial"/>
                <a:cs typeface="Arial"/>
              </a:rPr>
              <a:t>Primjer prve sedmice</a:t>
            </a:r>
          </a:p>
        </p:txBody>
      </p:sp>
      <p:sp>
        <p:nvSpPr>
          <p:cNvPr id="4" name="">
            <a:extLst>
              <a:ext uri="{FF2B5EF4-FFF2-40B4-BE49-F238E27FC236}">
                <ns2:creationId id="{E4E16D70-7C22-4173-AEA3-D57D27D08849}"/>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ME">
                <a:solidFill>
                  <a:srgbClr val="148977"/>
                </a:solidFill>
                <a:latin typeface="Arial"/>
                <a:ea typeface="Arial"/>
                <a:cs typeface="Arial"/>
              </a:rPr>
              <a:t>1.</a:t>
            </a:r>
          </a:p>
        </p:txBody>
      </p:sp>
      <p:sp>
        <p:nvSpPr>
          <p:cNvPr id="5" name="">
            <a:extLst>
              <a:ext uri="{FF2B5EF4-FFF2-40B4-BE49-F238E27FC236}">
                <ns2:creationId id="{89CAEC09-35AD-4098-B8D6-9F7812181948}"/>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ME">
                <a:solidFill>
                  <a:srgbClr val="153F36"/>
                </a:solidFill>
                <a:latin typeface="Arial"/>
                <a:ea typeface="Arial"/>
                <a:cs typeface="Arial"/>
              </a:rPr>
              <a:t>Upoznavanje</a:t>
            </a:r>
          </a:p>
        </p:txBody>
      </p:sp>
      <p:sp>
        <p:nvSpPr>
          <p:cNvPr id="6" name="">
            <a:extLst>
              <a:ext uri="{FF2B5EF4-FFF2-40B4-BE49-F238E27FC236}">
                <ns2:creationId id="{0D5006A6-5EE1-48F3-BADE-BF53FCED4EB5}"/>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Račun, kartica i razgovor sa sponzorom.</a:t>
            </a:r>
          </a:p>
        </p:txBody>
      </p:sp>
      <p:sp>
        <p:nvSpPr>
          <p:cNvPr id="7" name="">
            <a:extLst>
              <a:ext uri="{FF2B5EF4-FFF2-40B4-BE49-F238E27FC236}">
                <ns2:creationId id="{7303B055-FEE5-47B6-8053-4DA925ABC5E7}"/>
              </a:ext>
            </a:extLst>
          </p:cNvPr>
          <p:cNvSpPr>
            <a:spLocks noGrp="1"/>
          </p:cNvSpPr>
          <p:nvPr/>
        </p:nvSpPr>
        <p:spPr>
          <a:xfrm>
            <a:off x="609600" y="28575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ME">
                <a:solidFill>
                  <a:srgbClr val="148977"/>
                </a:solidFill>
                <a:latin typeface="Arial"/>
                <a:ea typeface="Arial"/>
                <a:cs typeface="Arial"/>
              </a:rPr>
              <a:t>2.</a:t>
            </a:r>
          </a:p>
        </p:txBody>
      </p:sp>
      <p:sp>
        <p:nvSpPr>
          <p:cNvPr id="8" name="">
            <a:extLst>
              <a:ext uri="{FF2B5EF4-FFF2-40B4-BE49-F238E27FC236}">
                <ns2:creationId id="{9F217234-F93D-4B66-BF0E-A719F5C8D308}"/>
              </a:ext>
            </a:extLst>
          </p:cNvPr>
          <p:cNvSpPr>
            <a:spLocks noGrp="1"/>
          </p:cNvSpPr>
          <p:nvPr/>
        </p:nvSpPr>
        <p:spPr>
          <a:xfrm>
            <a:off x="1257300" y="28575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ME">
                <a:solidFill>
                  <a:srgbClr val="153F36"/>
                </a:solidFill>
                <a:latin typeface="Arial"/>
                <a:ea typeface="Arial"/>
                <a:cs typeface="Arial"/>
              </a:rPr>
              <a:t>Jedna korisna preporuka</a:t>
            </a:r>
          </a:p>
        </p:txBody>
      </p:sp>
      <p:sp>
        <p:nvSpPr>
          <p:cNvPr id="9" name="">
            <a:extLst>
              <a:ext uri="{FF2B5EF4-FFF2-40B4-BE49-F238E27FC236}">
                <ns2:creationId id="{CC951A8C-6108-4925-B9E2-E88BC497C0F5}"/>
              </a:ext>
            </a:extLst>
          </p:cNvPr>
          <p:cNvSpPr>
            <a:spLocks noGrp="1"/>
          </p:cNvSpPr>
          <p:nvPr/>
        </p:nvSpPr>
        <p:spPr>
          <a:xfrm>
            <a:off x="1257300" y="32670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Izbor proizvoda i prirodna lična poruka.</a:t>
            </a:r>
          </a:p>
        </p:txBody>
      </p:sp>
      <p:sp>
        <p:nvSpPr>
          <p:cNvPr id="10" name="">
            <a:extLst>
              <a:ext uri="{FF2B5EF4-FFF2-40B4-BE49-F238E27FC236}">
                <ns2:creationId id="{9D38A44F-AE96-4E0B-9981-4DAFF3425B47}"/>
              </a:ext>
            </a:extLst>
          </p:cNvPr>
          <p:cNvSpPr>
            <a:spLocks noGrp="1"/>
          </p:cNvSpPr>
          <p:nvPr/>
        </p:nvSpPr>
        <p:spPr>
          <a:xfrm>
            <a:off x="609600" y="37528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ME">
                <a:solidFill>
                  <a:srgbClr val="148977"/>
                </a:solidFill>
                <a:latin typeface="Arial"/>
                <a:ea typeface="Arial"/>
                <a:cs typeface="Arial"/>
              </a:rPr>
              <a:t>3.</a:t>
            </a:r>
          </a:p>
        </p:txBody>
      </p:sp>
      <p:sp>
        <p:nvSpPr>
          <p:cNvPr id="11" name="">
            <a:extLst>
              <a:ext uri="{FF2B5EF4-FFF2-40B4-BE49-F238E27FC236}">
                <ns2:creationId id="{8E9E14C2-91E9-4D7C-AAE4-F4F0E9B5CF6F}"/>
              </a:ext>
            </a:extLst>
          </p:cNvPr>
          <p:cNvSpPr>
            <a:spLocks noGrp="1"/>
          </p:cNvSpPr>
          <p:nvPr/>
        </p:nvSpPr>
        <p:spPr>
          <a:xfrm>
            <a:off x="1257300" y="37528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ME">
                <a:solidFill>
                  <a:srgbClr val="153F36"/>
                </a:solidFill>
                <a:latin typeface="Arial"/>
                <a:ea typeface="Arial"/>
                <a:cs typeface="Arial"/>
              </a:rPr>
              <a:t>Jedna pozivnica</a:t>
            </a:r>
          </a:p>
        </p:txBody>
      </p:sp>
      <p:sp>
        <p:nvSpPr>
          <p:cNvPr id="12" name="">
            <a:extLst>
              <a:ext uri="{FF2B5EF4-FFF2-40B4-BE49-F238E27FC236}">
                <ns2:creationId id="{D22D0B3A-262A-432C-81FD-50F65D84DE52}"/>
              </a:ext>
            </a:extLst>
          </p:cNvPr>
          <p:cNvSpPr>
            <a:spLocks noGrp="1"/>
          </p:cNvSpPr>
          <p:nvPr/>
        </p:nvSpPr>
        <p:spPr>
          <a:xfrm>
            <a:off x="1257300" y="41624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Izbor aktuelnog webinara i priprema poziva.</a:t>
            </a:r>
          </a:p>
        </p:txBody>
      </p:sp>
      <p:sp>
        <p:nvSpPr>
          <p:cNvPr id="13" name="">
            <a:extLst>
              <a:ext uri="{FF2B5EF4-FFF2-40B4-BE49-F238E27FC236}">
                <ns2:creationId id="{E7B9CBFC-3ADE-4A30-AE7C-A4D42E435278}"/>
              </a:ext>
            </a:extLst>
          </p:cNvPr>
          <p:cNvSpPr>
            <a:spLocks noGrp="1"/>
          </p:cNvSpPr>
          <p:nvPr/>
        </p:nvSpPr>
        <p:spPr>
          <a:xfrm>
            <a:off x="609600" y="46482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ME">
                <a:solidFill>
                  <a:srgbClr val="148977"/>
                </a:solidFill>
                <a:latin typeface="Arial"/>
                <a:ea typeface="Arial"/>
                <a:cs typeface="Arial"/>
              </a:rPr>
              <a:t>4.</a:t>
            </a:r>
          </a:p>
        </p:txBody>
      </p:sp>
      <p:sp>
        <p:nvSpPr>
          <p:cNvPr id="14" name="">
            <a:extLst>
              <a:ext uri="{FF2B5EF4-FFF2-40B4-BE49-F238E27FC236}">
                <ns2:creationId id="{08B2CFAD-8690-4998-8924-E7791A9679EB}"/>
              </a:ext>
            </a:extLst>
          </p:cNvPr>
          <p:cNvSpPr>
            <a:spLocks noGrp="1"/>
          </p:cNvSpPr>
          <p:nvPr/>
        </p:nvSpPr>
        <p:spPr>
          <a:xfrm>
            <a:off x="1257300" y="46482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ME">
                <a:solidFill>
                  <a:srgbClr val="153F36"/>
                </a:solidFill>
                <a:latin typeface="Arial"/>
                <a:ea typeface="Arial"/>
                <a:cs typeface="Arial"/>
              </a:rPr>
              <a:t>Kratki osvrt</a:t>
            </a:r>
          </a:p>
        </p:txBody>
      </p:sp>
      <p:sp>
        <p:nvSpPr>
          <p:cNvPr id="15" name="">
            <a:extLst>
              <a:ext uri="{FF2B5EF4-FFF2-40B4-BE49-F238E27FC236}">
                <ns2:creationId id="{31F9D09C-3988-4A44-80DE-E4905FDBB713}"/>
              </a:ext>
            </a:extLst>
          </p:cNvPr>
          <p:cNvSpPr>
            <a:spLocks noGrp="1"/>
          </p:cNvSpPr>
          <p:nvPr/>
        </p:nvSpPr>
        <p:spPr>
          <a:xfrm>
            <a:off x="1257300" y="5057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Šta je napravljeno, šta je nejasno i koji je naredni korak.</a:t>
            </a:r>
          </a:p>
        </p:txBody>
      </p:sp>
    </p:spTree>
    <p:extLst>
      <p:ext uri="{BB962C8B-B14F-4D97-AF65-F5344CB8AC3E}">
        <ns4:creationId val="185701561"/>
      </p:ext>
    </p:extLst>
  </p:cSld>
</p:sld>
</file>

<file path=ppt/slides/slide2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9" name="">
            <a:extLst>
              <a:ext uri="{FF2B5EF4-FFF2-40B4-BE49-F238E27FC236}">
                <ns2:creationId id="{6A372F37-AC02-4069-917F-14900D63FA2F}"/>
              </a:ext>
            </a:extLst>
          </p:cNvPr>
          <p:cNvPicPr>
            <a:picLocks noChangeAspect="1"/>
          </p:cNvPicPr>
          <p:nvPr/>
        </p:nvPicPr>
        <p:blipFill>
          <a:blip r:embed="R5e6a51b14994433f"/>
          <a:stretch/>
        </p:blipFill>
        <p:spPr>
          <a:xfrm>
            <a:off x="9867900" y="276061"/>
            <a:ext cx="1695450" cy="438478"/>
          </a:xfrm>
          <a:prstGeom prst="rect">
            <a:avLst/>
          </a:prstGeom>
        </p:spPr>
      </p:pic>
      <p:sp>
        <p:nvSpPr>
          <p:cNvPr id="2" name="">
            <a:extLst>
              <a:ext uri="{FF2B5EF4-FFF2-40B4-BE49-F238E27FC236}">
                <ns2:creationId id="{F59ED990-7C91-47DE-B6FF-FD1484E9EE76}"/>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ME">
                <a:solidFill>
                  <a:srgbClr val="526B63"/>
                </a:solidFill>
                <a:latin typeface="Arial"/>
                <a:ea typeface="Arial"/>
                <a:cs typeface="Arial"/>
              </a:rPr>
              <a:t>29</a:t>
            </a:r>
          </a:p>
        </p:txBody>
      </p:sp>
      <p:sp>
        <p:nvSpPr>
          <p:cNvPr id="3" name="Naslov">
            <a:extLst>
              <a:ext uri="{FF2B5EF4-FFF2-40B4-BE49-F238E27FC236}">
                <ns2:creationId id="{26408AEC-A0D6-4A44-A0F9-D0C8BC1357D7}"/>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ME">
                <a:solidFill>
                  <a:srgbClr val="153F36"/>
                </a:solidFill>
                <a:latin typeface="Arial"/>
                <a:ea typeface="Arial"/>
                <a:cs typeface="Arial"/>
              </a:rPr>
              <a:t>Free i PRO: izbor prema potrebi</a:t>
            </a:r>
          </a:p>
        </p:txBody>
      </p:sp>
      <p:sp>
        <p:nvSpPr>
          <p:cNvPr id="4" name="">
            <a:extLst>
              <a:ext uri="{FF2B5EF4-FFF2-40B4-BE49-F238E27FC236}">
                <ns2:creationId id="{60B55B24-89D6-4E5D-A9E8-E601C38C3855}"/>
              </a:ext>
            </a:extLst>
          </p:cNvPr>
          <p:cNvSpPr>
            <a:spLocks noGrp="1"/>
          </p:cNvSpPr>
          <p:nvPr/>
        </p:nvSpPr>
        <p:spPr>
          <a:xfrm>
            <a:off x="60960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r-Latn-ME">
                <a:solidFill>
                  <a:srgbClr val="153F36"/>
                </a:solidFill>
                <a:latin typeface="Arial"/>
                <a:ea typeface="Arial"/>
                <a:cs typeface="Arial"/>
              </a:rPr>
              <a:t>Free</a:t>
            </a:r>
          </a:p>
        </p:txBody>
      </p:sp>
      <p:sp>
        <p:nvSpPr>
          <p:cNvPr id="5" name="">
            <a:extLst>
              <a:ext uri="{FF2B5EF4-FFF2-40B4-BE49-F238E27FC236}">
                <ns2:creationId id="{43A95E34-CA37-48CF-8F92-03753AFC8E52}"/>
              </a:ext>
            </a:extLst>
          </p:cNvPr>
          <p:cNvSpPr>
            <a:spLocks noGrp="1"/>
          </p:cNvSpPr>
          <p:nvPr/>
        </p:nvSpPr>
        <p:spPr>
          <a:xfrm>
            <a:off x="60960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sr-Latn-ME">
                <a:solidFill>
                  <a:srgbClr val="526B63"/>
                </a:solidFill>
                <a:latin typeface="Arial"/>
                <a:ea typeface="Arial"/>
                <a:cs typeface="Arial"/>
              </a:rPr>
              <a:t>Lična kartica i dijeljenje preporuke.</a:t>
            </a:r>
          </a:p>
          <a:p>
            <a:r>
              <a:t/>
            </a:r>
          </a:p>
          <a:p>
            <a:pPr>
              <a:defRPr sz="2175" b="0">
                <a:solidFill>
                  <a:srgbClr val="526B63"/>
                </a:solidFill>
                <a:latin typeface="Arial"/>
                <a:ea typeface="Arial"/>
                <a:cs typeface="Arial"/>
              </a:defRPr>
            </a:pPr>
            <a:r>
              <a:rPr sz="2175" b="0" lang="sr-Latn-ME">
                <a:solidFill>
                  <a:srgbClr val="526B63"/>
                </a:solidFill>
                <a:latin typeface="Arial"/>
                <a:ea typeface="Arial"/>
                <a:cs typeface="Arial"/>
              </a:rPr>
              <a:t>Kontakti, dogovorena javljanja i lični zadaci.</a:t>
            </a:r>
          </a:p>
        </p:txBody>
      </p:sp>
      <p:sp>
        <p:nvSpPr>
          <p:cNvPr id="6" name="">
            <a:extLst>
              <a:ext uri="{FF2B5EF4-FFF2-40B4-BE49-F238E27FC236}">
                <ns2:creationId id="{C4E1F5DC-0C3B-4C12-8156-1609B7C6E1B3}"/>
              </a:ext>
            </a:extLst>
          </p:cNvPr>
          <p:cNvSpPr>
            <a:spLocks noGrp="1"/>
          </p:cNvSpPr>
          <p:nvPr/>
        </p:nvSpPr>
        <p:spPr>
          <a:xfrm>
            <a:off x="641985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r-Latn-ME">
                <a:solidFill>
                  <a:srgbClr val="153F36"/>
                </a:solidFill>
                <a:latin typeface="Arial"/>
                <a:ea typeface="Arial"/>
                <a:cs typeface="Arial"/>
              </a:rPr>
              <a:t>PRO</a:t>
            </a:r>
          </a:p>
        </p:txBody>
      </p:sp>
      <p:sp>
        <p:nvSpPr>
          <p:cNvPr id="7" name="">
            <a:extLst>
              <a:ext uri="{FF2B5EF4-FFF2-40B4-BE49-F238E27FC236}">
                <ns2:creationId id="{E86197AF-9652-4CFF-A13A-1751EB92289C}"/>
              </a:ext>
            </a:extLst>
          </p:cNvPr>
          <p:cNvSpPr>
            <a:spLocks noGrp="1"/>
          </p:cNvSpPr>
          <p:nvPr/>
        </p:nvSpPr>
        <p:spPr>
          <a:xfrm>
            <a:off x="641985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sr-Latn-ME">
                <a:solidFill>
                  <a:srgbClr val="526B63"/>
                </a:solidFill>
                <a:latin typeface="Arial"/>
                <a:ea typeface="Arial"/>
                <a:cs typeface="Arial"/>
              </a:rPr>
              <a:t>Lični Coach i timski pregled.</a:t>
            </a:r>
          </a:p>
          <a:p>
            <a:r>
              <a:t/>
            </a:r>
          </a:p>
          <a:p>
            <a:pPr>
              <a:defRPr sz="2175" b="0">
                <a:solidFill>
                  <a:srgbClr val="526B63"/>
                </a:solidFill>
                <a:latin typeface="Arial"/>
                <a:ea typeface="Arial"/>
                <a:cs typeface="Arial"/>
              </a:defRPr>
            </a:pPr>
            <a:r>
              <a:rPr sz="2175" b="0" lang="sr-Latn-ME">
                <a:solidFill>
                  <a:srgbClr val="526B63"/>
                </a:solidFill>
                <a:latin typeface="Arial"/>
                <a:ea typeface="Arial"/>
                <a:cs typeface="Arial"/>
              </a:rPr>
              <a:t>Sopstveni webinari, video pozivnice i dodatni alati.</a:t>
            </a:r>
          </a:p>
        </p:txBody>
      </p:sp>
      <p:sp>
        <p:nvSpPr>
          <p:cNvPr id="8" name="">
            <a:extLst>
              <a:ext uri="{FF2B5EF4-FFF2-40B4-BE49-F238E27FC236}">
                <ns2:creationId id="{9AC41453-B93F-4081-8A58-8F439FDBAE8E}"/>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ME">
                <a:solidFill>
                  <a:srgbClr val="526B63"/>
                </a:solidFill>
                <a:latin typeface="Arial"/>
                <a:ea typeface="Arial"/>
                <a:cs typeface="Arial"/>
              </a:rPr>
              <a:t>PRO je plaćeni paket. Aktualne pogodnosti i cijene prikazane su u FCC-u.</a:t>
            </a:r>
          </a:p>
        </p:txBody>
      </p:sp>
    </p:spTree>
    <p:extLst>
      <p:ext uri="{BB962C8B-B14F-4D97-AF65-F5344CB8AC3E}">
        <ns4:creationId val="1992491909"/>
      </p:ext>
    </p:extLst>
  </p:cSld>
</p:sld>
</file>

<file path=ppt/slides/slide3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8A847E84-CE4C-4CC0-B070-58B987762D4A}"/>
              </a:ext>
            </a:extLst>
          </p:cNvPr>
          <p:cNvPicPr>
            <a:picLocks noChangeAspect="1"/>
          </p:cNvPicPr>
          <p:nvPr/>
        </p:nvPicPr>
        <p:blipFill>
          <a:blip r:embed="R90f9cc35fcf0450c"/>
          <a:stretch/>
        </p:blipFill>
        <p:spPr>
          <a:xfrm>
            <a:off x="9867900" y="276061"/>
            <a:ext cx="1695450" cy="438478"/>
          </a:xfrm>
          <a:prstGeom prst="rect">
            <a:avLst/>
          </a:prstGeom>
        </p:spPr>
      </p:pic>
      <p:sp>
        <p:nvSpPr>
          <p:cNvPr id="2" name="">
            <a:extLst>
              <a:ext uri="{FF2B5EF4-FFF2-40B4-BE49-F238E27FC236}">
                <ns2:creationId id="{3998E854-20B7-4D4D-825D-9507829847E4}"/>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ME">
                <a:solidFill>
                  <a:srgbClr val="526B63"/>
                </a:solidFill>
                <a:latin typeface="Arial"/>
                <a:ea typeface="Arial"/>
                <a:cs typeface="Arial"/>
              </a:rPr>
              <a:t>30</a:t>
            </a:r>
          </a:p>
        </p:txBody>
      </p:sp>
      <p:sp>
        <p:nvSpPr>
          <p:cNvPr id="3" name="Naslov">
            <a:extLst>
              <a:ext uri="{FF2B5EF4-FFF2-40B4-BE49-F238E27FC236}">
                <ns2:creationId id="{D7A61237-BA69-4EAE-BC4F-F276472E1BCE}"/>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ME">
                <a:solidFill>
                  <a:srgbClr val="153F36"/>
                </a:solidFill>
                <a:latin typeface="Arial"/>
                <a:ea typeface="Arial"/>
                <a:cs typeface="Arial"/>
              </a:rPr>
              <a:t>Pitanja za lični razgovor</a:t>
            </a:r>
          </a:p>
        </p:txBody>
      </p:sp>
      <p:sp>
        <p:nvSpPr>
          <p:cNvPr id="4" name="">
            <a:extLst>
              <a:ext uri="{FF2B5EF4-FFF2-40B4-BE49-F238E27FC236}">
                <ns2:creationId id="{2DF79649-6C2F-45FF-8E1E-2C06B3DFCAC7}"/>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ME">
                <a:solidFill>
                  <a:srgbClr val="148977"/>
                </a:solidFill>
                <a:latin typeface="Arial"/>
                <a:ea typeface="Arial"/>
                <a:cs typeface="Arial"/>
              </a:rPr>
              <a:t>1.</a:t>
            </a:r>
          </a:p>
        </p:txBody>
      </p:sp>
      <p:sp>
        <p:nvSpPr>
          <p:cNvPr id="5" name="">
            <a:extLst>
              <a:ext uri="{FF2B5EF4-FFF2-40B4-BE49-F238E27FC236}">
                <ns2:creationId id="{0B6DA76C-B943-432A-B447-BF9D222BC1C7}"/>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ME">
                <a:solidFill>
                  <a:srgbClr val="153F36"/>
                </a:solidFill>
                <a:latin typeface="Arial"/>
                <a:ea typeface="Arial"/>
                <a:cs typeface="Arial"/>
              </a:rPr>
              <a:t>Koji mi početak odgovara?</a:t>
            </a:r>
          </a:p>
        </p:txBody>
      </p:sp>
      <p:sp>
        <p:nvSpPr>
          <p:cNvPr id="6" name="">
            <a:extLst>
              <a:ext uri="{FF2B5EF4-FFF2-40B4-BE49-F238E27FC236}">
                <ns2:creationId id="{980D52DB-06F8-442B-9486-2B3594D0853F}"/>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Korišćenje proizvoda ili poslovna saradnja.</a:t>
            </a:r>
          </a:p>
        </p:txBody>
      </p:sp>
      <p:sp>
        <p:nvSpPr>
          <p:cNvPr id="7" name="">
            <a:extLst>
              <a:ext uri="{FF2B5EF4-FFF2-40B4-BE49-F238E27FC236}">
                <ns2:creationId id="{756C80F1-00D4-47FA-A748-CF5C89E7CDA3}"/>
              </a:ext>
            </a:extLst>
          </p:cNvPr>
          <p:cNvSpPr>
            <a:spLocks noGrp="1"/>
          </p:cNvSpPr>
          <p:nvPr/>
        </p:nvSpPr>
        <p:spPr>
          <a:xfrm>
            <a:off x="609600" y="284797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ME">
                <a:solidFill>
                  <a:srgbClr val="148977"/>
                </a:solidFill>
                <a:latin typeface="Arial"/>
                <a:ea typeface="Arial"/>
                <a:cs typeface="Arial"/>
              </a:rPr>
              <a:t>2.</a:t>
            </a:r>
          </a:p>
        </p:txBody>
      </p:sp>
      <p:sp>
        <p:nvSpPr>
          <p:cNvPr id="8" name="">
            <a:extLst>
              <a:ext uri="{FF2B5EF4-FFF2-40B4-BE49-F238E27FC236}">
                <ns2:creationId id="{57DE507B-F306-4302-BC81-A9F642343139}"/>
              </a:ext>
            </a:extLst>
          </p:cNvPr>
          <p:cNvSpPr>
            <a:spLocks noGrp="1"/>
          </p:cNvSpPr>
          <p:nvPr/>
        </p:nvSpPr>
        <p:spPr>
          <a:xfrm>
            <a:off x="1257300" y="284797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ME">
                <a:solidFill>
                  <a:srgbClr val="153F36"/>
                </a:solidFill>
                <a:latin typeface="Arial"/>
                <a:ea typeface="Arial"/>
                <a:cs typeface="Arial"/>
              </a:rPr>
              <a:t>Koliko vremena mogu odvojiti?</a:t>
            </a:r>
          </a:p>
        </p:txBody>
      </p:sp>
      <p:sp>
        <p:nvSpPr>
          <p:cNvPr id="9" name="">
            <a:extLst>
              <a:ext uri="{FF2B5EF4-FFF2-40B4-BE49-F238E27FC236}">
                <ns2:creationId id="{F22B9F41-26A8-4FA6-8538-9DB9DA3162CF}"/>
              </a:ext>
            </a:extLst>
          </p:cNvPr>
          <p:cNvSpPr>
            <a:spLocks noGrp="1"/>
          </p:cNvSpPr>
          <p:nvPr/>
        </p:nvSpPr>
        <p:spPr>
          <a:xfrm>
            <a:off x="1257300" y="325755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Dogovor o realnom ritmu i dostupnim koracima.</a:t>
            </a:r>
          </a:p>
        </p:txBody>
      </p:sp>
      <p:sp>
        <p:nvSpPr>
          <p:cNvPr id="10" name="">
            <a:extLst>
              <a:ext uri="{FF2B5EF4-FFF2-40B4-BE49-F238E27FC236}">
                <ns2:creationId id="{3AEF13F9-FCAD-4E39-9580-49296A61F38E}"/>
              </a:ext>
            </a:extLst>
          </p:cNvPr>
          <p:cNvSpPr>
            <a:spLocks noGrp="1"/>
          </p:cNvSpPr>
          <p:nvPr/>
        </p:nvSpPr>
        <p:spPr>
          <a:xfrm>
            <a:off x="609600" y="37338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ME">
                <a:solidFill>
                  <a:srgbClr val="148977"/>
                </a:solidFill>
                <a:latin typeface="Arial"/>
                <a:ea typeface="Arial"/>
                <a:cs typeface="Arial"/>
              </a:rPr>
              <a:t>3.</a:t>
            </a:r>
          </a:p>
        </p:txBody>
      </p:sp>
      <p:sp>
        <p:nvSpPr>
          <p:cNvPr id="11" name="">
            <a:extLst>
              <a:ext uri="{FF2B5EF4-FFF2-40B4-BE49-F238E27FC236}">
                <ns2:creationId id="{79B1BB93-4440-41B9-A6A6-361B1780F78E}"/>
              </a:ext>
            </a:extLst>
          </p:cNvPr>
          <p:cNvSpPr>
            <a:spLocks noGrp="1"/>
          </p:cNvSpPr>
          <p:nvPr/>
        </p:nvSpPr>
        <p:spPr>
          <a:xfrm>
            <a:off x="1257300" y="37338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ME">
                <a:solidFill>
                  <a:srgbClr val="153F36"/>
                </a:solidFill>
                <a:latin typeface="Arial"/>
                <a:ea typeface="Arial"/>
                <a:cs typeface="Arial"/>
              </a:rPr>
              <a:t>Koje troškove trebam provjeriti?</a:t>
            </a:r>
          </a:p>
        </p:txBody>
      </p:sp>
      <p:sp>
        <p:nvSpPr>
          <p:cNvPr id="12" name="">
            <a:extLst>
              <a:ext uri="{FF2B5EF4-FFF2-40B4-BE49-F238E27FC236}">
                <ns2:creationId id="{0D214BC7-68F9-4224-B971-EF7B21F274B6}"/>
              </a:ext>
            </a:extLst>
          </p:cNvPr>
          <p:cNvSpPr>
            <a:spLocks noGrp="1"/>
          </p:cNvSpPr>
          <p:nvPr/>
        </p:nvSpPr>
        <p:spPr>
          <a:xfrm>
            <a:off x="1257300" y="41433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Proizvodi, poslovanje i eventualni FCC PRO paket.</a:t>
            </a:r>
          </a:p>
        </p:txBody>
      </p:sp>
      <p:sp>
        <p:nvSpPr>
          <p:cNvPr id="13" name="">
            <a:extLst>
              <a:ext uri="{FF2B5EF4-FFF2-40B4-BE49-F238E27FC236}">
                <ns2:creationId id="{BAA6452F-3A8A-4DDB-8B39-8563C5F5DEAC}"/>
              </a:ext>
            </a:extLst>
          </p:cNvPr>
          <p:cNvSpPr>
            <a:spLocks noGrp="1"/>
          </p:cNvSpPr>
          <p:nvPr/>
        </p:nvSpPr>
        <p:spPr>
          <a:xfrm>
            <a:off x="609600" y="461962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ME">
                <a:solidFill>
                  <a:srgbClr val="148977"/>
                </a:solidFill>
                <a:latin typeface="Arial"/>
                <a:ea typeface="Arial"/>
                <a:cs typeface="Arial"/>
              </a:rPr>
              <a:t>4.</a:t>
            </a:r>
          </a:p>
        </p:txBody>
      </p:sp>
      <p:sp>
        <p:nvSpPr>
          <p:cNvPr id="14" name="">
            <a:extLst>
              <a:ext uri="{FF2B5EF4-FFF2-40B4-BE49-F238E27FC236}">
                <ns2:creationId id="{771B1C17-3F7C-4F88-85D9-5C27843AEC35}"/>
              </a:ext>
            </a:extLst>
          </p:cNvPr>
          <p:cNvSpPr>
            <a:spLocks noGrp="1"/>
          </p:cNvSpPr>
          <p:nvPr/>
        </p:nvSpPr>
        <p:spPr>
          <a:xfrm>
            <a:off x="1257300" y="461962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ME">
                <a:solidFill>
                  <a:srgbClr val="153F36"/>
                </a:solidFill>
                <a:latin typeface="Arial"/>
                <a:ea typeface="Arial"/>
                <a:cs typeface="Arial"/>
              </a:rPr>
              <a:t>Gdje dobijam pomoć?</a:t>
            </a:r>
          </a:p>
        </p:txBody>
      </p:sp>
      <p:sp>
        <p:nvSpPr>
          <p:cNvPr id="15" name="">
            <a:extLst>
              <a:ext uri="{FF2B5EF4-FFF2-40B4-BE49-F238E27FC236}">
                <ns2:creationId id="{E15C9F73-FB10-4547-9706-D38095AA7206}"/>
              </a:ext>
            </a:extLst>
          </p:cNvPr>
          <p:cNvSpPr>
            <a:spLocks noGrp="1"/>
          </p:cNvSpPr>
          <p:nvPr/>
        </p:nvSpPr>
        <p:spPr>
          <a:xfrm>
            <a:off x="1257300" y="50292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Sponzor, tim, edukacija i FCC podrška.</a:t>
            </a:r>
          </a:p>
        </p:txBody>
      </p:sp>
    </p:spTree>
    <p:extLst>
      <p:ext uri="{BB962C8B-B14F-4D97-AF65-F5344CB8AC3E}">
        <ns4:creationId val="65287420"/>
      </p:ext>
    </p:extLst>
  </p:cSld>
</p:sld>
</file>

<file path=ppt/slides/slide3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8F7198C6-2DE8-43DF-B1EF-D88A1974C6C5}"/>
              </a:ext>
            </a:extLst>
          </p:cNvPr>
          <p:cNvPicPr>
            <a:picLocks noChangeAspect="1"/>
          </p:cNvPicPr>
          <p:nvPr/>
        </p:nvPicPr>
        <p:blipFill>
          <a:blip r:embed="R83eb3923d8184bad"/>
          <a:stretch/>
        </p:blipFill>
        <p:spPr>
          <a:xfrm>
            <a:off x="9867900" y="276061"/>
            <a:ext cx="1695450" cy="438478"/>
          </a:xfrm>
          <a:prstGeom prst="rect">
            <a:avLst/>
          </a:prstGeom>
        </p:spPr>
      </p:pic>
      <p:sp>
        <p:nvSpPr>
          <p:cNvPr id="2" name="">
            <a:extLst>
              <a:ext uri="{FF2B5EF4-FFF2-40B4-BE49-F238E27FC236}">
                <ns2:creationId id="{1A09478C-BF47-4F20-BD76-F045C9D915C8}"/>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ME">
                <a:solidFill>
                  <a:srgbClr val="526B63"/>
                </a:solidFill>
                <a:latin typeface="Arial"/>
                <a:ea typeface="Arial"/>
                <a:cs typeface="Arial"/>
              </a:rPr>
              <a:t>31</a:t>
            </a:r>
          </a:p>
        </p:txBody>
      </p:sp>
      <p:sp>
        <p:nvSpPr>
          <p:cNvPr id="3" name="Naslov">
            <a:extLst>
              <a:ext uri="{FF2B5EF4-FFF2-40B4-BE49-F238E27FC236}">
                <ns2:creationId id="{7D02396B-C2D6-47CB-AB7E-1597B626F1FE}"/>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ME">
                <a:solidFill>
                  <a:srgbClr val="153F36"/>
                </a:solidFill>
                <a:latin typeface="Arial"/>
                <a:ea typeface="Arial"/>
                <a:cs typeface="Arial"/>
              </a:rPr>
              <a:t>Sljedeći korak nakon webinara</a:t>
            </a:r>
          </a:p>
        </p:txBody>
      </p:sp>
      <p:sp>
        <p:nvSpPr>
          <p:cNvPr id="4" name="">
            <a:extLst>
              <a:ext uri="{FF2B5EF4-FFF2-40B4-BE49-F238E27FC236}">
                <ns2:creationId id="{10FB5614-1D74-41FB-BD52-AAD704F16FB3}"/>
              </a:ext>
            </a:extLst>
          </p:cNvPr>
          <p:cNvSpPr>
            <a:spLocks noGrp="1"/>
          </p:cNvSpPr>
          <p:nvPr/>
        </p:nvSpPr>
        <p:spPr>
          <a:xfrm>
            <a:off x="609600" y="2171700"/>
            <a:ext cx="10401300" cy="1514475"/>
          </a:xfrm>
          <a:prstGeom prst="rect">
            <a:avLst/>
          </a:prstGeom>
          <a:noFill/>
          <a:ln w="0">
            <a:noFill/>
          </a:ln>
        </p:spPr>
        <p:txBody>
          <a:bodyPr wrap="square" lIns="0" tIns="0" rIns="0" bIns="0" anchor="t">
            <a:noAutofit/>
          </a:bodyPr>
          <a:lstStyle>
            <a:defPPr>
              <a:defRPr sz="4425" b="1">
                <a:solidFill>
                  <a:srgbClr val="153F36"/>
                </a:solidFill>
                <a:latin typeface="Arial"/>
                <a:ea typeface="Arial"/>
                <a:cs typeface="Arial"/>
              </a:defRPr>
            </a:defPPr>
          </a:lstStyle>
          <a:p>
            <a:pPr>
              <a:defRPr sz="4425" b="1">
                <a:solidFill>
                  <a:srgbClr val="153F36"/>
                </a:solidFill>
                <a:latin typeface="Arial"/>
                <a:ea typeface="Arial"/>
                <a:cs typeface="Arial"/>
              </a:defRPr>
            </a:pPr>
            <a:r>
              <a:rPr sz="4425" b="1" lang="sr-Latn-ME">
                <a:solidFill>
                  <a:srgbClr val="153F36"/>
                </a:solidFill>
                <a:latin typeface="Arial"/>
                <a:ea typeface="Arial"/>
                <a:cs typeface="Arial"/>
              </a:rPr>
              <a:t>Razgovor sa osobom</a:t>
            </a:r>
          </a:p>
          <a:p>
            <a:pPr>
              <a:defRPr sz="4425" b="1">
                <a:solidFill>
                  <a:srgbClr val="153F36"/>
                </a:solidFill>
                <a:latin typeface="Arial"/>
                <a:ea typeface="Arial"/>
                <a:cs typeface="Arial"/>
              </a:defRPr>
            </a:pPr>
            <a:r>
              <a:rPr sz="4425" b="1" lang="sr-Latn-ME">
                <a:solidFill>
                  <a:srgbClr val="153F36"/>
                </a:solidFill>
                <a:latin typeface="Arial"/>
                <a:ea typeface="Arial"/>
                <a:cs typeface="Arial"/>
              </a:rPr>
              <a:t>koja vas je pozvala</a:t>
            </a:r>
          </a:p>
        </p:txBody>
      </p:sp>
      <p:sp>
        <p:nvSpPr>
          <p:cNvPr id="5" name="">
            <a:extLst>
              <a:ext uri="{FF2B5EF4-FFF2-40B4-BE49-F238E27FC236}">
                <ns2:creationId id="{138D5422-BFFA-4FC8-B03E-A2E56FC32628}"/>
              </a:ext>
            </a:extLst>
          </p:cNvPr>
          <p:cNvSpPr>
            <a:spLocks noGrp="1"/>
          </p:cNvSpPr>
          <p:nvPr/>
        </p:nvSpPr>
        <p:spPr>
          <a:xfrm>
            <a:off x="609600" y="4181475"/>
            <a:ext cx="9763125" cy="1181100"/>
          </a:xfrm>
          <a:prstGeom prst="rect">
            <a:avLst/>
          </a:prstGeom>
          <a:noFill/>
          <a:ln w="0">
            <a:noFill/>
          </a:ln>
        </p:spPr>
        <p:txBody>
          <a:bodyPr wrap="square" lIns="0" tIns="0" rIns="0" bIns="0" anchor="t">
            <a:noAutofit/>
          </a:bodyPr>
          <a:lstStyle>
            <a:defPPr>
              <a:defRPr sz="2475" b="0">
                <a:solidFill>
                  <a:srgbClr val="526B63"/>
                </a:solidFill>
                <a:latin typeface="Arial"/>
                <a:ea typeface="Arial"/>
                <a:cs typeface="Arial"/>
              </a:defRPr>
            </a:defPPr>
          </a:lstStyle>
          <a:p>
            <a:pPr>
              <a:defRPr sz="2475" b="0">
                <a:solidFill>
                  <a:srgbClr val="526B63"/>
                </a:solidFill>
                <a:latin typeface="Arial"/>
                <a:ea typeface="Arial"/>
                <a:cs typeface="Arial"/>
              </a:defRPr>
            </a:pPr>
            <a:r>
              <a:rPr sz="2475" b="0" lang="sr-Latn-ME">
                <a:solidFill>
                  <a:srgbClr val="526B63"/>
                </a:solidFill>
                <a:latin typeface="Arial"/>
                <a:ea typeface="Arial"/>
                <a:cs typeface="Arial"/>
              </a:rPr>
              <a:t>Recite šta vas zanima, šta želite dodatno razjasniti i koliko vremena želite odvojiti.</a:t>
            </a:r>
          </a:p>
        </p:txBody>
      </p:sp>
      <p:sp>
        <p:nvSpPr>
          <p:cNvPr id="6" name="">
            <a:extLst>
              <a:ext uri="{FF2B5EF4-FFF2-40B4-BE49-F238E27FC236}">
                <ns2:creationId id="{7F5EB97C-EEF2-4CDA-AB3D-386B3AC6E2D9}"/>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ME">
                <a:solidFill>
                  <a:srgbClr val="526B63"/>
                </a:solidFill>
                <a:latin typeface="Arial"/>
                <a:ea typeface="Arial"/>
                <a:cs typeface="Arial"/>
              </a:rPr>
              <a:t>Dogovorite jednu konkretnu radnju i termin nastavka razgovora.</a:t>
            </a:r>
          </a:p>
        </p:txBody>
      </p:sp>
    </p:spTree>
    <p:extLst>
      <p:ext uri="{BB962C8B-B14F-4D97-AF65-F5344CB8AC3E}">
        <ns4:creationId val="1646637869"/>
      </p:ext>
    </p:extLst>
  </p:cSld>
</p:sld>
</file>

<file path=ppt/slides/slide3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153F36"/>
        </a:solidFill>
      </p:bgPr>
    </p:bg>
    <p:spTree>
      <p:nvGrpSpPr>
        <p:cNvPr id="1" name=""/>
        <p:cNvGrpSpPr/>
        <p:nvPr/>
      </p:nvGrpSpPr>
      <p:grpSpPr>
        <a:xfrm/>
      </p:grpSpPr>
      <p:sp>
        <p:nvSpPr>
          <p:cNvPr id="4" name="">
            <a:extLst>
              <a:ext uri="{FF2B5EF4-FFF2-40B4-BE49-F238E27FC236}">
                <ns2:creationId id="{DE1B7833-FA5B-4202-9F43-6A55485BA4CF}"/>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D4E8DD"/>
                </a:solidFill>
                <a:latin typeface="Arial"/>
                <a:ea typeface="Arial"/>
                <a:cs typeface="Arial"/>
              </a:defRPr>
            </a:defPPr>
          </a:lstStyle>
          <a:p>
            <a:pPr>
              <a:defRPr sz="1350" b="0">
                <a:solidFill>
                  <a:srgbClr val="D4E8DD"/>
                </a:solidFill>
                <a:latin typeface="Arial"/>
                <a:ea typeface="Arial"/>
                <a:cs typeface="Arial"/>
              </a:defRPr>
            </a:pPr>
            <a:r>
              <a:rPr sz="1350" b="0" lang="sr-Latn-ME">
                <a:solidFill>
                  <a:srgbClr val="D4E8DD"/>
                </a:solidFill>
                <a:latin typeface="Arial"/>
                <a:ea typeface="Arial"/>
                <a:cs typeface="Arial"/>
              </a:rPr>
              <a:t>32</a:t>
            </a:r>
          </a:p>
        </p:txBody>
      </p:sp>
      <p:sp>
        <p:nvSpPr>
          <p:cNvPr id="2" name="">
            <a:extLst>
              <a:ext uri="{FF2B5EF4-FFF2-40B4-BE49-F238E27FC236}">
                <ns2:creationId id="{48673BED-A37E-4BEC-B045-8AE20E7E660B}"/>
              </a:ext>
            </a:extLst>
          </p:cNvPr>
          <p:cNvSpPr>
            <a:spLocks noGrp="1"/>
          </p:cNvSpPr>
          <p:nvPr/>
        </p:nvSpPr>
        <p:spPr>
          <a:xfrm>
            <a:off x="609600" y="1609725"/>
            <a:ext cx="10734675" cy="2047875"/>
          </a:xfrm>
          <a:prstGeom prst="rect">
            <a:avLst/>
          </a:prstGeom>
          <a:noFill/>
          <a:ln w="0">
            <a:noFill/>
          </a:ln>
        </p:spPr>
        <p:txBody>
          <a:bodyPr wrap="square" lIns="0" tIns="0" rIns="0" bIns="0" anchor="t">
            <a:noAutofit/>
          </a:bodyPr>
          <a:lstStyle>
            <a:defPPr>
              <a:defRPr sz="5100" b="1">
                <a:solidFill>
                  <a:srgbClr val="FFFFFF"/>
                </a:solidFill>
                <a:latin typeface="Arial"/>
                <a:ea typeface="Arial"/>
                <a:cs typeface="Arial"/>
              </a:defRPr>
            </a:defPPr>
          </a:lstStyle>
          <a:p>
            <a:pPr>
              <a:defRPr sz="5100" b="1">
                <a:solidFill>
                  <a:srgbClr val="FFFFFF"/>
                </a:solidFill>
                <a:latin typeface="Arial"/>
                <a:ea typeface="Arial"/>
                <a:cs typeface="Arial"/>
              </a:defRPr>
            </a:pPr>
            <a:r>
              <a:rPr sz="5100" b="1" lang="sr-Latn-ME">
                <a:solidFill>
                  <a:srgbClr val="FFFFFF"/>
                </a:solidFill>
                <a:latin typeface="Arial"/>
                <a:ea typeface="Arial"/>
                <a:cs typeface="Arial"/>
              </a:rPr>
              <a:t>Vaš početak</a:t>
            </a:r>
          </a:p>
          <a:p>
            <a:pPr>
              <a:defRPr sz="5100" b="1">
                <a:solidFill>
                  <a:srgbClr val="FFFFFF"/>
                </a:solidFill>
                <a:latin typeface="Arial"/>
                <a:ea typeface="Arial"/>
                <a:cs typeface="Arial"/>
              </a:defRPr>
            </a:pPr>
            <a:r>
              <a:rPr sz="5100" b="1" lang="sr-Latn-ME">
                <a:solidFill>
                  <a:srgbClr val="FFFFFF"/>
                </a:solidFill>
                <a:latin typeface="Arial"/>
                <a:ea typeface="Arial"/>
                <a:cs typeface="Arial"/>
              </a:rPr>
              <a:t>može biti jednostavan</a:t>
            </a:r>
          </a:p>
        </p:txBody>
      </p:sp>
      <p:sp>
        <p:nvSpPr>
          <p:cNvPr id="3" name="">
            <a:extLst>
              <a:ext uri="{FF2B5EF4-FFF2-40B4-BE49-F238E27FC236}">
                <ns2:creationId id="{441CDA0A-7E8B-43A7-86BF-23F4BF9B0BE0}"/>
              </a:ext>
            </a:extLst>
          </p:cNvPr>
          <p:cNvSpPr>
            <a:spLocks noGrp="1"/>
          </p:cNvSpPr>
          <p:nvPr/>
        </p:nvSpPr>
        <p:spPr>
          <a:xfrm>
            <a:off x="609600" y="4210050"/>
            <a:ext cx="9820275" cy="1638300"/>
          </a:xfrm>
          <a:prstGeom prst="rect">
            <a:avLst/>
          </a:prstGeom>
          <a:noFill/>
          <a:ln w="0">
            <a:noFill/>
          </a:ln>
        </p:spPr>
        <p:txBody>
          <a:bodyPr wrap="square" lIns="0" tIns="0" rIns="0" bIns="0" anchor="t">
            <a:noAutofit/>
          </a:bodyPr>
          <a:lstStyle>
            <a:defPPr>
              <a:defRPr sz="2925" b="0">
                <a:solidFill>
                  <a:srgbClr val="D4E8DD"/>
                </a:solidFill>
                <a:latin typeface="Arial"/>
                <a:ea typeface="Arial"/>
                <a:cs typeface="Arial"/>
              </a:defRPr>
            </a:defPPr>
          </a:lstStyle>
          <a:p>
            <a:pPr>
              <a:defRPr sz="2925" b="0">
                <a:solidFill>
                  <a:srgbClr val="D4E8DD"/>
                </a:solidFill>
                <a:latin typeface="Arial"/>
                <a:ea typeface="Arial"/>
                <a:cs typeface="Arial"/>
              </a:defRPr>
            </a:pPr>
            <a:r>
              <a:rPr sz="2925" b="0" lang="sr-Latn-ME">
                <a:solidFill>
                  <a:srgbClr val="D4E8DD"/>
                </a:solidFill>
                <a:latin typeface="Arial"/>
                <a:ea typeface="Arial"/>
                <a:cs typeface="Arial"/>
              </a:rPr>
              <a:t>Jedan razgovor.</a:t>
            </a:r>
          </a:p>
          <a:p>
            <a:pPr>
              <a:defRPr sz="2925" b="0">
                <a:solidFill>
                  <a:srgbClr val="D4E8DD"/>
                </a:solidFill>
                <a:latin typeface="Arial"/>
                <a:ea typeface="Arial"/>
                <a:cs typeface="Arial"/>
              </a:defRPr>
            </a:pPr>
            <a:r>
              <a:rPr sz="2925" b="0" lang="sr-Latn-ME">
                <a:solidFill>
                  <a:srgbClr val="D4E8DD"/>
                </a:solidFill>
                <a:latin typeface="Arial"/>
                <a:ea typeface="Arial"/>
                <a:cs typeface="Arial"/>
              </a:rPr>
              <a:t>Jedna jasna odluka.</a:t>
            </a:r>
          </a:p>
          <a:p>
            <a:pPr>
              <a:defRPr sz="2925" b="0">
                <a:solidFill>
                  <a:srgbClr val="D4E8DD"/>
                </a:solidFill>
                <a:latin typeface="Arial"/>
                <a:ea typeface="Arial"/>
                <a:cs typeface="Arial"/>
              </a:defRPr>
            </a:pPr>
            <a:r>
              <a:rPr sz="2925" b="0" lang="sr-Latn-ME">
                <a:solidFill>
                  <a:srgbClr val="D4E8DD"/>
                </a:solidFill>
                <a:latin typeface="Arial"/>
                <a:ea typeface="Arial"/>
                <a:cs typeface="Arial"/>
              </a:rPr>
              <a:t>Dogovoren sljedeći korak.</a:t>
            </a:r>
          </a:p>
        </p:txBody>
      </p:sp>
    </p:spTree>
    <p:extLst>
      <p:ext uri="{BB962C8B-B14F-4D97-AF65-F5344CB8AC3E}">
        <ns3:creationId val="2036074544"/>
      </p:ext>
    </p:extLst>
  </p:cSld>
</p:sld>
</file>

<file path=ppt/slides/slide3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6" name="">
            <a:extLst>
              <a:ext uri="{FF2B5EF4-FFF2-40B4-BE49-F238E27FC236}">
                <ns2:creationId id="{919AC765-DEBD-459C-8A3F-7848B2BF249B}"/>
              </a:ext>
            </a:extLst>
          </p:cNvPr>
          <p:cNvPicPr>
            <a:picLocks noChangeAspect="1"/>
          </p:cNvPicPr>
          <p:nvPr/>
        </p:nvPicPr>
        <p:blipFill>
          <a:blip r:embed="R36ae438961544b63"/>
          <a:stretch/>
        </p:blipFill>
        <p:spPr>
          <a:xfrm>
            <a:off x="9867900" y="276061"/>
            <a:ext cx="1695450" cy="438478"/>
          </a:xfrm>
          <a:prstGeom prst="rect">
            <a:avLst/>
          </a:prstGeom>
        </p:spPr>
      </p:pic>
      <p:sp>
        <p:nvSpPr>
          <p:cNvPr id="2" name="">
            <a:extLst>
              <a:ext uri="{FF2B5EF4-FFF2-40B4-BE49-F238E27FC236}">
                <ns2:creationId id="{C776E80E-1314-42F9-9BAB-2C2CE53DC492}"/>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ME">
                <a:solidFill>
                  <a:srgbClr val="526B63"/>
                </a:solidFill>
                <a:latin typeface="Arial"/>
                <a:ea typeface="Arial"/>
                <a:cs typeface="Arial"/>
              </a:rPr>
              <a:t>33</a:t>
            </a:r>
          </a:p>
        </p:txBody>
      </p:sp>
      <p:sp>
        <p:nvSpPr>
          <p:cNvPr id="3" name="Naslov">
            <a:extLst>
              <a:ext uri="{FF2B5EF4-FFF2-40B4-BE49-F238E27FC236}">
                <ns2:creationId id="{FDBD1ABF-94B5-497A-B205-2296ED44BDD1}"/>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ME">
                <a:solidFill>
                  <a:srgbClr val="153F36"/>
                </a:solidFill>
                <a:latin typeface="Arial"/>
                <a:ea typeface="Arial"/>
                <a:cs typeface="Arial"/>
              </a:rPr>
              <a:t>Dodatak: lični bonusi</a:t>
            </a:r>
          </a:p>
        </p:txBody>
      </p:sp>
      <p:graphicFrame>
        <p:nvGraphicFramePr>
          <p:cNvPr id="4" name="">
            <a:extLst>
              <a:ext uri="{FF2B5EF4-FFF2-40B4-BE49-F238E27FC236}">
                <ns2:creationId id="{1052CBF9-BCC3-48FB-82FB-2DD99DE0DD52}"/>
              </a:ext>
            </a:extLst>
          </p:cNvPr>
          <p:cNvGraphicFramePr/>
          <p:nvPr/>
        </p:nvGraphicFramePr>
        <p:xfrm>
          <a:off x="609600" y="2114550"/>
          <a:ext cx="10953750" cy="3133725"/>
        </p:xfrm>
        <a:graphic>
          <a:graphicData uri="http://schemas.openxmlformats.org/drawingml/2006/table">
            <a:tbl>
              <a:tblPr/>
              <a:tblGrid>
                <a:gridCol w="5905500"/>
                <a:gridCol w="5048250"/>
              </a:tblGrid>
              <a:tr h="626745">
                <a:tc>
                  <a:txBody>
                    <a:bodyPr lIns="152400" tIns="133350" rIns="152400" bIns="114300">
                      <a:noAutofit/>
                    </a:bodyPr>
                    <a:lstStyle/>
                    <a:p>
                      <a:r>
                        <a:rPr sz="2100" b="1" lang="sr-Latn-ME">
                          <a:solidFill>
                            <a:srgbClr val="FFFFFF"/>
                          </a:solidFill>
                          <a:latin typeface="Arial"/>
                          <a:ea typeface="Arial"/>
                          <a:cs typeface="Arial"/>
                        </a:rPr>
                        <a:t>Nivo</a:t>
                      </a:r>
                    </a:p>
                  </a:txBody>
                  <a:tcPr marL="91440" marR="91440" marT="45720" marB="45720">
                    <a:solidFill>
                      <a:srgbClr val="153F36"/>
                    </a:solidFill>
                  </a:tcPr>
                </a:tc>
                <a:tc>
                  <a:txBody>
                    <a:bodyPr lIns="152400" tIns="133350" rIns="152400" bIns="114300">
                      <a:noAutofit/>
                    </a:bodyPr>
                    <a:lstStyle/>
                    <a:p>
                      <a:r>
                        <a:rPr sz="2100" b="1" lang="sr-Latn-ME">
                          <a:solidFill>
                            <a:srgbClr val="FFFFFF"/>
                          </a:solidFill>
                          <a:latin typeface="Arial"/>
                          <a:ea typeface="Arial"/>
                          <a:cs typeface="Arial"/>
                        </a:rPr>
                        <a:t>Lični bonus prema uslovima</a:t>
                      </a:r>
                    </a:p>
                  </a:txBody>
                  <a:tcPr marL="91440" marR="91440" marT="45720" marB="45720">
                    <a:solidFill>
                      <a:srgbClr val="153F36"/>
                    </a:solidFill>
                  </a:tcPr>
                </a:tc>
              </a:tr>
              <a:tr h="626745">
                <a:tc>
                  <a:txBody>
                    <a:bodyPr lIns="152400" tIns="133350" rIns="152400" bIns="114300">
                      <a:noAutofit/>
                    </a:bodyPr>
                    <a:lstStyle/>
                    <a:p>
                      <a:r>
                        <a:rPr sz="2100" b="0" lang="sr-Latn-ME">
                          <a:solidFill>
                            <a:srgbClr val="153F36"/>
                          </a:solidFill>
                          <a:latin typeface="Arial"/>
                          <a:ea typeface="Arial"/>
                          <a:cs typeface="Arial"/>
                        </a:rPr>
                        <a:t>Assistant Supervisor</a:t>
                      </a:r>
                    </a:p>
                  </a:txBody>
                  <a:tcPr marL="91440" marR="91440" marT="45720" marB="45720">
                    <a:solidFill>
                      <a:srgbClr val="FFFFFF"/>
                    </a:solidFill>
                  </a:tcPr>
                </a:tc>
                <a:tc>
                  <a:txBody>
                    <a:bodyPr lIns="152400" tIns="133350" rIns="152400" bIns="114300">
                      <a:noAutofit/>
                    </a:bodyPr>
                    <a:lstStyle/>
                    <a:p>
                      <a:r>
                        <a:rPr sz="2100" b="0" lang="sr-Latn-ME">
                          <a:solidFill>
                            <a:srgbClr val="153F36"/>
                          </a:solidFill>
                          <a:latin typeface="Arial"/>
                          <a:ea typeface="Arial"/>
                          <a:cs typeface="Arial"/>
                        </a:rPr>
                        <a:t>5%</a:t>
                      </a:r>
                    </a:p>
                  </a:txBody>
                  <a:tcPr marL="91440" marR="91440" marT="45720" marB="45720">
                    <a:solidFill>
                      <a:srgbClr val="FFFFFF"/>
                    </a:solidFill>
                  </a:tcPr>
                </a:tc>
              </a:tr>
              <a:tr h="626745">
                <a:tc>
                  <a:txBody>
                    <a:bodyPr lIns="152400" tIns="133350" rIns="152400" bIns="114300">
                      <a:noAutofit/>
                    </a:bodyPr>
                    <a:lstStyle/>
                    <a:p>
                      <a:r>
                        <a:rPr sz="2100" b="0" lang="sr-Latn-ME">
                          <a:solidFill>
                            <a:srgbClr val="153F36"/>
                          </a:solidFill>
                          <a:latin typeface="Arial"/>
                          <a:ea typeface="Arial"/>
                          <a:cs typeface="Arial"/>
                        </a:rPr>
                        <a:t>Supervisor</a:t>
                      </a:r>
                    </a:p>
                  </a:txBody>
                  <a:tcPr marL="91440" marR="91440" marT="45720" marB="45720">
                    <a:solidFill>
                      <a:srgbClr val="F3F7F2"/>
                    </a:solidFill>
                  </a:tcPr>
                </a:tc>
                <a:tc>
                  <a:txBody>
                    <a:bodyPr lIns="152400" tIns="133350" rIns="152400" bIns="114300">
                      <a:noAutofit/>
                    </a:bodyPr>
                    <a:lstStyle/>
                    <a:p>
                      <a:r>
                        <a:rPr sz="2100" b="0" lang="sr-Latn-ME">
                          <a:solidFill>
                            <a:srgbClr val="153F36"/>
                          </a:solidFill>
                          <a:latin typeface="Arial"/>
                          <a:ea typeface="Arial"/>
                          <a:cs typeface="Arial"/>
                        </a:rPr>
                        <a:t>8%</a:t>
                      </a:r>
                    </a:p>
                  </a:txBody>
                  <a:tcPr marL="91440" marR="91440" marT="45720" marB="45720">
                    <a:solidFill>
                      <a:srgbClr val="F3F7F2"/>
                    </a:solidFill>
                  </a:tcPr>
                </a:tc>
              </a:tr>
              <a:tr h="626745">
                <a:tc>
                  <a:txBody>
                    <a:bodyPr lIns="152400" tIns="133350" rIns="152400" bIns="114300">
                      <a:noAutofit/>
                    </a:bodyPr>
                    <a:lstStyle/>
                    <a:p>
                      <a:r>
                        <a:rPr sz="2100" b="0" lang="sr-Latn-ME">
                          <a:solidFill>
                            <a:srgbClr val="153F36"/>
                          </a:solidFill>
                          <a:latin typeface="Arial"/>
                          <a:ea typeface="Arial"/>
                          <a:cs typeface="Arial"/>
                        </a:rPr>
                        <a:t>Assistant Manager</a:t>
                      </a:r>
                    </a:p>
                  </a:txBody>
                  <a:tcPr marL="91440" marR="91440" marT="45720" marB="45720">
                    <a:solidFill>
                      <a:srgbClr val="FFFFFF"/>
                    </a:solidFill>
                  </a:tcPr>
                </a:tc>
                <a:tc>
                  <a:txBody>
                    <a:bodyPr lIns="152400" tIns="133350" rIns="152400" bIns="114300">
                      <a:noAutofit/>
                    </a:bodyPr>
                    <a:lstStyle/>
                    <a:p>
                      <a:r>
                        <a:rPr sz="2100" b="0" lang="sr-Latn-ME">
                          <a:solidFill>
                            <a:srgbClr val="153F36"/>
                          </a:solidFill>
                          <a:latin typeface="Arial"/>
                          <a:ea typeface="Arial"/>
                          <a:cs typeface="Arial"/>
                        </a:rPr>
                        <a:t>13%</a:t>
                      </a:r>
                    </a:p>
                  </a:txBody>
                  <a:tcPr marL="91440" marR="91440" marT="45720" marB="45720">
                    <a:solidFill>
                      <a:srgbClr val="FFFFFF"/>
                    </a:solidFill>
                  </a:tcPr>
                </a:tc>
              </a:tr>
              <a:tr h="626745">
                <a:tc>
                  <a:txBody>
                    <a:bodyPr lIns="152400" tIns="133350" rIns="152400" bIns="114300">
                      <a:noAutofit/>
                    </a:bodyPr>
                    <a:lstStyle/>
                    <a:p>
                      <a:r>
                        <a:rPr sz="2100" b="0" lang="sr-Latn-ME">
                          <a:solidFill>
                            <a:srgbClr val="153F36"/>
                          </a:solidFill>
                          <a:latin typeface="Arial"/>
                          <a:ea typeface="Arial"/>
                          <a:cs typeface="Arial"/>
                        </a:rPr>
                        <a:t>Manager</a:t>
                      </a:r>
                    </a:p>
                  </a:txBody>
                  <a:tcPr marL="91440" marR="91440" marT="45720" marB="45720">
                    <a:solidFill>
                      <a:srgbClr val="F3F7F2"/>
                    </a:solidFill>
                  </a:tcPr>
                </a:tc>
                <a:tc>
                  <a:txBody>
                    <a:bodyPr lIns="152400" tIns="133350" rIns="152400" bIns="114300">
                      <a:noAutofit/>
                    </a:bodyPr>
                    <a:lstStyle/>
                    <a:p>
                      <a:r>
                        <a:rPr sz="2100" b="0" lang="sr-Latn-ME">
                          <a:solidFill>
                            <a:srgbClr val="153F36"/>
                          </a:solidFill>
                          <a:latin typeface="Arial"/>
                          <a:ea typeface="Arial"/>
                          <a:cs typeface="Arial"/>
                        </a:rPr>
                        <a:t>18%</a:t>
                      </a:r>
                    </a:p>
                  </a:txBody>
                  <a:tcPr marL="91440" marR="91440" marT="45720" marB="45720">
                    <a:solidFill>
                      <a:srgbClr val="F3F7F2"/>
                    </a:solidFill>
                  </a:tcPr>
                </a:tc>
              </a:tr>
            </a:tbl>
          </a:graphicData>
        </a:graphic>
      </p:graphicFrame>
      <p:sp>
        <p:nvSpPr>
          <p:cNvPr id="5" name="">
            <a:extLst>
              <a:ext uri="{FF2B5EF4-FFF2-40B4-BE49-F238E27FC236}">
                <ns2:creationId id="{1E561589-9528-4BA8-A2CF-2393305A4FED}"/>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ME">
                <a:solidFill>
                  <a:srgbClr val="526B63"/>
                </a:solidFill>
                <a:latin typeface="Arial"/>
                <a:ea typeface="Arial"/>
                <a:cs typeface="Arial"/>
              </a:rPr>
              <a:t>Volume bonus: 3% do 13%. Leadership: 6%, 3%, 2%, uz dodatne uslove.</a:t>
            </a:r>
          </a:p>
        </p:txBody>
      </p:sp>
    </p:spTree>
    <p:extLst>
      <p:ext uri="{BB962C8B-B14F-4D97-AF65-F5344CB8AC3E}">
        <ns4:creationId val="515602699"/>
      </p:ext>
    </p:extLst>
  </p:cSld>
</p:sld>
</file>

<file path=ppt/slides/slide3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6" name="">
            <a:extLst>
              <a:ext uri="{FF2B5EF4-FFF2-40B4-BE49-F238E27FC236}">
                <ns2:creationId id="{281D3A7B-CCA2-4A99-B091-81AFBE2930EC}"/>
              </a:ext>
            </a:extLst>
          </p:cNvPr>
          <p:cNvPicPr>
            <a:picLocks noChangeAspect="1"/>
          </p:cNvPicPr>
          <p:nvPr/>
        </p:nvPicPr>
        <p:blipFill>
          <a:blip r:embed="R9c5ed023181f4870"/>
          <a:stretch/>
        </p:blipFill>
        <p:spPr>
          <a:xfrm>
            <a:off x="9867900" y="276061"/>
            <a:ext cx="1695450" cy="438478"/>
          </a:xfrm>
          <a:prstGeom prst="rect">
            <a:avLst/>
          </a:prstGeom>
        </p:spPr>
      </p:pic>
      <p:sp>
        <p:nvSpPr>
          <p:cNvPr id="2" name="">
            <a:extLst>
              <a:ext uri="{FF2B5EF4-FFF2-40B4-BE49-F238E27FC236}">
                <ns2:creationId id="{FDD79E68-255C-4685-B243-6F1616C2F4F8}"/>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ME">
                <a:solidFill>
                  <a:srgbClr val="526B63"/>
                </a:solidFill>
                <a:latin typeface="Arial"/>
                <a:ea typeface="Arial"/>
                <a:cs typeface="Arial"/>
              </a:rPr>
              <a:t>34</a:t>
            </a:r>
          </a:p>
        </p:txBody>
      </p:sp>
      <p:sp>
        <p:nvSpPr>
          <p:cNvPr id="3" name="Naslov">
            <a:extLst>
              <a:ext uri="{FF2B5EF4-FFF2-40B4-BE49-F238E27FC236}">
                <ns2:creationId id="{780CCEFC-9D8C-49DA-9FD7-987C98FE8701}"/>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ME">
                <a:solidFill>
                  <a:srgbClr val="153F36"/>
                </a:solidFill>
                <a:latin typeface="Arial"/>
                <a:ea typeface="Arial"/>
                <a:cs typeface="Arial"/>
              </a:rPr>
              <a:t>Dodatak: Forever2Drive</a:t>
            </a:r>
          </a:p>
        </p:txBody>
      </p:sp>
      <p:graphicFrame>
        <p:nvGraphicFramePr>
          <p:cNvPr id="4" name="">
            <a:extLst>
              <a:ext uri="{FF2B5EF4-FFF2-40B4-BE49-F238E27FC236}">
                <ns2:creationId id="{7E2485A5-066A-4AE2-AF1F-F24B4FA08B35}"/>
              </a:ext>
            </a:extLst>
          </p:cNvPr>
          <p:cNvGraphicFramePr/>
          <p:nvPr/>
        </p:nvGraphicFramePr>
        <p:xfrm>
          <a:off x="609600" y="2114550"/>
          <a:ext cx="10953750" cy="2647950"/>
        </p:xfrm>
        <a:graphic>
          <a:graphicData uri="http://schemas.openxmlformats.org/drawingml/2006/table">
            <a:tbl>
              <a:tblPr/>
              <a:tblGrid>
                <a:gridCol w="1238250"/>
                <a:gridCol w="2047875"/>
                <a:gridCol w="2047875"/>
                <a:gridCol w="2047875"/>
                <a:gridCol w="3571875"/>
              </a:tblGrid>
              <a:tr h="661988">
                <a:tc>
                  <a:txBody>
                    <a:bodyPr lIns="152400" tIns="133350" rIns="152400" bIns="114300">
                      <a:noAutofit/>
                    </a:bodyPr>
                    <a:lstStyle/>
                    <a:p>
                      <a:r>
                        <a:rPr sz="2025" b="1" lang="sr-Latn-ME">
                          <a:solidFill>
                            <a:srgbClr val="FFFFFF"/>
                          </a:solidFill>
                          <a:latin typeface="Arial"/>
                          <a:ea typeface="Arial"/>
                          <a:cs typeface="Arial"/>
                        </a:rPr>
                        <a:t>Nivo</a:t>
                      </a:r>
                    </a:p>
                  </a:txBody>
                  <a:tcPr marL="91440" marR="91440" marT="45720" marB="45720">
                    <a:solidFill>
                      <a:srgbClr val="153F36"/>
                    </a:solidFill>
                  </a:tcPr>
                </a:tc>
                <a:tc>
                  <a:txBody>
                    <a:bodyPr lIns="152400" tIns="133350" rIns="152400" bIns="114300">
                      <a:noAutofit/>
                    </a:bodyPr>
                    <a:lstStyle/>
                    <a:p>
                      <a:r>
                        <a:rPr sz="2025" b="1" lang="sr-Latn-ME">
                          <a:solidFill>
                            <a:srgbClr val="FFFFFF"/>
                          </a:solidFill>
                          <a:latin typeface="Arial"/>
                          <a:ea typeface="Arial"/>
                          <a:cs typeface="Arial"/>
                        </a:rPr>
                        <a:t>1. mjesec</a:t>
                      </a:r>
                    </a:p>
                  </a:txBody>
                  <a:tcPr marL="91440" marR="91440" marT="45720" marB="45720">
                    <a:solidFill>
                      <a:srgbClr val="153F36"/>
                    </a:solidFill>
                  </a:tcPr>
                </a:tc>
                <a:tc>
                  <a:txBody>
                    <a:bodyPr lIns="152400" tIns="133350" rIns="152400" bIns="114300">
                      <a:noAutofit/>
                    </a:bodyPr>
                    <a:lstStyle/>
                    <a:p>
                      <a:r>
                        <a:rPr sz="2025" b="1" lang="sr-Latn-ME">
                          <a:solidFill>
                            <a:srgbClr val="FFFFFF"/>
                          </a:solidFill>
                          <a:latin typeface="Arial"/>
                          <a:ea typeface="Arial"/>
                          <a:cs typeface="Arial"/>
                        </a:rPr>
                        <a:t>2. mjesec</a:t>
                      </a:r>
                    </a:p>
                  </a:txBody>
                  <a:tcPr marL="91440" marR="91440" marT="45720" marB="45720">
                    <a:solidFill>
                      <a:srgbClr val="153F36"/>
                    </a:solidFill>
                  </a:tcPr>
                </a:tc>
                <a:tc>
                  <a:txBody>
                    <a:bodyPr lIns="152400" tIns="133350" rIns="152400" bIns="114300">
                      <a:noAutofit/>
                    </a:bodyPr>
                    <a:lstStyle/>
                    <a:p>
                      <a:r>
                        <a:rPr sz="2025" b="1" lang="sr-Latn-ME">
                          <a:solidFill>
                            <a:srgbClr val="FFFFFF"/>
                          </a:solidFill>
                          <a:latin typeface="Arial"/>
                          <a:ea typeface="Arial"/>
                          <a:cs typeface="Arial"/>
                        </a:rPr>
                        <a:t>3. mjesec</a:t>
                      </a:r>
                    </a:p>
                  </a:txBody>
                  <a:tcPr marL="91440" marR="91440" marT="45720" marB="45720">
                    <a:solidFill>
                      <a:srgbClr val="153F36"/>
                    </a:solidFill>
                  </a:tcPr>
                </a:tc>
                <a:tc>
                  <a:txBody>
                    <a:bodyPr lIns="152400" tIns="133350" rIns="152400" bIns="114300">
                      <a:noAutofit/>
                    </a:bodyPr>
                    <a:lstStyle/>
                    <a:p>
                      <a:r>
                        <a:rPr sz="2025" b="1" lang="sr-Latn-ME">
                          <a:solidFill>
                            <a:srgbClr val="FFFFFF"/>
                          </a:solidFill>
                          <a:latin typeface="Arial"/>
                          <a:ea typeface="Arial"/>
                          <a:cs typeface="Arial"/>
                        </a:rPr>
                        <a:t>Najviše mjesečno</a:t>
                      </a:r>
                    </a:p>
                  </a:txBody>
                  <a:tcPr marL="91440" marR="91440" marT="45720" marB="45720">
                    <a:solidFill>
                      <a:srgbClr val="153F36"/>
                    </a:solidFill>
                  </a:tcPr>
                </a:tc>
              </a:tr>
              <a:tr h="661988">
                <a:tc>
                  <a:txBody>
                    <a:bodyPr lIns="152400" tIns="133350" rIns="152400" bIns="114300">
                      <a:noAutofit/>
                    </a:bodyPr>
                    <a:lstStyle/>
                    <a:p>
                      <a:r>
                        <a:rPr sz="2025" b="0" lang="sr-Latn-ME">
                          <a:solidFill>
                            <a:srgbClr val="153F36"/>
                          </a:solidFill>
                          <a:latin typeface="Arial"/>
                          <a:ea typeface="Arial"/>
                          <a:cs typeface="Arial"/>
                        </a:rPr>
                        <a:t>1</a:t>
                      </a:r>
                    </a:p>
                  </a:txBody>
                  <a:tcPr marL="91440" marR="91440" marT="45720" marB="45720">
                    <a:solidFill>
                      <a:srgbClr val="FFFFFF"/>
                    </a:solidFill>
                  </a:tcPr>
                </a:tc>
                <a:tc>
                  <a:txBody>
                    <a:bodyPr lIns="152400" tIns="133350" rIns="152400" bIns="114300">
                      <a:noAutofit/>
                    </a:bodyPr>
                    <a:lstStyle/>
                    <a:p>
                      <a:r>
                        <a:rPr sz="2025" b="0" lang="sr-Latn-ME">
                          <a:solidFill>
                            <a:srgbClr val="153F36"/>
                          </a:solidFill>
                          <a:latin typeface="Arial"/>
                          <a:ea typeface="Arial"/>
                          <a:cs typeface="Arial"/>
                        </a:rPr>
                        <a:t>50 CC</a:t>
                      </a:r>
                    </a:p>
                  </a:txBody>
                  <a:tcPr marL="91440" marR="91440" marT="45720" marB="45720">
                    <a:solidFill>
                      <a:srgbClr val="FFFFFF"/>
                    </a:solidFill>
                  </a:tcPr>
                </a:tc>
                <a:tc>
                  <a:txBody>
                    <a:bodyPr lIns="152400" tIns="133350" rIns="152400" bIns="114300">
                      <a:noAutofit/>
                    </a:bodyPr>
                    <a:lstStyle/>
                    <a:p>
                      <a:r>
                        <a:rPr sz="2025" b="0" lang="sr-Latn-ME">
                          <a:solidFill>
                            <a:srgbClr val="153F36"/>
                          </a:solidFill>
                          <a:latin typeface="Arial"/>
                          <a:ea typeface="Arial"/>
                          <a:cs typeface="Arial"/>
                        </a:rPr>
                        <a:t>100 CC</a:t>
                      </a:r>
                    </a:p>
                  </a:txBody>
                  <a:tcPr marL="91440" marR="91440" marT="45720" marB="45720">
                    <a:solidFill>
                      <a:srgbClr val="FFFFFF"/>
                    </a:solidFill>
                  </a:tcPr>
                </a:tc>
                <a:tc>
                  <a:txBody>
                    <a:bodyPr lIns="152400" tIns="133350" rIns="152400" bIns="114300">
                      <a:noAutofit/>
                    </a:bodyPr>
                    <a:lstStyle/>
                    <a:p>
                      <a:r>
                        <a:rPr sz="2025" b="0" lang="sr-Latn-ME">
                          <a:solidFill>
                            <a:srgbClr val="153F36"/>
                          </a:solidFill>
                          <a:latin typeface="Arial"/>
                          <a:ea typeface="Arial"/>
                          <a:cs typeface="Arial"/>
                        </a:rPr>
                        <a:t>150 CC</a:t>
                      </a:r>
                    </a:p>
                  </a:txBody>
                  <a:tcPr marL="91440" marR="91440" marT="45720" marB="45720">
                    <a:solidFill>
                      <a:srgbClr val="FFFFFF"/>
                    </a:solidFill>
                  </a:tcPr>
                </a:tc>
                <a:tc>
                  <a:txBody>
                    <a:bodyPr lIns="152400" tIns="133350" rIns="152400" bIns="114300">
                      <a:noAutofit/>
                    </a:bodyPr>
                    <a:lstStyle/>
                    <a:p>
                      <a:r>
                        <a:rPr sz="2025" b="0" lang="sr-Latn-ME">
                          <a:solidFill>
                            <a:srgbClr val="153F36"/>
                          </a:solidFill>
                          <a:latin typeface="Arial"/>
                          <a:ea typeface="Arial"/>
                          <a:cs typeface="Arial"/>
                        </a:rPr>
                        <a:t>400 USD</a:t>
                      </a:r>
                    </a:p>
                  </a:txBody>
                  <a:tcPr marL="91440" marR="91440" marT="45720" marB="45720">
                    <a:solidFill>
                      <a:srgbClr val="FFFFFF"/>
                    </a:solidFill>
                  </a:tcPr>
                </a:tc>
              </a:tr>
              <a:tr h="661988">
                <a:tc>
                  <a:txBody>
                    <a:bodyPr lIns="152400" tIns="133350" rIns="152400" bIns="114300">
                      <a:noAutofit/>
                    </a:bodyPr>
                    <a:lstStyle/>
                    <a:p>
                      <a:r>
                        <a:rPr sz="2025" b="0" lang="sr-Latn-ME">
                          <a:solidFill>
                            <a:srgbClr val="153F36"/>
                          </a:solidFill>
                          <a:latin typeface="Arial"/>
                          <a:ea typeface="Arial"/>
                          <a:cs typeface="Arial"/>
                        </a:rPr>
                        <a:t>2</a:t>
                      </a:r>
                    </a:p>
                  </a:txBody>
                  <a:tcPr marL="91440" marR="91440" marT="45720" marB="45720">
                    <a:solidFill>
                      <a:srgbClr val="F3F7F2"/>
                    </a:solidFill>
                  </a:tcPr>
                </a:tc>
                <a:tc>
                  <a:txBody>
                    <a:bodyPr lIns="152400" tIns="133350" rIns="152400" bIns="114300">
                      <a:noAutofit/>
                    </a:bodyPr>
                    <a:lstStyle/>
                    <a:p>
                      <a:r>
                        <a:rPr sz="2025" b="0" lang="sr-Latn-ME">
                          <a:solidFill>
                            <a:srgbClr val="153F36"/>
                          </a:solidFill>
                          <a:latin typeface="Arial"/>
                          <a:ea typeface="Arial"/>
                          <a:cs typeface="Arial"/>
                        </a:rPr>
                        <a:t>75 CC</a:t>
                      </a:r>
                    </a:p>
                  </a:txBody>
                  <a:tcPr marL="91440" marR="91440" marT="45720" marB="45720">
                    <a:solidFill>
                      <a:srgbClr val="F3F7F2"/>
                    </a:solidFill>
                  </a:tcPr>
                </a:tc>
                <a:tc>
                  <a:txBody>
                    <a:bodyPr lIns="152400" tIns="133350" rIns="152400" bIns="114300">
                      <a:noAutofit/>
                    </a:bodyPr>
                    <a:lstStyle/>
                    <a:p>
                      <a:r>
                        <a:rPr sz="2025" b="0" lang="sr-Latn-ME">
                          <a:solidFill>
                            <a:srgbClr val="153F36"/>
                          </a:solidFill>
                          <a:latin typeface="Arial"/>
                          <a:ea typeface="Arial"/>
                          <a:cs typeface="Arial"/>
                        </a:rPr>
                        <a:t>150 CC</a:t>
                      </a:r>
                    </a:p>
                  </a:txBody>
                  <a:tcPr marL="91440" marR="91440" marT="45720" marB="45720">
                    <a:solidFill>
                      <a:srgbClr val="F3F7F2"/>
                    </a:solidFill>
                  </a:tcPr>
                </a:tc>
                <a:tc>
                  <a:txBody>
                    <a:bodyPr lIns="152400" tIns="133350" rIns="152400" bIns="114300">
                      <a:noAutofit/>
                    </a:bodyPr>
                    <a:lstStyle/>
                    <a:p>
                      <a:r>
                        <a:rPr sz="2025" b="0" lang="sr-Latn-ME">
                          <a:solidFill>
                            <a:srgbClr val="153F36"/>
                          </a:solidFill>
                          <a:latin typeface="Arial"/>
                          <a:ea typeface="Arial"/>
                          <a:cs typeface="Arial"/>
                        </a:rPr>
                        <a:t>225 CC</a:t>
                      </a:r>
                    </a:p>
                  </a:txBody>
                  <a:tcPr marL="91440" marR="91440" marT="45720" marB="45720">
                    <a:solidFill>
                      <a:srgbClr val="F3F7F2"/>
                    </a:solidFill>
                  </a:tcPr>
                </a:tc>
                <a:tc>
                  <a:txBody>
                    <a:bodyPr lIns="152400" tIns="133350" rIns="152400" bIns="114300">
                      <a:noAutofit/>
                    </a:bodyPr>
                    <a:lstStyle/>
                    <a:p>
                      <a:r>
                        <a:rPr sz="2025" b="0" lang="sr-Latn-ME">
                          <a:solidFill>
                            <a:srgbClr val="153F36"/>
                          </a:solidFill>
                          <a:latin typeface="Arial"/>
                          <a:ea typeface="Arial"/>
                          <a:cs typeface="Arial"/>
                        </a:rPr>
                        <a:t>600 USD</a:t>
                      </a:r>
                    </a:p>
                  </a:txBody>
                  <a:tcPr marL="91440" marR="91440" marT="45720" marB="45720">
                    <a:solidFill>
                      <a:srgbClr val="F3F7F2"/>
                    </a:solidFill>
                  </a:tcPr>
                </a:tc>
              </a:tr>
              <a:tr h="661988">
                <a:tc>
                  <a:txBody>
                    <a:bodyPr lIns="152400" tIns="133350" rIns="152400" bIns="114300">
                      <a:noAutofit/>
                    </a:bodyPr>
                    <a:lstStyle/>
                    <a:p>
                      <a:r>
                        <a:rPr sz="2025" b="0" lang="sr-Latn-ME">
                          <a:solidFill>
                            <a:srgbClr val="153F36"/>
                          </a:solidFill>
                          <a:latin typeface="Arial"/>
                          <a:ea typeface="Arial"/>
                          <a:cs typeface="Arial"/>
                        </a:rPr>
                        <a:t>3</a:t>
                      </a:r>
                    </a:p>
                  </a:txBody>
                  <a:tcPr marL="91440" marR="91440" marT="45720" marB="45720">
                    <a:solidFill>
                      <a:srgbClr val="FFFFFF"/>
                    </a:solidFill>
                  </a:tcPr>
                </a:tc>
                <a:tc>
                  <a:txBody>
                    <a:bodyPr lIns="152400" tIns="133350" rIns="152400" bIns="114300">
                      <a:noAutofit/>
                    </a:bodyPr>
                    <a:lstStyle/>
                    <a:p>
                      <a:r>
                        <a:rPr sz="2025" b="0" lang="sr-Latn-ME">
                          <a:solidFill>
                            <a:srgbClr val="153F36"/>
                          </a:solidFill>
                          <a:latin typeface="Arial"/>
                          <a:ea typeface="Arial"/>
                          <a:cs typeface="Arial"/>
                        </a:rPr>
                        <a:t>100 CC</a:t>
                      </a:r>
                    </a:p>
                  </a:txBody>
                  <a:tcPr marL="91440" marR="91440" marT="45720" marB="45720">
                    <a:solidFill>
                      <a:srgbClr val="FFFFFF"/>
                    </a:solidFill>
                  </a:tcPr>
                </a:tc>
                <a:tc>
                  <a:txBody>
                    <a:bodyPr lIns="152400" tIns="133350" rIns="152400" bIns="114300">
                      <a:noAutofit/>
                    </a:bodyPr>
                    <a:lstStyle/>
                    <a:p>
                      <a:r>
                        <a:rPr sz="2025" b="0" lang="sr-Latn-ME">
                          <a:solidFill>
                            <a:srgbClr val="153F36"/>
                          </a:solidFill>
                          <a:latin typeface="Arial"/>
                          <a:ea typeface="Arial"/>
                          <a:cs typeface="Arial"/>
                        </a:rPr>
                        <a:t>200 CC</a:t>
                      </a:r>
                    </a:p>
                  </a:txBody>
                  <a:tcPr marL="91440" marR="91440" marT="45720" marB="45720">
                    <a:solidFill>
                      <a:srgbClr val="FFFFFF"/>
                    </a:solidFill>
                  </a:tcPr>
                </a:tc>
                <a:tc>
                  <a:txBody>
                    <a:bodyPr lIns="152400" tIns="133350" rIns="152400" bIns="114300">
                      <a:noAutofit/>
                    </a:bodyPr>
                    <a:lstStyle/>
                    <a:p>
                      <a:r>
                        <a:rPr sz="2025" b="0" lang="sr-Latn-ME">
                          <a:solidFill>
                            <a:srgbClr val="153F36"/>
                          </a:solidFill>
                          <a:latin typeface="Arial"/>
                          <a:ea typeface="Arial"/>
                          <a:cs typeface="Arial"/>
                        </a:rPr>
                        <a:t>300 CC</a:t>
                      </a:r>
                    </a:p>
                  </a:txBody>
                  <a:tcPr marL="91440" marR="91440" marT="45720" marB="45720">
                    <a:solidFill>
                      <a:srgbClr val="FFFFFF"/>
                    </a:solidFill>
                  </a:tcPr>
                </a:tc>
                <a:tc>
                  <a:txBody>
                    <a:bodyPr lIns="152400" tIns="133350" rIns="152400" bIns="114300">
                      <a:noAutofit/>
                    </a:bodyPr>
                    <a:lstStyle/>
                    <a:p>
                      <a:r>
                        <a:rPr sz="2025" b="0" lang="sr-Latn-ME">
                          <a:solidFill>
                            <a:srgbClr val="153F36"/>
                          </a:solidFill>
                          <a:latin typeface="Arial"/>
                          <a:ea typeface="Arial"/>
                          <a:cs typeface="Arial"/>
                        </a:rPr>
                        <a:t>800 USD</a:t>
                      </a:r>
                    </a:p>
                  </a:txBody>
                  <a:tcPr marL="91440" marR="91440" marT="45720" marB="45720">
                    <a:solidFill>
                      <a:srgbClr val="FFFFFF"/>
                    </a:solidFill>
                  </a:tcPr>
                </a:tc>
              </a:tr>
            </a:tbl>
          </a:graphicData>
        </a:graphic>
      </p:graphicFrame>
      <p:sp>
        <p:nvSpPr>
          <p:cNvPr id="5" name="">
            <a:extLst>
              <a:ext uri="{FF2B5EF4-FFF2-40B4-BE49-F238E27FC236}">
                <ns2:creationId id="{B4AC18CE-F6CB-49F2-8416-567B308FCF87}"/>
              </a:ext>
            </a:extLst>
          </p:cNvPr>
          <p:cNvSpPr>
            <a:spLocks noGrp="1"/>
          </p:cNvSpPr>
          <p:nvPr/>
        </p:nvSpPr>
        <p:spPr>
          <a:xfrm>
            <a:off x="609600" y="5143500"/>
            <a:ext cx="10458450" cy="809625"/>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sr-Latn-ME">
                <a:solidFill>
                  <a:srgbClr val="153F36"/>
                </a:solidFill>
                <a:latin typeface="Arial"/>
                <a:ea typeface="Arial"/>
                <a:cs typeface="Arial"/>
              </a:rPr>
              <a:t>Kvalifikacija i održavanje uslova. Podsticaj do 36 mjeseci.</a:t>
            </a:r>
          </a:p>
        </p:txBody>
      </p:sp>
    </p:spTree>
    <p:extLst>
      <p:ext uri="{BB962C8B-B14F-4D97-AF65-F5344CB8AC3E}">
        <ns4:creationId val="280473326"/>
      </p:ext>
    </p:extLst>
  </p:cSld>
</p:sld>
</file>

<file path=ppt/slides/slide3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B9E3C7C8-35B4-441E-B1C2-00BCFB5C9F40}"/>
              </a:ext>
            </a:extLst>
          </p:cNvPr>
          <p:cNvPicPr>
            <a:picLocks noChangeAspect="1"/>
          </p:cNvPicPr>
          <p:nvPr/>
        </p:nvPicPr>
        <p:blipFill>
          <a:blip r:embed="R58ce5c4bc3ef4c8b"/>
          <a:stretch/>
        </p:blipFill>
        <p:spPr>
          <a:xfrm>
            <a:off x="9867900" y="276061"/>
            <a:ext cx="1695450" cy="438478"/>
          </a:xfrm>
          <a:prstGeom prst="rect">
            <a:avLst/>
          </a:prstGeom>
        </p:spPr>
      </p:pic>
      <p:sp>
        <p:nvSpPr>
          <p:cNvPr id="2" name="">
            <a:extLst>
              <a:ext uri="{FF2B5EF4-FFF2-40B4-BE49-F238E27FC236}">
                <ns2:creationId id="{0CB37FEB-5A20-485A-9A04-1936EE10F0CF}"/>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ME">
                <a:solidFill>
                  <a:srgbClr val="526B63"/>
                </a:solidFill>
                <a:latin typeface="Arial"/>
                <a:ea typeface="Arial"/>
                <a:cs typeface="Arial"/>
              </a:rPr>
              <a:t>35</a:t>
            </a:r>
          </a:p>
        </p:txBody>
      </p:sp>
      <p:sp>
        <p:nvSpPr>
          <p:cNvPr id="3" name="Naslov">
            <a:extLst>
              <a:ext uri="{FF2B5EF4-FFF2-40B4-BE49-F238E27FC236}">
                <ns2:creationId id="{B655E18D-295A-4CD8-9A03-B3FC391A9AED}"/>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ME">
                <a:solidFill>
                  <a:srgbClr val="153F36"/>
                </a:solidFill>
                <a:latin typeface="Arial"/>
                <a:ea typeface="Arial"/>
                <a:cs typeface="Arial"/>
              </a:rPr>
              <a:t>Dodatak: godišnje kvalifikacije</a:t>
            </a:r>
          </a:p>
        </p:txBody>
      </p:sp>
      <p:sp>
        <p:nvSpPr>
          <p:cNvPr id="4" name="">
            <a:extLst>
              <a:ext uri="{FF2B5EF4-FFF2-40B4-BE49-F238E27FC236}">
                <ns2:creationId id="{F037214A-CF38-4FAB-8F4B-BC9F710748A2}"/>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sr-Latn-ME">
                <a:solidFill>
                  <a:srgbClr val="148977"/>
                </a:solidFill>
                <a:latin typeface="Arial"/>
                <a:ea typeface="Arial"/>
                <a:cs typeface="Arial"/>
              </a:rPr>
              <a:t>1.</a:t>
            </a:r>
          </a:p>
        </p:txBody>
      </p:sp>
      <p:sp>
        <p:nvSpPr>
          <p:cNvPr id="5" name="">
            <a:extLst>
              <a:ext uri="{FF2B5EF4-FFF2-40B4-BE49-F238E27FC236}">
                <ns2:creationId id="{DE39F66B-A442-4DB2-BC88-152A2F537F88}"/>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sr-Latn-ME">
                <a:solidFill>
                  <a:srgbClr val="153F36"/>
                </a:solidFill>
                <a:latin typeface="Arial"/>
                <a:ea typeface="Arial"/>
                <a:cs typeface="Arial"/>
              </a:rPr>
              <a:t>Eagle Manager</a:t>
            </a:r>
          </a:p>
        </p:txBody>
      </p:sp>
      <p:sp>
        <p:nvSpPr>
          <p:cNvPr id="6" name="">
            <a:extLst>
              <a:ext uri="{FF2B5EF4-FFF2-40B4-BE49-F238E27FC236}">
                <ns2:creationId id="{5EB13131-225A-47B3-A990-4556686F98B8}"/>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720 ukupnih CC, 100 novih CC i 3 nove Supervisor linije.</a:t>
            </a:r>
          </a:p>
        </p:txBody>
      </p:sp>
      <p:sp>
        <p:nvSpPr>
          <p:cNvPr id="7" name="">
            <a:extLst>
              <a:ext uri="{FF2B5EF4-FFF2-40B4-BE49-F238E27FC236}">
                <ns2:creationId id="{81F9A9B6-F0B7-4FC8-82A9-040A17BA37F4}"/>
              </a:ext>
            </a:extLst>
          </p:cNvPr>
          <p:cNvSpPr>
            <a:spLocks noGrp="1"/>
          </p:cNvSpPr>
          <p:nvPr/>
        </p:nvSpPr>
        <p:spPr>
          <a:xfrm>
            <a:off x="609600" y="312420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sr-Latn-ME">
                <a:solidFill>
                  <a:srgbClr val="148977"/>
                </a:solidFill>
                <a:latin typeface="Arial"/>
                <a:ea typeface="Arial"/>
                <a:cs typeface="Arial"/>
              </a:rPr>
              <a:t>2.</a:t>
            </a:r>
          </a:p>
        </p:txBody>
      </p:sp>
      <p:sp>
        <p:nvSpPr>
          <p:cNvPr id="8" name="">
            <a:extLst>
              <a:ext uri="{FF2B5EF4-FFF2-40B4-BE49-F238E27FC236}">
                <ns2:creationId id="{C4C32F05-04BB-4214-8487-F780C8E1B8F9}"/>
              </a:ext>
            </a:extLst>
          </p:cNvPr>
          <p:cNvSpPr>
            <a:spLocks noGrp="1"/>
          </p:cNvSpPr>
          <p:nvPr/>
        </p:nvSpPr>
        <p:spPr>
          <a:xfrm>
            <a:off x="1257300" y="312420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sr-Latn-ME">
                <a:solidFill>
                  <a:srgbClr val="153F36"/>
                </a:solidFill>
                <a:latin typeface="Arial"/>
                <a:ea typeface="Arial"/>
                <a:cs typeface="Arial"/>
              </a:rPr>
              <a:t>Global Rally</a:t>
            </a:r>
          </a:p>
        </p:txBody>
      </p:sp>
      <p:sp>
        <p:nvSpPr>
          <p:cNvPr id="9" name="">
            <a:extLst>
              <a:ext uri="{FF2B5EF4-FFF2-40B4-BE49-F238E27FC236}">
                <ns2:creationId id="{AD802E04-F4DC-4E5B-83E7-81C942E85FE4}"/>
              </a:ext>
            </a:extLst>
          </p:cNvPr>
          <p:cNvSpPr>
            <a:spLocks noGrp="1"/>
          </p:cNvSpPr>
          <p:nvPr/>
        </p:nvSpPr>
        <p:spPr>
          <a:xfrm>
            <a:off x="1257300" y="3533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Od 1.500 ukupnih CC, uključujući najmanje 50 novih CC.</a:t>
            </a:r>
          </a:p>
        </p:txBody>
      </p:sp>
      <p:sp>
        <p:nvSpPr>
          <p:cNvPr id="10" name="">
            <a:extLst>
              <a:ext uri="{FF2B5EF4-FFF2-40B4-BE49-F238E27FC236}">
                <ns2:creationId id="{765D29EF-17EE-439A-9148-70DA52221B41}"/>
              </a:ext>
            </a:extLst>
          </p:cNvPr>
          <p:cNvSpPr>
            <a:spLocks noGrp="1"/>
          </p:cNvSpPr>
          <p:nvPr/>
        </p:nvSpPr>
        <p:spPr>
          <a:xfrm>
            <a:off x="609600" y="428625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sr-Latn-ME">
                <a:solidFill>
                  <a:srgbClr val="148977"/>
                </a:solidFill>
                <a:latin typeface="Arial"/>
                <a:ea typeface="Arial"/>
                <a:cs typeface="Arial"/>
              </a:rPr>
              <a:t>3.</a:t>
            </a:r>
          </a:p>
        </p:txBody>
      </p:sp>
      <p:sp>
        <p:nvSpPr>
          <p:cNvPr id="11" name="">
            <a:extLst>
              <a:ext uri="{FF2B5EF4-FFF2-40B4-BE49-F238E27FC236}">
                <ns2:creationId id="{5C8C13D5-EA0A-45FF-B19C-610392AA90BD}"/>
              </a:ext>
            </a:extLst>
          </p:cNvPr>
          <p:cNvSpPr>
            <a:spLocks noGrp="1"/>
          </p:cNvSpPr>
          <p:nvPr/>
        </p:nvSpPr>
        <p:spPr>
          <a:xfrm>
            <a:off x="1257300" y="428625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sr-Latn-ME">
                <a:solidFill>
                  <a:srgbClr val="153F36"/>
                </a:solidFill>
                <a:latin typeface="Arial"/>
                <a:ea typeface="Arial"/>
                <a:cs typeface="Arial"/>
              </a:rPr>
              <a:t>Chairman’s Bonus</a:t>
            </a:r>
          </a:p>
        </p:txBody>
      </p:sp>
      <p:sp>
        <p:nvSpPr>
          <p:cNvPr id="12" name="">
            <a:extLst>
              <a:ext uri="{FF2B5EF4-FFF2-40B4-BE49-F238E27FC236}">
                <ns2:creationId id="{ED3D2BFE-A33E-4B2F-ABBA-68D93EE7CCAA}"/>
              </a:ext>
            </a:extLst>
          </p:cNvPr>
          <p:cNvSpPr>
            <a:spLocks noGrp="1"/>
          </p:cNvSpPr>
          <p:nvPr/>
        </p:nvSpPr>
        <p:spPr>
          <a:xfrm>
            <a:off x="1257300" y="46958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Razvijene kvalifikovane linije i dodatni uslovi programa.</a:t>
            </a:r>
          </a:p>
        </p:txBody>
      </p:sp>
      <p:sp>
        <p:nvSpPr>
          <p:cNvPr id="13" name="">
            <a:extLst>
              <a:ext uri="{FF2B5EF4-FFF2-40B4-BE49-F238E27FC236}">
                <ns2:creationId id="{B903DFC0-E1C3-44EE-AD9B-AD2E08F86D6D}"/>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ME">
                <a:solidFill>
                  <a:srgbClr val="526B63"/>
                </a:solidFill>
                <a:latin typeface="Arial"/>
                <a:ea typeface="Arial"/>
                <a:cs typeface="Arial"/>
              </a:rPr>
              <a:t>Pragovi su sažetak. Rokovi, održavanje i svi dodatni uslovi su u lokalnoj politici.</a:t>
            </a:r>
          </a:p>
        </p:txBody>
      </p:sp>
    </p:spTree>
    <p:extLst>
      <p:ext uri="{BB962C8B-B14F-4D97-AF65-F5344CB8AC3E}">
        <ns4:creationId val="880705396"/>
      </p:ext>
    </p:extLst>
  </p:cSld>
</p:sld>
</file>

<file path=ppt/slides/slide3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88852AA4-6578-41AF-9740-5117C7F6172E}"/>
              </a:ext>
            </a:extLst>
          </p:cNvPr>
          <p:cNvPicPr>
            <a:picLocks noChangeAspect="1"/>
          </p:cNvPicPr>
          <p:nvPr/>
        </p:nvPicPr>
        <p:blipFill>
          <a:blip r:embed="R94ed22d42f074bff"/>
          <a:stretch/>
        </p:blipFill>
        <p:spPr>
          <a:xfrm>
            <a:off x="9867900" y="276061"/>
            <a:ext cx="1695450" cy="438478"/>
          </a:xfrm>
          <a:prstGeom prst="rect">
            <a:avLst/>
          </a:prstGeom>
        </p:spPr>
      </p:pic>
      <p:sp>
        <p:nvSpPr>
          <p:cNvPr id="2" name="">
            <a:extLst>
              <a:ext uri="{FF2B5EF4-FFF2-40B4-BE49-F238E27FC236}">
                <ns2:creationId id="{F484BD7A-5B1B-4432-9A78-B974D5EEA709}"/>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ME">
                <a:solidFill>
                  <a:srgbClr val="526B63"/>
                </a:solidFill>
                <a:latin typeface="Arial"/>
                <a:ea typeface="Arial"/>
                <a:cs typeface="Arial"/>
              </a:rPr>
              <a:t>36</a:t>
            </a:r>
          </a:p>
        </p:txBody>
      </p:sp>
      <p:sp>
        <p:nvSpPr>
          <p:cNvPr id="3" name="Naslov">
            <a:extLst>
              <a:ext uri="{FF2B5EF4-FFF2-40B4-BE49-F238E27FC236}">
                <ns2:creationId id="{AADE5631-8BAA-49DB-AB4C-B28590B49F43}"/>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ME">
                <a:solidFill>
                  <a:srgbClr val="153F36"/>
                </a:solidFill>
                <a:latin typeface="Arial"/>
                <a:ea typeface="Arial"/>
                <a:cs typeface="Arial"/>
              </a:rPr>
              <a:t>Dodatak: isplate i stvarni prihod</a:t>
            </a:r>
          </a:p>
        </p:txBody>
      </p:sp>
      <p:sp>
        <p:nvSpPr>
          <p:cNvPr id="4" name="">
            <a:extLst>
              <a:ext uri="{FF2B5EF4-FFF2-40B4-BE49-F238E27FC236}">
                <ns2:creationId id="{4648F494-74C7-41B9-A7AD-105B8730022F}"/>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r-Latn-ME">
                <a:solidFill>
                  <a:srgbClr val="148977"/>
                </a:solidFill>
                <a:latin typeface="Arial"/>
                <a:ea typeface="Arial"/>
                <a:cs typeface="Arial"/>
              </a:rPr>
              <a:t>1.</a:t>
            </a:r>
          </a:p>
        </p:txBody>
      </p:sp>
      <p:sp>
        <p:nvSpPr>
          <p:cNvPr id="5" name="">
            <a:extLst>
              <a:ext uri="{FF2B5EF4-FFF2-40B4-BE49-F238E27FC236}">
                <ns2:creationId id="{D8F3ADF8-D3CE-4D09-B5D5-37B3C4DF925C}"/>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r-Latn-ME">
                <a:solidFill>
                  <a:srgbClr val="153F36"/>
                </a:solidFill>
                <a:latin typeface="Arial"/>
                <a:ea typeface="Arial"/>
                <a:cs typeface="Arial"/>
              </a:rPr>
              <a:t>Bonusi za prethodni mjesec</a:t>
            </a:r>
          </a:p>
        </p:txBody>
      </p:sp>
      <p:sp>
        <p:nvSpPr>
          <p:cNvPr id="6" name="">
            <a:extLst>
              <a:ext uri="{FF2B5EF4-FFF2-40B4-BE49-F238E27FC236}">
                <ns2:creationId id="{3C09A159-46FC-4266-AE84-DE17BCFA81A2}"/>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Prema hrvatskoj politici, 15. sljedećeg mjeseca.</a:t>
            </a:r>
          </a:p>
        </p:txBody>
      </p:sp>
      <p:sp>
        <p:nvSpPr>
          <p:cNvPr id="7" name="">
            <a:extLst>
              <a:ext uri="{FF2B5EF4-FFF2-40B4-BE49-F238E27FC236}">
                <ns2:creationId id="{7AEEAE2C-E72E-48F1-91F1-C715F3B5457C}"/>
              </a:ext>
            </a:extLst>
          </p:cNvPr>
          <p:cNvSpPr>
            <a:spLocks noGrp="1"/>
          </p:cNvSpPr>
          <p:nvPr/>
        </p:nvSpPr>
        <p:spPr>
          <a:xfrm>
            <a:off x="609600" y="3105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r-Latn-ME">
                <a:solidFill>
                  <a:srgbClr val="148977"/>
                </a:solidFill>
                <a:latin typeface="Arial"/>
                <a:ea typeface="Arial"/>
                <a:cs typeface="Arial"/>
              </a:rPr>
              <a:t>2.</a:t>
            </a:r>
          </a:p>
        </p:txBody>
      </p:sp>
      <p:sp>
        <p:nvSpPr>
          <p:cNvPr id="8" name="">
            <a:extLst>
              <a:ext uri="{FF2B5EF4-FFF2-40B4-BE49-F238E27FC236}">
                <ns2:creationId id="{D7C8ED34-9B2A-4A5B-8F5C-E661D3D95A39}"/>
              </a:ext>
            </a:extLst>
          </p:cNvPr>
          <p:cNvSpPr>
            <a:spLocks noGrp="1"/>
          </p:cNvSpPr>
          <p:nvPr/>
        </p:nvSpPr>
        <p:spPr>
          <a:xfrm>
            <a:off x="1257300" y="3105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r-Latn-ME">
                <a:solidFill>
                  <a:srgbClr val="153F36"/>
                </a:solidFill>
                <a:latin typeface="Arial"/>
                <a:ea typeface="Arial"/>
                <a:cs typeface="Arial"/>
              </a:rPr>
              <a:t>Online dobit</a:t>
            </a:r>
          </a:p>
        </p:txBody>
      </p:sp>
      <p:sp>
        <p:nvSpPr>
          <p:cNvPr id="9" name="">
            <a:extLst>
              <a:ext uri="{FF2B5EF4-FFF2-40B4-BE49-F238E27FC236}">
                <ns2:creationId id="{03EEB3A6-8AA0-4AAC-8BB6-5A5C316EB19C}"/>
              </a:ext>
            </a:extLst>
          </p:cNvPr>
          <p:cNvSpPr>
            <a:spLocks noGrp="1"/>
          </p:cNvSpPr>
          <p:nvPr/>
        </p:nvSpPr>
        <p:spPr>
          <a:xfrm>
            <a:off x="1257300" y="3514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Global Pay nakon 10., 20. i zadnjeg dana mjeseca.</a:t>
            </a:r>
          </a:p>
        </p:txBody>
      </p:sp>
      <p:sp>
        <p:nvSpPr>
          <p:cNvPr id="10" name="">
            <a:extLst>
              <a:ext uri="{FF2B5EF4-FFF2-40B4-BE49-F238E27FC236}">
                <ns2:creationId id="{3836A816-BCC9-4762-B15B-376FBDA90C2D}"/>
              </a:ext>
            </a:extLst>
          </p:cNvPr>
          <p:cNvSpPr>
            <a:spLocks noGrp="1"/>
          </p:cNvSpPr>
          <p:nvPr/>
        </p:nvSpPr>
        <p:spPr>
          <a:xfrm>
            <a:off x="609600" y="4248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r-Latn-ME">
                <a:solidFill>
                  <a:srgbClr val="148977"/>
                </a:solidFill>
                <a:latin typeface="Arial"/>
                <a:ea typeface="Arial"/>
                <a:cs typeface="Arial"/>
              </a:rPr>
              <a:t>3.</a:t>
            </a:r>
          </a:p>
        </p:txBody>
      </p:sp>
      <p:sp>
        <p:nvSpPr>
          <p:cNvPr id="11" name="">
            <a:extLst>
              <a:ext uri="{FF2B5EF4-FFF2-40B4-BE49-F238E27FC236}">
                <ns2:creationId id="{02C2B9B3-EB86-468F-B5C8-D10A79D640D8}"/>
              </a:ext>
            </a:extLst>
          </p:cNvPr>
          <p:cNvSpPr>
            <a:spLocks noGrp="1"/>
          </p:cNvSpPr>
          <p:nvPr/>
        </p:nvSpPr>
        <p:spPr>
          <a:xfrm>
            <a:off x="1257300" y="4248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r-Latn-ME">
                <a:solidFill>
                  <a:srgbClr val="153F36"/>
                </a:solidFill>
                <a:latin typeface="Arial"/>
                <a:ea typeface="Arial"/>
                <a:cs typeface="Arial"/>
              </a:rPr>
              <a:t>Stvarni prihod</a:t>
            </a:r>
          </a:p>
        </p:txBody>
      </p:sp>
      <p:sp>
        <p:nvSpPr>
          <p:cNvPr id="12" name="">
            <a:extLst>
              <a:ext uri="{FF2B5EF4-FFF2-40B4-BE49-F238E27FC236}">
                <ns2:creationId id="{04657A1D-053C-48FC-B7DB-E622C573FFDA}"/>
              </a:ext>
            </a:extLst>
          </p:cNvPr>
          <p:cNvSpPr>
            <a:spLocks noGrp="1"/>
          </p:cNvSpPr>
          <p:nvPr/>
        </p:nvSpPr>
        <p:spPr>
          <a:xfrm>
            <a:off x="1257300" y="4657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ME">
                <a:solidFill>
                  <a:srgbClr val="526B63"/>
                </a:solidFill>
                <a:latin typeface="Arial"/>
                <a:ea typeface="Arial"/>
                <a:cs typeface="Arial"/>
              </a:rPr>
              <a:t>Priznata prodaja uz troškove, povrate i poreske obaveze.</a:t>
            </a:r>
          </a:p>
        </p:txBody>
      </p:sp>
      <p:sp>
        <p:nvSpPr>
          <p:cNvPr id="13" name="">
            <a:extLst>
              <a:ext uri="{FF2B5EF4-FFF2-40B4-BE49-F238E27FC236}">
                <ns2:creationId id="{D0CED1DA-9CAB-4767-B17A-CCA055B377B4}"/>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ME">
                <a:solidFill>
                  <a:srgbClr val="526B63"/>
                </a:solidFill>
                <a:latin typeface="Arial"/>
                <a:ea typeface="Arial"/>
                <a:cs typeface="Arial"/>
              </a:rPr>
              <a:t>Rezultat zavisi o osobi, tržištu i stvarnoj prodaji. FCC ne garantuje zaradu.</a:t>
            </a:r>
          </a:p>
        </p:txBody>
      </p:sp>
    </p:spTree>
    <p:extLst>
      <p:ext uri="{BB962C8B-B14F-4D97-AF65-F5344CB8AC3E}">
        <ns4:creationId val="805322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2026-10-04T12:05:50.0890000Z</dcterms:created>
  <dcterms:modified xsi:type="dcterms:W3CDTF">2026-10-04T12:05:50.0890000Z</dcterms:modified>
</coreProperties>
</file>