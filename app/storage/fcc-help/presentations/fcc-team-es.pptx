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e8ae9ebd874a7b" /><Relationship Type="http://schemas.openxmlformats.org/officeDocument/2006/relationships/extended-properties" Target="/docProps/app.xml" Id="R01380b84c3dd45ec" /><Relationship Type="http://schemas.openxmlformats.org/officeDocument/2006/relationships/officeDocument" Target="/ppt/presentation.xml" Id="Ra84fedbd27db43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88217567e4db7"/>
  </p:sldMasterIdLst>
  <p:notesMasterIdLst>
    <p:notesMasterId xmlns:r="http://schemas.openxmlformats.org/officeDocument/2006/relationships" r:id="Rc18a70ab738d4fdd"/>
  </p:notesMasterIdLst>
  <p:sldIdLst>
    <p:sldId xmlns:r="http://schemas.openxmlformats.org/officeDocument/2006/relationships" id="256" r:id="Re8ed2e66c8d84047"/>
    <p:sldId xmlns:r="http://schemas.openxmlformats.org/officeDocument/2006/relationships" id="257" r:id="R4746b0e7c5ef4131"/>
    <p:sldId xmlns:r="http://schemas.openxmlformats.org/officeDocument/2006/relationships" id="258" r:id="Rbc31ff09593c4d17"/>
    <p:sldId xmlns:r="http://schemas.openxmlformats.org/officeDocument/2006/relationships" id="259" r:id="Rae4ed353ca834eb3"/>
    <p:sldId xmlns:r="http://schemas.openxmlformats.org/officeDocument/2006/relationships" id="260" r:id="Ra1b02be37e2e4ff2"/>
    <p:sldId xmlns:r="http://schemas.openxmlformats.org/officeDocument/2006/relationships" id="261" r:id="Rfe59078e123f44b1"/>
    <p:sldId xmlns:r="http://schemas.openxmlformats.org/officeDocument/2006/relationships" id="262" r:id="R590dc5576ed441ae"/>
    <p:sldId xmlns:r="http://schemas.openxmlformats.org/officeDocument/2006/relationships" id="263" r:id="R0328f91799364ba2"/>
    <p:sldId xmlns:r="http://schemas.openxmlformats.org/officeDocument/2006/relationships" id="264" r:id="Re580240414f64df3"/>
    <p:sldId xmlns:r="http://schemas.openxmlformats.org/officeDocument/2006/relationships" id="265" r:id="Re3803403ee9b468b"/>
    <p:sldId xmlns:r="http://schemas.openxmlformats.org/officeDocument/2006/relationships" id="266" r:id="Re9729d197679489d"/>
    <p:sldId xmlns:r="http://schemas.openxmlformats.org/officeDocument/2006/relationships" id="267" r:id="R17364f024e114fa7"/>
    <p:sldId xmlns:r="http://schemas.openxmlformats.org/officeDocument/2006/relationships" id="268" r:id="Ra32d2299b1e34645"/>
    <p:sldId xmlns:r="http://schemas.openxmlformats.org/officeDocument/2006/relationships" id="269" r:id="R112da9e5e26d4a1a"/>
    <p:sldId xmlns:r="http://schemas.openxmlformats.org/officeDocument/2006/relationships" id="270" r:id="Rfc6e8098b0094e49"/>
    <p:sldId xmlns:r="http://schemas.openxmlformats.org/officeDocument/2006/relationships" id="271" r:id="R637ab624bb744813"/>
    <p:sldId xmlns:r="http://schemas.openxmlformats.org/officeDocument/2006/relationships" id="272" r:id="R83dee26be35c43dd"/>
    <p:sldId xmlns:r="http://schemas.openxmlformats.org/officeDocument/2006/relationships" id="273" r:id="R618fda44c9f74872"/>
    <p:sldId xmlns:r="http://schemas.openxmlformats.org/officeDocument/2006/relationships" id="274" r:id="R1b6aa91c6bb84531"/>
    <p:sldId xmlns:r="http://schemas.openxmlformats.org/officeDocument/2006/relationships" id="275" r:id="Rff9f2644ad404234"/>
    <p:sldId xmlns:r="http://schemas.openxmlformats.org/officeDocument/2006/relationships" id="276" r:id="Rffdacc3614814b34"/>
    <p:sldId xmlns:r="http://schemas.openxmlformats.org/officeDocument/2006/relationships" id="277" r:id="R7cd2e17b0ac44598"/>
    <p:sldId xmlns:r="http://schemas.openxmlformats.org/officeDocument/2006/relationships" id="278" r:id="Rbaf6e7b843f34b38"/>
    <p:sldId xmlns:r="http://schemas.openxmlformats.org/officeDocument/2006/relationships" id="279" r:id="Re58715032f894a0b"/>
    <p:sldId xmlns:r="http://schemas.openxmlformats.org/officeDocument/2006/relationships" id="280" r:id="R671b64fee09647d1"/>
    <p:sldId xmlns:r="http://schemas.openxmlformats.org/officeDocument/2006/relationships" id="281" r:id="R0f1efdb0735b4810"/>
    <p:sldId xmlns:r="http://schemas.openxmlformats.org/officeDocument/2006/relationships" id="282" r:id="R299277170d58463a"/>
    <p:sldId xmlns:r="http://schemas.openxmlformats.org/officeDocument/2006/relationships" id="283" r:id="R47c1e12bebaf4e1e"/>
    <p:sldId xmlns:r="http://schemas.openxmlformats.org/officeDocument/2006/relationships" id="284" r:id="R33f2281931074e26"/>
    <p:sldId xmlns:r="http://schemas.openxmlformats.org/officeDocument/2006/relationships" id="285" r:id="Rcb00a46c0526422d"/>
    <p:sldId xmlns:r="http://schemas.openxmlformats.org/officeDocument/2006/relationships" id="286" r:id="Rdefdab25799b403c"/>
    <p:sldId xmlns:r="http://schemas.openxmlformats.org/officeDocument/2006/relationships" id="287" r:id="Rf00af2c51ef04723"/>
    <p:sldId xmlns:r="http://schemas.openxmlformats.org/officeDocument/2006/relationships" id="288" r:id="R6dd932b7d3e94967"/>
    <p:sldId xmlns:r="http://schemas.openxmlformats.org/officeDocument/2006/relationships" id="289" r:id="R05566556677748cd"/>
    <p:sldId xmlns:r="http://schemas.openxmlformats.org/officeDocument/2006/relationships" id="290" r:id="Rff449ac26a254c77"/>
    <p:sldId xmlns:r="http://schemas.openxmlformats.org/officeDocument/2006/relationships" id="291" r:id="Rce57f775d35142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51f3484e124c0d" /><Relationship Type="http://schemas.openxmlformats.org/officeDocument/2006/relationships/slideMaster" Target="/ppt/slideMasters/slideMaster1.xml" Id="Rc9e88217567e4db7" /><Relationship Type="http://schemas.openxmlformats.org/officeDocument/2006/relationships/notesMaster" Target="/ppt/notesMasters/notesMaster1.xml" Id="Rc18a70ab738d4fdd" /><Relationship Type="http://schemas.openxmlformats.org/officeDocument/2006/relationships/presProps" Target="/ppt/presProps.xml" Id="Rdd6d008c9f824ff1" /><Relationship Type="http://schemas.openxmlformats.org/officeDocument/2006/relationships/tableStyles" Target="/ppt/tableStyles.xml" Id="R5dfb1b75d143461b" /><Relationship Type="http://schemas.openxmlformats.org/officeDocument/2006/relationships/slide" Target="/ppt/slides/slide1.xml" Id="Re8ed2e66c8d84047" /><Relationship Type="http://schemas.openxmlformats.org/officeDocument/2006/relationships/slide" Target="/ppt/slides/slide2.xml" Id="R4746b0e7c5ef4131" /><Relationship Type="http://schemas.openxmlformats.org/officeDocument/2006/relationships/slide" Target="/ppt/slides/slide3.xml" Id="Rbc31ff09593c4d17" /><Relationship Type="http://schemas.openxmlformats.org/officeDocument/2006/relationships/slide" Target="/ppt/slides/slide4.xml" Id="Rae4ed353ca834eb3" /><Relationship Type="http://schemas.openxmlformats.org/officeDocument/2006/relationships/slide" Target="/ppt/slides/slide5.xml" Id="Ra1b02be37e2e4ff2" /><Relationship Type="http://schemas.openxmlformats.org/officeDocument/2006/relationships/slide" Target="/ppt/slides/slide6.xml" Id="Rfe59078e123f44b1" /><Relationship Type="http://schemas.openxmlformats.org/officeDocument/2006/relationships/slide" Target="/ppt/slides/slide7.xml" Id="R590dc5576ed441ae" /><Relationship Type="http://schemas.openxmlformats.org/officeDocument/2006/relationships/slide" Target="/ppt/slides/slide8.xml" Id="R0328f91799364ba2" /><Relationship Type="http://schemas.openxmlformats.org/officeDocument/2006/relationships/slide" Target="/ppt/slides/slide9.xml" Id="Re580240414f64df3" /><Relationship Type="http://schemas.openxmlformats.org/officeDocument/2006/relationships/slide" Target="/ppt/slides/slide10.xml" Id="Re3803403ee9b468b" /><Relationship Type="http://schemas.openxmlformats.org/officeDocument/2006/relationships/slide" Target="/ppt/slides/slide11.xml" Id="Re9729d197679489d" /><Relationship Type="http://schemas.openxmlformats.org/officeDocument/2006/relationships/slide" Target="/ppt/slides/slide12.xml" Id="R17364f024e114fa7" /><Relationship Type="http://schemas.openxmlformats.org/officeDocument/2006/relationships/slide" Target="/ppt/slides/slide13.xml" Id="Ra32d2299b1e34645" /><Relationship Type="http://schemas.openxmlformats.org/officeDocument/2006/relationships/slide" Target="/ppt/slides/slide14.xml" Id="R112da9e5e26d4a1a" /><Relationship Type="http://schemas.openxmlformats.org/officeDocument/2006/relationships/slide" Target="/ppt/slides/slide15.xml" Id="Rfc6e8098b0094e49" /><Relationship Type="http://schemas.openxmlformats.org/officeDocument/2006/relationships/slide" Target="/ppt/slides/slide16.xml" Id="R637ab624bb744813" /><Relationship Type="http://schemas.openxmlformats.org/officeDocument/2006/relationships/slide" Target="/ppt/slides/slide17.xml" Id="R83dee26be35c43dd" /><Relationship Type="http://schemas.openxmlformats.org/officeDocument/2006/relationships/slide" Target="/ppt/slides/slide18.xml" Id="R618fda44c9f74872" /><Relationship Type="http://schemas.openxmlformats.org/officeDocument/2006/relationships/slide" Target="/ppt/slides/slide19.xml" Id="R1b6aa91c6bb84531" /><Relationship Type="http://schemas.openxmlformats.org/officeDocument/2006/relationships/slide" Target="/ppt/slides/slide20.xml" Id="Rff9f2644ad404234" /><Relationship Type="http://schemas.openxmlformats.org/officeDocument/2006/relationships/slide" Target="/ppt/slides/slide21.xml" Id="Rffdacc3614814b34" /><Relationship Type="http://schemas.openxmlformats.org/officeDocument/2006/relationships/slide" Target="/ppt/slides/slide22.xml" Id="R7cd2e17b0ac44598" /><Relationship Type="http://schemas.openxmlformats.org/officeDocument/2006/relationships/slide" Target="/ppt/slides/slide23.xml" Id="Rbaf6e7b843f34b38" /><Relationship Type="http://schemas.openxmlformats.org/officeDocument/2006/relationships/slide" Target="/ppt/slides/slide24.xml" Id="Re58715032f894a0b" /><Relationship Type="http://schemas.openxmlformats.org/officeDocument/2006/relationships/slide" Target="/ppt/slides/slide25.xml" Id="R671b64fee09647d1" /><Relationship Type="http://schemas.openxmlformats.org/officeDocument/2006/relationships/slide" Target="/ppt/slides/slide26.xml" Id="R0f1efdb0735b4810" /><Relationship Type="http://schemas.openxmlformats.org/officeDocument/2006/relationships/slide" Target="/ppt/slides/slide27.xml" Id="R299277170d58463a" /><Relationship Type="http://schemas.openxmlformats.org/officeDocument/2006/relationships/slide" Target="/ppt/slides/slide28.xml" Id="R47c1e12bebaf4e1e" /><Relationship Type="http://schemas.openxmlformats.org/officeDocument/2006/relationships/slide" Target="/ppt/slides/slide29.xml" Id="R33f2281931074e26" /><Relationship Type="http://schemas.openxmlformats.org/officeDocument/2006/relationships/slide" Target="/ppt/slides/slide30.xml" Id="Rcb00a46c0526422d" /><Relationship Type="http://schemas.openxmlformats.org/officeDocument/2006/relationships/slide" Target="/ppt/slides/slide31.xml" Id="Rdefdab25799b403c" /><Relationship Type="http://schemas.openxmlformats.org/officeDocument/2006/relationships/slide" Target="/ppt/slides/slide32.xml" Id="Rf00af2c51ef04723" /><Relationship Type="http://schemas.openxmlformats.org/officeDocument/2006/relationships/slide" Target="/ppt/slides/slide33.xml" Id="R6dd932b7d3e94967" /><Relationship Type="http://schemas.openxmlformats.org/officeDocument/2006/relationships/slide" Target="/ppt/slides/slide34.xml" Id="R05566556677748cd" /><Relationship Type="http://schemas.openxmlformats.org/officeDocument/2006/relationships/slide" Target="/ppt/slides/slide35.xml" Id="Rff449ac26a254c77" /><Relationship Type="http://schemas.openxmlformats.org/officeDocument/2006/relationships/slide" Target="/ppt/slides/slide36.xml" Id="Rce57f775d351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6a719019c04d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6e187a9264970" /><Relationship Type="http://schemas.openxmlformats.org/officeDocument/2006/relationships/notesMaster" Target="/ppt/notesMasters/notesMaster1.xml" Id="Rd6ba87770fec45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804c4900144eb" /><Relationship Type="http://schemas.openxmlformats.org/officeDocument/2006/relationships/notesMaster" Target="/ppt/notesMasters/notesMaster1.xml" Id="Rae1d711f98904d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e734e65b84f03" /><Relationship Type="http://schemas.openxmlformats.org/officeDocument/2006/relationships/notesMaster" Target="/ppt/notesMasters/notesMaster1.xml" Id="R319659532690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bd2ae38c244181" /><Relationship Type="http://schemas.openxmlformats.org/officeDocument/2006/relationships/notesMaster" Target="/ppt/notesMasters/notesMaster1.xml" Id="Rb45bffc5c14d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f50df7094b47c4" /><Relationship Type="http://schemas.openxmlformats.org/officeDocument/2006/relationships/notesMaster" Target="/ppt/notesMasters/notesMaster1.xml" Id="Ra29a7855fc7e44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ceed1dbe064194" /><Relationship Type="http://schemas.openxmlformats.org/officeDocument/2006/relationships/notesMaster" Target="/ppt/notesMasters/notesMaster1.xml" Id="R9009548589204c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f2fae2d674d8b" /><Relationship Type="http://schemas.openxmlformats.org/officeDocument/2006/relationships/notesMaster" Target="/ppt/notesMasters/notesMaster1.xml" Id="R9a68c937125640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3d1f28bd684f47" /><Relationship Type="http://schemas.openxmlformats.org/officeDocument/2006/relationships/notesMaster" Target="/ppt/notesMasters/notesMaster1.xml" Id="R4f66a1fe075747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082f67a9a94eb0" /><Relationship Type="http://schemas.openxmlformats.org/officeDocument/2006/relationships/notesMaster" Target="/ppt/notesMasters/notesMaster1.xml" Id="R0dcd16fd22174c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494a01c6d4c2b" /><Relationship Type="http://schemas.openxmlformats.org/officeDocument/2006/relationships/notesMaster" Target="/ppt/notesMasters/notesMaster1.xml" Id="Rf0be8b2ba7f84a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c2dac3e3384d40" /><Relationship Type="http://schemas.openxmlformats.org/officeDocument/2006/relationships/notesMaster" Target="/ppt/notesMasters/notesMaster1.xml" Id="R12b543772d5040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db9ff243443af" /><Relationship Type="http://schemas.openxmlformats.org/officeDocument/2006/relationships/notesMaster" Target="/ppt/notesMasters/notesMaster1.xml" Id="R41d7c42f991c48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a5d318d74824b8f" /><Relationship Type="http://schemas.openxmlformats.org/officeDocument/2006/relationships/notesMaster" Target="/ppt/notesMasters/notesMaster1.xml" Id="R6cc8e392453a40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6e000b97a5487e" /><Relationship Type="http://schemas.openxmlformats.org/officeDocument/2006/relationships/notesMaster" Target="/ppt/notesMasters/notesMaster1.xml" Id="Rd4903da3fca449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82a1051921a476d" /><Relationship Type="http://schemas.openxmlformats.org/officeDocument/2006/relationships/notesMaster" Target="/ppt/notesMasters/notesMaster1.xml" Id="R145e09a0677a4e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1b9fc78b574304" /><Relationship Type="http://schemas.openxmlformats.org/officeDocument/2006/relationships/notesMaster" Target="/ppt/notesMasters/notesMaster1.xml" Id="Raf7a5c504e8c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7e2ace3f364bb4" /><Relationship Type="http://schemas.openxmlformats.org/officeDocument/2006/relationships/notesMaster" Target="/ppt/notesMasters/notesMaster1.xml" Id="Rdae45306c3c143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2699c39e0e34f5d" /><Relationship Type="http://schemas.openxmlformats.org/officeDocument/2006/relationships/notesMaster" Target="/ppt/notesMasters/notesMaster1.xml" Id="R7b480820a0044f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d8867e05e74d7b" /><Relationship Type="http://schemas.openxmlformats.org/officeDocument/2006/relationships/notesMaster" Target="/ppt/notesMasters/notesMaster1.xml" Id="R8033f3f879b142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07b4f2a22743ff" /><Relationship Type="http://schemas.openxmlformats.org/officeDocument/2006/relationships/notesMaster" Target="/ppt/notesMasters/notesMaster1.xml" Id="R4b9ce22d074142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416c2e7bab84a96" /><Relationship Type="http://schemas.openxmlformats.org/officeDocument/2006/relationships/notesMaster" Target="/ppt/notesMasters/notesMaster1.xml" Id="R2275f7ce1f994e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9907580cc774395" /><Relationship Type="http://schemas.openxmlformats.org/officeDocument/2006/relationships/notesMaster" Target="/ppt/notesMasters/notesMaster1.xml" Id="R469ab7642294470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1cb433f060f4963" /><Relationship Type="http://schemas.openxmlformats.org/officeDocument/2006/relationships/notesMaster" Target="/ppt/notesMasters/notesMaster1.xml" Id="R7b4d7234a6044d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aa4b0c937a34b4b" /><Relationship Type="http://schemas.openxmlformats.org/officeDocument/2006/relationships/notesMaster" Target="/ppt/notesMasters/notesMaster1.xml" Id="Rc2246cd9c6a8463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d6218a495d47cc" /><Relationship Type="http://schemas.openxmlformats.org/officeDocument/2006/relationships/notesMaster" Target="/ppt/notesMasters/notesMaster1.xml" Id="R3d5dcb5fc3b946f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027dd530cc34012" /><Relationship Type="http://schemas.openxmlformats.org/officeDocument/2006/relationships/notesMaster" Target="/ppt/notesMasters/notesMaster1.xml" Id="Rf1d88de2a7ca48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2574ee6f72646ed" /><Relationship Type="http://schemas.openxmlformats.org/officeDocument/2006/relationships/notesMaster" Target="/ppt/notesMasters/notesMaster1.xml" Id="R5343f4f46e024e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230466004cc4193" /><Relationship Type="http://schemas.openxmlformats.org/officeDocument/2006/relationships/notesMaster" Target="/ppt/notesMasters/notesMaster1.xml" Id="R49fd3b65ef5044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c4bd6a826b04c10" /><Relationship Type="http://schemas.openxmlformats.org/officeDocument/2006/relationships/notesMaster" Target="/ppt/notesMasters/notesMaster1.xml" Id="R02760a6c7df24a6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d0436381f6401c" /><Relationship Type="http://schemas.openxmlformats.org/officeDocument/2006/relationships/notesMaster" Target="/ppt/notesMasters/notesMaster1.xml" Id="R080d4de62ebf41e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37f0224225e4dba" /><Relationship Type="http://schemas.openxmlformats.org/officeDocument/2006/relationships/notesMaster" Target="/ppt/notesMasters/notesMaster1.xml" Id="R00fbaf2ef36c43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a9b230ea7c44160" /><Relationship Type="http://schemas.openxmlformats.org/officeDocument/2006/relationships/notesMaster" Target="/ppt/notesMasters/notesMaster1.xml" Id="Rd2a61c7ba35a47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ea83218b7254a5e" /><Relationship Type="http://schemas.openxmlformats.org/officeDocument/2006/relationships/notesMaster" Target="/ppt/notesMasters/notesMaster1.xml" Id="R66b0be88079f4e4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ef4899d87ad4280" /><Relationship Type="http://schemas.openxmlformats.org/officeDocument/2006/relationships/notesMaster" Target="/ppt/notesMasters/notesMaster1.xml" Id="R38d47d1dbe6549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634e1d4a1f44fa0" /><Relationship Type="http://schemas.openxmlformats.org/officeDocument/2006/relationships/notesMaster" Target="/ppt/notesMasters/notesMaster1.xml" Id="R635d27840b01456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2327ada477b42ba" /><Relationship Type="http://schemas.openxmlformats.org/officeDocument/2006/relationships/notesMaster" Target="/ppt/notesMasters/notesMaster1.xml" Id="R1cdcf2d0ba07465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Introducción, aproximadamente 1 minuto. Explica qué comprenderá la persona: los productos, el modelo de negocio y el trabajo diario concreto. Adapta la duración al público. Esta presentación describe el marco comercial croata y las funciones de FCC a fecha de 4 de octubre de 2026.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Preséntate personalmente, aproximadamente 1 minuto. Habla solo de tu propia experiencia verificable. Todo el equipo puede utilizar la parte común después de esta introducción.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Material original proporcionado por el usuario, fotografías de introducción.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Anuncia un ejemplo práctico: una persona elige un producto o webinario, habla con un contacto y anota el siguiente acuerdo. No prometas resultados ni ingresos.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Forever se fundó en 1978. El número de mercados varía entre las webs regionales oficiales, por eso no se muestra una cifra única. FCC es un sistema del equipo separado e independiente.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La conversación empieza por las necesidades reales, hábitos y presupuesto de la persona. Muestra el producto, la etiqueta local y las instrucciones. No inventes efectos sobre la salud. La fotografía ilustra la oferta, no los precios locales actuales.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https://foreverliving.com/shop/hrv/hr-hr/products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Las fotografías de la presentación original muestran producción y distribución. Explica las responsabilidades de la empresa sin prometer efectos sobre la salud.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Ambas opciones pueden tener sentido. La actividad comercial exige una decisión separada y condiciones locales. El acceso a FCC depende de la cuenta FCC y sus funciones disponibles. Es distinto de una cuenta comercial de Forever.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Política comercial croata, edición vigente desde el 1 de julio de 2026. Los CC son puntos contables de productos. Alcanzar 2 CC en dos meses consecutivos ofrece un descuento del 30 % en pedidos posteriores y la posibilidad de optar por separado por la actividad comercial. Comprueba el precio, contenido del paquete y momento de aplicación del descuento en la tienda local oficial. No recomiendes comprar solo para obtener puntos sin una necesidad real.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https://cdn.foreverliving.com/content/MarketingConfigurableContent/HRV/Preuzimanja/Novi_start_paketi_2025.pdf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2 minutos. En Croacia, el 30 % tras la calificación es distinto del bono personal o ingreso neto. Un precio ajustado de hasta el 48 % frente al SRP es un término de la política, no una comisión garantizada en cada pedido. Las bases de cálculo y aplicación dependen del tipo de venta y la política.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2 minutos. Explica las fuentes de ingresos posibles sin pronosticar ganancias. Comprueba tasas y bases en la política local. Registrarse por sí solo no genera ingresos. Las tasas detalladas están en el anexo.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Política croata 4.01. Supervisor requiere 10 CC no Manager, pero el plazo es contradictorio entre 4.01(b) y 4.01(g) de esa política, por eso no se indica aquí. Explica los CC como volumen de ventas, nunca como número de personas registradas. El nivel no garantiza un bono mensual.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Según la política croata, un FBO activo tiene 4 CC, al menos 1 comprado personalmente. El nivel alcanzado y el derecho a un bono son conceptos distintos. Estas no son normas universales. No se compra para calificar sin demanda. Los CC numéricos de FLP360 en FCC son datos agregados y no prueban un pedido de un cliente concreto.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Los programas de incentivos tienen requisitos adicionales, mantenimiento y condiciones locales. No los presentes como un coche gratuito o viaje garantizado. El anexo resume los puntos y la política contiene las condiciones completas.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Explica claramente la independencia de FCC. FCC no fabrica, entrega ni paga bonos de Forever. Organiza el trabajo, la formación, las recomendaciones personales y el apoyo.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  <a:p>
            <a:r>
              <a:t>https://foreverliving.com/hrv/hr-hr/about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La tarjeta reúne contacto, contenido y Forever Web shop. El nuevo bloque principal utiliza el Forever ID de la cuenta y el sistema existente de resolución de recomendaciones. El visitante puede comprobar el mercado. La disponibilidad y condiciones de compra pertenecen a la tienda local de Forever.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Interfaz real de producción capturada el 4 de octubre de 2026. El ejemplo es Fiber Fusion. Abrir WhatsApp solo prepara el mensaje, que el usuario revisa y envía personalmente. El artículo y la tienda oficial son distintos. No envíes durante la demostración sin una intención real.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https://forevercard.club/partner/share</a:t>
            </a:r>
          </a:p>
          <a:p>
            <a:r>
              <a:t>https://forevercard.club/blog/forever-fiber-fusion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Las recomendaciones de colaboración y Start Your Journey usan el sistema existente para acceder al proceso local oficial de Forever con la recomendación del colaborador. Los precios, disponibilidad y condiciones varían entre países. El visitante revisa y confirma personalmente el pedido y registro.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https://forevercard.club/partner-marketing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Contactos y recordatorios están disponibles en Free. El registro a un webinario puede vincular un contacto existente. El título y ejemplo son ficticios, no datos personales de miembros reales. Preparar o copiar un mensaje no lo envía. El envío se confirma por separado.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https://forevercard.club/partner/contacts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El Coach personal PRO ayuda con mensajes, tareas y reflexión usando el contexto conocido. No envía por el usuario ni confirma compras. La pregunta es ficticia. No muestres conversaciones privadas reales en un webinario público.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https://forevercard.club/partner?view=coach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El programa actual prevé 90 pasos. La disponibilidad depende de la cuenta y el programa. Un paso incompleto permanece hasta confirmar su finalización. La siguiente tarea habitual llega tras completar la de hoy según las reglas del programa.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La formación contiene seis lecciones en vídeo y temas ligados a conversaciones con el patrocinador o equipo. Muestra una pregunta de ejemplo y su uso en una conversación. Interfaz FCC del 4 de octubre de 2026.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https://forevercard.club/partner?view=materials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Interfaz real de producción del 4 de octubre de 2026. La fecha de demostración es un ejemplo, no un calendario permanente. Cada colaborador utiliza su invitación personal. El vídeo y la introducción personal dependen de PRO. Abrir WhatsApp no demuestra el envío. Puedes adaptar y compartir personalmente la invitación.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2 minutos. Marko es un ejemplo ficticio. El registro y asistencia son distintos, sin prueba automática de participación en Zoom. El invitado recibe confirmación y recordatorios disponibles según consentimiento y verificación del email. Registrarse para otra fecha crea un registro de asistencia separado y vincula el mismo contacto reconocido, con comprobación si la identidad no es clara.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https://forevercard.club/partner-webinar?view=activity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El organizador PRO elige un evento único o semanal, idioma y visibilidad para sus invitaciones o todo su equipo FCC confirmado. Los miembros pueden invitar con su enlace y reciben sus contactos. El organizador ve cifras agregadas, no el CRM privado ajeno. El idioma del evento y la cuenta son distintos.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https://forevercard.club/partner-webinar?view=manage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PRO muestra la estructura FCC confirmada, CC agregados y progreso. Un cambio de CC no prueba que un contacto concreto comprara un producto concreto. El contacto personal registra borrador, envío confirmado y recordatorio. No muestres miembros ni datos privados en una demostración pública.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https://forevercard.club/partner/team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2 minutos o una demostración breve. Ana es un ejemplo ficticio. Muestra una tarea y un mensaje preparado sin enviarlo. Después muestra dónde anotar lo acordado. No abras registros privados del CRM ante el público.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  <a:p>
            <a:r>
              <a:t>https://forevercard.club/partner/contacts</a:t>
            </a:r>
          </a:p>
          <a:p>
            <a:r>
              <a:t>https://forevercard.club/partner/share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Este ritmo es un ejemplo organizativo, no una obligación oficial. Elige una fecha del calendario actual. No supongas miércoles, domingo o la misma hora para todos los equipos.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https://forevercard.club/partner/share?type=webinar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1,5 minutos. Es un ejemplo de inicio con el patrocinador, no sustituye los criterios concretos de Mi camino. Activación y acceso al programa tienen sus condiciones. Adapta el ritmo al tiempo y conocimientos de la persona.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  <a:p>
            <a:r>
              <a:t>https://forevercard.club/partner/cards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Funciones reales verificadas en producción el 4 de octubre de 2026. Los precios y límites pueden cambiar, por eso se muestran en FCC. La formación sigue las condiciones del programa existente. PRO no es una calificación Forever y no garantiza ingresos.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https://forevercard.club/account-plan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2 minutos. Invita a hacer preguntas reales. Responde según la situación y las normas locales. Si desconoces una respuesta, anota la pregunta y consulta una fuente oficial o el soporte. No ofrezcas proyecciones de ingresos.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Aproximadamente 1 minuto. Organiza una conversación con quien invitó al visitante, junto al patrocinador o manager si hace falta. El invitado no tiene que decidir su actividad de inmediato. No sustituyas a quien invita por un contacto común.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Fin de la parte principal. Responde preguntas y recuerda la conversación personal. Las diapositivas adicionales sirven para dudas detalladas sobre el plan comercial y no necesitan verse en cada webinario.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https://forevercard.club/partner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Según necesidad. La política croata vincula el bono personal al nivel, actividad y base de cálculo establecida. El precio ajustado de hasta el 48 % tiene un significado separado. No significa una comisión monetaria garantizada por cada pedido. No sumes descuento básico y bonos como ingresos netos seguros.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Según necesidad. Política croata, sección 10. Programa para un Manager reconocido y activo, con condiciones adicionales y mantenimiento. Calificar requiere tres meses consecutivos. El incentivo puede durar hasta 36 meses. Los máximos de la política se expresan en USD. Para un plan personal, comprueba cálculo local y condiciones de pago en euros.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Según necesidad. Estos son los umbrales básicos. La política local vigente define las reglas completas. Eagle Manager incluye 720 CC totales, 100 nuevos CC, tres nuevas líneas Supervisor y condiciones adicionales. Global Rally incluye 1.500 CC totales y 50 nuevos CC. Los nuevos CC son volumen de ventas de nuevas líneas. Chairman’s Bonus tiene requisitos avanzados y pagos variables.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Según necesidad. La política croata establece bonos el día 15 del mes siguiente. El margen en línea se transfiere a Global Pay después del día 10, 20 y último del mes. El cálculo y llegada al banco pueden tener plazos distintos. Ingresos, impuestos y registro comercial dependen de circunstancias reales. Deriva las dudas personales a un asesor cualificado y al soporte oficial.</a:t>
            </a:r>
          </a:p>
          <a:p>
            <a:r>
              <a:t/>
            </a:r>
          </a:p>
          <a:p>
            <a:r>
              <a:t>Fuentes:</a:t>
            </a:r>
          </a:p>
          <a:p>
            <a:r>
              <a:t>https://cdn.foreverliving.com/content/MarketingConfigurableContent/HRV/Poslovna%20politika/Poslovna%20politika.pdf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64707d873445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3b1c9a62540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1a54b21bb4a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e0804b00442d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8e4d02edd4d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cdb0906e7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F74769-3CBD-4239-A818-D9166EFEF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042203-E90D-4177-99CB-E5E2C73419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2FCF2E-2D72-496B-8F60-FE46E13BE0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775AFD-5424-4228-AFD5-4BC866422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975AA1-4E8D-49F3-B4BE-05D474ECD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CF18A8-1252-41C0-8CBF-B3940F037E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7E68A17-6C5D-4A77-8C64-27A74687D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60F0C-4409-4658-8236-F7B45BD1BD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5FBD3C-3E2D-4E80-8CD4-5B20E1124F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0E3664-B48C-4CCF-A458-5AD8D6B31A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b32fd4c33147ec" /><Relationship Type="http://schemas.openxmlformats.org/officeDocument/2006/relationships/slideLayout" Target="/ppt/slideLayouts/slideLayout1.xml" Id="R222ce6330a5b4ca8" /><Relationship Type="http://schemas.openxmlformats.org/officeDocument/2006/relationships/slideLayout" Target="/ppt/slideLayouts/slideLayout2.xml" Id="R6b5e57ad54854d85" /><Relationship Type="http://schemas.openxmlformats.org/officeDocument/2006/relationships/slideLayout" Target="/ppt/slideLayouts/slideLayout3.xml" Id="Rab436a0ab7cb4f40" /><Relationship Type="http://schemas.openxmlformats.org/officeDocument/2006/relationships/slideLayout" Target="/ppt/slideLayouts/slideLayout4.xml" Id="R918e832eccb44b54" /><Relationship Type="http://schemas.openxmlformats.org/officeDocument/2006/relationships/slideLayout" Target="/ppt/slideLayouts/slideLayout5.xml" Id="Rf01cc88d49c044cf" /><Relationship Type="http://schemas.openxmlformats.org/officeDocument/2006/relationships/slideLayout" Target="/ppt/slideLayouts/slideLayout6.xml" Id="Rbb2fac1f08344b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2ce6330a5b4ca8"/>
    <p:sldLayoutId xmlns:r="http://schemas.openxmlformats.org/officeDocument/2006/relationships" id="2147483650" r:id="R6b5e57ad54854d85"/>
    <p:sldLayoutId xmlns:r="http://schemas.openxmlformats.org/officeDocument/2006/relationships" id="2147483651" r:id="Rab436a0ab7cb4f40"/>
    <p:sldLayoutId xmlns:r="http://schemas.openxmlformats.org/officeDocument/2006/relationships" id="2147483652" r:id="R918e832eccb44b54"/>
    <p:sldLayoutId xmlns:r="http://schemas.openxmlformats.org/officeDocument/2006/relationships" id="2147483653" r:id="Rf01cc88d49c044cf"/>
    <p:sldLayoutId xmlns:r="http://schemas.openxmlformats.org/officeDocument/2006/relationships" id="2147483654" r:id="Rbb2fac1f08344b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8b876870b4bd3" /><Relationship Type="http://schemas.openxmlformats.org/officeDocument/2006/relationships/image" Target="/ppt/media/image.jpeg" Id="R034c0eeccf4948c0" /><Relationship Type="http://schemas.openxmlformats.org/officeDocument/2006/relationships/image" Target="/ppt/media/image.png" Id="R2b8d2ff69cca4c51" /><Relationship Type="http://schemas.openxmlformats.org/officeDocument/2006/relationships/notesSlide" Target="/ppt/notesSlides/notesSlide1.xml" Id="R81b9f33499044c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36672317249bc" /><Relationship Type="http://schemas.openxmlformats.org/officeDocument/2006/relationships/image" Target="/ppt/media/image2.png" Id="R83eae1d8ff684ca8" /><Relationship Type="http://schemas.openxmlformats.org/officeDocument/2006/relationships/image" Target="/ppt/media/image2.jpeg" Id="R7d26e2f4bdc14ea7" /><Relationship Type="http://schemas.openxmlformats.org/officeDocument/2006/relationships/notesSlide" Target="/ppt/notesSlides/notesSlide2.xml" Id="Rb7545ed1f51d4e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735092e2049a9" /><Relationship Type="http://schemas.openxmlformats.org/officeDocument/2006/relationships/image" Target="/ppt/media/image3.png" Id="R242c0c3a74d44c3e" /><Relationship Type="http://schemas.openxmlformats.org/officeDocument/2006/relationships/notesSlide" Target="/ppt/notesSlides/notesSlide3.xml" Id="Rf304fb9e41e44f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7a4223055445a" /><Relationship Type="http://schemas.openxmlformats.org/officeDocument/2006/relationships/image" Target="/ppt/media/image4.png" Id="Rdae54c54c13e41c1" /><Relationship Type="http://schemas.openxmlformats.org/officeDocument/2006/relationships/image" Target="/ppt/media/image3.jpeg" Id="Ra3daa3908981400c" /><Relationship Type="http://schemas.openxmlformats.org/officeDocument/2006/relationships/notesSlide" Target="/ppt/notesSlides/notesSlide4.xml" Id="R0285fcbda83549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b2435988947ea" /><Relationship Type="http://schemas.openxmlformats.org/officeDocument/2006/relationships/image" Target="/ppt/media/image5.png" Id="Rba10fc9d1268426c" /><Relationship Type="http://schemas.openxmlformats.org/officeDocument/2006/relationships/image" Target="/ppt/media/image6.png" Id="R5eebdc2fa42747ce" /><Relationship Type="http://schemas.openxmlformats.org/officeDocument/2006/relationships/notesSlide" Target="/ppt/notesSlides/notesSlide5.xml" Id="Rfecf98df9a1a4e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898239d1c4bc7" /><Relationship Type="http://schemas.openxmlformats.org/officeDocument/2006/relationships/image" Target="/ppt/media/image7.png" Id="Rc418f7fc157f4c3e" /><Relationship Type="http://schemas.openxmlformats.org/officeDocument/2006/relationships/image" Target="/ppt/media/image4.jpeg" Id="R760ec06578814d61" /><Relationship Type="http://schemas.openxmlformats.org/officeDocument/2006/relationships/image" Target="/ppt/media/image5.jpeg" Id="R67e74f1e1fe24f58" /><Relationship Type="http://schemas.openxmlformats.org/officeDocument/2006/relationships/notesSlide" Target="/ppt/notesSlides/notesSlide6.xml" Id="Rfe88255fd57641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b6062e5e124a0a" /><Relationship Type="http://schemas.openxmlformats.org/officeDocument/2006/relationships/image" Target="/ppt/media/image8.png" Id="R9d24496200b841ee" /><Relationship Type="http://schemas.openxmlformats.org/officeDocument/2006/relationships/notesSlide" Target="/ppt/notesSlides/notesSlide7.xml" Id="R299db23e058f4f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1c24b5618406a" /><Relationship Type="http://schemas.openxmlformats.org/officeDocument/2006/relationships/image" Target="/ppt/media/image9.png" Id="R051be96e5b284a3e" /><Relationship Type="http://schemas.openxmlformats.org/officeDocument/2006/relationships/notesSlide" Target="/ppt/notesSlides/notesSlide8.xml" Id="R0e3bd16dd9f740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0e6f8c9f284a17" /><Relationship Type="http://schemas.openxmlformats.org/officeDocument/2006/relationships/image" Target="/ppt/media/image10.png" Id="Rf661f195b5314748" /><Relationship Type="http://schemas.openxmlformats.org/officeDocument/2006/relationships/notesSlide" Target="/ppt/notesSlides/notesSlide9.xml" Id="Re8ee2aa0c2d745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528d2b8f874644" /><Relationship Type="http://schemas.openxmlformats.org/officeDocument/2006/relationships/image" Target="/ppt/media/image11.png" Id="Redb93a4280434ff1" /><Relationship Type="http://schemas.openxmlformats.org/officeDocument/2006/relationships/notesSlide" Target="/ppt/notesSlides/notesSlide10.xml" Id="R6cb81f1d52bb48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ab9d061bb401c" /><Relationship Type="http://schemas.openxmlformats.org/officeDocument/2006/relationships/image" Target="/ppt/media/image12.png" Id="R5bc897ca9a314817" /><Relationship Type="http://schemas.openxmlformats.org/officeDocument/2006/relationships/notesSlide" Target="/ppt/notesSlides/notesSlide11.xml" Id="R21c3170dc7f34b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c977a777745a7" /><Relationship Type="http://schemas.openxmlformats.org/officeDocument/2006/relationships/image" Target="/ppt/media/image13.png" Id="Rc8567ceef5234c8d" /><Relationship Type="http://schemas.openxmlformats.org/officeDocument/2006/relationships/notesSlide" Target="/ppt/notesSlides/notesSlide12.xml" Id="R8a3483c1ab694d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506bf467547bd" /><Relationship Type="http://schemas.openxmlformats.org/officeDocument/2006/relationships/image" Target="/ppt/media/image14.png" Id="Rf83108d97d584295" /><Relationship Type="http://schemas.openxmlformats.org/officeDocument/2006/relationships/notesSlide" Target="/ppt/notesSlides/notesSlide13.xml" Id="Rb81f8c0116bd4f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c16df8f9b4a2d" /><Relationship Type="http://schemas.openxmlformats.org/officeDocument/2006/relationships/notesSlide" Target="/ppt/notesSlides/notesSlide14.xml" Id="R744adfba47b348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62801bc3f64cec" /><Relationship Type="http://schemas.openxmlformats.org/officeDocument/2006/relationships/image" Target="/ppt/media/image15.png" Id="R96ec4f327d4d4f96" /><Relationship Type="http://schemas.openxmlformats.org/officeDocument/2006/relationships/notesSlide" Target="/ppt/notesSlides/notesSlide15.xml" Id="R28a7cd00d35045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0e1010a4749a2" /><Relationship Type="http://schemas.openxmlformats.org/officeDocument/2006/relationships/image" Target="/ppt/media/image16.png" Id="Rc17e468844c54e84" /><Relationship Type="http://schemas.openxmlformats.org/officeDocument/2006/relationships/image" Target="/ppt/media/image6.jpeg" Id="R94ff2c7901084e46" /><Relationship Type="http://schemas.openxmlformats.org/officeDocument/2006/relationships/notesSlide" Target="/ppt/notesSlides/notesSlide16.xml" Id="Ree7c05797a5148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9fcec88d4440c" /><Relationship Type="http://schemas.openxmlformats.org/officeDocument/2006/relationships/image" Target="/ppt/media/image17.png" Id="R595a642bf0454749" /><Relationship Type="http://schemas.openxmlformats.org/officeDocument/2006/relationships/notesSlide" Target="/ppt/notesSlides/notesSlide17.xml" Id="R989c80c1ab7649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37c883443c4227" /><Relationship Type="http://schemas.openxmlformats.org/officeDocument/2006/relationships/image" Target="/ppt/media/image18.png" Id="Rcc997d641f674b2e" /><Relationship Type="http://schemas.openxmlformats.org/officeDocument/2006/relationships/notesSlide" Target="/ppt/notesSlides/notesSlide18.xml" Id="R8d03a8edfbe44b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1ab6cc4d054267" /><Relationship Type="http://schemas.openxmlformats.org/officeDocument/2006/relationships/image" Target="/ppt/media/image19.png" Id="R64b74fa4d54445c9" /><Relationship Type="http://schemas.openxmlformats.org/officeDocument/2006/relationships/notesSlide" Target="/ppt/notesSlides/notesSlide19.xml" Id="R73252235dda1420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4f72282a1f43c7" /><Relationship Type="http://schemas.openxmlformats.org/officeDocument/2006/relationships/image" Target="/ppt/media/image20.png" Id="R5343d6ff4c174578" /><Relationship Type="http://schemas.openxmlformats.org/officeDocument/2006/relationships/notesSlide" Target="/ppt/notesSlides/notesSlide20.xml" Id="R1ae34887bf6b46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28d195f35443d" /><Relationship Type="http://schemas.openxmlformats.org/officeDocument/2006/relationships/image" Target="/ppt/media/image21.png" Id="Rd2520270cdcb44be" /><Relationship Type="http://schemas.openxmlformats.org/officeDocument/2006/relationships/image" Target="/ppt/media/image7.jpeg" Id="Rc24afb3e1b784e7e" /><Relationship Type="http://schemas.openxmlformats.org/officeDocument/2006/relationships/notesSlide" Target="/ppt/notesSlides/notesSlide21.xml" Id="Rbc0de2a1637e4a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aecb56c245ae" /><Relationship Type="http://schemas.openxmlformats.org/officeDocument/2006/relationships/image" Target="/ppt/media/image22.png" Id="R9e74150305fa4111" /><Relationship Type="http://schemas.openxmlformats.org/officeDocument/2006/relationships/image" Target="/ppt/media/image8.jpeg" Id="R1e50648732a948d2" /><Relationship Type="http://schemas.openxmlformats.org/officeDocument/2006/relationships/notesSlide" Target="/ppt/notesSlides/notesSlide22.xml" Id="R30e134802af844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27ec12d1a473a" /><Relationship Type="http://schemas.openxmlformats.org/officeDocument/2006/relationships/image" Target="/ppt/media/image23.png" Id="R767dfad8865d4072" /><Relationship Type="http://schemas.openxmlformats.org/officeDocument/2006/relationships/notesSlide" Target="/ppt/notesSlides/notesSlide23.xml" Id="Rcdffd40f7fb54e0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13f8477847af" /><Relationship Type="http://schemas.openxmlformats.org/officeDocument/2006/relationships/image" Target="/ppt/media/image24.png" Id="R91a2746f4c374b45" /><Relationship Type="http://schemas.openxmlformats.org/officeDocument/2006/relationships/notesSlide" Target="/ppt/notesSlides/notesSlide24.xml" Id="Re08558424ab0423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ef9866f844b13" /><Relationship Type="http://schemas.openxmlformats.org/officeDocument/2006/relationships/image" Target="/ppt/media/image25.png" Id="R59ec47a19bc2488c" /><Relationship Type="http://schemas.openxmlformats.org/officeDocument/2006/relationships/notesSlide" Target="/ppt/notesSlides/notesSlide25.xml" Id="Rfe051ce0ad3743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e216661cb46d8" /><Relationship Type="http://schemas.openxmlformats.org/officeDocument/2006/relationships/notesSlide" Target="/ppt/notesSlides/notesSlide26.xml" Id="Rd955d76780a044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edf40b97d430e" /><Relationship Type="http://schemas.openxmlformats.org/officeDocument/2006/relationships/image" Target="/ppt/media/image26.png" Id="R5fc007ce49884a48" /><Relationship Type="http://schemas.openxmlformats.org/officeDocument/2006/relationships/notesSlide" Target="/ppt/notesSlides/notesSlide27.xml" Id="R6e2c3395d089417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20138f73cd44f4" /><Relationship Type="http://schemas.openxmlformats.org/officeDocument/2006/relationships/image" Target="/ppt/media/image27.png" Id="R2ce76662dc9b4623" /><Relationship Type="http://schemas.openxmlformats.org/officeDocument/2006/relationships/notesSlide" Target="/ppt/notesSlides/notesSlide28.xml" Id="R26fc3c5b9f414fd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355eb3c3e4fc5" /><Relationship Type="http://schemas.openxmlformats.org/officeDocument/2006/relationships/image" Target="/ppt/media/image28.png" Id="R5e6a51b14994433f" /><Relationship Type="http://schemas.openxmlformats.org/officeDocument/2006/relationships/notesSlide" Target="/ppt/notesSlides/notesSlide29.xml" Id="Rc99cf4ce3b1f4ee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4d39c204f04178" /><Relationship Type="http://schemas.openxmlformats.org/officeDocument/2006/relationships/image" Target="/ppt/media/image29.png" Id="R90f9cc35fcf0450c" /><Relationship Type="http://schemas.openxmlformats.org/officeDocument/2006/relationships/notesSlide" Target="/ppt/notesSlides/notesSlide30.xml" Id="R84d2f32132a4487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87c0cea7e4553" /><Relationship Type="http://schemas.openxmlformats.org/officeDocument/2006/relationships/image" Target="/ppt/media/image30.png" Id="R83eb3923d8184bad" /><Relationship Type="http://schemas.openxmlformats.org/officeDocument/2006/relationships/notesSlide" Target="/ppt/notesSlides/notesSlide31.xml" Id="R041eb70f80e446a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ab2bf6fa284ec2" /><Relationship Type="http://schemas.openxmlformats.org/officeDocument/2006/relationships/notesSlide" Target="/ppt/notesSlides/notesSlide32.xml" Id="Rfba93b99e45c4dc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e66e90d034c10" /><Relationship Type="http://schemas.openxmlformats.org/officeDocument/2006/relationships/image" Target="/ppt/media/image31.png" Id="R36ae438961544b63" /><Relationship Type="http://schemas.openxmlformats.org/officeDocument/2006/relationships/notesSlide" Target="/ppt/notesSlides/notesSlide33.xml" Id="R5a1843e749774b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c9e6ee3d842b0" /><Relationship Type="http://schemas.openxmlformats.org/officeDocument/2006/relationships/image" Target="/ppt/media/image32.png" Id="R9c5ed023181f4870" /><Relationship Type="http://schemas.openxmlformats.org/officeDocument/2006/relationships/notesSlide" Target="/ppt/notesSlides/notesSlide34.xml" Id="R0496a57b86264bb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51a4052a9476f" /><Relationship Type="http://schemas.openxmlformats.org/officeDocument/2006/relationships/image" Target="/ppt/media/image33.png" Id="R58ce5c4bc3ef4c8b" /><Relationship Type="http://schemas.openxmlformats.org/officeDocument/2006/relationships/notesSlide" Target="/ppt/notesSlides/notesSlide35.xml" Id="R2fc1dca00dc3471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3230092d6b4ea4" /><Relationship Type="http://schemas.openxmlformats.org/officeDocument/2006/relationships/image" Target="/ppt/media/image34.png" Id="R94ed22d42f074bff" /><Relationship Type="http://schemas.openxmlformats.org/officeDocument/2006/relationships/notesSlide" Target="/ppt/notesSlides/notesSlide36.xml" Id="R31e5ae07ec8642d3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A7AC97BE-995D-43C8-B710-19D4F10EEBA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" name="">
            <a:extLst>
              <a:ext uri="{FF2B5EF4-FFF2-40B4-BE49-F238E27FC236}">
                <ns2:creationId id="{256D1567-1E22-4203-8C6B-FAC7BC7E5857}"/>
              </a:ext>
            </a:extLst>
          </p:cNvPr>
          <p:cNvPicPr>
            <a:picLocks noChangeAspect="1"/>
          </p:cNvPicPr>
          <p:nvPr/>
        </p:nvPicPr>
        <p:blipFill>
          <a:blip r:embed="R034c0eeccf4948c0"/>
          <a:srcRect l="24610" t="0" r="24610" b="0"/>
          <a:stretch>
            <a:fillRect l="0" t="0" r="0" b="0"/>
          </a:stretch>
        </p:blipFill>
        <p:spPr>
          <a:xfrm>
            <a:off x="6810375" y="0"/>
            <a:ext cx="5381625" cy="6858000"/>
          </a:xfrm>
          <a:prstGeom prst="rect">
            <a:avLst/>
          </a:prstGeom>
        </p:spPr>
      </p:pic>
      <p:pic>
        <p:nvPicPr>
          <p:cNvPr id="3" name="">
            <a:extLst>
              <a:ext uri="{FF2B5EF4-FFF2-40B4-BE49-F238E27FC236}">
                <ns2:creationId id="{95EA2546-934B-459A-AC59-934CC0E1E9C1}"/>
              </a:ext>
            </a:extLst>
          </p:cNvPr>
          <p:cNvPicPr>
            <a:picLocks noChangeAspect="1"/>
          </p:cNvPicPr>
          <p:nvPr/>
        </p:nvPicPr>
        <p:blipFill>
          <a:blip r:embed="R2b8d2ff69cca4c51"/>
          <a:stretch/>
        </p:blipFill>
        <p:spPr>
          <a:xfrm>
            <a:off x="609600" y="463276"/>
            <a:ext cx="2457450" cy="635547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ns2:creationId id="{7A84D4CA-7994-4015-BA7A-862B8C85D61A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191250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9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9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y FCC</a:t>
            </a:r>
          </a:p>
        </p:txBody>
      </p:sp>
      <p:sp>
        <p:nvSpPr>
          <p:cNvPr id="5" name="">
            <a:extLst>
              <a:ext uri="{FF2B5EF4-FFF2-40B4-BE49-F238E27FC236}">
                <ns2:creationId id="{FC0596C7-1725-4D0C-95AB-F7C38913635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6115050" cy="167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147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Oportunidad de negocio</a:t>
            </a:r>
          </a:p>
          <a:p>
            <a:pPr>
              <a:defRPr sz="5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147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en la práctica</a:t>
            </a:r>
          </a:p>
        </p:txBody>
      </p:sp>
      <p:sp>
        <p:nvSpPr>
          <p:cNvPr id="6" name="">
            <a:extLst>
              <a:ext uri="{FF2B5EF4-FFF2-40B4-BE49-F238E27FC236}">
                <ns2:creationId id="{1753A05F-C655-42C5-8499-56D405EA3424}"/>
              </a:ext>
            </a:extLst>
          </p:cNvPr>
          <p:cNvSpPr>
            <a:spLocks noGrp="1"/>
          </p:cNvSpPr>
          <p:nvPr/>
        </p:nvSpPr>
        <p:spPr>
          <a:xfrm>
            <a:off x="609600" y="5067300"/>
            <a:ext cx="57721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Productos, colaboración y trabajo diario con apoyo digital.</a:t>
            </a:r>
          </a:p>
        </p:txBody>
      </p:sp>
    </p:spTree>
    <p:extLst>
      <p:ext uri="{BB962C8B-B14F-4D97-AF65-F5344CB8AC3E}">
        <ns4:creationId val="149181588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744F585C-B6A5-433C-8BE0-CC464C4C779F}"/>
              </a:ext>
            </a:extLst>
          </p:cNvPr>
          <p:cNvPicPr>
            <a:picLocks noChangeAspect="1"/>
          </p:cNvPicPr>
          <p:nvPr/>
        </p:nvPicPr>
        <p:blipFill>
          <a:blip r:embed="R83eae1d8ff684ca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68AD40D-226F-4ECC-A3CD-2A2C9C7D53B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ítulo">
            <a:extLst>
              <a:ext uri="{FF2B5EF4-FFF2-40B4-BE49-F238E27FC236}">
                <ns2:creationId id="{1176B0B2-066B-4212-A51F-514684F66C8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Tus anfitriones</a:t>
            </a:r>
          </a:p>
        </p:txBody>
      </p:sp>
      <p:sp>
        <p:nvSpPr>
          <p:cNvPr id="4" name="Ponente, nombre">
            <a:extLst>
              <a:ext uri="{FF2B5EF4-FFF2-40B4-BE49-F238E27FC236}">
                <ns2:creationId id="{8C10299F-EDB2-4E7F-B49E-4F214720F8FE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5381625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Stjepan y</a:t>
            </a:r>
          </a:p>
          <a:p>
            <a:pPr>
              <a:defRPr sz="39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97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Snježana Beloša</a:t>
            </a:r>
          </a:p>
        </p:txBody>
      </p:sp>
      <p:sp>
        <p:nvSpPr>
          <p:cNvPr id="5" name="Ponente, descripción">
            <a:extLst>
              <a:ext uri="{FF2B5EF4-FFF2-40B4-BE49-F238E27FC236}">
                <ns2:creationId id="{C8BD6CD1-D5ED-485E-A612-0D7A42166A3E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50768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Creadores de Forever Card Club</a:t>
            </a:r>
          </a:p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y mentores de nuestro equipo.</a:t>
            </a:r>
          </a:p>
        </p:txBody>
      </p:sp>
      <p:sp>
        <p:nvSpPr>
          <p:cNvPr id="6" name="Ponente, mensaje personal">
            <a:extLst>
              <a:ext uri="{FF2B5EF4-FFF2-40B4-BE49-F238E27FC236}">
                <ns2:creationId id="{C7EB62E8-86BA-442F-820A-95F8E087C2C6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50768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100" b="0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Te ayudamos a comprender las posibilidades y elegir un comienzo viable.</a:t>
            </a:r>
          </a:p>
        </p:txBody>
      </p:sp>
      <p:pic>
        <p:nvPicPr>
          <p:cNvPr id="7" name="">
            <a:extLst>
              <a:ext uri="{FF2B5EF4-FFF2-40B4-BE49-F238E27FC236}">
                <ns2:creationId id="{1CC6FBA4-AAA8-41D9-9116-49E85FDFC736}"/>
              </a:ext>
            </a:extLst>
          </p:cNvPr>
          <p:cNvPicPr>
            <a:picLocks noChangeAspect="1"/>
          </p:cNvPicPr>
          <p:nvPr/>
        </p:nvPicPr>
        <p:blipFill>
          <a:blip r:embed="R7d26e2f4bdc14ea7"/>
          <a:srcRect l="0" t="63" r="0" b="63"/>
          <a:stretch>
            <a:fillRect l="0" t="0" r="0" b="0"/>
          </a:stretch>
        </p:blipFill>
        <p:spPr>
          <a:xfrm>
            <a:off x="6572250" y="1952625"/>
            <a:ext cx="5010150" cy="3752850"/>
          </a:xfrm>
          <a:prstGeom prst="rect">
            <a:avLst/>
          </a:prstGeom>
        </p:spPr>
      </p:pic>
    </p:spTree>
    <p:extLst>
      <p:ext uri="{BB962C8B-B14F-4D97-AF65-F5344CB8AC3E}">
        <ns4:creationId val="158809611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5E6FCE42-34ED-49DB-917B-885BF7A07AF1}"/>
              </a:ext>
            </a:extLst>
          </p:cNvPr>
          <p:cNvPicPr>
            <a:picLocks noChangeAspect="1"/>
          </p:cNvPicPr>
          <p:nvPr/>
        </p:nvPicPr>
        <p:blipFill>
          <a:blip r:embed="R242c0c3a74d4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B1032C0-79B5-4738-8E25-D6937A3C85A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ítulo">
            <a:extLst>
              <a:ext uri="{FF2B5EF4-FFF2-40B4-BE49-F238E27FC236}">
                <ns2:creationId id="{0C2BCB8F-C404-42C6-BD3A-B39A251103D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Lo que conocerás hoy</a:t>
            </a:r>
          </a:p>
        </p:txBody>
      </p:sp>
      <p:sp>
        <p:nvSpPr>
          <p:cNvPr id="4" name="">
            <a:extLst>
              <a:ext uri="{FF2B5EF4-FFF2-40B4-BE49-F238E27FC236}">
                <ns2:creationId id="{7090349B-17CB-4069-9021-E9AC892915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90FCFE-A2F7-46DA-9AAA-E3D158B44E5E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6" name="">
            <a:extLst>
              <a:ext uri="{FF2B5EF4-FFF2-40B4-BE49-F238E27FC236}">
                <ns2:creationId id="{62CF0980-2434-4AA9-A846-7ADF450EF6D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Productos, pedidos oficiales y normas comerciales.</a:t>
            </a:r>
          </a:p>
        </p:txBody>
      </p:sp>
      <p:sp>
        <p:nvSpPr>
          <p:cNvPr id="7" name="">
            <a:extLst>
              <a:ext uri="{FF2B5EF4-FFF2-40B4-BE49-F238E27FC236}">
                <ns2:creationId id="{8096E1E2-CF39-4546-9C54-85736B904FB3}"/>
              </a:ext>
            </a:extLst>
          </p:cNvPr>
          <p:cNvSpPr>
            <a:spLocks noGrp="1"/>
          </p:cNvSpPr>
          <p:nvPr/>
        </p:nvSpPr>
        <p:spPr>
          <a:xfrm>
            <a:off x="609600" y="28384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93BAFA1-E082-42C0-AF07-8A3F5D4A51BF}"/>
              </a:ext>
            </a:extLst>
          </p:cNvPr>
          <p:cNvSpPr>
            <a:spLocks noGrp="1"/>
          </p:cNvSpPr>
          <p:nvPr/>
        </p:nvSpPr>
        <p:spPr>
          <a:xfrm>
            <a:off x="1257300" y="28384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Tu elección</a:t>
            </a:r>
          </a:p>
        </p:txBody>
      </p:sp>
      <p:sp>
        <p:nvSpPr>
          <p:cNvPr id="9" name="">
            <a:extLst>
              <a:ext uri="{FF2B5EF4-FFF2-40B4-BE49-F238E27FC236}">
                <ns2:creationId id="{DC87F678-8ACE-44B6-8B16-8B5A0F8B7F0C}"/>
              </a:ext>
            </a:extLst>
          </p:cNvPr>
          <p:cNvSpPr>
            <a:spLocks noGrp="1"/>
          </p:cNvSpPr>
          <p:nvPr/>
        </p:nvSpPr>
        <p:spPr>
          <a:xfrm>
            <a:off x="1257300" y="32480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Usar los productos o desarrollar tu propio negocio.</a:t>
            </a:r>
          </a:p>
        </p:txBody>
      </p:sp>
      <p:sp>
        <p:nvSpPr>
          <p:cNvPr id="10" name="">
            <a:extLst>
              <a:ext uri="{FF2B5EF4-FFF2-40B4-BE49-F238E27FC236}">
                <ns2:creationId id="{3860522A-792D-4373-A4F3-28F5656DBD92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34D75F7B-C2E5-44A0-9838-83056B206B41}"/>
              </a:ext>
            </a:extLst>
          </p:cNvPr>
          <p:cNvSpPr>
            <a:spLocks noGrp="1"/>
          </p:cNvSpPr>
          <p:nvPr/>
        </p:nvSpPr>
        <p:spPr>
          <a:xfrm>
            <a:off x="1257300" y="37147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FCC en la práctica</a:t>
            </a:r>
          </a:p>
        </p:txBody>
      </p:sp>
      <p:sp>
        <p:nvSpPr>
          <p:cNvPr id="12" name="">
            <a:extLst>
              <a:ext uri="{FF2B5EF4-FFF2-40B4-BE49-F238E27FC236}">
                <ns2:creationId id="{C9D45EDC-05EA-4018-BAB4-F46975DFEACA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Recomendaciones personales, contactos, webinarios y apoyo.</a:t>
            </a:r>
          </a:p>
        </p:txBody>
      </p:sp>
      <p:sp>
        <p:nvSpPr>
          <p:cNvPr id="13" name="">
            <a:extLst>
              <a:ext uri="{FF2B5EF4-FFF2-40B4-BE49-F238E27FC236}">
                <ns2:creationId id="{2E7A5D7F-6A19-4AFA-BB4D-57AF548C10AF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46D0B6C-8B28-440C-9B75-E7B279A7BD4E}"/>
              </a:ext>
            </a:extLst>
          </p:cNvPr>
          <p:cNvSpPr>
            <a:spLocks noGrp="1"/>
          </p:cNvSpPr>
          <p:nvPr/>
        </p:nvSpPr>
        <p:spPr>
          <a:xfrm>
            <a:off x="1257300" y="45910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La primera semana</a:t>
            </a:r>
          </a:p>
        </p:txBody>
      </p:sp>
      <p:sp>
        <p:nvSpPr>
          <p:cNvPr id="15" name="">
            <a:extLst>
              <a:ext uri="{FF2B5EF4-FFF2-40B4-BE49-F238E27FC236}">
                <ns2:creationId id="{6829D74A-201C-438E-A0A9-426869F09F1D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 comienzo concreto con la persona que te invitó.</a:t>
            </a:r>
          </a:p>
        </p:txBody>
      </p:sp>
    </p:spTree>
    <p:extLst>
      <p:ext uri="{BB962C8B-B14F-4D97-AF65-F5344CB8AC3E}">
        <ns4:creationId val="15104013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31F2DBE-3CEF-4AB1-808D-82DFD8D39AE4}"/>
              </a:ext>
            </a:extLst>
          </p:cNvPr>
          <p:cNvPicPr>
            <a:picLocks noChangeAspect="1"/>
          </p:cNvPicPr>
          <p:nvPr/>
        </p:nvPicPr>
        <p:blipFill>
          <a:blip r:embed="Rdae54c54c13e41c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A8A277E5-B6B2-4E06-B214-ACC2911CBCFB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ítulo">
            <a:extLst>
              <a:ext uri="{FF2B5EF4-FFF2-40B4-BE49-F238E27FC236}">
                <ns2:creationId id="{B03E3510-0DEE-482B-A50E-CCFBC65CBF8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Living Products</a:t>
            </a:r>
          </a:p>
        </p:txBody>
      </p:sp>
      <p:sp>
        <p:nvSpPr>
          <p:cNvPr id="4" name="">
            <a:extLst>
              <a:ext uri="{FF2B5EF4-FFF2-40B4-BE49-F238E27FC236}">
                <ns2:creationId id="{D1A63BA3-11AF-41C5-A0DB-F238BF1FED1D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353050" cy="1495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1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1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1978.</a:t>
            </a:r>
          </a:p>
        </p:txBody>
      </p:sp>
      <p:sp>
        <p:nvSpPr>
          <p:cNvPr id="5" name="">
            <a:extLst>
              <a:ext uri="{FF2B5EF4-FFF2-40B4-BE49-F238E27FC236}">
                <ns2:creationId id="{3E7CC058-7669-4F2A-8739-E7D03E723F65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4953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7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Año de fundación</a:t>
            </a:r>
          </a:p>
        </p:txBody>
      </p:sp>
      <p:sp>
        <p:nvSpPr>
          <p:cNvPr id="6" name="">
            <a:extLst>
              <a:ext uri="{FF2B5EF4-FFF2-40B4-BE49-F238E27FC236}">
                <ns2:creationId id="{9F9A23A7-5EC9-47CD-A30C-C9479DD7485A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5248275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2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Una empresa global con productos, una red de ventas y normas comerciales oficiales.</a:t>
            </a:r>
          </a:p>
        </p:txBody>
      </p:sp>
      <p:pic>
        <p:nvPicPr>
          <p:cNvPr id="7" name="">
            <a:extLst>
              <a:ext uri="{FF2B5EF4-FFF2-40B4-BE49-F238E27FC236}">
                <ns2:creationId id="{0B1CC924-CD88-4010-9FE5-A5B82838F629}"/>
              </a:ext>
            </a:extLst>
          </p:cNvPr>
          <p:cNvPicPr>
            <a:picLocks noChangeAspect="1"/>
          </p:cNvPicPr>
          <p:nvPr/>
        </p:nvPicPr>
        <p:blipFill>
          <a:blip r:embed="Ra3daa3908981400c"/>
          <a:srcRect l="2187" t="0" r="2187" b="0"/>
          <a:stretch>
            <a:fillRect l="0" t="0" r="0" b="0"/>
          </a:stretch>
        </p:blipFill>
        <p:spPr>
          <a:xfrm>
            <a:off x="6438900" y="2057400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ns4:creationId val="708542696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C8D58AB-6E9E-4036-91B3-2CE93502D8AF}"/>
              </a:ext>
            </a:extLst>
          </p:cNvPr>
          <p:cNvPicPr>
            <a:picLocks noChangeAspect="1"/>
          </p:cNvPicPr>
          <p:nvPr/>
        </p:nvPicPr>
        <p:blipFill>
          <a:blip r:embed="Rba10fc9d1268426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F95587-9DD7-454A-A7A0-50CA5576146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ítulo">
            <a:extLst>
              <a:ext uri="{FF2B5EF4-FFF2-40B4-BE49-F238E27FC236}">
                <ns2:creationId id="{3F971641-B408-403C-9558-0637FE54DB8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Productos en la vida diaria</a:t>
            </a:r>
          </a:p>
        </p:txBody>
      </p:sp>
      <p:sp>
        <p:nvSpPr>
          <p:cNvPr id="4" name="">
            <a:extLst>
              <a:ext uri="{FF2B5EF4-FFF2-40B4-BE49-F238E27FC236}">
                <ns2:creationId id="{BA40F1F6-713C-4513-869A-F89CBDFF95A4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5438775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Cuidado personal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Bebidas</a:t>
            </a:r>
          </a:p>
          <a:p>
            <a:pPr>
              <a:defRPr sz="29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9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Complementos alimenticios</a:t>
            </a:r>
          </a:p>
        </p:txBody>
      </p:sp>
      <p:sp>
        <p:nvSpPr>
          <p:cNvPr id="5" name="">
            <a:extLst>
              <a:ext uri="{FF2B5EF4-FFF2-40B4-BE49-F238E27FC236}">
                <ns2:creationId id="{1D9888A3-65A4-4BA0-A252-BAFF4B247E14}"/>
              </a:ext>
            </a:extLst>
          </p:cNvPr>
          <p:cNvSpPr>
            <a:spLocks noGrp="1"/>
          </p:cNvSpPr>
          <p:nvPr/>
        </p:nvSpPr>
        <p:spPr>
          <a:xfrm>
            <a:off x="609600" y="4314825"/>
            <a:ext cx="54102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Una recomendación tiene sentido cuando el producto encaja con la persona y su rutina.</a:t>
            </a:r>
          </a:p>
        </p:txBody>
      </p:sp>
      <p:pic>
        <p:nvPicPr>
          <p:cNvPr id="6" name="">
            <a:extLst>
              <a:ext uri="{FF2B5EF4-FFF2-40B4-BE49-F238E27FC236}">
                <ns2:creationId id="{FBA35493-A3D8-4CDD-B285-CEAA1756B8A5}"/>
              </a:ext>
            </a:extLst>
          </p:cNvPr>
          <p:cNvPicPr>
            <a:picLocks noChangeAspect="1"/>
          </p:cNvPicPr>
          <p:nvPr/>
        </p:nvPicPr>
        <p:blipFill>
          <a:blip r:embed="R5eebdc2fa42747ce"/>
          <a:srcRect l="0" t="449" r="0" b="449"/>
          <a:stretch>
            <a:fillRect l="0" t="0" r="0" b="0"/>
          </a:stretch>
        </p:blipFill>
        <p:spPr>
          <a:xfrm>
            <a:off x="7286625" y="1914525"/>
            <a:ext cx="3714750" cy="3876675"/>
          </a:xfrm>
          <a:prstGeom prst="rect">
            <a:avLst/>
          </a:prstGeom>
        </p:spPr>
      </p:pic>
    </p:spTree>
    <p:extLst>
      <p:ext uri="{BB962C8B-B14F-4D97-AF65-F5344CB8AC3E}">
        <ns4:creationId val="118582396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C46B7334-D258-4863-BDBC-0EC0B34D3EC6}"/>
              </a:ext>
            </a:extLst>
          </p:cNvPr>
          <p:cNvPicPr>
            <a:picLocks noChangeAspect="1"/>
          </p:cNvPicPr>
          <p:nvPr/>
        </p:nvPicPr>
        <p:blipFill>
          <a:blip r:embed="Rc418f7fc157f4c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DB4D99C-680C-4273-AA73-EE7C5D30111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ítulo">
            <a:extLst>
              <a:ext uri="{FF2B5EF4-FFF2-40B4-BE49-F238E27FC236}">
                <ns2:creationId id="{6D53AC0C-2BDA-402D-9E9D-A573631BA1C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Del cultivo al pedido oficial</a:t>
            </a:r>
          </a:p>
        </p:txBody>
      </p:sp>
      <p:pic>
        <p:nvPicPr>
          <p:cNvPr id="4" name="">
            <a:extLst>
              <a:ext uri="{FF2B5EF4-FFF2-40B4-BE49-F238E27FC236}">
                <ns2:creationId id="{5D0A6E93-1A12-423D-9899-8ABB22E67C8D}"/>
              </a:ext>
            </a:extLst>
          </p:cNvPr>
          <p:cNvPicPr>
            <a:picLocks noChangeAspect="1"/>
          </p:cNvPicPr>
          <p:nvPr/>
        </p:nvPicPr>
        <p:blipFill>
          <a:blip r:embed="R760ec06578814d61"/>
          <a:srcRect l="0" t="11760" r="0" b="11760"/>
          <a:stretch>
            <a:fillRect l="0" t="0" r="0" b="0"/>
          </a:stretch>
        </p:blipFill>
        <p:spPr>
          <a:xfrm>
            <a:off x="609600" y="1981200"/>
            <a:ext cx="5257800" cy="2600325"/>
          </a:xfrm>
          <a:prstGeom prst="rect">
            <a:avLst/>
          </a:prstGeom>
        </p:spPr>
      </p:pic>
      <p:pic>
        <p:nvPicPr>
          <p:cNvPr id="5" name="">
            <a:extLst>
              <a:ext uri="{FF2B5EF4-FFF2-40B4-BE49-F238E27FC236}">
                <ns2:creationId id="{B207C59F-8F2C-47BF-BC54-ADB1CA9C1458}"/>
              </a:ext>
            </a:extLst>
          </p:cNvPr>
          <p:cNvPicPr>
            <a:picLocks noChangeAspect="1"/>
          </p:cNvPicPr>
          <p:nvPr/>
        </p:nvPicPr>
        <p:blipFill>
          <a:blip r:embed="R67e74f1e1fe24f58"/>
          <a:srcRect l="0" t="17029" r="0" b="17029"/>
          <a:stretch>
            <a:fillRect l="0" t="0" r="0" b="0"/>
          </a:stretch>
        </p:blipFill>
        <p:spPr>
          <a:xfrm>
            <a:off x="6324600" y="1981200"/>
            <a:ext cx="5257800" cy="2600325"/>
          </a:xfrm>
          <a:prstGeom prst="rect">
            <a:avLst/>
          </a:prstGeom>
        </p:spPr>
      </p:pic>
      <p:sp>
        <p:nvSpPr>
          <p:cNvPr id="6" name="">
            <a:extLst>
              <a:ext uri="{FF2B5EF4-FFF2-40B4-BE49-F238E27FC236}">
                <ns2:creationId id="{043BAD13-5883-4683-B52C-68D2B5637D91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038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gestiona la producción, los pedidos y la entrega.</a:t>
            </a:r>
          </a:p>
        </p:txBody>
      </p:sp>
      <p:sp>
        <p:nvSpPr>
          <p:cNvPr id="7" name="">
            <a:extLst>
              <a:ext uri="{FF2B5EF4-FFF2-40B4-BE49-F238E27FC236}">
                <ns2:creationId id="{E65AD224-944D-41B6-800D-07B566B65B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 colaborador ayuda a elegir un producto y utilizar el canal oficial de compra.</a:t>
            </a:r>
          </a:p>
        </p:txBody>
      </p:sp>
    </p:spTree>
    <p:extLst>
      <p:ext uri="{BB962C8B-B14F-4D97-AF65-F5344CB8AC3E}">
        <ns4:creationId val="206011841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2E54AF73-E036-4720-891A-5121EB809BF9}"/>
              </a:ext>
            </a:extLst>
          </p:cNvPr>
          <p:cNvPicPr>
            <a:picLocks noChangeAspect="1"/>
          </p:cNvPicPr>
          <p:nvPr/>
        </p:nvPicPr>
        <p:blipFill>
          <a:blip r:embed="R9d24496200b841e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7E37213-3D26-4825-BBB6-2E564E93A55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ítulo">
            <a:extLst>
              <a:ext uri="{FF2B5EF4-FFF2-40B4-BE49-F238E27FC236}">
                <ns2:creationId id="{1383C903-881D-4840-A4D5-5DDD9FAFC1F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Usuario o colaborador comercial</a:t>
            </a:r>
          </a:p>
        </p:txBody>
      </p:sp>
      <p:sp>
        <p:nvSpPr>
          <p:cNvPr id="4" name="">
            <a:extLst>
              <a:ext uri="{FF2B5EF4-FFF2-40B4-BE49-F238E27FC236}">
                <ns2:creationId id="{2E14BC8A-29A8-4C50-9C5C-973F016EBCB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Usuario de productos</a:t>
            </a:r>
          </a:p>
        </p:txBody>
      </p:sp>
      <p:sp>
        <p:nvSpPr>
          <p:cNvPr id="5" name="">
            <a:extLst>
              <a:ext uri="{FF2B5EF4-FFF2-40B4-BE49-F238E27FC236}">
                <ns2:creationId id="{44DDA104-5A1E-4779-A60F-E3CEA86C4451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Elige productos para uso personal.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Comprueba los descuentos y condiciones de su mercado.</a:t>
            </a:r>
          </a:p>
        </p:txBody>
      </p:sp>
      <p:sp>
        <p:nvSpPr>
          <p:cNvPr id="6" name="">
            <a:extLst>
              <a:ext uri="{FF2B5EF4-FFF2-40B4-BE49-F238E27FC236}">
                <ns2:creationId id="{CB3AEC29-C6AB-4B40-B4A4-BBBBB4FC86ED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Colaborador comercial</a:t>
            </a:r>
          </a:p>
        </p:txBody>
      </p:sp>
      <p:sp>
        <p:nvSpPr>
          <p:cNvPr id="7" name="">
            <a:extLst>
              <a:ext uri="{FF2B5EF4-FFF2-40B4-BE49-F238E27FC236}">
                <ns2:creationId id="{3D3E645E-563B-44E3-A32F-90226B46A13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Aprende a recomendar productos y trabajar con clientes.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Puede desarrollar un equipo según el plan oficial.</a:t>
            </a:r>
          </a:p>
        </p:txBody>
      </p:sp>
      <p:sp>
        <p:nvSpPr>
          <p:cNvPr id="8" name="">
            <a:extLst>
              <a:ext uri="{FF2B5EF4-FFF2-40B4-BE49-F238E27FC236}">
                <ns2:creationId id="{0E0D066F-E836-4495-B6BA-02C6081856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La primera conversación ayuda a elegir una opción adecuada para la persona.</a:t>
            </a:r>
          </a:p>
        </p:txBody>
      </p:sp>
    </p:spTree>
    <p:extLst>
      <p:ext uri="{BB962C8B-B14F-4D97-AF65-F5344CB8AC3E}">
        <ns4:creationId val="72070813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452BAE09-4A28-4FDF-B4F1-D84AE45B9CCE}"/>
              </a:ext>
            </a:extLst>
          </p:cNvPr>
          <p:cNvPicPr>
            <a:picLocks noChangeAspect="1"/>
          </p:cNvPicPr>
          <p:nvPr/>
        </p:nvPicPr>
        <p:blipFill>
          <a:blip r:embed="R051be96e5b284a3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AF10F6B-11A4-4082-8474-F8BB8D3A628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ítulo">
            <a:extLst>
              <a:ext uri="{FF2B5EF4-FFF2-40B4-BE49-F238E27FC236}">
                <ns2:creationId id="{FFD17B86-6F5B-4AC9-A45D-61B841C5305A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Calificación inicial: 2 CC</a:t>
            </a:r>
          </a:p>
        </p:txBody>
      </p:sp>
      <p:sp>
        <p:nvSpPr>
          <p:cNvPr id="4" name="">
            <a:extLst>
              <a:ext uri="{FF2B5EF4-FFF2-40B4-BE49-F238E27FC236}">
                <ns2:creationId id="{1305E928-94E3-4B55-A605-33368A8BE1FE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81012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76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76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2 CC</a:t>
            </a:r>
          </a:p>
        </p:txBody>
      </p:sp>
      <p:sp>
        <p:nvSpPr>
          <p:cNvPr id="5" name="">
            <a:extLst>
              <a:ext uri="{FF2B5EF4-FFF2-40B4-BE49-F238E27FC236}">
                <ns2:creationId id="{8E600297-3522-4464-94CB-5C48591DB8FF}"/>
              </a:ext>
            </a:extLst>
          </p:cNvPr>
          <p:cNvSpPr>
            <a:spLocks noGrp="1"/>
          </p:cNvSpPr>
          <p:nvPr/>
        </p:nvSpPr>
        <p:spPr>
          <a:xfrm>
            <a:off x="4572000" y="2333625"/>
            <a:ext cx="6715125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Los CC son puntos</a:t>
            </a:r>
          </a:p>
          <a:p>
            <a:pPr>
              <a:defRPr sz="27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7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contables de productos.</a:t>
            </a:r>
          </a:p>
        </p:txBody>
      </p:sp>
      <p:sp>
        <p:nvSpPr>
          <p:cNvPr id="6" name="">
            <a:extLst>
              <a:ext uri="{FF2B5EF4-FFF2-40B4-BE49-F238E27FC236}">
                <ns2:creationId id="{0D2CE9B8-81CE-4B05-9A88-8AA42B134161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9753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En dos meses consecutivos</a:t>
            </a:r>
          </a:p>
        </p:txBody>
      </p:sp>
      <p:sp>
        <p:nvSpPr>
          <p:cNvPr id="7" name="">
            <a:extLst>
              <a:ext uri="{FF2B5EF4-FFF2-40B4-BE49-F238E27FC236}">
                <ns2:creationId id="{F38A0995-25A3-4169-84D9-35E62D33DC4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95250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 paquete inicial adecuado o una combinación de productos según las condiciones actuales.</a:t>
            </a:r>
          </a:p>
        </p:txBody>
      </p:sp>
      <p:sp>
        <p:nvSpPr>
          <p:cNvPr id="8" name="">
            <a:extLst>
              <a:ext uri="{FF2B5EF4-FFF2-40B4-BE49-F238E27FC236}">
                <ns2:creationId id="{77AFF33C-FD64-4E61-B81A-785DDD31156C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Marco del mercado croata. Comprueba precio y disponibilidad en la tienda oficial.</a:t>
            </a:r>
          </a:p>
        </p:txBody>
      </p:sp>
    </p:spTree>
    <p:extLst>
      <p:ext uri="{BB962C8B-B14F-4D97-AF65-F5344CB8AC3E}">
        <ns4:creationId val="30215633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4B81B2D-1CCA-483A-BFD7-E57A9B46F8C8}"/>
              </a:ext>
            </a:extLst>
          </p:cNvPr>
          <p:cNvPicPr>
            <a:picLocks noChangeAspect="1"/>
          </p:cNvPicPr>
          <p:nvPr/>
        </p:nvPicPr>
        <p:blipFill>
          <a:blip r:embed="Rf661f195b53147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54A71095-8359-4EA0-A4C1-36D0120F253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ítulo">
            <a:extLst>
              <a:ext uri="{FF2B5EF4-FFF2-40B4-BE49-F238E27FC236}">
                <ns2:creationId id="{616FFF80-E49E-4FEC-A237-32EC6915272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Descuento, margen y bono</a:t>
            </a:r>
          </a:p>
        </p:txBody>
      </p:sp>
      <p:sp>
        <p:nvSpPr>
          <p:cNvPr id="4" name="">
            <a:extLst>
              <a:ext uri="{FF2B5EF4-FFF2-40B4-BE49-F238E27FC236}">
                <ns2:creationId id="{BDDED255-1812-4E04-914B-6B332C90B5B4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FD37A62D-3C45-4D0E-A38A-9915FE68876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30 % tras la calificación inicial</a:t>
            </a:r>
          </a:p>
        </p:txBody>
      </p:sp>
      <p:sp>
        <p:nvSpPr>
          <p:cNvPr id="6" name="">
            <a:extLst>
              <a:ext uri="{FF2B5EF4-FFF2-40B4-BE49-F238E27FC236}">
                <ns2:creationId id="{0AEF7DBB-93FC-4643-9868-0D9C3B4364E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Descuento en pedidos posteriores dentro del marco del mercado croata.</a:t>
            </a:r>
          </a:p>
        </p:txBody>
      </p:sp>
      <p:sp>
        <p:nvSpPr>
          <p:cNvPr id="7" name="">
            <a:extLst>
              <a:ext uri="{FF2B5EF4-FFF2-40B4-BE49-F238E27FC236}">
                <ns2:creationId id="{7B9CB7F3-4139-4611-87F8-435F9FF741FD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C21A969-5A0A-4363-B933-89E397B75B42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Margen de venta</a:t>
            </a:r>
          </a:p>
        </p:txBody>
      </p:sp>
      <p:sp>
        <p:nvSpPr>
          <p:cNvPr id="9" name="">
            <a:extLst>
              <a:ext uri="{FF2B5EF4-FFF2-40B4-BE49-F238E27FC236}">
                <ns2:creationId id="{A037074A-E68A-4282-99A4-49DED4CAE7F8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Depende de los precios reales de venta y compra.</a:t>
            </a:r>
          </a:p>
        </p:txBody>
      </p:sp>
      <p:sp>
        <p:nvSpPr>
          <p:cNvPr id="10" name="">
            <a:extLst>
              <a:ext uri="{FF2B5EF4-FFF2-40B4-BE49-F238E27FC236}">
                <ns2:creationId id="{3D570E6E-8B24-4330-A562-3E522F970A4D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141569BD-0969-41EC-B9D6-1548A3721055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Bono</a:t>
            </a:r>
          </a:p>
        </p:txBody>
      </p:sp>
      <p:sp>
        <p:nvSpPr>
          <p:cNvPr id="12" name="">
            <a:extLst>
              <a:ext uri="{FF2B5EF4-FFF2-40B4-BE49-F238E27FC236}">
                <ns2:creationId id="{44D69AAF-0CFB-4734-B419-43D03A1B0923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Se calcula sobre ventas reconocidas y condiciones establecidas.</a:t>
            </a:r>
          </a:p>
        </p:txBody>
      </p:sp>
      <p:sp>
        <p:nvSpPr>
          <p:cNvPr id="13" name="">
            <a:extLst>
              <a:ext uri="{FF2B5EF4-FFF2-40B4-BE49-F238E27FC236}">
                <ns2:creationId id="{BD566267-66F1-4515-8129-B602138DC9B1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Los ingresos netos también dependen de gastos, devoluciones e impuestos.</a:t>
            </a:r>
          </a:p>
        </p:txBody>
      </p:sp>
    </p:spTree>
    <p:extLst>
      <p:ext uri="{BB962C8B-B14F-4D97-AF65-F5344CB8AC3E}">
        <ns4:creationId val="402010883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40DF7EE-0EBF-4A51-BCCA-50E40AAC8CD9}"/>
              </a:ext>
            </a:extLst>
          </p:cNvPr>
          <p:cNvPicPr>
            <a:picLocks noChangeAspect="1"/>
          </p:cNvPicPr>
          <p:nvPr/>
        </p:nvPicPr>
        <p:blipFill>
          <a:blip r:embed="Redb93a4280434ff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88BD6BA-C85F-4ABA-8F08-31047BB24EE0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ítulo">
            <a:extLst>
              <a:ext uri="{FF2B5EF4-FFF2-40B4-BE49-F238E27FC236}">
                <ns2:creationId id="{3292CFF6-A88B-4EB8-9D76-22FE6259927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Formas de generar ingresos</a:t>
            </a:r>
          </a:p>
        </p:txBody>
      </p:sp>
      <p:sp>
        <p:nvSpPr>
          <p:cNvPr id="4" name="">
            <a:extLst>
              <a:ext uri="{FF2B5EF4-FFF2-40B4-BE49-F238E27FC236}">
                <ns2:creationId id="{E4F37C57-BB38-4268-A186-D1B747EFAAB6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961A0C47-68F2-4FC3-AC65-BF70D8BE9435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Venta minorista y en línea</a:t>
            </a:r>
          </a:p>
        </p:txBody>
      </p:sp>
      <p:sp>
        <p:nvSpPr>
          <p:cNvPr id="6" name="">
            <a:extLst>
              <a:ext uri="{FF2B5EF4-FFF2-40B4-BE49-F238E27FC236}">
                <ns2:creationId id="{63F83357-877E-4FF3-915F-C3938DABCDED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Margen ligado a compras reales de productos.</a:t>
            </a:r>
          </a:p>
        </p:txBody>
      </p:sp>
      <p:sp>
        <p:nvSpPr>
          <p:cNvPr id="7" name="">
            <a:extLst>
              <a:ext uri="{FF2B5EF4-FFF2-40B4-BE49-F238E27FC236}">
                <ns2:creationId id="{DADDE4B6-6F20-47E2-A08D-2141BD840EEE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67D8978D-38A0-4FC8-BFC8-BC13A997672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Bono personal y Preferred Customer</a:t>
            </a:r>
          </a:p>
        </p:txBody>
      </p:sp>
      <p:sp>
        <p:nvSpPr>
          <p:cNvPr id="9" name="">
            <a:extLst>
              <a:ext uri="{FF2B5EF4-FFF2-40B4-BE49-F238E27FC236}">
                <ns2:creationId id="{C231494E-33FE-4508-9785-F00A2151446B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Cálculo según el nivel de ventas y las condiciones.</a:t>
            </a:r>
          </a:p>
        </p:txBody>
      </p:sp>
      <p:sp>
        <p:nvSpPr>
          <p:cNvPr id="10" name="">
            <a:extLst>
              <a:ext uri="{FF2B5EF4-FFF2-40B4-BE49-F238E27FC236}">
                <ns2:creationId id="{6C5B4166-CAE5-400B-9E51-0F8ECA7D451A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0834E28-49CA-44B2-B93E-18D9D4627CA3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Volume bonus</a:t>
            </a:r>
          </a:p>
        </p:txBody>
      </p:sp>
      <p:sp>
        <p:nvSpPr>
          <p:cNvPr id="12" name="">
            <a:extLst>
              <a:ext uri="{FF2B5EF4-FFF2-40B4-BE49-F238E27FC236}">
                <ns2:creationId id="{5407DF9D-985F-4E8D-8C98-F0B86ED67E9E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Ventas calificadas de niveles inferiores en la organización.</a:t>
            </a:r>
          </a:p>
        </p:txBody>
      </p:sp>
      <p:sp>
        <p:nvSpPr>
          <p:cNvPr id="13" name="">
            <a:extLst>
              <a:ext uri="{FF2B5EF4-FFF2-40B4-BE49-F238E27FC236}">
                <ns2:creationId id="{E9580FA4-DD30-4C4A-BAB0-1DC98066621F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E50EC679-BBB4-46B2-81C9-AC16645DB86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Leadership bonus</a:t>
            </a:r>
          </a:p>
        </p:txBody>
      </p:sp>
      <p:sp>
        <p:nvSpPr>
          <p:cNvPr id="15" name="">
            <a:extLst>
              <a:ext uri="{FF2B5EF4-FFF2-40B4-BE49-F238E27FC236}">
                <ns2:creationId id="{A8964C4B-0C42-4F0F-9058-0454BA2D8106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Generaciones Manager calificadas y condiciones del plan.</a:t>
            </a:r>
          </a:p>
        </p:txBody>
      </p:sp>
    </p:spTree>
    <p:extLst>
      <p:ext uri="{BB962C8B-B14F-4D97-AF65-F5344CB8AC3E}">
        <ns4:creationId val="992325245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A9AB977B-9D5E-4F10-952B-A0122802EBF9}"/>
              </a:ext>
            </a:extLst>
          </p:cNvPr>
          <p:cNvPicPr>
            <a:picLocks noChangeAspect="1"/>
          </p:cNvPicPr>
          <p:nvPr/>
        </p:nvPicPr>
        <p:blipFill>
          <a:blip r:embed="R5bc897ca9a314817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1206217-E73A-4CEB-9B09-737F10EA58F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ítulo">
            <a:extLst>
              <a:ext uri="{FF2B5EF4-FFF2-40B4-BE49-F238E27FC236}">
                <ns2:creationId id="{F97FCDE6-31DA-49CD-A3B9-7E9B8A32A52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Niveles de ventas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BC47871F-1D3A-4769-8DAA-F613396509F8}"/>
              </a:ext>
            </a:extLst>
          </p:cNvPr>
          <p:cNvGraphicFramePr/>
          <p:nvPr/>
        </p:nvGraphicFramePr>
        <p:xfrm>
          <a:off x="609600" y="2114550"/>
          <a:ext cx="10953750" cy="3171825"/>
        </p:xfrm>
        <a:graphic>
          <a:graphicData uri="http://schemas.openxmlformats.org/drawingml/2006/table">
            <a:tbl>
              <a:tblPr/>
              <a:tblGrid>
                <a:gridCol w="3981450"/>
                <a:gridCol w="6972300"/>
              </a:tblGrid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Nivel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Volumen de calificación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 CC en dos meses consecutivos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 CC, consulta el plazo local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 CC en dos meses consecutivos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120 CC en 1 o 2 meses, o 150 CC en 3 o 4 meses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9DFB2BCF-6AA8-4740-A837-9F538AEBF00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Marco croata. El avance sigue el volumen reconocido de ventas de productos.</a:t>
            </a:r>
          </a:p>
        </p:txBody>
      </p:sp>
    </p:spTree>
    <p:extLst>
      <p:ext uri="{BB962C8B-B14F-4D97-AF65-F5344CB8AC3E}">
        <ns4:creationId val="1649879452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E97F2449-B0C8-45FF-9BA5-1467F6340A5D}"/>
              </a:ext>
            </a:extLst>
          </p:cNvPr>
          <p:cNvPicPr>
            <a:picLocks noChangeAspect="1"/>
          </p:cNvPicPr>
          <p:nvPr/>
        </p:nvPicPr>
        <p:blipFill>
          <a:blip r:embed="Rc8567ceef5234c8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B9FFE9D7-C589-4DAD-A5DC-C4584AC834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ítulo">
            <a:extLst>
              <a:ext uri="{FF2B5EF4-FFF2-40B4-BE49-F238E27FC236}">
                <ns2:creationId id="{F91E5C4C-3C31-4F72-9B91-81AAABDBF56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Nivel y actividad mensual</a:t>
            </a:r>
          </a:p>
        </p:txBody>
      </p:sp>
      <p:sp>
        <p:nvSpPr>
          <p:cNvPr id="4" name="">
            <a:extLst>
              <a:ext uri="{FF2B5EF4-FFF2-40B4-BE49-F238E27FC236}">
                <ns2:creationId id="{703903BE-E1EA-4755-AF0E-DDC0FD0D2C54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Nivel alcanzado</a:t>
            </a:r>
          </a:p>
        </p:txBody>
      </p:sp>
      <p:sp>
        <p:nvSpPr>
          <p:cNvPr id="5" name="">
            <a:extLst>
              <a:ext uri="{FF2B5EF4-FFF2-40B4-BE49-F238E27FC236}">
                <ns2:creationId id="{9A996385-7B48-4296-A854-5EB0CE2EE56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Muestra la calificación comercial conseguida.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Algunos pagos siguen sujetos a condiciones mensuales.</a:t>
            </a:r>
          </a:p>
        </p:txBody>
      </p:sp>
      <p:sp>
        <p:nvSpPr>
          <p:cNvPr id="6" name="">
            <a:extLst>
              <a:ext uri="{FF2B5EF4-FFF2-40B4-BE49-F238E27FC236}">
                <ns2:creationId id="{77D1FAA2-01AE-4439-AF68-AFF32BA013D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Actividad en Croacia</a:t>
            </a:r>
          </a:p>
        </p:txBody>
      </p:sp>
      <p:sp>
        <p:nvSpPr>
          <p:cNvPr id="7" name="">
            <a:extLst>
              <a:ext uri="{FF2B5EF4-FFF2-40B4-BE49-F238E27FC236}">
                <ns2:creationId id="{DE9F55C7-C377-46B3-ABD2-90B1875D63BE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4 CC al mes, al menos 1 CC comprado personalmente.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Se aplica a ciertos bonos y calificaciones.</a:t>
            </a:r>
          </a:p>
        </p:txBody>
      </p:sp>
      <p:sp>
        <p:nvSpPr>
          <p:cNvPr id="8" name="">
            <a:extLst>
              <a:ext uri="{FF2B5EF4-FFF2-40B4-BE49-F238E27FC236}">
                <ns2:creationId id="{FD9B8A60-55C5-4285-811D-8CC7872E0136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Revisa las reglas de tu mercado y el plan con tu patrocinador o manager.</a:t>
            </a:r>
          </a:p>
        </p:txBody>
      </p:sp>
    </p:spTree>
    <p:extLst>
      <p:ext uri="{BB962C8B-B14F-4D97-AF65-F5344CB8AC3E}">
        <ns4:creationId val="143730511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CE17F46-7524-406F-87EF-22855383B637}"/>
              </a:ext>
            </a:extLst>
          </p:cNvPr>
          <p:cNvPicPr>
            <a:picLocks noChangeAspect="1"/>
          </p:cNvPicPr>
          <p:nvPr/>
        </p:nvPicPr>
        <p:blipFill>
          <a:blip r:embed="Rf83108d97d58429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0911F3A-0291-4E27-930B-9F7571F7C8F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ítulo">
            <a:extLst>
              <a:ext uri="{FF2B5EF4-FFF2-40B4-BE49-F238E27FC236}">
                <ns2:creationId id="{EC120288-5F29-45BC-8AC5-7E6A97B0B8D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Posibilidades de desarrollo</a:t>
            </a:r>
          </a:p>
        </p:txBody>
      </p:sp>
      <p:sp>
        <p:nvSpPr>
          <p:cNvPr id="4" name="">
            <a:extLst>
              <a:ext uri="{FF2B5EF4-FFF2-40B4-BE49-F238E27FC236}">
                <ns2:creationId id="{941C9B93-C75E-4126-A8E8-C4081A9BAE11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73D521F0-969B-4577-8CDA-78D20D152E22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Forever2Drive</a:t>
            </a:r>
          </a:p>
        </p:txBody>
      </p:sp>
      <p:sp>
        <p:nvSpPr>
          <p:cNvPr id="6" name="">
            <a:extLst>
              <a:ext uri="{FF2B5EF4-FFF2-40B4-BE49-F238E27FC236}">
                <ns2:creationId id="{ACF17F9F-E8A8-40BE-883F-DDC4827BF5EB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Incentivo sujeto a calificación y mantenimiento de condiciones.</a:t>
            </a:r>
          </a:p>
        </p:txBody>
      </p:sp>
      <p:sp>
        <p:nvSpPr>
          <p:cNvPr id="7" name="">
            <a:extLst>
              <a:ext uri="{FF2B5EF4-FFF2-40B4-BE49-F238E27FC236}">
                <ns2:creationId id="{359B9063-6C13-4CE2-BCD9-9BD3727E9FED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75478720-3A7B-4E47-9017-69248B3E4C2D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9" name="">
            <a:extLst>
              <a:ext uri="{FF2B5EF4-FFF2-40B4-BE49-F238E27FC236}">
                <ns2:creationId id="{57C824BA-1407-4003-AE3E-95F40257C3D7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Desarrollo de personas, organización comercial y calificaciones.</a:t>
            </a:r>
          </a:p>
        </p:txBody>
      </p:sp>
      <p:sp>
        <p:nvSpPr>
          <p:cNvPr id="10" name="">
            <a:extLst>
              <a:ext uri="{FF2B5EF4-FFF2-40B4-BE49-F238E27FC236}">
                <ns2:creationId id="{C7DEDA4A-108F-4739-BF5B-CB0EC39ED372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C77939D-3BE0-48FF-BD9E-9E2DA6EB9D4D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12" name="">
            <a:extLst>
              <a:ext uri="{FF2B5EF4-FFF2-40B4-BE49-F238E27FC236}">
                <ns2:creationId id="{9D0D43DD-DCED-4D9D-A8DF-DF03C8EDE1E3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Calificación anual según los CC reconocidos.</a:t>
            </a:r>
          </a:p>
        </p:txBody>
      </p:sp>
      <p:sp>
        <p:nvSpPr>
          <p:cNvPr id="13" name="">
            <a:extLst>
              <a:ext uri="{FF2B5EF4-FFF2-40B4-BE49-F238E27FC236}">
                <ns2:creationId id="{0DE06633-3104-4D5D-AFC2-6DD58A379127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181DCFD-1327-4AEA-A125-DB42B98E41DD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5" name="">
            <a:extLst>
              <a:ext uri="{FF2B5EF4-FFF2-40B4-BE49-F238E27FC236}">
                <ns2:creationId id="{0FC1322E-D4F3-4F90-B54D-8742B0118D65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Calificación avanzada y participación en un fondo de bonos.</a:t>
            </a:r>
          </a:p>
        </p:txBody>
      </p:sp>
    </p:spTree>
    <p:extLst>
      <p:ext uri="{BB962C8B-B14F-4D97-AF65-F5344CB8AC3E}">
        <ns4:creationId val="23771992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">
            <a:extLst>
              <a:ext uri="{FF2B5EF4-FFF2-40B4-BE49-F238E27FC236}">
                <ns2:creationId id="{F113DD45-36D4-4DA6-8B79-68B74FBB84D7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2" name="Título">
            <a:extLst>
              <a:ext uri="{FF2B5EF4-FFF2-40B4-BE49-F238E27FC236}">
                <ns2:creationId id="{CAA3B91D-F917-4DA2-B226-01A327BB492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y FCC: sus funciones</a:t>
            </a:r>
          </a:p>
        </p:txBody>
      </p:sp>
      <p:sp>
        <p:nvSpPr>
          <p:cNvPr id="3" name="">
            <a:extLst>
              <a:ext uri="{FF2B5EF4-FFF2-40B4-BE49-F238E27FC236}">
                <ns2:creationId id="{87010EBA-D139-47AC-B90D-AEF1B6E02C00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</a:p>
        </p:txBody>
      </p:sp>
      <p:sp>
        <p:nvSpPr>
          <p:cNvPr id="4" name="">
            <a:extLst>
              <a:ext uri="{FF2B5EF4-FFF2-40B4-BE49-F238E27FC236}">
                <ns2:creationId id="{5D9D1F61-7188-45FC-9FBB-33255E60669E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Productos, compra oficial, política de ventas y cálculo.</a:t>
            </a:r>
          </a:p>
        </p:txBody>
      </p:sp>
      <p:sp>
        <p:nvSpPr>
          <p:cNvPr id="5" name="">
            <a:extLst>
              <a:ext uri="{FF2B5EF4-FFF2-40B4-BE49-F238E27FC236}">
                <ns2:creationId id="{F68DF54D-E5BD-4144-BF02-CF641CC1EC3A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 Card Club</a:t>
            </a:r>
          </a:p>
        </p:txBody>
      </p:sp>
      <p:sp>
        <p:nvSpPr>
          <p:cNvPr id="6" name="">
            <a:extLst>
              <a:ext uri="{FF2B5EF4-FFF2-40B4-BE49-F238E27FC236}">
                <ns2:creationId id="{FBAF949A-07D7-451F-B687-7E2C03D536B3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Tu espacio para recomendaciones, contactos, formación y apoyo.</a:t>
            </a:r>
          </a:p>
        </p:txBody>
      </p:sp>
      <p:sp>
        <p:nvSpPr>
          <p:cNvPr id="7" name="">
            <a:extLst>
              <a:ext uri="{FF2B5EF4-FFF2-40B4-BE49-F238E27FC236}">
                <ns2:creationId id="{E0555F00-9647-448C-9424-76B402954AD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FCC es el sistema independiente de nuestro equipo. No es una aplicación oficial de Forever.</a:t>
            </a:r>
          </a:p>
        </p:txBody>
      </p:sp>
    </p:spTree>
    <p:extLst>
      <p:ext uri="{BB962C8B-B14F-4D97-AF65-F5344CB8AC3E}">
        <ns3:creationId val="126074295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101BC16A-314B-4D63-87BE-75099EBE651E}"/>
              </a:ext>
            </a:extLst>
          </p:cNvPr>
          <p:cNvPicPr>
            <a:picLocks noChangeAspect="1"/>
          </p:cNvPicPr>
          <p:nvPr/>
        </p:nvPicPr>
        <p:blipFill>
          <a:blip r:embed="R96ec4f327d4d4f96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6C0FEC2-0597-4F16-BB30-8FE640BEF54C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ítulo">
            <a:extLst>
              <a:ext uri="{FF2B5EF4-FFF2-40B4-BE49-F238E27FC236}">
                <ns2:creationId id="{C4C47A17-4BAE-477D-A7D2-C5494BB1831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Tu tarjeta digital</a:t>
            </a:r>
          </a:p>
        </p:txBody>
      </p:sp>
      <p:sp>
        <p:nvSpPr>
          <p:cNvPr id="4" name="">
            <a:extLst>
              <a:ext uri="{FF2B5EF4-FFF2-40B4-BE49-F238E27FC236}">
                <ns2:creationId id="{DE9E9B70-73E3-471A-B7FE-01385382147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EA5D95E4-3717-4599-8D18-236CE754C73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Contacto personal</a:t>
            </a:r>
          </a:p>
        </p:txBody>
      </p:sp>
      <p:sp>
        <p:nvSpPr>
          <p:cNvPr id="6" name="">
            <a:extLst>
              <a:ext uri="{FF2B5EF4-FFF2-40B4-BE49-F238E27FC236}">
                <ns2:creationId id="{3C52910B-BE23-448E-BCE0-7FCB4EBEA6D6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Nombre, fotografía y una forma de contactar contigo.</a:t>
            </a:r>
          </a:p>
        </p:txBody>
      </p:sp>
      <p:sp>
        <p:nvSpPr>
          <p:cNvPr id="7" name="">
            <a:extLst>
              <a:ext uri="{FF2B5EF4-FFF2-40B4-BE49-F238E27FC236}">
                <ns2:creationId id="{87157C25-E8A9-4655-80D1-71405D608FB7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9DDF819-9E51-4A20-8401-B97FBA911693}"/>
              </a:ext>
            </a:extLst>
          </p:cNvPr>
          <p:cNvSpPr>
            <a:spLocks noGrp="1"/>
          </p:cNvSpPr>
          <p:nvPr/>
        </p:nvSpPr>
        <p:spPr>
          <a:xfrm>
            <a:off x="1257300" y="3095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Contenidos útiles</a:t>
            </a:r>
          </a:p>
        </p:txBody>
      </p:sp>
      <p:sp>
        <p:nvSpPr>
          <p:cNvPr id="9" name="">
            <a:extLst>
              <a:ext uri="{FF2B5EF4-FFF2-40B4-BE49-F238E27FC236}">
                <ns2:creationId id="{BD50225C-D510-4BFD-809A-B44813DEDCE5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Productos e información comercial que quieres compartir.</a:t>
            </a:r>
          </a:p>
        </p:txBody>
      </p:sp>
      <p:sp>
        <p:nvSpPr>
          <p:cNvPr id="10" name="">
            <a:extLst>
              <a:ext uri="{FF2B5EF4-FFF2-40B4-BE49-F238E27FC236}">
                <ns2:creationId id="{9E10415B-E2F5-4078-8A2C-FD1B2869469C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1B69A65-A2D9-4BED-93F5-6FE4434AFD3B}"/>
              </a:ext>
            </a:extLst>
          </p:cNvPr>
          <p:cNvSpPr>
            <a:spLocks noGrp="1"/>
          </p:cNvSpPr>
          <p:nvPr/>
        </p:nvSpPr>
        <p:spPr>
          <a:xfrm>
            <a:off x="1257300" y="42291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Forever Web shop</a:t>
            </a:r>
          </a:p>
        </p:txBody>
      </p:sp>
      <p:sp>
        <p:nvSpPr>
          <p:cNvPr id="12" name="">
            <a:extLst>
              <a:ext uri="{FF2B5EF4-FFF2-40B4-BE49-F238E27FC236}">
                <ns2:creationId id="{D2CB6E9D-15B6-4BE1-97AF-B7FD2905CACC}"/>
              </a:ext>
            </a:extLst>
          </p:cNvPr>
          <p:cNvSpPr>
            <a:spLocks noGrp="1"/>
          </p:cNvSpPr>
          <p:nvPr/>
        </p:nvSpPr>
        <p:spPr>
          <a:xfrm>
            <a:off x="1257300" y="46386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Una recomendación vinculada a tu número Forever ID.</a:t>
            </a:r>
          </a:p>
        </p:txBody>
      </p:sp>
      <p:sp>
        <p:nvSpPr>
          <p:cNvPr id="13" name="">
            <a:extLst>
              <a:ext uri="{FF2B5EF4-FFF2-40B4-BE49-F238E27FC236}">
                <ns2:creationId id="{A0B246FC-D94D-416D-BD28-5AF3DCBEB6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Edita tu tarjeta en Mi tarjeta y comparte tu enlace personal.</a:t>
            </a:r>
          </a:p>
        </p:txBody>
      </p:sp>
    </p:spTree>
    <p:extLst>
      <p:ext uri="{BB962C8B-B14F-4D97-AF65-F5344CB8AC3E}">
        <ns4:creationId val="476486187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3AC82866-4F1A-473C-B145-078052CC4BB7}"/>
              </a:ext>
            </a:extLst>
          </p:cNvPr>
          <p:cNvPicPr>
            <a:picLocks noChangeAspect="1"/>
          </p:cNvPicPr>
          <p:nvPr/>
        </p:nvPicPr>
        <p:blipFill>
          <a:blip r:embed="Rc17e468844c54e84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70619AB1-E169-480F-B897-BB94CF101CC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ítulo">
            <a:extLst>
              <a:ext uri="{FF2B5EF4-FFF2-40B4-BE49-F238E27FC236}">
                <ns2:creationId id="{2F32543F-6D32-4352-8392-5F2ECBEDC6A8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Recomendación de producto</a:t>
            </a:r>
          </a:p>
        </p:txBody>
      </p:sp>
      <p:sp>
        <p:nvSpPr>
          <p:cNvPr id="4" name="">
            <a:extLst>
              <a:ext uri="{FF2B5EF4-FFF2-40B4-BE49-F238E27FC236}">
                <ns2:creationId id="{0F8C843F-A45D-45FF-AF7C-9289C1804CA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5810250" cy="2543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Elige un producto.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Adapta el mensaje.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Comparte tu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recomendación.</a:t>
            </a:r>
          </a:p>
        </p:txBody>
      </p:sp>
      <p:sp>
        <p:nvSpPr>
          <p:cNvPr id="5" name="">
            <a:extLst>
              <a:ext uri="{FF2B5EF4-FFF2-40B4-BE49-F238E27FC236}">
                <ns2:creationId id="{9618F7B4-8815-4E7A-9AA5-F7752A962CA8}"/>
              </a:ext>
            </a:extLst>
          </p:cNvPr>
          <p:cNvSpPr>
            <a:spLocks noGrp="1"/>
          </p:cNvSpPr>
          <p:nvPr/>
        </p:nvSpPr>
        <p:spPr>
          <a:xfrm>
            <a:off x="609600" y="4962525"/>
            <a:ext cx="5505450" cy="1104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La compra se completa en la tienda oficial del mercado elegido.</a:t>
            </a:r>
          </a:p>
        </p:txBody>
      </p:sp>
      <p:pic>
        <p:nvPicPr>
          <p:cNvPr id="6" name="">
            <a:extLst>
              <a:ext uri="{FF2B5EF4-FFF2-40B4-BE49-F238E27FC236}">
                <ns2:creationId id="{39976A63-FB8D-4AF1-9CE1-E346A83FF05D}"/>
              </a:ext>
            </a:extLst>
          </p:cNvPr>
          <p:cNvPicPr>
            <a:picLocks noChangeAspect="1"/>
          </p:cNvPicPr>
          <p:nvPr/>
        </p:nvPicPr>
        <p:blipFill>
          <a:blip r:embed="R94ff2c7901084e46"/>
          <a:stretch/>
        </p:blipFill>
        <p:spPr>
          <a:xfrm>
            <a:off x="7296150" y="1695450"/>
            <a:ext cx="3695700" cy="5124450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s-ES" dirty="0">
                <a:solidFill>
                  <a:srgbClr val="526B63"/>
                </a:solidFill>
                <a:latin typeface="Arial"/>
              </a:rPr>
              <a:t>Ejemplo de la interfaz de FCC en español.</a:t>
            </a:r>
          </a:p>
        </p:txBody>
      </p:sp>
    </p:spTree>
    <p:extLst>
      <p:ext uri="{BB962C8B-B14F-4D97-AF65-F5344CB8AC3E}">
        <ns4:creationId val="881719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F86D17C0-D7F3-45EA-967D-967E55EE8F83}"/>
              </a:ext>
            </a:extLst>
          </p:cNvPr>
          <p:cNvPicPr>
            <a:picLocks noChangeAspect="1"/>
          </p:cNvPicPr>
          <p:nvPr/>
        </p:nvPicPr>
        <p:blipFill>
          <a:blip r:embed="R595a642bf045474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4CEB6670-C2AA-4467-91EC-97E39F1D73F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Título">
            <a:extLst>
              <a:ext uri="{FF2B5EF4-FFF2-40B4-BE49-F238E27FC236}">
                <ns2:creationId id="{40317049-7FB1-4A36-BA93-DFB89F66E1F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Colaboración y paquete inicial</a:t>
            </a:r>
          </a:p>
        </p:txBody>
      </p:sp>
      <p:sp>
        <p:nvSpPr>
          <p:cNvPr id="4" name="">
            <a:extLst>
              <a:ext uri="{FF2B5EF4-FFF2-40B4-BE49-F238E27FC236}">
                <ns2:creationId id="{423E083F-38C2-4E49-88D7-BD3CEBE4AA0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B7C7534D-288A-42A5-83E7-F29F3789907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Información comercial</a:t>
            </a:r>
          </a:p>
        </p:txBody>
      </p:sp>
      <p:sp>
        <p:nvSpPr>
          <p:cNvPr id="6" name="">
            <a:extLst>
              <a:ext uri="{FF2B5EF4-FFF2-40B4-BE49-F238E27FC236}">
                <ns2:creationId id="{AD6CE61F-E3C0-4E6E-8FEE-073F384D663E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Una visión de las posibilidades antes de decidir.</a:t>
            </a:r>
          </a:p>
        </p:txBody>
      </p:sp>
      <p:sp>
        <p:nvSpPr>
          <p:cNvPr id="7" name="">
            <a:extLst>
              <a:ext uri="{FF2B5EF4-FFF2-40B4-BE49-F238E27FC236}">
                <ns2:creationId id="{7123A8D0-039A-4339-9BAB-CFD9A4CDFA90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0846DCA2-8253-49B5-A450-922F0FC34097}"/>
              </a:ext>
            </a:extLst>
          </p:cNvPr>
          <p:cNvSpPr>
            <a:spLocks noGrp="1"/>
          </p:cNvSpPr>
          <p:nvPr/>
        </p:nvSpPr>
        <p:spPr>
          <a:xfrm>
            <a:off x="1257300" y="31146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Paquete inicial</a:t>
            </a:r>
          </a:p>
        </p:txBody>
      </p:sp>
      <p:sp>
        <p:nvSpPr>
          <p:cNvPr id="9" name="">
            <a:extLst>
              <a:ext uri="{FF2B5EF4-FFF2-40B4-BE49-F238E27FC236}">
                <ns2:creationId id="{23B5AF94-FCC0-4FD5-97DB-CA7ECAF7E006}"/>
              </a:ext>
            </a:extLst>
          </p:cNvPr>
          <p:cNvSpPr>
            <a:spLocks noGrp="1"/>
          </p:cNvSpPr>
          <p:nvPr/>
        </p:nvSpPr>
        <p:spPr>
          <a:xfrm>
            <a:off x="1257300" y="35242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Enlace al proceso local oficial.</a:t>
            </a:r>
          </a:p>
        </p:txBody>
      </p:sp>
      <p:sp>
        <p:nvSpPr>
          <p:cNvPr id="10" name="">
            <a:extLst>
              <a:ext uri="{FF2B5EF4-FFF2-40B4-BE49-F238E27FC236}">
                <ns2:creationId id="{44091B20-92BD-4F96-81CB-4C2569DDA57E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FB3A53A3-847D-42D5-BE6A-327E911D5457}"/>
              </a:ext>
            </a:extLst>
          </p:cNvPr>
          <p:cNvSpPr>
            <a:spLocks noGrp="1"/>
          </p:cNvSpPr>
          <p:nvPr/>
        </p:nvSpPr>
        <p:spPr>
          <a:xfrm>
            <a:off x="1257300" y="4267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Tu recomendación</a:t>
            </a:r>
          </a:p>
        </p:txBody>
      </p:sp>
      <p:sp>
        <p:nvSpPr>
          <p:cNvPr id="12" name="">
            <a:extLst>
              <a:ext uri="{FF2B5EF4-FFF2-40B4-BE49-F238E27FC236}">
                <ns2:creationId id="{CD6900A3-9105-4B4A-8204-3F1851783DA4}"/>
              </a:ext>
            </a:extLst>
          </p:cNvPr>
          <p:cNvSpPr>
            <a:spLocks noGrp="1"/>
          </p:cNvSpPr>
          <p:nvPr/>
        </p:nvSpPr>
        <p:spPr>
          <a:xfrm>
            <a:off x="1257300" y="4676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Vinculada al Forever ID según las reglas del mercado.</a:t>
            </a:r>
          </a:p>
        </p:txBody>
      </p:sp>
      <p:sp>
        <p:nvSpPr>
          <p:cNvPr id="13" name="">
            <a:extLst>
              <a:ext uri="{FF2B5EF4-FFF2-40B4-BE49-F238E27FC236}">
                <ns2:creationId id="{86D648FA-AB6C-449A-89C6-E053C9F302EA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Antes de decidir, revisad el contenido del paquete, precio y condiciones.</a:t>
            </a:r>
          </a:p>
        </p:txBody>
      </p:sp>
    </p:spTree>
    <p:extLst>
      <p:ext uri="{BB962C8B-B14F-4D97-AF65-F5344CB8AC3E}">
        <ns4:creationId val="1985799901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36D3208E-D467-45B6-B84F-993282DA2C05}"/>
              </a:ext>
            </a:extLst>
          </p:cNvPr>
          <p:cNvPicPr>
            <a:picLocks noChangeAspect="1"/>
          </p:cNvPicPr>
          <p:nvPr/>
        </p:nvPicPr>
        <p:blipFill>
          <a:blip r:embed="Rcc997d641f674b2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50745C5-7885-44C5-A038-D3DF1BE3084D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Título">
            <a:extLst>
              <a:ext uri="{FF2B5EF4-FFF2-40B4-BE49-F238E27FC236}">
                <ns2:creationId id="{716B21D9-4588-41FE-B7DE-88EE1983E4B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Contactos y próximos seguimientos</a:t>
            </a:r>
          </a:p>
        </p:txBody>
      </p:sp>
      <p:sp>
        <p:nvSpPr>
          <p:cNvPr id="4" name="">
            <a:extLst>
              <a:ext uri="{FF2B5EF4-FFF2-40B4-BE49-F238E27FC236}">
                <ns2:creationId id="{35A73B73-CF45-46EB-A7C8-ADD62F54412B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2EA067BA-7EDF-4565-9395-E5B2E840046D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Anota el motivo del interés</a:t>
            </a:r>
          </a:p>
        </p:txBody>
      </p:sp>
      <p:sp>
        <p:nvSpPr>
          <p:cNvPr id="6" name="">
            <a:extLst>
              <a:ext uri="{FF2B5EF4-FFF2-40B4-BE49-F238E27FC236}">
                <ns2:creationId id="{174972BC-F64E-4F59-881A-3ADD61DB6C4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 producto, oportunidad comercial o webinario elegido.</a:t>
            </a:r>
          </a:p>
        </p:txBody>
      </p:sp>
      <p:sp>
        <p:nvSpPr>
          <p:cNvPr id="7" name="">
            <a:extLst>
              <a:ext uri="{FF2B5EF4-FFF2-40B4-BE49-F238E27FC236}">
                <ns2:creationId id="{A980A2D7-D029-4CA9-98EA-E1E24BDC96E8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21F348C9-ADAE-4A31-9086-7382091A7469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Guarda lo acordado</a:t>
            </a:r>
          </a:p>
        </p:txBody>
      </p:sp>
      <p:sp>
        <p:nvSpPr>
          <p:cNvPr id="9" name="">
            <a:extLst>
              <a:ext uri="{FF2B5EF4-FFF2-40B4-BE49-F238E27FC236}">
                <ns2:creationId id="{1939F4C9-7AC8-4E57-95EE-A8ED90B8F700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Qué hablasteis y cuándo volverás a contactar.</a:t>
            </a:r>
          </a:p>
        </p:txBody>
      </p:sp>
      <p:sp>
        <p:nvSpPr>
          <p:cNvPr id="10" name="">
            <a:extLst>
              <a:ext uri="{FF2B5EF4-FFF2-40B4-BE49-F238E27FC236}">
                <ns2:creationId id="{1FB78878-179B-4961-98D8-1E538F979850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69C8E17-B1D6-4228-B6CE-91556722565C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Confirma la acción real</a:t>
            </a:r>
          </a:p>
        </p:txBody>
      </p:sp>
      <p:sp>
        <p:nvSpPr>
          <p:cNvPr id="12" name="">
            <a:extLst>
              <a:ext uri="{FF2B5EF4-FFF2-40B4-BE49-F238E27FC236}">
                <ns2:creationId id="{1A8CF46B-3238-4DDE-9E94-1ABCB125750F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 borrador y un mensaje enviado tienen estados distintos.</a:t>
            </a:r>
          </a:p>
        </p:txBody>
      </p:sp>
      <p:sp>
        <p:nvSpPr>
          <p:cNvPr id="13" name="">
            <a:extLst>
              <a:ext uri="{FF2B5EF4-FFF2-40B4-BE49-F238E27FC236}">
                <ns2:creationId id="{2F5FF45C-FE0C-45D2-9A2F-99DE8DEC9997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Ejemplo: Ana quiere detalles de un producto. Hablaréis el jueves.</a:t>
            </a:r>
          </a:p>
        </p:txBody>
      </p:sp>
    </p:spTree>
    <p:extLst>
      <p:ext uri="{BB962C8B-B14F-4D97-AF65-F5344CB8AC3E}">
        <ns4:creationId val="449993391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5ADCFCC7-A789-4960-978D-09BFFD23F46C}"/>
              </a:ext>
            </a:extLst>
          </p:cNvPr>
          <p:cNvPicPr>
            <a:picLocks noChangeAspect="1"/>
          </p:cNvPicPr>
          <p:nvPr/>
        </p:nvPicPr>
        <p:blipFill>
          <a:blip r:embed="R64b74fa4d54445c9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AC00C27-9DC4-4087-B955-2DAE7D6A8F6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Título">
            <a:extLst>
              <a:ext uri="{FF2B5EF4-FFF2-40B4-BE49-F238E27FC236}">
                <ns2:creationId id="{DF82E299-944A-4628-8F4C-EE73BB76D6E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AI Coach para tu próxima acción</a:t>
            </a:r>
          </a:p>
        </p:txBody>
      </p:sp>
      <p:sp>
        <p:nvSpPr>
          <p:cNvPr id="4" name="">
            <a:extLst>
              <a:ext uri="{FF2B5EF4-FFF2-40B4-BE49-F238E27FC236}">
                <ns2:creationId id="{4618C986-4CF7-4F17-A8A6-90697A6FBD9C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«Ana quiere saber más sobre el producto.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Ayúdame a escribir un mensaje breve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y proponer la próxima conversación».</a:t>
            </a:r>
          </a:p>
        </p:txBody>
      </p:sp>
      <p:sp>
        <p:nvSpPr>
          <p:cNvPr id="5" name="">
            <a:extLst>
              <a:ext uri="{FF2B5EF4-FFF2-40B4-BE49-F238E27FC236}">
                <ns2:creationId id="{7A79F3E1-BCA2-4DD5-8614-AB0D88B13E50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9810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0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Revisa el texto recibido y adáptalo a tu forma de hablar.</a:t>
            </a:r>
          </a:p>
        </p:txBody>
      </p:sp>
      <p:sp>
        <p:nvSpPr>
          <p:cNvPr id="6" name="">
            <a:extLst>
              <a:ext uri="{FF2B5EF4-FFF2-40B4-BE49-F238E27FC236}">
                <ns2:creationId id="{22416B2D-1F11-433C-BBC2-0F785465E81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Función PRO. Tú decides qué enviar y confirmas el envío real.</a:t>
            </a:r>
          </a:p>
        </p:txBody>
      </p:sp>
    </p:spTree>
    <p:extLst>
      <p:ext uri="{BB962C8B-B14F-4D97-AF65-F5344CB8AC3E}">
        <ns4:creationId val="1346486136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FF8A0D6A-54B6-4B2D-9DB0-C5BDDF808E3D}"/>
              </a:ext>
            </a:extLst>
          </p:cNvPr>
          <p:cNvPicPr>
            <a:picLocks noChangeAspect="1"/>
          </p:cNvPicPr>
          <p:nvPr/>
        </p:nvPicPr>
        <p:blipFill>
          <a:blip r:embed="R5343d6ff4c17457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E6769AB0-AB42-4284-BB52-4656C71D4B1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Título">
            <a:extLst>
              <a:ext uri="{FF2B5EF4-FFF2-40B4-BE49-F238E27FC236}">
                <ns2:creationId id="{90491E5F-0446-4BAA-B6BE-4190663616A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Mi camino: trabajo diario guiado</a:t>
            </a:r>
          </a:p>
        </p:txBody>
      </p:sp>
      <p:sp>
        <p:nvSpPr>
          <p:cNvPr id="4" name="">
            <a:extLst>
              <a:ext uri="{FF2B5EF4-FFF2-40B4-BE49-F238E27FC236}">
                <ns2:creationId id="{92687A41-C742-4378-AD11-49975B1C34BB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33337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8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90</a:t>
            </a:r>
          </a:p>
        </p:txBody>
      </p:sp>
      <p:sp>
        <p:nvSpPr>
          <p:cNvPr id="5" name="">
            <a:extLst>
              <a:ext uri="{FF2B5EF4-FFF2-40B4-BE49-F238E27FC236}">
                <ns2:creationId id="{ADADDF67-C3F1-4410-80F0-92B1ADC7D175}"/>
              </a:ext>
            </a:extLst>
          </p:cNvPr>
          <p:cNvSpPr>
            <a:spLocks noGrp="1"/>
          </p:cNvSpPr>
          <p:nvPr/>
        </p:nvSpPr>
        <p:spPr>
          <a:xfrm>
            <a:off x="4038600" y="2343150"/>
            <a:ext cx="70104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2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2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Pasos para aprender mediante acciones reales</a:t>
            </a:r>
          </a:p>
        </p:txBody>
      </p:sp>
      <p:sp>
        <p:nvSpPr>
          <p:cNvPr id="6" name="">
            <a:extLst>
              <a:ext uri="{FF2B5EF4-FFF2-40B4-BE49-F238E27FC236}">
                <ns2:creationId id="{7C5AB490-C659-4C9B-B69E-DD904A82A66E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La tarea de hoy tiene una acción concreta, ayuda y un criterio de finalización.</a:t>
            </a:r>
          </a:p>
        </p:txBody>
      </p:sp>
      <p:sp>
        <p:nvSpPr>
          <p:cNvPr id="7" name="">
            <a:extLst>
              <a:ext uri="{FF2B5EF4-FFF2-40B4-BE49-F238E27FC236}">
                <ns2:creationId id="{0E5742C4-2A4A-4AB4-9CFF-680A82FB8898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4 Core: Captación, Retención, Productividad y Desarrollo. Acceso según las condiciones del programa.</a:t>
            </a:r>
          </a:p>
        </p:txBody>
      </p:sp>
    </p:spTree>
    <p:extLst>
      <p:ext uri="{BB962C8B-B14F-4D97-AF65-F5344CB8AC3E}">
        <ns4:creationId val="779428553"/>
      </p:ext>
    </p:extLst>
  </p:cSld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755CBF8A-CF99-4296-B52A-929A5B188D96}"/>
              </a:ext>
            </a:extLst>
          </p:cNvPr>
          <p:cNvPicPr>
            <a:picLocks noChangeAspect="1"/>
          </p:cNvPicPr>
          <p:nvPr/>
        </p:nvPicPr>
        <p:blipFill>
          <a:blip r:embed="Rd2520270cdcb44be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632DCC3-6502-4FE5-A452-5728A3FF9CB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Título">
            <a:extLst>
              <a:ext uri="{FF2B5EF4-FFF2-40B4-BE49-F238E27FC236}">
                <ns2:creationId id="{9CA21175-6AB5-4D8F-B8A5-DF0C57ACDE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Formación vinculada a la práctica</a:t>
            </a:r>
          </a:p>
        </p:txBody>
      </p:sp>
      <p:sp>
        <p:nvSpPr>
          <p:cNvPr id="4" name="">
            <a:extLst>
              <a:ext uri="{FF2B5EF4-FFF2-40B4-BE49-F238E27FC236}">
                <ns2:creationId id="{5601D9A2-9AD3-4AD3-8BED-F082627DE47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Convierte el tema en una conversación útil.</a:t>
            </a:r>
          </a:p>
        </p:txBody>
      </p:sp>
      <p:pic>
        <p:nvPicPr>
          <p:cNvPr id="5" name="">
            <a:extLst>
              <a:ext uri="{FF2B5EF4-FFF2-40B4-BE49-F238E27FC236}">
                <ns2:creationId id="{A42EF5A1-048A-40A7-8EB7-D73F3B145432}"/>
              </a:ext>
            </a:extLst>
          </p:cNvPr>
          <p:cNvPicPr>
            <a:picLocks noChangeAspect="1"/>
          </p:cNvPicPr>
          <p:nvPr/>
        </p:nvPicPr>
        <p:blipFill>
          <a:blip r:embed="Rc24afb3e1b784e7e"/>
          <a:stretch/>
        </p:blipFill>
        <p:spPr>
          <a:xfrm>
            <a:off x="609600" y="2771775"/>
            <a:ext cx="10953750" cy="3295650"/>
          </a:xfrm>
          <a:prstGeom prst="rect">
            <a:avLst/>
          </a:prstGeom>
        </p:spPr>
      </p:pic>
      <p:sp>
        <p:nvSpPr>
          <p:cNvPr id="7" name="Interface example"/>
          <p:cNvSpPr>
            <a:spLocks noGrp="1"/>
          </p:cNvSpPr>
          <p:nvPr/>
        </p:nvSpPr>
        <p:spPr>
          <a:xfrm>
            <a:off x="609600" y="63627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s-ES" dirty="0">
                <a:solidFill>
                  <a:srgbClr val="526B63"/>
                </a:solidFill>
                <a:latin typeface="Arial"/>
              </a:rPr>
              <a:t>Ejemplo de la interfaz de FCC en español.</a:t>
            </a:r>
          </a:p>
        </p:txBody>
      </p:sp>
    </p:spTree>
    <p:extLst>
      <p:ext uri="{BB962C8B-B14F-4D97-AF65-F5344CB8AC3E}">
        <ns4:creationId val="872864147"/>
      </p:ext>
    </p:extLst>
  </p:cSld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429D5618-D6D1-4709-9032-CCBDE1794EC0}"/>
              </a:ext>
            </a:extLst>
          </p:cNvPr>
          <p:cNvPicPr>
            <a:picLocks noChangeAspect="1"/>
          </p:cNvPicPr>
          <p:nvPr/>
        </p:nvPicPr>
        <p:blipFill>
          <a:blip r:embed="R9e74150305fa4111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D26F613-9E2D-4BC5-A70E-316C062077E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Título">
            <a:extLst>
              <a:ext uri="{FF2B5EF4-FFF2-40B4-BE49-F238E27FC236}">
                <ns2:creationId id="{3DBF11A3-4EDF-4D18-977F-B4AACE2BE63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Invitación al webinario elegido</a:t>
            </a:r>
          </a:p>
        </p:txBody>
      </p:sp>
      <p:sp>
        <p:nvSpPr>
          <p:cNvPr id="4" name="">
            <a:extLst>
              <a:ext uri="{FF2B5EF4-FFF2-40B4-BE49-F238E27FC236}">
                <ns2:creationId id="{64A80DF6-83D6-420D-B270-58B477A61493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3333750" cy="2657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Elige una fecha.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Añade un motivo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personal para invitar.</a:t>
            </a:r>
          </a:p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Envía tu enlace.</a:t>
            </a:r>
          </a:p>
        </p:txBody>
      </p:sp>
      <p:sp>
        <p:nvSpPr>
          <p:cNvPr id="5" name="">
            <a:extLst>
              <a:ext uri="{FF2B5EF4-FFF2-40B4-BE49-F238E27FC236}">
                <ns2:creationId id="{958B8E7C-0CB5-4427-A2CD-626ACD27829B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3333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02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 invitado se registra a un evento concreto mediante tu invitación.</a:t>
            </a:r>
          </a:p>
        </p:txBody>
      </p:sp>
      <p:pic>
        <p:nvPicPr>
          <p:cNvPr id="6" name="">
            <a:extLst>
              <a:ext uri="{FF2B5EF4-FFF2-40B4-BE49-F238E27FC236}">
                <ns2:creationId id="{3390DCC8-0B52-4314-8F10-D4E2C4601566}"/>
              </a:ext>
            </a:extLst>
          </p:cNvPr>
          <p:cNvPicPr>
            <a:picLocks noChangeAspect="1"/>
          </p:cNvPicPr>
          <p:nvPr/>
        </p:nvPicPr>
        <p:blipFill>
          <a:blip r:embed="R1e50648732a948d2"/>
          <a:stretch/>
        </p:blipFill>
        <p:spPr>
          <a:xfrm>
            <a:off x="5667375" y="2343773"/>
            <a:ext cx="5524500" cy="3418229"/>
          </a:xfrm>
          <a:prstGeom prst="rect">
            <a:avLst/>
          </a:prstGeom>
        </p:spPr>
      </p:pic>
      <p:sp>
        <p:nvSpPr>
          <p:cNvPr id="8" name="Interface example"/>
          <p:cNvSpPr>
            <a:spLocks noGrp="1"/>
          </p:cNvSpPr>
          <p:nvPr/>
        </p:nvSpPr>
        <p:spPr>
          <a:xfrm>
            <a:off x="609600" y="6238875"/>
            <a:ext cx="6191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s-ES" dirty="0">
                <a:solidFill>
                  <a:srgbClr val="526B63"/>
                </a:solidFill>
                <a:latin typeface="Arial"/>
              </a:rPr>
              <a:t>Ejemplo de la interfaz de FCC en español.</a:t>
            </a:r>
          </a:p>
        </p:txBody>
      </p:sp>
    </p:spTree>
    <p:extLst>
      <p:ext uri="{BB962C8B-B14F-4D97-AF65-F5344CB8AC3E}">
        <ns4:creationId val="700804711"/>
      </p:ext>
    </p:extLst>
  </p:cSld>
</p:sld>
</file>

<file path=ppt/slides/slide2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D5E12F88-80BE-4ED3-9045-0929104BF85E}"/>
              </a:ext>
            </a:extLst>
          </p:cNvPr>
          <p:cNvPicPr>
            <a:picLocks noChangeAspect="1"/>
          </p:cNvPicPr>
          <p:nvPr/>
        </p:nvPicPr>
        <p:blipFill>
          <a:blip r:embed="R767dfad8865d4072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C95CCE3-AAC8-46D2-A89D-918660909B1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Título">
            <a:extLst>
              <a:ext uri="{FF2B5EF4-FFF2-40B4-BE49-F238E27FC236}">
                <ns2:creationId id="{86A969A1-FE90-4CAE-9E4D-B1F25AAE345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Marko se registró. ¿Qué sigue?</a:t>
            </a:r>
          </a:p>
        </p:txBody>
      </p:sp>
      <p:sp>
        <p:nvSpPr>
          <p:cNvPr id="4" name="">
            <a:extLst>
              <a:ext uri="{FF2B5EF4-FFF2-40B4-BE49-F238E27FC236}">
                <ns2:creationId id="{E5F1DAFA-2528-492F-B2BE-F6718195409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4DB35653-FBDF-4BEC-83F0-6FBB39603769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Registro para una fecha concreta</a:t>
            </a:r>
          </a:p>
        </p:txBody>
      </p:sp>
      <p:sp>
        <p:nvSpPr>
          <p:cNvPr id="6" name="">
            <a:extLst>
              <a:ext uri="{FF2B5EF4-FFF2-40B4-BE49-F238E27FC236}">
                <ns2:creationId id="{CB2364BB-A3BB-4784-8D31-FC7726F1C590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 contacto y registro siguen vinculados a quien invita.</a:t>
            </a:r>
          </a:p>
        </p:txBody>
      </p:sp>
      <p:sp>
        <p:nvSpPr>
          <p:cNvPr id="7" name="">
            <a:extLst>
              <a:ext uri="{FF2B5EF4-FFF2-40B4-BE49-F238E27FC236}">
                <ns2:creationId id="{AD290595-7437-4728-8D3A-3E8B1D2B748F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46695ECA-CB8D-4B9F-A2E8-B65C37B9556C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Antes del webinario</a:t>
            </a:r>
          </a:p>
        </p:txBody>
      </p:sp>
      <p:sp>
        <p:nvSpPr>
          <p:cNvPr id="9" name="">
            <a:extLst>
              <a:ext uri="{FF2B5EF4-FFF2-40B4-BE49-F238E27FC236}">
                <ns2:creationId id="{62BE4D3F-BC4E-41C9-B048-D3D0AD57E314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Confirmación y recordatorios elegidos ayudan a asistir.</a:t>
            </a:r>
          </a:p>
        </p:txBody>
      </p:sp>
      <p:sp>
        <p:nvSpPr>
          <p:cNvPr id="10" name="">
            <a:extLst>
              <a:ext uri="{FF2B5EF4-FFF2-40B4-BE49-F238E27FC236}">
                <ns2:creationId id="{8ECC572D-40C3-4866-9005-CFF07D7DA9C3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B07424D-9E40-46F4-B29D-C0C5CD66F25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Después del webinario</a:t>
            </a:r>
          </a:p>
        </p:txBody>
      </p:sp>
      <p:sp>
        <p:nvSpPr>
          <p:cNvPr id="12" name="">
            <a:extLst>
              <a:ext uri="{FF2B5EF4-FFF2-40B4-BE49-F238E27FC236}">
                <ns2:creationId id="{CC04F91B-0460-4471-969A-A7A5BB25A43D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 colaborador confirma la asistencia y acuerda hablar.</a:t>
            </a:r>
          </a:p>
        </p:txBody>
      </p:sp>
      <p:sp>
        <p:nvSpPr>
          <p:cNvPr id="13" name="">
            <a:extLst>
              <a:ext uri="{FF2B5EF4-FFF2-40B4-BE49-F238E27FC236}">
                <ns2:creationId id="{1996C6A4-A7E3-4F17-8120-05460EF79D98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015C3FA-BB82-4048-81E2-1B20DA03DFA6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Si no asistió</a:t>
            </a:r>
          </a:p>
        </p:txBody>
      </p:sp>
      <p:sp>
        <p:nvSpPr>
          <p:cNvPr id="15" name="">
            <a:extLst>
              <a:ext uri="{FF2B5EF4-FFF2-40B4-BE49-F238E27FC236}">
                <ns2:creationId id="{67891E00-CB5A-48F8-9822-D3F7DBF396CA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Una conversación personal y una invitación para otra fecha.</a:t>
            </a:r>
          </a:p>
        </p:txBody>
      </p:sp>
    </p:spTree>
    <p:extLst>
      <p:ext uri="{BB962C8B-B14F-4D97-AF65-F5344CB8AC3E}">
        <ns4:creationId val="2122822085"/>
      </p:ext>
    </p:extLst>
  </p:cSld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B9472236-3934-486C-A23A-6370DE23E664}"/>
              </a:ext>
            </a:extLst>
          </p:cNvPr>
          <p:cNvPicPr>
            <a:picLocks noChangeAspect="1"/>
          </p:cNvPicPr>
          <p:nvPr/>
        </p:nvPicPr>
        <p:blipFill>
          <a:blip r:embed="R91a2746f4c374b45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68B0361B-9635-4166-AE62-4CF793B4F1A3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Título">
            <a:extLst>
              <a:ext uri="{FF2B5EF4-FFF2-40B4-BE49-F238E27FC236}">
                <ns2:creationId id="{A3F07F94-2F35-418F-817F-9743B462CB6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Webinarios personales y de equipo</a:t>
            </a:r>
          </a:p>
        </p:txBody>
      </p:sp>
      <p:sp>
        <p:nvSpPr>
          <p:cNvPr id="4" name="">
            <a:extLst>
              <a:ext uri="{FF2B5EF4-FFF2-40B4-BE49-F238E27FC236}">
                <ns2:creationId id="{15C68868-CAC3-4747-A74E-8D8DCC287173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105918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Un evento único o periódico.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En el idioma elegido.</a:t>
            </a:r>
          </a:p>
          <a:p>
            <a:pPr>
              <a:defRPr sz="31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1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Para tus invitados o tu equipo FCC.</a:t>
            </a:r>
          </a:p>
        </p:txBody>
      </p:sp>
      <p:sp>
        <p:nvSpPr>
          <p:cNvPr id="5" name="">
            <a:extLst>
              <a:ext uri="{FF2B5EF4-FFF2-40B4-BE49-F238E27FC236}">
                <ns2:creationId id="{CA141C86-D453-47CD-8181-922C077B11D4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104489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32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Cada miembro invita con su enlace y conserva sus contactos.</a:t>
            </a:r>
          </a:p>
        </p:txBody>
      </p:sp>
      <p:sp>
        <p:nvSpPr>
          <p:cNvPr id="6" name="">
            <a:extLst>
              <a:ext uri="{FF2B5EF4-FFF2-40B4-BE49-F238E27FC236}">
                <ns2:creationId id="{330A4E96-5E13-4241-96CF-B5C8186A91E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Crear tus propios webinarios está disponible en PRO.</a:t>
            </a:r>
          </a:p>
        </p:txBody>
      </p:sp>
    </p:spTree>
    <p:extLst>
      <p:ext uri="{BB962C8B-B14F-4D97-AF65-F5344CB8AC3E}">
        <ns4:creationId val="1264850231"/>
      </p:ext>
    </p:extLst>
  </p:cSld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5E86031B-74C2-4608-8EC0-F7A06E16AB36}"/>
              </a:ext>
            </a:extLst>
          </p:cNvPr>
          <p:cNvPicPr>
            <a:picLocks noChangeAspect="1"/>
          </p:cNvPicPr>
          <p:nvPr/>
        </p:nvPicPr>
        <p:blipFill>
          <a:blip r:embed="R59ec47a19bc2488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93698D6B-5742-4E5B-834D-CB8A1A51416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" name="Título">
            <a:extLst>
              <a:ext uri="{FF2B5EF4-FFF2-40B4-BE49-F238E27FC236}">
                <ns2:creationId id="{E8A14DF5-11A1-4D9F-9B08-F9C64AB2045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Apoyo a colaboradores en Mi equipo</a:t>
            </a:r>
          </a:p>
        </p:txBody>
      </p:sp>
      <p:sp>
        <p:nvSpPr>
          <p:cNvPr id="4" name="">
            <a:extLst>
              <a:ext uri="{FF2B5EF4-FFF2-40B4-BE49-F238E27FC236}">
                <ns2:creationId id="{5C794550-AB76-4651-9D65-FCC54402C9D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D790686-2438-4A73-8815-5D8A40D9C276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Personas y progreso</a:t>
            </a:r>
          </a:p>
        </p:txBody>
      </p:sp>
      <p:sp>
        <p:nvSpPr>
          <p:cNvPr id="6" name="">
            <a:extLst>
              <a:ext uri="{FF2B5EF4-FFF2-40B4-BE49-F238E27FC236}">
                <ns2:creationId id="{57A656BD-9E7D-4723-A3EB-C0005AB55657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Reconoce dónde una conversación y apoyo pueden ayudar.</a:t>
            </a:r>
          </a:p>
        </p:txBody>
      </p:sp>
      <p:sp>
        <p:nvSpPr>
          <p:cNvPr id="7" name="">
            <a:extLst>
              <a:ext uri="{FF2B5EF4-FFF2-40B4-BE49-F238E27FC236}">
                <ns2:creationId id="{967AC6C6-2AA2-4DBF-B458-584184EDCB24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6B851E9-6FC5-431B-859B-AF028D6FEB8F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Contacto personal</a:t>
            </a:r>
          </a:p>
        </p:txBody>
      </p:sp>
      <p:sp>
        <p:nvSpPr>
          <p:cNvPr id="9" name="">
            <a:extLst>
              <a:ext uri="{FF2B5EF4-FFF2-40B4-BE49-F238E27FC236}">
                <ns2:creationId id="{818F0784-40F3-44C9-9582-B7A15C5FB7EE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Prepara el mensaje y confirma que se envió realmente.</a:t>
            </a:r>
          </a:p>
        </p:txBody>
      </p:sp>
      <p:sp>
        <p:nvSpPr>
          <p:cNvPr id="10" name="">
            <a:extLst>
              <a:ext uri="{FF2B5EF4-FFF2-40B4-BE49-F238E27FC236}">
                <ns2:creationId id="{B9F0BD01-52B3-41AC-98C0-040405407F1A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481DB09C-DD2D-4344-86DC-1D4C290AFDE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Próximo acuerdo</a:t>
            </a:r>
          </a:p>
        </p:txBody>
      </p:sp>
      <p:sp>
        <p:nvSpPr>
          <p:cNvPr id="12" name="">
            <a:extLst>
              <a:ext uri="{FF2B5EF4-FFF2-40B4-BE49-F238E27FC236}">
                <ns2:creationId id="{FA5462F9-CF88-452C-9CD7-60E7B954693D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Un recordatorio para conversar y continuar el apoyo.</a:t>
            </a:r>
          </a:p>
        </p:txBody>
      </p:sp>
      <p:sp>
        <p:nvSpPr>
          <p:cNvPr id="13" name="">
            <a:extLst>
              <a:ext uri="{FF2B5EF4-FFF2-40B4-BE49-F238E27FC236}">
                <ns2:creationId id="{EA4F5EE5-D9B7-490A-8B9A-397E2C50127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Función PRO. Los datos ayudan a conversar sin sustituir el diálogo.</a:t>
            </a:r>
          </a:p>
        </p:txBody>
      </p:sp>
    </p:spTree>
    <p:extLst>
      <p:ext uri="{BB962C8B-B14F-4D97-AF65-F5344CB8AC3E}">
        <ns4:creationId val="743576115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">
            <a:extLst>
              <a:ext uri="{FF2B5EF4-FFF2-40B4-BE49-F238E27FC236}">
                <ns2:creationId id="{8FD54B42-D5D9-4C8E-A795-D8C9DC824F7E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2" name="Título">
            <a:extLst>
              <a:ext uri="{FF2B5EF4-FFF2-40B4-BE49-F238E27FC236}">
                <ns2:creationId id="{0A8A4CAC-4231-4F7F-ACB0-D9A1910CA919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Un ejemplo cotidiano</a:t>
            </a:r>
          </a:p>
        </p:txBody>
      </p:sp>
      <p:sp>
        <p:nvSpPr>
          <p:cNvPr id="3" name="">
            <a:extLst>
              <a:ext uri="{FF2B5EF4-FFF2-40B4-BE49-F238E27FC236}">
                <ns2:creationId id="{95AA7EBA-6878-4508-B7DD-388E8A06A72D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4" name="">
            <a:extLst>
              <a:ext uri="{FF2B5EF4-FFF2-40B4-BE49-F238E27FC236}">
                <ns2:creationId id="{03646A3A-C104-4F37-B92F-BB2EAE187254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paso de hoy</a:t>
            </a:r>
          </a:p>
        </p:txBody>
      </p:sp>
      <p:sp>
        <p:nvSpPr>
          <p:cNvPr id="5" name="">
            <a:extLst>
              <a:ext uri="{FF2B5EF4-FFF2-40B4-BE49-F238E27FC236}">
                <ns2:creationId id="{FE393999-B9B5-4679-B5D3-6DB274700D3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Abro la tarea y entiendo qué hacer.</a:t>
            </a:r>
          </a:p>
        </p:txBody>
      </p:sp>
      <p:sp>
        <p:nvSpPr>
          <p:cNvPr id="6" name="">
            <a:extLst>
              <a:ext uri="{FF2B5EF4-FFF2-40B4-BE49-F238E27FC236}">
                <ns2:creationId id="{91FEC0DE-5CB4-4CA9-AAEC-3F72A813B357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7" name="">
            <a:extLst>
              <a:ext uri="{FF2B5EF4-FFF2-40B4-BE49-F238E27FC236}">
                <ns2:creationId id="{DAD20ADD-6670-452E-AC38-4568348090F2}"/>
              </a:ext>
            </a:extLst>
          </p:cNvPr>
          <p:cNvSpPr>
            <a:spLocks noGrp="1"/>
          </p:cNvSpPr>
          <p:nvPr/>
        </p:nvSpPr>
        <p:spPr>
          <a:xfrm>
            <a:off x="1257300" y="28765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Ana y su interés</a:t>
            </a:r>
          </a:p>
        </p:txBody>
      </p:sp>
      <p:sp>
        <p:nvSpPr>
          <p:cNvPr id="8" name="">
            <a:extLst>
              <a:ext uri="{FF2B5EF4-FFF2-40B4-BE49-F238E27FC236}">
                <ns2:creationId id="{65D3A541-A07B-40D6-996F-497837E3F221}"/>
              </a:ext>
            </a:extLst>
          </p:cNvPr>
          <p:cNvSpPr>
            <a:spLocks noGrp="1"/>
          </p:cNvSpPr>
          <p:nvPr/>
        </p:nvSpPr>
        <p:spPr>
          <a:xfrm>
            <a:off x="1257300" y="32861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Preparo un mensaje útil según lo hablado.</a:t>
            </a:r>
          </a:p>
        </p:txBody>
      </p:sp>
      <p:sp>
        <p:nvSpPr>
          <p:cNvPr id="9" name="">
            <a:extLst>
              <a:ext uri="{FF2B5EF4-FFF2-40B4-BE49-F238E27FC236}">
                <ns2:creationId id="{B0B45942-1C82-4F2E-A57D-A14033966DFD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0" name="">
            <a:extLst>
              <a:ext uri="{FF2B5EF4-FFF2-40B4-BE49-F238E27FC236}">
                <ns2:creationId id="{60121B05-21D8-491D-8733-458B22AA21A7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Mi recomendación</a:t>
            </a:r>
          </a:p>
        </p:txBody>
      </p:sp>
      <p:sp>
        <p:nvSpPr>
          <p:cNvPr id="11" name="">
            <a:extLst>
              <a:ext uri="{FF2B5EF4-FFF2-40B4-BE49-F238E27FC236}">
                <ns2:creationId id="{F6AE71F9-B8CE-4986-8A1F-59474B627BB0}"/>
              </a:ext>
            </a:extLst>
          </p:cNvPr>
          <p:cNvSpPr>
            <a:spLocks noGrp="1"/>
          </p:cNvSpPr>
          <p:nvPr/>
        </p:nvSpPr>
        <p:spPr>
          <a:xfrm>
            <a:off x="1257300" y="42005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Comparto un producto o invitación para la fecha elegida.</a:t>
            </a:r>
          </a:p>
        </p:txBody>
      </p:sp>
      <p:sp>
        <p:nvSpPr>
          <p:cNvPr id="12" name="">
            <a:extLst>
              <a:ext uri="{FF2B5EF4-FFF2-40B4-BE49-F238E27FC236}">
                <ns2:creationId id="{F4A4571D-FA77-422B-9D76-F3ACB7D696EF}"/>
              </a:ext>
            </a:extLst>
          </p:cNvPr>
          <p:cNvSpPr>
            <a:spLocks noGrp="1"/>
          </p:cNvSpPr>
          <p:nvPr/>
        </p:nvSpPr>
        <p:spPr>
          <a:xfrm>
            <a:off x="609600" y="47053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">
            <a:extLst>
              <a:ext uri="{FF2B5EF4-FFF2-40B4-BE49-F238E27FC236}">
                <ns2:creationId id="{7F97F9DF-E177-4FFC-BEA3-E8607C5F908E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Próximo acuerdo</a:t>
            </a:r>
          </a:p>
        </p:txBody>
      </p:sp>
      <p:sp>
        <p:nvSpPr>
          <p:cNvPr id="14" name="">
            <a:extLst>
              <a:ext uri="{FF2B5EF4-FFF2-40B4-BE49-F238E27FC236}">
                <ns2:creationId id="{AE76C082-5565-4973-AD5C-698FD8AAAAA8}"/>
              </a:ext>
            </a:extLst>
          </p:cNvPr>
          <p:cNvSpPr>
            <a:spLocks noGrp="1"/>
          </p:cNvSpPr>
          <p:nvPr/>
        </p:nvSpPr>
        <p:spPr>
          <a:xfrm>
            <a:off x="1257300" y="51149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Anoto la acción y fecha del próximo contacto.</a:t>
            </a:r>
          </a:p>
        </p:txBody>
      </p:sp>
    </p:spTree>
    <p:extLst>
      <p:ext uri="{BB962C8B-B14F-4D97-AF65-F5344CB8AC3E}">
        <ns3:creationId val="1769184539"/>
      </p:ext>
    </p:extLst>
  </p:cSld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AD69F793-5AC2-4B61-8E08-807EA3E82C93}"/>
              </a:ext>
            </a:extLst>
          </p:cNvPr>
          <p:cNvPicPr>
            <a:picLocks noChangeAspect="1"/>
          </p:cNvPicPr>
          <p:nvPr/>
        </p:nvPicPr>
        <p:blipFill>
          <a:blip r:embed="R5fc007ce49884a48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D599A719-1E57-4637-B8AE-2EADBB60B92A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Título">
            <a:extLst>
              <a:ext uri="{FF2B5EF4-FFF2-40B4-BE49-F238E27FC236}">
                <ns2:creationId id="{8BB1BE9D-040A-44D0-AEAF-D2C3ACE9FBD0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La semana de tu webinario</a:t>
            </a:r>
          </a:p>
        </p:txBody>
      </p:sp>
      <p:sp>
        <p:nvSpPr>
          <p:cNvPr id="4" name="">
            <a:extLst>
              <a:ext uri="{FF2B5EF4-FFF2-40B4-BE49-F238E27FC236}">
                <ns2:creationId id="{0F5BB3E7-43FB-4F91-B6E5-6557057A7B6C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2D731A5-172B-48C5-9CD0-E353F39BF95A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Antes de la fecha</a:t>
            </a:r>
          </a:p>
        </p:txBody>
      </p:sp>
      <p:sp>
        <p:nvSpPr>
          <p:cNvPr id="6" name="">
            <a:extLst>
              <a:ext uri="{FF2B5EF4-FFF2-40B4-BE49-F238E27FC236}">
                <ns2:creationId id="{DE5EA19D-E7B5-44A8-9292-5670686D93E3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Invita a personas afines al tema y sigue los registros.</a:t>
            </a:r>
          </a:p>
        </p:txBody>
      </p:sp>
      <p:sp>
        <p:nvSpPr>
          <p:cNvPr id="7" name="">
            <a:extLst>
              <a:ext uri="{FF2B5EF4-FFF2-40B4-BE49-F238E27FC236}">
                <ns2:creationId id="{3563B572-16E0-4754-AEA8-67452D850777}"/>
              </a:ext>
            </a:extLst>
          </p:cNvPr>
          <p:cNvSpPr>
            <a:spLocks noGrp="1"/>
          </p:cNvSpPr>
          <p:nvPr/>
        </p:nvSpPr>
        <p:spPr>
          <a:xfrm>
            <a:off x="609600" y="31337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8ADC08C2-B626-42AB-8FE0-A6E440453B2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El día del webinario</a:t>
            </a:r>
          </a:p>
        </p:txBody>
      </p:sp>
      <p:sp>
        <p:nvSpPr>
          <p:cNvPr id="9" name="">
            <a:extLst>
              <a:ext uri="{FF2B5EF4-FFF2-40B4-BE49-F238E27FC236}">
                <ns2:creationId id="{DADD1F90-51F6-4480-B898-7B0301DA703B}"/>
              </a:ext>
            </a:extLst>
          </p:cNvPr>
          <p:cNvSpPr>
            <a:spLocks noGrp="1"/>
          </p:cNvSpPr>
          <p:nvPr/>
        </p:nvSpPr>
        <p:spPr>
          <a:xfrm>
            <a:off x="1257300" y="35433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Comprueba lo acordado con invitados y el enlace de acceso.</a:t>
            </a:r>
          </a:p>
        </p:txBody>
      </p:sp>
      <p:sp>
        <p:nvSpPr>
          <p:cNvPr id="10" name="">
            <a:extLst>
              <a:ext uri="{FF2B5EF4-FFF2-40B4-BE49-F238E27FC236}">
                <ns2:creationId id="{484C3046-0C6A-4B03-8AD2-29A084085E35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9A55AF0B-C2C8-4E43-9E8D-6C7703D217C1}"/>
              </a:ext>
            </a:extLst>
          </p:cNvPr>
          <p:cNvSpPr>
            <a:spLocks noGrp="1"/>
          </p:cNvSpPr>
          <p:nvPr/>
        </p:nvSpPr>
        <p:spPr>
          <a:xfrm>
            <a:off x="1257300" y="43053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Después del encuentro</a:t>
            </a:r>
          </a:p>
        </p:txBody>
      </p:sp>
      <p:sp>
        <p:nvSpPr>
          <p:cNvPr id="12" name="">
            <a:extLst>
              <a:ext uri="{FF2B5EF4-FFF2-40B4-BE49-F238E27FC236}">
                <ns2:creationId id="{DB263AC0-53C8-4704-9C0D-1FE463EBD2D5}"/>
              </a:ext>
            </a:extLst>
          </p:cNvPr>
          <p:cNvSpPr>
            <a:spLocks noGrp="1"/>
          </p:cNvSpPr>
          <p:nvPr/>
        </p:nvSpPr>
        <p:spPr>
          <a:xfrm>
            <a:off x="1257300" y="47148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Habla de su interés y acuerda el siguiente paso.</a:t>
            </a:r>
          </a:p>
        </p:txBody>
      </p:sp>
      <p:sp>
        <p:nvSpPr>
          <p:cNvPr id="13" name="">
            <a:extLst>
              <a:ext uri="{FF2B5EF4-FFF2-40B4-BE49-F238E27FC236}">
                <ns2:creationId id="{75B3B4AC-FE57-4B6D-896B-D75217171EA0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Entre encuentros, trabaja con clientes y sigue los pasos disponibles de Mi camino.</a:t>
            </a:r>
          </a:p>
        </p:txBody>
      </p:sp>
    </p:spTree>
    <p:extLst>
      <p:ext uri="{BB962C8B-B14F-4D97-AF65-F5344CB8AC3E}">
        <ns4:creationId val="1050284790"/>
      </p:ext>
    </p:extLst>
  </p:cSld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0AF6069-FCC7-4456-B755-1C11B7C5D272}"/>
              </a:ext>
            </a:extLst>
          </p:cNvPr>
          <p:cNvPicPr>
            <a:picLocks noChangeAspect="1"/>
          </p:cNvPicPr>
          <p:nvPr/>
        </p:nvPicPr>
        <p:blipFill>
          <a:blip r:embed="R2ce76662dc9b462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23F1E39-5BF0-44A4-A298-3D226CF4DBA5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Título">
            <a:extLst>
              <a:ext uri="{FF2B5EF4-FFF2-40B4-BE49-F238E27FC236}">
                <ns2:creationId id="{AB0951CD-823B-4F14-9076-B1C104C88A1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Ejemplo de primera semana</a:t>
            </a:r>
          </a:p>
        </p:txBody>
      </p:sp>
      <p:sp>
        <p:nvSpPr>
          <p:cNvPr id="4" name="">
            <a:extLst>
              <a:ext uri="{FF2B5EF4-FFF2-40B4-BE49-F238E27FC236}">
                <ns2:creationId id="{E4E16D70-7C22-4173-AEA3-D57D27D08849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89CAEC09-35AD-4098-B8D6-9F781218194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Conocer el sistema</a:t>
            </a:r>
          </a:p>
        </p:txBody>
      </p:sp>
      <p:sp>
        <p:nvSpPr>
          <p:cNvPr id="6" name="">
            <a:extLst>
              <a:ext uri="{FF2B5EF4-FFF2-40B4-BE49-F238E27FC236}">
                <ns2:creationId id="{0D5006A6-5EE1-48F3-BADE-BF53FCED4EB5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Cuenta, tarjeta y conversación con el patrocinador.</a:t>
            </a:r>
          </a:p>
        </p:txBody>
      </p:sp>
      <p:sp>
        <p:nvSpPr>
          <p:cNvPr id="7" name="">
            <a:extLst>
              <a:ext uri="{FF2B5EF4-FFF2-40B4-BE49-F238E27FC236}">
                <ns2:creationId id="{7303B055-FEE5-47B6-8053-4DA925ABC5E7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9F217234-F93D-4B66-BF0E-A719F5C8D308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Una recomendación útil</a:t>
            </a:r>
          </a:p>
        </p:txBody>
      </p:sp>
      <p:sp>
        <p:nvSpPr>
          <p:cNvPr id="9" name="">
            <a:extLst>
              <a:ext uri="{FF2B5EF4-FFF2-40B4-BE49-F238E27FC236}">
                <ns2:creationId id="{CC951A8C-6108-4925-B9E2-E88BC497C0F5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Elegir un producto y un mensaje personal natural.</a:t>
            </a:r>
          </a:p>
        </p:txBody>
      </p:sp>
      <p:sp>
        <p:nvSpPr>
          <p:cNvPr id="10" name="">
            <a:extLst>
              <a:ext uri="{FF2B5EF4-FFF2-40B4-BE49-F238E27FC236}">
                <ns2:creationId id="{9D38A44F-AE96-4E0B-9981-4DAFF3425B4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8E9E14C2-91E9-4D7C-AAE4-F4F0E9B5CF6F}"/>
              </a:ext>
            </a:extLst>
          </p:cNvPr>
          <p:cNvSpPr>
            <a:spLocks noGrp="1"/>
          </p:cNvSpPr>
          <p:nvPr/>
        </p:nvSpPr>
        <p:spPr>
          <a:xfrm>
            <a:off x="1257300" y="37528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Una invitación</a:t>
            </a:r>
          </a:p>
        </p:txBody>
      </p:sp>
      <p:sp>
        <p:nvSpPr>
          <p:cNvPr id="12" name="">
            <a:extLst>
              <a:ext uri="{FF2B5EF4-FFF2-40B4-BE49-F238E27FC236}">
                <ns2:creationId id="{D22D0B3A-262A-432C-81FD-50F65D84DE52}"/>
              </a:ext>
            </a:extLst>
          </p:cNvPr>
          <p:cNvSpPr>
            <a:spLocks noGrp="1"/>
          </p:cNvSpPr>
          <p:nvPr/>
        </p:nvSpPr>
        <p:spPr>
          <a:xfrm>
            <a:off x="1257300" y="41624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Elegir un webinario actual y preparar la invitación.</a:t>
            </a:r>
          </a:p>
        </p:txBody>
      </p:sp>
      <p:sp>
        <p:nvSpPr>
          <p:cNvPr id="13" name="">
            <a:extLst>
              <a:ext uri="{FF2B5EF4-FFF2-40B4-BE49-F238E27FC236}">
                <ns2:creationId id="{E7B9CBFC-3ADE-4A30-AE7C-A4D42E43527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08B2CFAD-8690-4998-8924-E7791A9679E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Una breve reflexión</a:t>
            </a:r>
          </a:p>
        </p:txBody>
      </p:sp>
      <p:sp>
        <p:nvSpPr>
          <p:cNvPr id="15" name="">
            <a:extLst>
              <a:ext uri="{FF2B5EF4-FFF2-40B4-BE49-F238E27FC236}">
                <ns2:creationId id="{31F9D09C-3988-4A44-80DE-E4905FDBB713}"/>
              </a:ext>
            </a:extLst>
          </p:cNvPr>
          <p:cNvSpPr>
            <a:spLocks noGrp="1"/>
          </p:cNvSpPr>
          <p:nvPr/>
        </p:nvSpPr>
        <p:spPr>
          <a:xfrm>
            <a:off x="1257300" y="5057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Qué está hecho, qué falta aclarar y qué viene después.</a:t>
            </a:r>
          </a:p>
        </p:txBody>
      </p:sp>
    </p:spTree>
    <p:extLst>
      <p:ext uri="{BB962C8B-B14F-4D97-AF65-F5344CB8AC3E}">
        <ns4:creationId val="185701561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6A372F37-AC02-4069-917F-14900D63FA2F}"/>
              </a:ext>
            </a:extLst>
          </p:cNvPr>
          <p:cNvPicPr>
            <a:picLocks noChangeAspect="1"/>
          </p:cNvPicPr>
          <p:nvPr/>
        </p:nvPicPr>
        <p:blipFill>
          <a:blip r:embed="R5e6a51b14994433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59ED990-7C91-47DE-B6FF-FD1484E9EE76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Título">
            <a:extLst>
              <a:ext uri="{FF2B5EF4-FFF2-40B4-BE49-F238E27FC236}">
                <ns2:creationId id="{26408AEC-A0D6-4A44-A0F9-D0C8BC1357D7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 y PRO: elegir según necesidades</a:t>
            </a:r>
          </a:p>
        </p:txBody>
      </p:sp>
      <p:sp>
        <p:nvSpPr>
          <p:cNvPr id="4" name="">
            <a:extLst>
              <a:ext uri="{FF2B5EF4-FFF2-40B4-BE49-F238E27FC236}">
                <ns2:creationId id="{60B55B24-89D6-4E5D-A9E8-E601C38C3855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5" name="">
            <a:extLst>
              <a:ext uri="{FF2B5EF4-FFF2-40B4-BE49-F238E27FC236}">
                <ns2:creationId id="{43A95E34-CA37-48CF-8F92-03753AFC8E5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Tarjeta personal y recomendaciones compartidas.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Contactos, seguimientos acordados y tareas personales.</a:t>
            </a:r>
          </a:p>
        </p:txBody>
      </p:sp>
      <p:sp>
        <p:nvSpPr>
          <p:cNvPr id="6" name="">
            <a:extLst>
              <a:ext uri="{FF2B5EF4-FFF2-40B4-BE49-F238E27FC236}">
                <ns2:creationId id="{C4E1F5DC-0C3B-4C12-8156-1609B7C6E1B3}"/>
              </a:ext>
            </a:extLst>
          </p:cNvPr>
          <p:cNvSpPr>
            <a:spLocks noGrp="1"/>
          </p:cNvSpPr>
          <p:nvPr/>
        </p:nvSpPr>
        <p:spPr>
          <a:xfrm>
            <a:off x="6419850" y="2105025"/>
            <a:ext cx="495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6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7" name="">
            <a:extLst>
              <a:ext uri="{FF2B5EF4-FFF2-40B4-BE49-F238E27FC236}">
                <ns2:creationId id="{E86197AF-9652-4CFF-A13A-1751EB92289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48577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Coach personal y vista del equipo.</a:t>
            </a:r>
          </a:p>
          <a:p>
            <a:r>
              <a:t/>
            </a:r>
          </a:p>
          <a:p>
            <a:pPr>
              <a:defRPr sz="21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1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Webinarios propios, invitaciones en vídeo y más herramientas.</a:t>
            </a:r>
          </a:p>
        </p:txBody>
      </p:sp>
      <p:sp>
        <p:nvSpPr>
          <p:cNvPr id="8" name="">
            <a:extLst>
              <a:ext uri="{FF2B5EF4-FFF2-40B4-BE49-F238E27FC236}">
                <ns2:creationId id="{9AC41453-B93F-4081-8A58-8F439FDBAE8E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PRO es de pago. FCC muestra las funciones y precios actuales.</a:t>
            </a:r>
          </a:p>
        </p:txBody>
      </p:sp>
    </p:spTree>
    <p:extLst>
      <p:ext uri="{BB962C8B-B14F-4D97-AF65-F5344CB8AC3E}">
        <ns4:creationId val="1992491909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8A847E84-CE4C-4CC0-B070-58B987762D4A}"/>
              </a:ext>
            </a:extLst>
          </p:cNvPr>
          <p:cNvPicPr>
            <a:picLocks noChangeAspect="1"/>
          </p:cNvPicPr>
          <p:nvPr/>
        </p:nvPicPr>
        <p:blipFill>
          <a:blip r:embed="R90f9cc35fcf0450c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3998E854-20B7-4D4D-825D-9507829847E4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Título">
            <a:extLst>
              <a:ext uri="{FF2B5EF4-FFF2-40B4-BE49-F238E27FC236}">
                <ns2:creationId id="{D7A61237-BA69-4EAE-BC4F-F276472E1BC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Preguntas para una conversación personal</a:t>
            </a:r>
          </a:p>
        </p:txBody>
      </p:sp>
      <p:sp>
        <p:nvSpPr>
          <p:cNvPr id="4" name="">
            <a:extLst>
              <a:ext uri="{FF2B5EF4-FFF2-40B4-BE49-F238E27FC236}">
                <ns2:creationId id="{2DF79649-6C2F-45FF-8E1E-2C06B3DFCAC7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0B6DA76C-B943-432A-B447-BF9D222BC1C7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¿Qué comienzo me conviene?</a:t>
            </a:r>
          </a:p>
        </p:txBody>
      </p:sp>
      <p:sp>
        <p:nvSpPr>
          <p:cNvPr id="6" name="">
            <a:extLst>
              <a:ext uri="{FF2B5EF4-FFF2-40B4-BE49-F238E27FC236}">
                <ns2:creationId id="{980D52DB-06F8-442B-9486-2B3594D0853F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Usar productos o colaborar comercialmente.</a:t>
            </a:r>
          </a:p>
        </p:txBody>
      </p:sp>
      <p:sp>
        <p:nvSpPr>
          <p:cNvPr id="7" name="">
            <a:extLst>
              <a:ext uri="{FF2B5EF4-FFF2-40B4-BE49-F238E27FC236}">
                <ns2:creationId id="{756C80F1-00D4-47FA-A748-CF5C89E7CDA3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57DE507B-F306-4302-BC81-A9F642343139}"/>
              </a:ext>
            </a:extLst>
          </p:cNvPr>
          <p:cNvSpPr>
            <a:spLocks noGrp="1"/>
          </p:cNvSpPr>
          <p:nvPr/>
        </p:nvSpPr>
        <p:spPr>
          <a:xfrm>
            <a:off x="1257300" y="284797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¿Cuánto tiempo puedo dedicar?</a:t>
            </a:r>
          </a:p>
        </p:txBody>
      </p:sp>
      <p:sp>
        <p:nvSpPr>
          <p:cNvPr id="9" name="">
            <a:extLst>
              <a:ext uri="{FF2B5EF4-FFF2-40B4-BE49-F238E27FC236}">
                <ns2:creationId id="{F22B9F41-26A8-4FA6-8538-9DB9DA3162CF}"/>
              </a:ext>
            </a:extLst>
          </p:cNvPr>
          <p:cNvSpPr>
            <a:spLocks noGrp="1"/>
          </p:cNvSpPr>
          <p:nvPr/>
        </p:nvSpPr>
        <p:spPr>
          <a:xfrm>
            <a:off x="1257300" y="325755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Acordar un ritmo realista y pasos disponibles.</a:t>
            </a:r>
          </a:p>
        </p:txBody>
      </p:sp>
      <p:sp>
        <p:nvSpPr>
          <p:cNvPr id="10" name="">
            <a:extLst>
              <a:ext uri="{FF2B5EF4-FFF2-40B4-BE49-F238E27FC236}">
                <ns2:creationId id="{3AEF13F9-FCAD-4E39-9580-49296A61F38E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79B1BB93-4440-41B9-A6A6-361B1780F78E}"/>
              </a:ext>
            </a:extLst>
          </p:cNvPr>
          <p:cNvSpPr>
            <a:spLocks noGrp="1"/>
          </p:cNvSpPr>
          <p:nvPr/>
        </p:nvSpPr>
        <p:spPr>
          <a:xfrm>
            <a:off x="1257300" y="37338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¿Qué gastos debo comprobar?</a:t>
            </a:r>
          </a:p>
        </p:txBody>
      </p:sp>
      <p:sp>
        <p:nvSpPr>
          <p:cNvPr id="12" name="">
            <a:extLst>
              <a:ext uri="{FF2B5EF4-FFF2-40B4-BE49-F238E27FC236}">
                <ns2:creationId id="{0D214BC7-68F9-4224-B971-EF7B21F274B6}"/>
              </a:ext>
            </a:extLst>
          </p:cNvPr>
          <p:cNvSpPr>
            <a:spLocks noGrp="1"/>
          </p:cNvSpPr>
          <p:nvPr/>
        </p:nvSpPr>
        <p:spPr>
          <a:xfrm>
            <a:off x="1257300" y="41433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Productos, actividad y posiblemente FCC PRO.</a:t>
            </a:r>
          </a:p>
        </p:txBody>
      </p:sp>
      <p:sp>
        <p:nvSpPr>
          <p:cNvPr id="13" name="">
            <a:extLst>
              <a:ext uri="{FF2B5EF4-FFF2-40B4-BE49-F238E27FC236}">
                <ns2:creationId id="{BAA6452F-3A8A-4DDB-8B39-8563C5F5DEAC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">
            <a:extLst>
              <a:ext uri="{FF2B5EF4-FFF2-40B4-BE49-F238E27FC236}">
                <ns2:creationId id="{771B1C17-3F7C-4F88-85D9-5C27843AEC35}"/>
              </a:ext>
            </a:extLst>
          </p:cNvPr>
          <p:cNvSpPr>
            <a:spLocks noGrp="1"/>
          </p:cNvSpPr>
          <p:nvPr/>
        </p:nvSpPr>
        <p:spPr>
          <a:xfrm>
            <a:off x="1257300" y="4619625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25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¿Dónde recibo ayuda?</a:t>
            </a:r>
          </a:p>
        </p:txBody>
      </p:sp>
      <p:sp>
        <p:nvSpPr>
          <p:cNvPr id="15" name="">
            <a:extLst>
              <a:ext uri="{FF2B5EF4-FFF2-40B4-BE49-F238E27FC236}">
                <ns2:creationId id="{E15C9F73-FB10-4547-9706-D38095AA7206}"/>
              </a:ext>
            </a:extLst>
          </p:cNvPr>
          <p:cNvSpPr>
            <a:spLocks noGrp="1"/>
          </p:cNvSpPr>
          <p:nvPr/>
        </p:nvSpPr>
        <p:spPr>
          <a:xfrm>
            <a:off x="1257300" y="5029200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Patrocinador, equipo, formación y apoyo FCC.</a:t>
            </a:r>
          </a:p>
        </p:txBody>
      </p:sp>
    </p:spTree>
    <p:extLst>
      <p:ext uri="{BB962C8B-B14F-4D97-AF65-F5344CB8AC3E}">
        <ns4:creationId val="65287420"/>
      </p:ext>
    </p:extLst>
  </p:cSld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7" name="">
            <a:extLst>
              <a:ext uri="{FF2B5EF4-FFF2-40B4-BE49-F238E27FC236}">
                <ns2:creationId id="{8F7198C6-2DE8-43DF-B1EF-D88A1974C6C5}"/>
              </a:ext>
            </a:extLst>
          </p:cNvPr>
          <p:cNvPicPr>
            <a:picLocks noChangeAspect="1"/>
          </p:cNvPicPr>
          <p:nvPr/>
        </p:nvPicPr>
        <p:blipFill>
          <a:blip r:embed="R83eb3923d8184bad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1A09478C-BF47-4F20-BD76-F045C9D915C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Título">
            <a:extLst>
              <a:ext uri="{FF2B5EF4-FFF2-40B4-BE49-F238E27FC236}">
                <ns2:creationId id="{7D02396B-C2D6-47CB-AB7E-1597B626F1F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El siguiente paso tras el webinario</a:t>
            </a:r>
          </a:p>
        </p:txBody>
      </p:sp>
      <p:sp>
        <p:nvSpPr>
          <p:cNvPr id="4" name="">
            <a:extLst>
              <a:ext uri="{FF2B5EF4-FFF2-40B4-BE49-F238E27FC236}">
                <ns2:creationId id="{10FB5614-1D74-41FB-BD52-AAD704F16FB3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4013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Hablar con la persona</a:t>
            </a:r>
          </a:p>
          <a:p>
            <a:pPr>
              <a:defRPr sz="44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44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que te invitó</a:t>
            </a:r>
          </a:p>
        </p:txBody>
      </p:sp>
      <p:sp>
        <p:nvSpPr>
          <p:cNvPr id="5" name="">
            <a:extLst>
              <a:ext uri="{FF2B5EF4-FFF2-40B4-BE49-F238E27FC236}">
                <ns2:creationId id="{138D5422-BFFA-4FC8-B03E-A2E56FC32628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9763125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24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Explica qué te interesa, qué quieres aclarar y cuánto tiempo deseas dedicar.</a:t>
            </a:r>
          </a:p>
        </p:txBody>
      </p:sp>
      <p:sp>
        <p:nvSpPr>
          <p:cNvPr id="6" name="">
            <a:extLst>
              <a:ext uri="{FF2B5EF4-FFF2-40B4-BE49-F238E27FC236}">
                <ns2:creationId id="{7F5EB97C-EEF2-4CDA-AB3D-386B3AC6E2D9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Acuerda una acción concreta y una fecha para continuar la conversación.</a:t>
            </a:r>
          </a:p>
        </p:txBody>
      </p:sp>
    </p:spTree>
    <p:extLst>
      <p:ext uri="{BB962C8B-B14F-4D97-AF65-F5344CB8AC3E}">
        <ns4:creationId val="1646637869"/>
      </p:ext>
    </p:extLst>
  </p:cSld>
</p:sld>
</file>

<file path=ppt/slides/slide3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153F36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" name="">
            <a:extLst>
              <a:ext uri="{FF2B5EF4-FFF2-40B4-BE49-F238E27FC236}">
                <ns2:creationId id="{DE1B7833-FA5B-4202-9F43-6A55485BA4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2" name="">
            <a:extLst>
              <a:ext uri="{FF2B5EF4-FFF2-40B4-BE49-F238E27FC236}">
                <ns2:creationId id="{48673BED-A37E-4BEC-B045-8AE20E7E660B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734675" cy="2047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Tu comienzo</a:t>
            </a:r>
          </a:p>
          <a:p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 lang="es-ES">
                <a:solidFill>
                  <a:srgbClr val="FFFFFF"/>
                </a:solidFill>
                <a:latin typeface="Arial"/>
                <a:ea typeface="Arial"/>
                <a:cs typeface="Arial"/>
              </a:rPr>
              <a:t>puede ser sencillo</a:t>
            </a:r>
          </a:p>
        </p:txBody>
      </p:sp>
      <p:sp>
        <p:nvSpPr>
          <p:cNvPr id="3" name="">
            <a:extLst>
              <a:ext uri="{FF2B5EF4-FFF2-40B4-BE49-F238E27FC236}">
                <ns2:creationId id="{441CDA0A-7E8B-43A7-86BF-23F4BF9B0BE0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9820275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Una conversación.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Una decisión clara.</a:t>
            </a:r>
          </a:p>
          <a:p>
            <a:pPr>
              <a:defRPr sz="2925" b="0">
                <a:solidFill>
                  <a:srgbClr val="D4E8DD"/>
                </a:solidFill>
                <a:latin typeface="Arial"/>
                <a:ea typeface="Arial"/>
                <a:cs typeface="Arial"/>
              </a:defRPr>
            </a:pPr>
            <a:r>
              <a:rPr sz="2925" b="0" lang="es-ES">
                <a:solidFill>
                  <a:srgbClr val="D4E8DD"/>
                </a:solidFill>
                <a:latin typeface="Arial"/>
                <a:ea typeface="Arial"/>
                <a:cs typeface="Arial"/>
              </a:rPr>
              <a:t>Un siguiente paso acordado.</a:t>
            </a:r>
          </a:p>
        </p:txBody>
      </p:sp>
    </p:spTree>
    <p:extLst>
      <p:ext uri="{BB962C8B-B14F-4D97-AF65-F5344CB8AC3E}">
        <ns3:creationId val="2036074544"/>
      </p:ext>
    </p:extLst>
  </p:cSld>
</p:sld>
</file>

<file path=ppt/slides/slide3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919AC765-DEBD-459C-8A3F-7848B2BF249B}"/>
              </a:ext>
            </a:extLst>
          </p:cNvPr>
          <p:cNvPicPr>
            <a:picLocks noChangeAspect="1"/>
          </p:cNvPicPr>
          <p:nvPr/>
        </p:nvPicPr>
        <p:blipFill>
          <a:blip r:embed="R36ae438961544b63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C776E80E-1314-42F9-9BAB-2C2CE53DC492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3" name="Título">
            <a:extLst>
              <a:ext uri="{FF2B5EF4-FFF2-40B4-BE49-F238E27FC236}">
                <ns2:creationId id="{FDBD1ABF-94B5-497A-B205-2296ED44BDD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Anexo: bonos personales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052CBF9-BCC3-48FB-82FB-2DD99DE0DD52}"/>
              </a:ext>
            </a:extLst>
          </p:cNvPr>
          <p:cNvGraphicFramePr/>
          <p:nvPr/>
        </p:nvGraphicFramePr>
        <p:xfrm>
          <a:off x="609600" y="2114550"/>
          <a:ext cx="10953750" cy="3133725"/>
        </p:xfrm>
        <a:graphic>
          <a:graphicData uri="http://schemas.openxmlformats.org/drawingml/2006/table">
            <a:tbl>
              <a:tblPr/>
              <a:tblGrid>
                <a:gridCol w="5905500"/>
                <a:gridCol w="5048250"/>
              </a:tblGrid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Nivel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Bono personal según condiciones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Supervisor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Supervisor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Assistant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6745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Manager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100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1E561589-9528-4BA8-A2CF-2393305A4FE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Volume bonus: del 3 % al 13 %. Leadership: 6 %, 3 %, 2 %, con condiciones adicionales.</a:t>
            </a:r>
          </a:p>
        </p:txBody>
      </p:sp>
    </p:spTree>
    <p:extLst>
      <p:ext uri="{BB962C8B-B14F-4D97-AF65-F5344CB8AC3E}">
        <ns4:creationId val="515602699"/>
      </p:ext>
    </p:extLst>
  </p:cSld>
</p:sld>
</file>

<file path=ppt/slides/slide3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281D3A7B-CCA2-4A99-B091-81AFBE2930EC}"/>
              </a:ext>
            </a:extLst>
          </p:cNvPr>
          <p:cNvPicPr>
            <a:picLocks noChangeAspect="1"/>
          </p:cNvPicPr>
          <p:nvPr/>
        </p:nvPicPr>
        <p:blipFill>
          <a:blip r:embed="R9c5ed023181f4870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DD79E68-255C-4685-B243-6F1616C2F4F8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Título">
            <a:extLst>
              <a:ext uri="{FF2B5EF4-FFF2-40B4-BE49-F238E27FC236}">
                <ns2:creationId id="{780CCEFC-9D8C-49DA-9FD7-987C98FE8701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Anexo: Forever2Drive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E2485A5-066A-4AE2-AF1F-F24B4FA08B35}"/>
              </a:ext>
            </a:extLst>
          </p:cNvPr>
          <p:cNvGraphicFramePr/>
          <p:nvPr/>
        </p:nvGraphicFramePr>
        <p:xfrm>
          <a:off x="609600" y="2114550"/>
          <a:ext cx="10953750" cy="2647950"/>
        </p:xfrm>
        <a:graphic>
          <a:graphicData uri="http://schemas.openxmlformats.org/drawingml/2006/table">
            <a:tbl>
              <a:tblPr/>
              <a:tblGrid>
                <a:gridCol w="1238250"/>
                <a:gridCol w="2047875"/>
                <a:gridCol w="2047875"/>
                <a:gridCol w="2047875"/>
                <a:gridCol w="3571875"/>
              </a:tblGrid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Nivel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Mes 1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Mes 2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Mes 3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1" lang="es-ES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Máximo mensual</a:t>
                      </a:r>
                    </a:p>
                  </a:txBody>
                  <a:tcPr marL="91440" marR="91440" marT="45720" marB="45720">
                    <a:solidFill>
                      <a:srgbClr val="153F36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400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75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150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225 CC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600 USD</a:t>
                      </a:r>
                    </a:p>
                  </a:txBody>
                  <a:tcPr marL="91440" marR="91440" marT="45720" marB="45720">
                    <a:solidFill>
                      <a:srgbClr val="F3F7F2"/>
                    </a:solidFill>
                  </a:tcPr>
                </a:tc>
              </a:tr>
              <a:tr h="661988"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100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200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300 CC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52400" tIns="133350" rIns="152400" bIns="114300">
                      <a:noAutofit/>
                    </a:bodyPr>
                    <a:lstStyle/>
                    <a:p>
                      <a:r>
                        <a:rPr sz="2025" b="0" lang="es-ES">
                          <a:solidFill>
                            <a:srgbClr val="153F36"/>
                          </a:solidFill>
                          <a:latin typeface="Arial"/>
                          <a:ea typeface="Arial"/>
                          <a:cs typeface="Arial"/>
                        </a:rPr>
                        <a:t>800 USD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B4AC18CE-F6CB-49F2-8416-567B308FCF8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45845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Calificación y mantenimiento. Incentivo de hasta 36 meses.</a:t>
            </a:r>
          </a:p>
        </p:txBody>
      </p:sp>
    </p:spTree>
    <p:extLst>
      <p:ext uri="{BB962C8B-B14F-4D97-AF65-F5344CB8AC3E}">
        <ns4:creationId val="280473326"/>
      </p:ext>
    </p:extLst>
  </p:cSld>
</p:sld>
</file>

<file path=ppt/slides/slide3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B9E3C7C8-35B4-441E-B1C2-00BCFB5C9F40}"/>
              </a:ext>
            </a:extLst>
          </p:cNvPr>
          <p:cNvPicPr>
            <a:picLocks noChangeAspect="1"/>
          </p:cNvPicPr>
          <p:nvPr/>
        </p:nvPicPr>
        <p:blipFill>
          <a:blip r:embed="R58ce5c4bc3ef4c8b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0CB37FEB-5A20-485A-9A04-1936EE10F0CF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Título">
            <a:extLst>
              <a:ext uri="{FF2B5EF4-FFF2-40B4-BE49-F238E27FC236}">
                <ns2:creationId id="{B655E18D-295A-4CD8-9A03-B3FC391A9AE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Anexo: calificaciones anuales</a:t>
            </a:r>
          </a:p>
        </p:txBody>
      </p:sp>
      <p:sp>
        <p:nvSpPr>
          <p:cNvPr id="4" name="">
            <a:extLst>
              <a:ext uri="{FF2B5EF4-FFF2-40B4-BE49-F238E27FC236}">
                <ns2:creationId id="{F037214A-CF38-4FAB-8F4B-BC9F710748A2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E39F66B-A442-4DB2-BC88-152A2F537F88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Eagle Manager</a:t>
            </a:r>
          </a:p>
        </p:txBody>
      </p:sp>
      <p:sp>
        <p:nvSpPr>
          <p:cNvPr id="6" name="">
            <a:extLst>
              <a:ext uri="{FF2B5EF4-FFF2-40B4-BE49-F238E27FC236}">
                <ns2:creationId id="{5EB13131-225A-47B3-A990-4556686F98B8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720 CC totales, 100 nuevos CC y 3 nuevas líneas Supervisor.</a:t>
            </a:r>
          </a:p>
        </p:txBody>
      </p:sp>
      <p:sp>
        <p:nvSpPr>
          <p:cNvPr id="7" name="">
            <a:extLst>
              <a:ext uri="{FF2B5EF4-FFF2-40B4-BE49-F238E27FC236}">
                <ns2:creationId id="{81F9A9B6-F0B7-4FC8-82A9-040A17BA37F4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C4C32F05-04BB-4214-8487-F780C8E1B8F9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Global Rally</a:t>
            </a:r>
          </a:p>
        </p:txBody>
      </p:sp>
      <p:sp>
        <p:nvSpPr>
          <p:cNvPr id="9" name="">
            <a:extLst>
              <a:ext uri="{FF2B5EF4-FFF2-40B4-BE49-F238E27FC236}">
                <ns2:creationId id="{AD802E04-F4DC-4E5B-83E7-81C942E85FE4}"/>
              </a:ext>
            </a:extLst>
          </p:cNvPr>
          <p:cNvSpPr>
            <a:spLocks noGrp="1"/>
          </p:cNvSpPr>
          <p:nvPr/>
        </p:nvSpPr>
        <p:spPr>
          <a:xfrm>
            <a:off x="1257300" y="353377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Desde 1.500 CC totales, al menos 50 nuevos CC.</a:t>
            </a:r>
          </a:p>
        </p:txBody>
      </p:sp>
      <p:sp>
        <p:nvSpPr>
          <p:cNvPr id="10" name="">
            <a:extLst>
              <a:ext uri="{FF2B5EF4-FFF2-40B4-BE49-F238E27FC236}">
                <ns2:creationId id="{765D29EF-17EE-439A-9148-70DA52221B41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5C8C13D5-EA0A-45FF-B19C-610392AA90BD}"/>
              </a:ext>
            </a:extLst>
          </p:cNvPr>
          <p:cNvSpPr>
            <a:spLocks noGrp="1"/>
          </p:cNvSpPr>
          <p:nvPr/>
        </p:nvSpPr>
        <p:spPr>
          <a:xfrm>
            <a:off x="1257300" y="42862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325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325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Chairman’s Bonus</a:t>
            </a:r>
          </a:p>
        </p:txBody>
      </p:sp>
      <p:sp>
        <p:nvSpPr>
          <p:cNvPr id="12" name="">
            <a:extLst>
              <a:ext uri="{FF2B5EF4-FFF2-40B4-BE49-F238E27FC236}">
                <ns2:creationId id="{ED3D2BFE-A33E-4B2F-ABBA-68D93EE7CCAA}"/>
              </a:ext>
            </a:extLst>
          </p:cNvPr>
          <p:cNvSpPr>
            <a:spLocks noGrp="1"/>
          </p:cNvSpPr>
          <p:nvPr/>
        </p:nvSpPr>
        <p:spPr>
          <a:xfrm>
            <a:off x="1257300" y="46958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Líneas calificadas desarrolladas y condiciones adicionales.</a:t>
            </a:r>
          </a:p>
        </p:txBody>
      </p:sp>
      <p:sp>
        <p:nvSpPr>
          <p:cNvPr id="13" name="">
            <a:extLst>
              <a:ext uri="{FF2B5EF4-FFF2-40B4-BE49-F238E27FC236}">
                <ns2:creationId id="{B903DFC0-E1C3-44EE-AD9B-AD2E08F86D6D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Umbrales resumidos. Plazos, mantenimiento y demás requisitos están en la política local.</a:t>
            </a:r>
          </a:p>
        </p:txBody>
      </p:sp>
    </p:spTree>
    <p:extLst>
      <p:ext uri="{BB962C8B-B14F-4D97-AF65-F5344CB8AC3E}">
        <ns4:creationId val="880705396"/>
      </p:ext>
    </p:extLst>
  </p:cSld>
</p:sld>
</file>

<file path=ppt/slides/slide3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3F7F2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4" name="">
            <a:extLst>
              <a:ext uri="{FF2B5EF4-FFF2-40B4-BE49-F238E27FC236}">
                <ns2:creationId id="{88852AA4-6578-41AF-9740-5117C7F6172E}"/>
              </a:ext>
            </a:extLst>
          </p:cNvPr>
          <p:cNvPicPr>
            <a:picLocks noChangeAspect="1"/>
          </p:cNvPicPr>
          <p:nvPr/>
        </p:nvPicPr>
        <p:blipFill>
          <a:blip r:embed="R94ed22d42f074bff"/>
          <a:stretch/>
        </p:blipFill>
        <p:spPr>
          <a:xfrm>
            <a:off x="9867900" y="276061"/>
            <a:ext cx="1695450" cy="438478"/>
          </a:xfrm>
          <a:prstGeom prst="rect">
            <a:avLst/>
          </a:prstGeom>
        </p:spPr>
      </p:pic>
      <p:sp>
        <p:nvSpPr>
          <p:cNvPr id="2" name="">
            <a:extLst>
              <a:ext uri="{FF2B5EF4-FFF2-40B4-BE49-F238E27FC236}">
                <ns2:creationId id="{F484BD7A-5B1B-4432-9A78-B974D5EEA709}"/>
              </a:ext>
            </a:extLst>
          </p:cNvPr>
          <p:cNvSpPr>
            <a:spLocks noGrp="1"/>
          </p:cNvSpPr>
          <p:nvPr/>
        </p:nvSpPr>
        <p:spPr>
          <a:xfrm>
            <a:off x="11334750" y="6372225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3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Título">
            <a:extLst>
              <a:ext uri="{FF2B5EF4-FFF2-40B4-BE49-F238E27FC236}">
                <ns2:creationId id="{AADE5631-8BAA-49DB-AB4C-B28590B49F43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10668000" cy="1181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6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36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Anexo: pagos e ingresos reales</a:t>
            </a:r>
          </a:p>
        </p:txBody>
      </p:sp>
      <p:sp>
        <p:nvSpPr>
          <p:cNvPr id="4" name="">
            <a:extLst>
              <a:ext uri="{FF2B5EF4-FFF2-40B4-BE49-F238E27FC236}">
                <ns2:creationId id="{4648F494-74C7-41B9-A7AD-105B8730022F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5" name="">
            <a:extLst>
              <a:ext uri="{FF2B5EF4-FFF2-40B4-BE49-F238E27FC236}">
                <ns2:creationId id="{D8F3ADF8-D3CE-4D09-B5D5-37B3C4DF925C}"/>
              </a:ext>
            </a:extLst>
          </p:cNvPr>
          <p:cNvSpPr>
            <a:spLocks noGrp="1"/>
          </p:cNvSpPr>
          <p:nvPr/>
        </p:nvSpPr>
        <p:spPr>
          <a:xfrm>
            <a:off x="1257300" y="1962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Bonos del mes anterior</a:t>
            </a:r>
          </a:p>
        </p:txBody>
      </p:sp>
      <p:sp>
        <p:nvSpPr>
          <p:cNvPr id="6" name="">
            <a:extLst>
              <a:ext uri="{FF2B5EF4-FFF2-40B4-BE49-F238E27FC236}">
                <ns2:creationId id="{3C09A159-46FC-4266-AE84-DE17BCFA81A2}"/>
              </a:ext>
            </a:extLst>
          </p:cNvPr>
          <p:cNvSpPr>
            <a:spLocks noGrp="1"/>
          </p:cNvSpPr>
          <p:nvPr/>
        </p:nvSpPr>
        <p:spPr>
          <a:xfrm>
            <a:off x="1257300" y="2371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Según la política croata, el día 15 del mes siguiente.</a:t>
            </a:r>
          </a:p>
        </p:txBody>
      </p:sp>
      <p:sp>
        <p:nvSpPr>
          <p:cNvPr id="7" name="">
            <a:extLst>
              <a:ext uri="{FF2B5EF4-FFF2-40B4-BE49-F238E27FC236}">
                <ns2:creationId id="{7AEEAE2C-E72E-48F1-91F1-C715F3B5457C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8" name="">
            <a:extLst>
              <a:ext uri="{FF2B5EF4-FFF2-40B4-BE49-F238E27FC236}">
                <ns2:creationId id="{D7C8ED34-9B2A-4A5B-8F5C-E661D3D95A39}"/>
              </a:ext>
            </a:extLst>
          </p:cNvPr>
          <p:cNvSpPr>
            <a:spLocks noGrp="1"/>
          </p:cNvSpPr>
          <p:nvPr/>
        </p:nvSpPr>
        <p:spPr>
          <a:xfrm>
            <a:off x="1257300" y="3105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Margen en línea</a:t>
            </a:r>
          </a:p>
        </p:txBody>
      </p:sp>
      <p:sp>
        <p:nvSpPr>
          <p:cNvPr id="9" name="">
            <a:extLst>
              <a:ext uri="{FF2B5EF4-FFF2-40B4-BE49-F238E27FC236}">
                <ns2:creationId id="{03EEB3A6-8AA0-4AAC-8BB6-5A5C316EB19C}"/>
              </a:ext>
            </a:extLst>
          </p:cNvPr>
          <p:cNvSpPr>
            <a:spLocks noGrp="1"/>
          </p:cNvSpPr>
          <p:nvPr/>
        </p:nvSpPr>
        <p:spPr>
          <a:xfrm>
            <a:off x="1257300" y="3514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Global Pay tras el día 10, 20 y último del mes.</a:t>
            </a:r>
          </a:p>
        </p:txBody>
      </p:sp>
      <p:sp>
        <p:nvSpPr>
          <p:cNvPr id="10" name="">
            <a:extLst>
              <a:ext uri="{FF2B5EF4-FFF2-40B4-BE49-F238E27FC236}">
                <ns2:creationId id="{3836A816-BCC9-4762-B15B-376FBDA90C2D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2387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48977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48977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">
            <a:extLst>
              <a:ext uri="{FF2B5EF4-FFF2-40B4-BE49-F238E27FC236}">
                <ns2:creationId id="{02C2B9B3-EB86-468F-B5C8-D10A79D640D8}"/>
              </a:ext>
            </a:extLst>
          </p:cNvPr>
          <p:cNvSpPr>
            <a:spLocks noGrp="1"/>
          </p:cNvSpPr>
          <p:nvPr/>
        </p:nvSpPr>
        <p:spPr>
          <a:xfrm>
            <a:off x="1257300" y="4248150"/>
            <a:ext cx="99250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153F36"/>
                </a:solidFill>
                <a:latin typeface="Arial"/>
                <a:ea typeface="Arial"/>
                <a:cs typeface="Arial"/>
              </a:defRPr>
            </a:pPr>
            <a:r>
              <a:rPr sz="2400" b="1" lang="es-ES">
                <a:solidFill>
                  <a:srgbClr val="153F36"/>
                </a:solidFill>
                <a:latin typeface="Arial"/>
                <a:ea typeface="Arial"/>
                <a:cs typeface="Arial"/>
              </a:rPr>
              <a:t>Ingresos reales</a:t>
            </a:r>
          </a:p>
        </p:txBody>
      </p:sp>
      <p:sp>
        <p:nvSpPr>
          <p:cNvPr id="12" name="">
            <a:extLst>
              <a:ext uri="{FF2B5EF4-FFF2-40B4-BE49-F238E27FC236}">
                <ns2:creationId id="{04657A1D-053C-48FC-B7DB-E622C573FFDA}"/>
              </a:ext>
            </a:extLst>
          </p:cNvPr>
          <p:cNvSpPr>
            <a:spLocks noGrp="1"/>
          </p:cNvSpPr>
          <p:nvPr/>
        </p:nvSpPr>
        <p:spPr>
          <a:xfrm>
            <a:off x="1257300" y="4657725"/>
            <a:ext cx="99250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875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Ventas reconocidas con gastos, devoluciones y obligaciones fiscales.</a:t>
            </a:r>
          </a:p>
        </p:txBody>
      </p:sp>
      <p:sp>
        <p:nvSpPr>
          <p:cNvPr id="13" name="">
            <a:extLst>
              <a:ext uri="{FF2B5EF4-FFF2-40B4-BE49-F238E27FC236}">
                <ns2:creationId id="{D0CED1DA-9CAB-4767-B17A-CCA055B377B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03632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26B63"/>
                </a:solidFill>
                <a:latin typeface="Arial"/>
                <a:ea typeface="Arial"/>
                <a:cs typeface="Arial"/>
              </a:defRPr>
            </a:pPr>
            <a:r>
              <a:rPr sz="1650" b="0" lang="es-ES">
                <a:solidFill>
                  <a:srgbClr val="526B63"/>
                </a:solidFill>
                <a:latin typeface="Arial"/>
                <a:ea typeface="Arial"/>
                <a:cs typeface="Arial"/>
              </a:rPr>
              <a:t>El resultado depende de la persona, mercado y ventas reales. FCC no garantiza ganancias.</a:t>
            </a:r>
          </a:p>
        </p:txBody>
      </p:sp>
    </p:spTree>
    <p:extLst>
      <p:ext uri="{BB962C8B-B14F-4D97-AF65-F5344CB8AC3E}">
        <ns4:creationId val="8053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2026-10-04T12:05:50.0890000Z</dcterms:created>
  <dcterms:modified xsi:type="dcterms:W3CDTF">2026-10-04T12:05:50.0890000Z</dcterms:modified>
</coreProperties>
</file>