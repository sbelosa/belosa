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e8ae9ebd874a7b" /><Relationship Type="http://schemas.openxmlformats.org/officeDocument/2006/relationships/extended-properties" Target="/docProps/app.xml" Id="R01380b84c3dd45ec" /><Relationship Type="http://schemas.openxmlformats.org/officeDocument/2006/relationships/officeDocument" Target="/ppt/presentation.xml" Id="Ra84fedbd27db4393" /></Relationships>
</file>

<file path=ppt/presentation.xml><?xml version="1.0" encoding="utf-8"?>
<p:presentation xmlns:p="http://schemas.openxmlformats.org/presentationml/2006/main">
  <p:sldMasterIdLst>
    <p:sldMasterId xmlns:r="http://schemas.openxmlformats.org/officeDocument/2006/relationships" id="2147483648" r:id="Rc9e88217567e4db7"/>
  </p:sldMasterIdLst>
  <p:notesMasterIdLst>
    <p:notesMasterId xmlns:r="http://schemas.openxmlformats.org/officeDocument/2006/relationships" r:id="Rc18a70ab738d4fdd"/>
  </p:notesMasterIdLst>
  <p:sldIdLst>
    <p:sldId xmlns:r="http://schemas.openxmlformats.org/officeDocument/2006/relationships" id="256" r:id="Re8ed2e66c8d84047"/>
    <p:sldId xmlns:r="http://schemas.openxmlformats.org/officeDocument/2006/relationships" id="257" r:id="R4746b0e7c5ef4131"/>
    <p:sldId xmlns:r="http://schemas.openxmlformats.org/officeDocument/2006/relationships" id="258" r:id="Rbc31ff09593c4d17"/>
    <p:sldId xmlns:r="http://schemas.openxmlformats.org/officeDocument/2006/relationships" id="259" r:id="Rae4ed353ca834eb3"/>
    <p:sldId xmlns:r="http://schemas.openxmlformats.org/officeDocument/2006/relationships" id="260" r:id="Ra1b02be37e2e4ff2"/>
    <p:sldId xmlns:r="http://schemas.openxmlformats.org/officeDocument/2006/relationships" id="261" r:id="Rfe59078e123f44b1"/>
    <p:sldId xmlns:r="http://schemas.openxmlformats.org/officeDocument/2006/relationships" id="262" r:id="R590dc5576ed441ae"/>
    <p:sldId xmlns:r="http://schemas.openxmlformats.org/officeDocument/2006/relationships" id="263" r:id="R0328f91799364ba2"/>
    <p:sldId xmlns:r="http://schemas.openxmlformats.org/officeDocument/2006/relationships" id="264" r:id="Re580240414f64df3"/>
    <p:sldId xmlns:r="http://schemas.openxmlformats.org/officeDocument/2006/relationships" id="265" r:id="Re3803403ee9b468b"/>
    <p:sldId xmlns:r="http://schemas.openxmlformats.org/officeDocument/2006/relationships" id="266" r:id="Re9729d197679489d"/>
    <p:sldId xmlns:r="http://schemas.openxmlformats.org/officeDocument/2006/relationships" id="267" r:id="R17364f024e114fa7"/>
    <p:sldId xmlns:r="http://schemas.openxmlformats.org/officeDocument/2006/relationships" id="268" r:id="Ra32d2299b1e34645"/>
    <p:sldId xmlns:r="http://schemas.openxmlformats.org/officeDocument/2006/relationships" id="269" r:id="R112da9e5e26d4a1a"/>
    <p:sldId xmlns:r="http://schemas.openxmlformats.org/officeDocument/2006/relationships" id="270" r:id="Rfc6e8098b0094e49"/>
    <p:sldId xmlns:r="http://schemas.openxmlformats.org/officeDocument/2006/relationships" id="271" r:id="R637ab624bb744813"/>
    <p:sldId xmlns:r="http://schemas.openxmlformats.org/officeDocument/2006/relationships" id="272" r:id="R83dee26be35c43dd"/>
    <p:sldId xmlns:r="http://schemas.openxmlformats.org/officeDocument/2006/relationships" id="273" r:id="R618fda44c9f74872"/>
    <p:sldId xmlns:r="http://schemas.openxmlformats.org/officeDocument/2006/relationships" id="274" r:id="R1b6aa91c6bb84531"/>
    <p:sldId xmlns:r="http://schemas.openxmlformats.org/officeDocument/2006/relationships" id="275" r:id="Rff9f2644ad404234"/>
    <p:sldId xmlns:r="http://schemas.openxmlformats.org/officeDocument/2006/relationships" id="276" r:id="Rffdacc3614814b34"/>
    <p:sldId xmlns:r="http://schemas.openxmlformats.org/officeDocument/2006/relationships" id="277" r:id="R7cd2e17b0ac44598"/>
    <p:sldId xmlns:r="http://schemas.openxmlformats.org/officeDocument/2006/relationships" id="278" r:id="Rbaf6e7b843f34b38"/>
    <p:sldId xmlns:r="http://schemas.openxmlformats.org/officeDocument/2006/relationships" id="279" r:id="Re58715032f894a0b"/>
    <p:sldId xmlns:r="http://schemas.openxmlformats.org/officeDocument/2006/relationships" id="280" r:id="R671b64fee09647d1"/>
    <p:sldId xmlns:r="http://schemas.openxmlformats.org/officeDocument/2006/relationships" id="281" r:id="R0f1efdb0735b4810"/>
    <p:sldId xmlns:r="http://schemas.openxmlformats.org/officeDocument/2006/relationships" id="282" r:id="R299277170d58463a"/>
    <p:sldId xmlns:r="http://schemas.openxmlformats.org/officeDocument/2006/relationships" id="283" r:id="R47c1e12bebaf4e1e"/>
    <p:sldId xmlns:r="http://schemas.openxmlformats.org/officeDocument/2006/relationships" id="284" r:id="R33f2281931074e26"/>
    <p:sldId xmlns:r="http://schemas.openxmlformats.org/officeDocument/2006/relationships" id="285" r:id="Rcb00a46c0526422d"/>
    <p:sldId xmlns:r="http://schemas.openxmlformats.org/officeDocument/2006/relationships" id="286" r:id="Rdefdab25799b403c"/>
    <p:sldId xmlns:r="http://schemas.openxmlformats.org/officeDocument/2006/relationships" id="287" r:id="Rf00af2c51ef04723"/>
    <p:sldId xmlns:r="http://schemas.openxmlformats.org/officeDocument/2006/relationships" id="288" r:id="R6dd932b7d3e94967"/>
    <p:sldId xmlns:r="http://schemas.openxmlformats.org/officeDocument/2006/relationships" id="289" r:id="R05566556677748cd"/>
    <p:sldId xmlns:r="http://schemas.openxmlformats.org/officeDocument/2006/relationships" id="290" r:id="Rff449ac26a254c77"/>
    <p:sldId xmlns:r="http://schemas.openxmlformats.org/officeDocument/2006/relationships" id="291" r:id="Rce57f775d35142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51f3484e124c0d" /><Relationship Type="http://schemas.openxmlformats.org/officeDocument/2006/relationships/slideMaster" Target="/ppt/slideMasters/slideMaster1.xml" Id="Rc9e88217567e4db7" /><Relationship Type="http://schemas.openxmlformats.org/officeDocument/2006/relationships/notesMaster" Target="/ppt/notesMasters/notesMaster1.xml" Id="Rc18a70ab738d4fdd" /><Relationship Type="http://schemas.openxmlformats.org/officeDocument/2006/relationships/presProps" Target="/ppt/presProps.xml" Id="Rdd6d008c9f824ff1" /><Relationship Type="http://schemas.openxmlformats.org/officeDocument/2006/relationships/tableStyles" Target="/ppt/tableStyles.xml" Id="R5dfb1b75d143461b" /><Relationship Type="http://schemas.openxmlformats.org/officeDocument/2006/relationships/slide" Target="/ppt/slides/slide1.xml" Id="Re8ed2e66c8d84047" /><Relationship Type="http://schemas.openxmlformats.org/officeDocument/2006/relationships/slide" Target="/ppt/slides/slide2.xml" Id="R4746b0e7c5ef4131" /><Relationship Type="http://schemas.openxmlformats.org/officeDocument/2006/relationships/slide" Target="/ppt/slides/slide3.xml" Id="Rbc31ff09593c4d17" /><Relationship Type="http://schemas.openxmlformats.org/officeDocument/2006/relationships/slide" Target="/ppt/slides/slide4.xml" Id="Rae4ed353ca834eb3" /><Relationship Type="http://schemas.openxmlformats.org/officeDocument/2006/relationships/slide" Target="/ppt/slides/slide5.xml" Id="Ra1b02be37e2e4ff2" /><Relationship Type="http://schemas.openxmlformats.org/officeDocument/2006/relationships/slide" Target="/ppt/slides/slide6.xml" Id="Rfe59078e123f44b1" /><Relationship Type="http://schemas.openxmlformats.org/officeDocument/2006/relationships/slide" Target="/ppt/slides/slide7.xml" Id="R590dc5576ed441ae" /><Relationship Type="http://schemas.openxmlformats.org/officeDocument/2006/relationships/slide" Target="/ppt/slides/slide8.xml" Id="R0328f91799364ba2" /><Relationship Type="http://schemas.openxmlformats.org/officeDocument/2006/relationships/slide" Target="/ppt/slides/slide9.xml" Id="Re580240414f64df3" /><Relationship Type="http://schemas.openxmlformats.org/officeDocument/2006/relationships/slide" Target="/ppt/slides/slide10.xml" Id="Re3803403ee9b468b" /><Relationship Type="http://schemas.openxmlformats.org/officeDocument/2006/relationships/slide" Target="/ppt/slides/slide11.xml" Id="Re9729d197679489d" /><Relationship Type="http://schemas.openxmlformats.org/officeDocument/2006/relationships/slide" Target="/ppt/slides/slide12.xml" Id="R17364f024e114fa7" /><Relationship Type="http://schemas.openxmlformats.org/officeDocument/2006/relationships/slide" Target="/ppt/slides/slide13.xml" Id="Ra32d2299b1e34645" /><Relationship Type="http://schemas.openxmlformats.org/officeDocument/2006/relationships/slide" Target="/ppt/slides/slide14.xml" Id="R112da9e5e26d4a1a" /><Relationship Type="http://schemas.openxmlformats.org/officeDocument/2006/relationships/slide" Target="/ppt/slides/slide15.xml" Id="Rfc6e8098b0094e49" /><Relationship Type="http://schemas.openxmlformats.org/officeDocument/2006/relationships/slide" Target="/ppt/slides/slide16.xml" Id="R637ab624bb744813" /><Relationship Type="http://schemas.openxmlformats.org/officeDocument/2006/relationships/slide" Target="/ppt/slides/slide17.xml" Id="R83dee26be35c43dd" /><Relationship Type="http://schemas.openxmlformats.org/officeDocument/2006/relationships/slide" Target="/ppt/slides/slide18.xml" Id="R618fda44c9f74872" /><Relationship Type="http://schemas.openxmlformats.org/officeDocument/2006/relationships/slide" Target="/ppt/slides/slide19.xml" Id="R1b6aa91c6bb84531" /><Relationship Type="http://schemas.openxmlformats.org/officeDocument/2006/relationships/slide" Target="/ppt/slides/slide20.xml" Id="Rff9f2644ad404234" /><Relationship Type="http://schemas.openxmlformats.org/officeDocument/2006/relationships/slide" Target="/ppt/slides/slide21.xml" Id="Rffdacc3614814b34" /><Relationship Type="http://schemas.openxmlformats.org/officeDocument/2006/relationships/slide" Target="/ppt/slides/slide22.xml" Id="R7cd2e17b0ac44598" /><Relationship Type="http://schemas.openxmlformats.org/officeDocument/2006/relationships/slide" Target="/ppt/slides/slide23.xml" Id="Rbaf6e7b843f34b38" /><Relationship Type="http://schemas.openxmlformats.org/officeDocument/2006/relationships/slide" Target="/ppt/slides/slide24.xml" Id="Re58715032f894a0b" /><Relationship Type="http://schemas.openxmlformats.org/officeDocument/2006/relationships/slide" Target="/ppt/slides/slide25.xml" Id="R671b64fee09647d1" /><Relationship Type="http://schemas.openxmlformats.org/officeDocument/2006/relationships/slide" Target="/ppt/slides/slide26.xml" Id="R0f1efdb0735b4810" /><Relationship Type="http://schemas.openxmlformats.org/officeDocument/2006/relationships/slide" Target="/ppt/slides/slide27.xml" Id="R299277170d58463a" /><Relationship Type="http://schemas.openxmlformats.org/officeDocument/2006/relationships/slide" Target="/ppt/slides/slide28.xml" Id="R47c1e12bebaf4e1e" /><Relationship Type="http://schemas.openxmlformats.org/officeDocument/2006/relationships/slide" Target="/ppt/slides/slide29.xml" Id="R33f2281931074e26" /><Relationship Type="http://schemas.openxmlformats.org/officeDocument/2006/relationships/slide" Target="/ppt/slides/slide30.xml" Id="Rcb00a46c0526422d" /><Relationship Type="http://schemas.openxmlformats.org/officeDocument/2006/relationships/slide" Target="/ppt/slides/slide31.xml" Id="Rdefdab25799b403c" /><Relationship Type="http://schemas.openxmlformats.org/officeDocument/2006/relationships/slide" Target="/ppt/slides/slide32.xml" Id="Rf00af2c51ef04723" /><Relationship Type="http://schemas.openxmlformats.org/officeDocument/2006/relationships/slide" Target="/ppt/slides/slide33.xml" Id="R6dd932b7d3e94967" /><Relationship Type="http://schemas.openxmlformats.org/officeDocument/2006/relationships/slide" Target="/ppt/slides/slide34.xml" Id="R05566556677748cd" /><Relationship Type="http://schemas.openxmlformats.org/officeDocument/2006/relationships/slide" Target="/ppt/slides/slide35.xml" Id="Rff449ac26a254c77" /><Relationship Type="http://schemas.openxmlformats.org/officeDocument/2006/relationships/slide" Target="/ppt/slides/slide36.xml" Id="Rce57f775d35142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6a719019c04d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96e187a9264970" /><Relationship Type="http://schemas.openxmlformats.org/officeDocument/2006/relationships/notesMaster" Target="/ppt/notesMasters/notesMaster1.xml" Id="Rd6ba87770fec45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3804c4900144eb" /><Relationship Type="http://schemas.openxmlformats.org/officeDocument/2006/relationships/notesMaster" Target="/ppt/notesMasters/notesMaster1.xml" Id="Rae1d711f98904d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ce734e65b84f03" /><Relationship Type="http://schemas.openxmlformats.org/officeDocument/2006/relationships/notesMaster" Target="/ppt/notesMasters/notesMaster1.xml" Id="R3196595326904c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bd2ae38c244181" /><Relationship Type="http://schemas.openxmlformats.org/officeDocument/2006/relationships/notesMaster" Target="/ppt/notesMasters/notesMaster1.xml" Id="Rb45bffc5c14d4e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f50df7094b47c4" /><Relationship Type="http://schemas.openxmlformats.org/officeDocument/2006/relationships/notesMaster" Target="/ppt/notesMasters/notesMaster1.xml" Id="Ra29a7855fc7e44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ceed1dbe064194" /><Relationship Type="http://schemas.openxmlformats.org/officeDocument/2006/relationships/notesMaster" Target="/ppt/notesMasters/notesMaster1.xml" Id="R9009548589204c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bf2fae2d674d8b" /><Relationship Type="http://schemas.openxmlformats.org/officeDocument/2006/relationships/notesMaster" Target="/ppt/notesMasters/notesMaster1.xml" Id="R9a68c937125640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3d1f28bd684f47" /><Relationship Type="http://schemas.openxmlformats.org/officeDocument/2006/relationships/notesMaster" Target="/ppt/notesMasters/notesMaster1.xml" Id="R4f66a1fe075747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082f67a9a94eb0" /><Relationship Type="http://schemas.openxmlformats.org/officeDocument/2006/relationships/notesMaster" Target="/ppt/notesMasters/notesMaster1.xml" Id="R0dcd16fd22174c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d494a01c6d4c2b" /><Relationship Type="http://schemas.openxmlformats.org/officeDocument/2006/relationships/notesMaster" Target="/ppt/notesMasters/notesMaster1.xml" Id="Rf0be8b2ba7f84a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bc2dac3e3384d40" /><Relationship Type="http://schemas.openxmlformats.org/officeDocument/2006/relationships/notesMaster" Target="/ppt/notesMasters/notesMaster1.xml" Id="R12b543772d5040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7db9ff243443af" /><Relationship Type="http://schemas.openxmlformats.org/officeDocument/2006/relationships/notesMaster" Target="/ppt/notesMasters/notesMaster1.xml" Id="R41d7c42f991c48b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5d318d74824b8f" /><Relationship Type="http://schemas.openxmlformats.org/officeDocument/2006/relationships/notesMaster" Target="/ppt/notesMasters/notesMaster1.xml" Id="R6cc8e392453a400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a6e000b97a5487e" /><Relationship Type="http://schemas.openxmlformats.org/officeDocument/2006/relationships/notesMaster" Target="/ppt/notesMasters/notesMaster1.xml" Id="Rd4903da3fca449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82a1051921a476d" /><Relationship Type="http://schemas.openxmlformats.org/officeDocument/2006/relationships/notesMaster" Target="/ppt/notesMasters/notesMaster1.xml" Id="R145e09a0677a4ea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21b9fc78b574304" /><Relationship Type="http://schemas.openxmlformats.org/officeDocument/2006/relationships/notesMaster" Target="/ppt/notesMasters/notesMaster1.xml" Id="Raf7a5c504e8c42c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e7e2ace3f364bb4" /><Relationship Type="http://schemas.openxmlformats.org/officeDocument/2006/relationships/notesMaster" Target="/ppt/notesMasters/notesMaster1.xml" Id="Rdae45306c3c143c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2699c39e0e34f5d" /><Relationship Type="http://schemas.openxmlformats.org/officeDocument/2006/relationships/notesMaster" Target="/ppt/notesMasters/notesMaster1.xml" Id="R7b480820a0044fa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7d8867e05e74d7b" /><Relationship Type="http://schemas.openxmlformats.org/officeDocument/2006/relationships/notesMaster" Target="/ppt/notesMasters/notesMaster1.xml" Id="R8033f3f879b142f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807b4f2a22743ff" /><Relationship Type="http://schemas.openxmlformats.org/officeDocument/2006/relationships/notesMaster" Target="/ppt/notesMasters/notesMaster1.xml" Id="R4b9ce22d074142c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416c2e7bab84a96" /><Relationship Type="http://schemas.openxmlformats.org/officeDocument/2006/relationships/notesMaster" Target="/ppt/notesMasters/notesMaster1.xml" Id="R2275f7ce1f994ed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9907580cc774395" /><Relationship Type="http://schemas.openxmlformats.org/officeDocument/2006/relationships/notesMaster" Target="/ppt/notesMasters/notesMaster1.xml" Id="R469ab7642294470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1cb433f060f4963" /><Relationship Type="http://schemas.openxmlformats.org/officeDocument/2006/relationships/notesMaster" Target="/ppt/notesMasters/notesMaster1.xml" Id="R7b4d7234a6044de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aa4b0c937a34b4b" /><Relationship Type="http://schemas.openxmlformats.org/officeDocument/2006/relationships/notesMaster" Target="/ppt/notesMasters/notesMaster1.xml" Id="Rc2246cd9c6a8463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cd6218a495d47cc" /><Relationship Type="http://schemas.openxmlformats.org/officeDocument/2006/relationships/notesMaster" Target="/ppt/notesMasters/notesMaster1.xml" Id="R3d5dcb5fc3b946f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027dd530cc34012" /><Relationship Type="http://schemas.openxmlformats.org/officeDocument/2006/relationships/notesMaster" Target="/ppt/notesMasters/notesMaster1.xml" Id="Rf1d88de2a7ca48f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2574ee6f72646ed" /><Relationship Type="http://schemas.openxmlformats.org/officeDocument/2006/relationships/notesMaster" Target="/ppt/notesMasters/notesMaster1.xml" Id="R5343f4f46e024e1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230466004cc4193" /><Relationship Type="http://schemas.openxmlformats.org/officeDocument/2006/relationships/notesMaster" Target="/ppt/notesMasters/notesMaster1.xml" Id="R49fd3b65ef50448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c4bd6a826b04c10" /><Relationship Type="http://schemas.openxmlformats.org/officeDocument/2006/relationships/notesMaster" Target="/ppt/notesMasters/notesMaster1.xml" Id="R02760a6c7df24a6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fd0436381f6401c" /><Relationship Type="http://schemas.openxmlformats.org/officeDocument/2006/relationships/notesMaster" Target="/ppt/notesMasters/notesMaster1.xml" Id="R080d4de62ebf41e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37f0224225e4dba" /><Relationship Type="http://schemas.openxmlformats.org/officeDocument/2006/relationships/notesMaster" Target="/ppt/notesMasters/notesMaster1.xml" Id="R00fbaf2ef36c436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a9b230ea7c44160" /><Relationship Type="http://schemas.openxmlformats.org/officeDocument/2006/relationships/notesMaster" Target="/ppt/notesMasters/notesMaster1.xml" Id="Rd2a61c7ba35a477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ea83218b7254a5e" /><Relationship Type="http://schemas.openxmlformats.org/officeDocument/2006/relationships/notesMaster" Target="/ppt/notesMasters/notesMaster1.xml" Id="R66b0be88079f4e4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ef4899d87ad4280" /><Relationship Type="http://schemas.openxmlformats.org/officeDocument/2006/relationships/notesMaster" Target="/ppt/notesMasters/notesMaster1.xml" Id="R38d47d1dbe65492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634e1d4a1f44fa0" /><Relationship Type="http://schemas.openxmlformats.org/officeDocument/2006/relationships/notesMaster" Target="/ppt/notesMasters/notesMaster1.xml" Id="R635d27840b01456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2327ada477b42ba" /><Relationship Type="http://schemas.openxmlformats.org/officeDocument/2006/relationships/notesMaster" Target="/ppt/notesMasters/notesMaster1.xml" Id="R1cdcf2d0ba074651"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Introduction, about 1 minute. Explain what the audience will understand: products, the business model and practical daily work. Adjust the presentation time to the audience. This presentation describes the Croatian business framework and FCC features as of 4 October 2026.</a:t>
            </a:r>
          </a:p>
          <a:p>
            <a:r>
              <a:t/>
            </a:r>
          </a:p>
          <a:p>
            <a:r>
              <a:t>Sources:</a:t>
            </a:r>
          </a:p>
          <a:p>
            <a:r>
              <a:t>https://cdn.foreverliving.com/content/MarketingConfigurableContent/HRV/Poslovna%20politika/Poslovna%20politika.pdf</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Introduce yourself personally, about 1 minute. Speak only about your own verifiable experience. The whole team can use the shared section that follows this introduction.</a:t>
            </a:r>
          </a:p>
          <a:p>
            <a:r>
              <a:t/>
            </a:r>
          </a:p>
          <a:p>
            <a:r>
              <a:t>Sources:</a:t>
            </a:r>
          </a:p>
          <a:p>
            <a:r>
              <a:t>Original material supplied by the user, introductory photographs.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1 minute. Introduce a practical example: a person chooses a product or webinar, talks to a contact and records the next agreed action. Do not promise results or income.</a:t>
            </a:r>
          </a:p>
          <a:p>
            <a:r>
              <a:t/>
            </a:r>
          </a:p>
          <a:p>
            <a:r>
              <a:t>Sources:</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1 minute. Forever was founded in 1978. Official regional websites give different numbers of markets, so no single figure is shown here. FCC is a separate, independent team system.</a:t>
            </a:r>
          </a:p>
          <a:p>
            <a:r>
              <a:t/>
            </a:r>
          </a:p>
          <a:p>
            <a:r>
              <a:t>Sources:</a:t>
            </a:r>
          </a:p>
          <a:p>
            <a:r>
              <a:t>https://foreverliving.com/hrv/hr-hr/about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1 minute. Start with the person's actual needs, habits and budget. Show the product, local label and instructions. Do not invent health effects. The photograph illustrates the range, rather than current local prices.</a:t>
            </a:r>
          </a:p>
          <a:p>
            <a:r>
              <a:t/>
            </a:r>
          </a:p>
          <a:p>
            <a:r>
              <a:t>Sources:</a:t>
            </a:r>
          </a:p>
          <a:p>
            <a:r>
              <a:t>https://foreverliving.com/shop/hrv/hr-hr/products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1 minute. Photographs from the supplied presentation show production and distribution. Explain the company's responsibilities without promising health effects.</a:t>
            </a:r>
          </a:p>
          <a:p>
            <a:r>
              <a:t/>
            </a:r>
          </a:p>
          <a:p>
            <a:r>
              <a:t>Sources:</a:t>
            </a:r>
          </a:p>
          <a:p>
            <a:r>
              <a:t>https://foreverliving.com/hrv/hr-hr/about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1.5 minutes. Both choices can make sense. The business path requires a separate decision and local terms. FCC access depends on the FCC account and available features, and differs from a Forever business account.</a:t>
            </a:r>
          </a:p>
          <a:p>
            <a:r>
              <a:t/>
            </a:r>
          </a:p>
          <a:p>
            <a:r>
              <a:t>Sources:</a:t>
            </a:r>
          </a:p>
          <a:p>
            <a:r>
              <a:t>https://cdn.foreverliving.com/content/MarketingConfigurableContent/HRV/Poslovna%20politika/Poslovna%20politika.pdf</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1.5 minutes. Croatian business policy, edition effective from 1 July 2026. CC are product accounting points. Reaching 2 CC over two consecutive months brings a 30% discount on subsequent orders and the option of a separate business opt in. Check price, pack contents and when the discount applies in the official local shop. Do not recommend purchases solely for points without an actual need.</a:t>
            </a:r>
          </a:p>
          <a:p>
            <a:r>
              <a:t/>
            </a:r>
          </a:p>
          <a:p>
            <a:r>
              <a:t>Sources:</a:t>
            </a:r>
          </a:p>
          <a:p>
            <a:r>
              <a:t>https://cdn.foreverliving.com/content/MarketingConfigurableContent/HRV/Poslovna%20politika/Poslovna%20politika.pdf</a:t>
            </a:r>
          </a:p>
          <a:p>
            <a:r>
              <a:t>https://cdn.foreverliving.com/content/MarketingConfigurableContent/HRV/Preuzimanja/Novi_start_paketi_2025.pdf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2 minutes. In Croatia, 30% after qualification differs from a personal bonus or net income. An adjusted price of up to 48% against SRP is a policy term, not a guaranteed commission on every order. Calculation bases and application depend on the type of sale and policy.</a:t>
            </a:r>
          </a:p>
          <a:p>
            <a:r>
              <a:t/>
            </a:r>
          </a:p>
          <a:p>
            <a:r>
              <a:t>Sources:</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2 minutes. Explain potential sources of income without forecasting earnings. Check rates and calculation bases in the local policy. Registration alone creates no income. Detailed rates appear in the appendix.</a:t>
            </a:r>
          </a:p>
          <a:p>
            <a:r>
              <a:t/>
            </a:r>
          </a:p>
          <a:p>
            <a:r>
              <a:t>Sources:</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1.5 minutes. Croatian policy 4.01. Supervisor has a threshold of 10 non Manager CC, but the timeframe conflicts between 4.01(b) and 4.01(g) in the same policy, so it is omitted here. Explain CC as sales volume, never as the number of registered people. A level does not guarantee a monthly bonus.</a:t>
            </a:r>
          </a:p>
          <a:p>
            <a:r>
              <a:t/>
            </a:r>
          </a:p>
          <a:p>
            <a:r>
              <a:t>Sources:</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1.5 minutes. Under Croatian policy, an active FBO has 4 CC, including at least 1 personally purchased CC. Achieved level and bonus eligibility are separate concepts. These rules are not universal worldwide. Do not buy for qualification without demand. Numerical CC data in FCC from FLP360 is an aggregate, rather than proof of an order by a specific customer.</a:t>
            </a:r>
          </a:p>
          <a:p>
            <a:r>
              <a:t/>
            </a:r>
          </a:p>
          <a:p>
            <a:r>
              <a:t>Sources:</a:t>
            </a:r>
          </a:p>
          <a:p>
            <a:r>
              <a:t>https://cdn.foreverliving.com/content/MarketingConfigurableContent/HRV/Poslovna%20politika/Poslovna%20politika.pdf</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1 minute. Incentive programmes have additional qualifications, maintenance requirements and local terms. Do not present them as a free car or guaranteed trip. The appendix gives a summary, while the policy contains the full conditions.</a:t>
            </a:r>
          </a:p>
          <a:p>
            <a:r>
              <a:t/>
            </a:r>
          </a:p>
          <a:p>
            <a:r>
              <a:t>Sources:</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1 minute. Clearly state that FCC is independent. FCC does not manufacture, deliver or pay Forever bonuses. Its role is to organise work, learning, personal recommendations and support.</a:t>
            </a:r>
          </a:p>
          <a:p>
            <a:r>
              <a:t/>
            </a:r>
          </a:p>
          <a:p>
            <a:r>
              <a:t>Sources:</a:t>
            </a:r>
          </a:p>
          <a:p>
            <a:r>
              <a:t>https://forevercard.club/partner</a:t>
            </a:r>
          </a:p>
          <a:p>
            <a:r>
              <a:t>https://foreverliving.com/hrv/hr-hr/about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1 minute. The card brings together contact information, content and the Forever Web shop. The new main block uses the account's Forever ID and the existing referral resolver. Visitors can check their market. Product availability and purchase terms belong to the local Forever shop.</a:t>
            </a:r>
          </a:p>
          <a:p>
            <a:r>
              <a:t/>
            </a:r>
          </a:p>
          <a:p>
            <a:r>
              <a:t>Sources:</a:t>
            </a:r>
          </a:p>
          <a:p>
            <a:r>
              <a:t>https://forevercard.club/partner/cards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1.5 minutes. Live production interface captured on 4 October 2026. The example is Fiber Fusion. Opening WhatsApp only prepares the message, which the user reviews and sends personally. The article and official shop are separate. Do not send during a demonstration without genuine intent.</a:t>
            </a:r>
          </a:p>
          <a:p>
            <a:r>
              <a:t/>
            </a:r>
          </a:p>
          <a:p>
            <a:r>
              <a:t>Sources:</a:t>
            </a:r>
          </a:p>
          <a:p>
            <a:r>
              <a:t>https://forevercard.club/partner/share</a:t>
            </a:r>
          </a:p>
          <a:p>
            <a:r>
              <a:t>https://forevercard.club/blog/forever-fiber-fusion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1 minute. Business partnership and Start Your Journey recommendations use the existing referral resolver to reach the official local Forever process with the partner's referral. Prices, availability and local terms differ between countries. The guest reviews and confirms the order and registration themselves.</a:t>
            </a:r>
          </a:p>
          <a:p>
            <a:r>
              <a:t/>
            </a:r>
          </a:p>
          <a:p>
            <a:r>
              <a:t>Sources:</a:t>
            </a:r>
          </a:p>
          <a:p>
            <a:r>
              <a:t>https://forevercard.club/partner-marketing</a:t>
            </a:r>
          </a:p>
          <a:p>
            <a:r>
              <a:t>https://forevercard.club/partner/cards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1.5 minutes. Contacts and reminders are available in the Free plan. Webinar registration can link an existing contact. The title and example are fictional, rather than personal data of real members. A prepared or copied message has not been sent. Sending is confirmed separately.</a:t>
            </a:r>
          </a:p>
          <a:p>
            <a:r>
              <a:t/>
            </a:r>
          </a:p>
          <a:p>
            <a:r>
              <a:t>Sources:</a:t>
            </a:r>
          </a:p>
          <a:p>
            <a:r>
              <a:t>https://forevercard.club/partner/contacts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1.5 minutes. The personal PRO Coach helps with messages, tasks and reflection using the known context. It does not send messages for users or confirm purchases. The prompt is fictional. Do not show real private conversations during a public webinar.</a:t>
            </a:r>
          </a:p>
          <a:p>
            <a:r>
              <a:t/>
            </a:r>
          </a:p>
          <a:p>
            <a:r>
              <a:t>Sources:</a:t>
            </a:r>
          </a:p>
          <a:p>
            <a:r>
              <a:t>https://forevercard.club/partner?view=coach</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1.5 minutes. The current programme plans 90 steps. Availability depends on the account and programme conditions. An unfinished step remains until completion is confirmed. The next regular task follows today's completion under the programme rules.</a:t>
            </a:r>
          </a:p>
          <a:p>
            <a:r>
              <a:t/>
            </a:r>
          </a:p>
          <a:p>
            <a:r>
              <a:t>Sources:</a:t>
            </a:r>
          </a:p>
          <a:p>
            <a:r>
              <a:t>https://forevercard.club/partner</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1 minute. Learning includes six video lessons and topics linked to conversations with your sponsor or team. Show an example question and how to use it in a conversation. FCC interface captured on 4 October 2026.</a:t>
            </a:r>
          </a:p>
          <a:p>
            <a:r>
              <a:t/>
            </a:r>
          </a:p>
          <a:p>
            <a:r>
              <a:t>Sources:</a:t>
            </a:r>
          </a:p>
          <a:p>
            <a:r>
              <a:t>https://forevercard.club/partner?view=materials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1.5 minutes. Live production interface captured on 4 October 2026. The demonstration date is an example, rather than a permanent schedule. Every partner uses a personal invitation. Video and personal introductions depend on the PRO plan. Opening WhatsApp does not prove sending. You can adapt and share the invitation yourself.</a:t>
            </a:r>
          </a:p>
          <a:p>
            <a:r>
              <a:t/>
            </a:r>
          </a:p>
          <a:p>
            <a:r>
              <a:t>Sources:</a:t>
            </a:r>
          </a:p>
          <a:p>
            <a:r>
              <a:t>https://forevercard.club/partner/share?type=webinar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2 minutes. Marko is a fictional example. Registration is separate from attendance, with no automatic proof of Zoom participation. The guest receives confirmation and available reminders according to consent and email verification. Registering again for a different date creates a separate attendance record and links the same recognised contact, with a check if identity is ambiguous.</a:t>
            </a:r>
          </a:p>
          <a:p>
            <a:r>
              <a:t/>
            </a:r>
          </a:p>
          <a:p>
            <a:r>
              <a:t>Sources:</a:t>
            </a:r>
          </a:p>
          <a:p>
            <a:r>
              <a:t>https://forevercard.club/partner-webinar?view=activity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1.5 minutes. A PRO organiser chooses a single or weekly event, language and visibility for their own invitations or the entire confirmed FCC team. Team members can invite through their own links and receive their own contacts. The organiser sees aggregate numbers, rather than other members' private CRM. Event language and account language are separate.</a:t>
            </a:r>
          </a:p>
          <a:p>
            <a:r>
              <a:t/>
            </a:r>
          </a:p>
          <a:p>
            <a:r>
              <a:t>Sources:</a:t>
            </a:r>
          </a:p>
          <a:p>
            <a:r>
              <a:t>https://forevercard.club/partner-webinar?view=manage</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1 minute. PRO shows the confirmed FCC structure, aggregate CC data and progress. A CC change does not prove that a particular contact bought a particular product. Personal outreach records drafts, confirmed sending and reminders. Do not show private members or data during a public demonstration.</a:t>
            </a:r>
          </a:p>
          <a:p>
            <a:r>
              <a:t/>
            </a:r>
          </a:p>
          <a:p>
            <a:r>
              <a:t>Sources:</a:t>
            </a:r>
          </a:p>
          <a:p>
            <a:r>
              <a:t>https://forevercard.club/partner/team</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2 minutes or a short demonstration. Ana is a fictional example. Show one task and one prepared message without actually sending it. Then show where to record the agreement. Do not open private CRM records in front of an audience.</a:t>
            </a:r>
          </a:p>
          <a:p>
            <a:r>
              <a:t/>
            </a:r>
          </a:p>
          <a:p>
            <a:r>
              <a:t>Sources:</a:t>
            </a:r>
          </a:p>
          <a:p>
            <a:r>
              <a:t>https://forevercard.club/partner</a:t>
            </a:r>
          </a:p>
          <a:p>
            <a:r>
              <a:t>https://forevercard.club/partner/contacts</a:t>
            </a:r>
          </a:p>
          <a:p>
            <a:r>
              <a:t>https://forevercard.club/partner/share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1 minute. The suggested rhythm is an organisational example, rather than an official programme obligation. Choose a date from the current schedule. Do not assume Wednesday, Sunday or the same time for all teams.</a:t>
            </a:r>
          </a:p>
          <a:p>
            <a:r>
              <a:t/>
            </a:r>
          </a:p>
          <a:p>
            <a:r>
              <a:t>Sources:</a:t>
            </a:r>
          </a:p>
          <a:p>
            <a:r>
              <a:t>https://forevercard.club/partner/share?type=webinar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1.5 minutes. This is an example start with a sponsor, rather than a replacement for the specific My path criteria. Account activation and programme access have their own conditions. Adjust the pace to the person's time and knowledge.</a:t>
            </a:r>
          </a:p>
          <a:p>
            <a:r>
              <a:t/>
            </a:r>
          </a:p>
          <a:p>
            <a:r>
              <a:t>Sources:</a:t>
            </a:r>
          </a:p>
          <a:p>
            <a:r>
              <a:t>https://forevercard.club/partner</a:t>
            </a:r>
          </a:p>
          <a:p>
            <a:r>
              <a:t>https://forevercard.club/partner/cards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1 minute. Actual features checked in production on 4 October 2026. Prices and exact limits may change, so they are shown in FCC. Learning is available under the existing programme terms. A PRO subscription is not a Forever qualification and does not guarantee income.</a:t>
            </a:r>
          </a:p>
          <a:p>
            <a:r>
              <a:t/>
            </a:r>
          </a:p>
          <a:p>
            <a:r>
              <a:t>Sources:</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2 minutes. Invite genuine questions. Answer according to the situation and local rules. If you do not know an answer, record the question and check an official source or support. Do not offer income projections.</a:t>
            </a:r>
          </a:p>
          <a:p>
            <a:r>
              <a:t/>
            </a:r>
          </a:p>
          <a:p>
            <a:r>
              <a:t>Sources:</a:t>
            </a:r>
          </a:p>
          <a:p>
            <a:r>
              <a:t>https://cdn.foreverliving.com/content/MarketingConfigurableContent/HRV/Poslovna%20politika/Poslovna%20politika.pdf</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About 1 minute. Arrange a conversation with the person who invited the guest, involving the sponsor or manager if needed. The guest does not have to make an immediate business decision. Do not replace the personal inviter with a shared contact.</a:t>
            </a:r>
          </a:p>
          <a:p>
            <a:r>
              <a:t/>
            </a:r>
          </a:p>
          <a:p>
            <a:r>
              <a:t>Sources:</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End of the main section. Answer questions and remind guests about the personal conversation. Additional slides address detailed marketing plan questions and do not need to be covered at every webinar.</a:t>
            </a:r>
          </a:p>
          <a:p>
            <a:r>
              <a:t/>
            </a:r>
          </a:p>
          <a:p>
            <a:r>
              <a:t>Sources:</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As needed. Croatian business policy links personal bonuses to sales level, activity and the prescribed calculation base. The phrase adjusted price up to 48% has a separate meaning in the policy. It does not mean a guaranteed cash commission on every order. Do not add the base discount and bonuses as guaranteed net income.</a:t>
            </a:r>
          </a:p>
          <a:p>
            <a:r>
              <a:t/>
            </a:r>
          </a:p>
          <a:p>
            <a:r>
              <a:t>Sources:</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As needed. Croatian policy, section 10. The programme is for an active recognised Manager, subject to additional conditions and maintenance requirements. Qualification takes three consecutive months. The incentive may last up to 36 months. Maximum policy amounts are in USD. For a personal plan, check local calculations and euro payment terms.</a:t>
            </a:r>
          </a:p>
          <a:p>
            <a:r>
              <a:t/>
            </a:r>
          </a:p>
          <a:p>
            <a:r>
              <a:t>Sources:</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As needed. These are basic thresholds. The current local policy defines the full rules. Eagle Manager includes 720 total CC, 100 new CC, three new Supervisor lines and additional conditions. Global Rally includes 1,500 total CC and 50 new CC. New CC refer to sales volume from new lines. Chairman’s Bonus has advanced qualification conditions and a variable payout.</a:t>
            </a:r>
          </a:p>
          <a:p>
            <a:r>
              <a:t/>
            </a:r>
          </a:p>
          <a:p>
            <a:r>
              <a:t>Sources:</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As needed. Croatian policy specifies bonuses on the 15th of the following month. Online profit transfers to Global Pay after the 10th, 20th and last day of the month. Calculation and bank receipt may have different times. Income, taxes and business registration depend on actual circumstances. Refer personal questions to a qualified adviser and official support.</a:t>
            </a:r>
          </a:p>
          <a:p>
            <a:r>
              <a:t/>
            </a:r>
          </a:p>
          <a:p>
            <a:r>
              <a:t>Sources:</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64707d8734454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603b1c9a62540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91a54b21bb4a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8e0804b00442d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7e8e4d02edd4dc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01cdb0906e742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F74769-3CBD-4239-A818-D9166EFEF5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6042203-E90D-4177-99CB-E5E2C734199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E2FCF2E-2D72-496B-8F60-FE46E13BE07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775AFD-5424-4228-AFD5-4BC8664224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3975AA1-4E8D-49F3-B4BE-05D474ECD03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FCF18A8-1252-41C0-8CBF-B3940F037E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7E68A17-6C5D-4A77-8C64-27A74687D2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BD60F0C-4409-4658-8236-F7B45BD1BD7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5FBD3C-3E2D-4E80-8CD4-5B20E1124F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0E3664-B48C-4CCF-A458-5AD8D6B31A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b32fd4c33147ec" /><Relationship Type="http://schemas.openxmlformats.org/officeDocument/2006/relationships/slideLayout" Target="/ppt/slideLayouts/slideLayout1.xml" Id="R222ce6330a5b4ca8" /><Relationship Type="http://schemas.openxmlformats.org/officeDocument/2006/relationships/slideLayout" Target="/ppt/slideLayouts/slideLayout2.xml" Id="R6b5e57ad54854d85" /><Relationship Type="http://schemas.openxmlformats.org/officeDocument/2006/relationships/slideLayout" Target="/ppt/slideLayouts/slideLayout3.xml" Id="Rab436a0ab7cb4f40" /><Relationship Type="http://schemas.openxmlformats.org/officeDocument/2006/relationships/slideLayout" Target="/ppt/slideLayouts/slideLayout4.xml" Id="R918e832eccb44b54" /><Relationship Type="http://schemas.openxmlformats.org/officeDocument/2006/relationships/slideLayout" Target="/ppt/slideLayouts/slideLayout5.xml" Id="Rf01cc88d49c044cf" /><Relationship Type="http://schemas.openxmlformats.org/officeDocument/2006/relationships/slideLayout" Target="/ppt/slideLayouts/slideLayout6.xml" Id="Rbb2fac1f08344b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2ce6330a5b4ca8"/>
    <p:sldLayoutId xmlns:r="http://schemas.openxmlformats.org/officeDocument/2006/relationships" id="2147483650" r:id="R6b5e57ad54854d85"/>
    <p:sldLayoutId xmlns:r="http://schemas.openxmlformats.org/officeDocument/2006/relationships" id="2147483651" r:id="Rab436a0ab7cb4f40"/>
    <p:sldLayoutId xmlns:r="http://schemas.openxmlformats.org/officeDocument/2006/relationships" id="2147483652" r:id="R918e832eccb44b54"/>
    <p:sldLayoutId xmlns:r="http://schemas.openxmlformats.org/officeDocument/2006/relationships" id="2147483653" r:id="Rf01cc88d49c044cf"/>
    <p:sldLayoutId xmlns:r="http://schemas.openxmlformats.org/officeDocument/2006/relationships" id="2147483654" r:id="Rbb2fac1f08344b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8e8b876870b4bd3" /><Relationship Type="http://schemas.openxmlformats.org/officeDocument/2006/relationships/image" Target="/ppt/media/image.jpeg" Id="R034c0eeccf4948c0" /><Relationship Type="http://schemas.openxmlformats.org/officeDocument/2006/relationships/image" Target="/ppt/media/image.png" Id="R2b8d2ff69cca4c51" /><Relationship Type="http://schemas.openxmlformats.org/officeDocument/2006/relationships/notesSlide" Target="/ppt/notesSlides/notesSlide1.xml" Id="R81b9f33499044c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c036672317249bc" /><Relationship Type="http://schemas.openxmlformats.org/officeDocument/2006/relationships/image" Target="/ppt/media/image2.png" Id="R83eae1d8ff684ca8" /><Relationship Type="http://schemas.openxmlformats.org/officeDocument/2006/relationships/image" Target="/ppt/media/image2.jpeg" Id="R7d26e2f4bdc14ea7" /><Relationship Type="http://schemas.openxmlformats.org/officeDocument/2006/relationships/notesSlide" Target="/ppt/notesSlides/notesSlide2.xml" Id="Rb7545ed1f51d4e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4c735092e2049a9" /><Relationship Type="http://schemas.openxmlformats.org/officeDocument/2006/relationships/image" Target="/ppt/media/image3.png" Id="R242c0c3a74d44c3e" /><Relationship Type="http://schemas.openxmlformats.org/officeDocument/2006/relationships/notesSlide" Target="/ppt/notesSlides/notesSlide3.xml" Id="Rf304fb9e41e44f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a17a4223055445a" /><Relationship Type="http://schemas.openxmlformats.org/officeDocument/2006/relationships/image" Target="/ppt/media/image4.png" Id="Rdae54c54c13e41c1" /><Relationship Type="http://schemas.openxmlformats.org/officeDocument/2006/relationships/image" Target="/ppt/media/image3.jpeg" Id="Ra3daa3908981400c" /><Relationship Type="http://schemas.openxmlformats.org/officeDocument/2006/relationships/notesSlide" Target="/ppt/notesSlides/notesSlide4.xml" Id="R0285fcbda83549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21b2435988947ea" /><Relationship Type="http://schemas.openxmlformats.org/officeDocument/2006/relationships/image" Target="/ppt/media/image5.png" Id="Rba10fc9d1268426c" /><Relationship Type="http://schemas.openxmlformats.org/officeDocument/2006/relationships/image" Target="/ppt/media/image6.png" Id="R5eebdc2fa42747ce" /><Relationship Type="http://schemas.openxmlformats.org/officeDocument/2006/relationships/notesSlide" Target="/ppt/notesSlides/notesSlide5.xml" Id="Rfecf98df9a1a4e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6d898239d1c4bc7" /><Relationship Type="http://schemas.openxmlformats.org/officeDocument/2006/relationships/image" Target="/ppt/media/image7.png" Id="Rc418f7fc157f4c3e" /><Relationship Type="http://schemas.openxmlformats.org/officeDocument/2006/relationships/image" Target="/ppt/media/image4.jpeg" Id="R760ec06578814d61" /><Relationship Type="http://schemas.openxmlformats.org/officeDocument/2006/relationships/image" Target="/ppt/media/image5.jpeg" Id="R67e74f1e1fe24f58" /><Relationship Type="http://schemas.openxmlformats.org/officeDocument/2006/relationships/notesSlide" Target="/ppt/notesSlides/notesSlide6.xml" Id="Rfe88255fd57641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9b6062e5e124a0a" /><Relationship Type="http://schemas.openxmlformats.org/officeDocument/2006/relationships/image" Target="/ppt/media/image8.png" Id="R9d24496200b841ee" /><Relationship Type="http://schemas.openxmlformats.org/officeDocument/2006/relationships/notesSlide" Target="/ppt/notesSlides/notesSlide7.xml" Id="R299db23e058f4f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9d1c24b5618406a" /><Relationship Type="http://schemas.openxmlformats.org/officeDocument/2006/relationships/image" Target="/ppt/media/image9.png" Id="R051be96e5b284a3e" /><Relationship Type="http://schemas.openxmlformats.org/officeDocument/2006/relationships/notesSlide" Target="/ppt/notesSlides/notesSlide8.xml" Id="R0e3bd16dd9f740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a0e6f8c9f284a17" /><Relationship Type="http://schemas.openxmlformats.org/officeDocument/2006/relationships/image" Target="/ppt/media/image10.png" Id="Rf661f195b5314748" /><Relationship Type="http://schemas.openxmlformats.org/officeDocument/2006/relationships/notesSlide" Target="/ppt/notesSlides/notesSlide9.xml" Id="Re8ee2aa0c2d745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2528d2b8f874644" /><Relationship Type="http://schemas.openxmlformats.org/officeDocument/2006/relationships/image" Target="/ppt/media/image11.png" Id="Redb93a4280434ff1" /><Relationship Type="http://schemas.openxmlformats.org/officeDocument/2006/relationships/notesSlide" Target="/ppt/notesSlides/notesSlide10.xml" Id="R6cb81f1d52bb485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b9ab9d061bb401c" /><Relationship Type="http://schemas.openxmlformats.org/officeDocument/2006/relationships/image" Target="/ppt/media/image12.png" Id="R5bc897ca9a314817" /><Relationship Type="http://schemas.openxmlformats.org/officeDocument/2006/relationships/notesSlide" Target="/ppt/notesSlides/notesSlide11.xml" Id="R21c3170dc7f34b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5fc977a777745a7" /><Relationship Type="http://schemas.openxmlformats.org/officeDocument/2006/relationships/image" Target="/ppt/media/image13.png" Id="Rc8567ceef5234c8d" /><Relationship Type="http://schemas.openxmlformats.org/officeDocument/2006/relationships/notesSlide" Target="/ppt/notesSlides/notesSlide12.xml" Id="R8a3483c1ab694df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32506bf467547bd" /><Relationship Type="http://schemas.openxmlformats.org/officeDocument/2006/relationships/image" Target="/ppt/media/image14.png" Id="Rf83108d97d584295" /><Relationship Type="http://schemas.openxmlformats.org/officeDocument/2006/relationships/notesSlide" Target="/ppt/notesSlides/notesSlide13.xml" Id="Rb81f8c0116bd4fe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c6c16df8f9b4a2d" /><Relationship Type="http://schemas.openxmlformats.org/officeDocument/2006/relationships/notesSlide" Target="/ppt/notesSlides/notesSlide14.xml" Id="R744adfba47b3489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d62801bc3f64cec" /><Relationship Type="http://schemas.openxmlformats.org/officeDocument/2006/relationships/image" Target="/ppt/media/image15.png" Id="R96ec4f327d4d4f96" /><Relationship Type="http://schemas.openxmlformats.org/officeDocument/2006/relationships/notesSlide" Target="/ppt/notesSlides/notesSlide15.xml" Id="R28a7cd00d350454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480e1010a4749a2" /><Relationship Type="http://schemas.openxmlformats.org/officeDocument/2006/relationships/image" Target="/ppt/media/image16.png" Id="Rc17e468844c54e84" /><Relationship Type="http://schemas.openxmlformats.org/officeDocument/2006/relationships/image" Target="/ppt/media/image6.jpeg" Id="R94ff2c7901084e46" /><Relationship Type="http://schemas.openxmlformats.org/officeDocument/2006/relationships/notesSlide" Target="/ppt/notesSlides/notesSlide16.xml" Id="Ree7c05797a5148f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da9fcec88d4440c" /><Relationship Type="http://schemas.openxmlformats.org/officeDocument/2006/relationships/image" Target="/ppt/media/image17.png" Id="R595a642bf0454749" /><Relationship Type="http://schemas.openxmlformats.org/officeDocument/2006/relationships/notesSlide" Target="/ppt/notesSlides/notesSlide17.xml" Id="R989c80c1ab7649a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537c883443c4227" /><Relationship Type="http://schemas.openxmlformats.org/officeDocument/2006/relationships/image" Target="/ppt/media/image18.png" Id="Rcc997d641f674b2e" /><Relationship Type="http://schemas.openxmlformats.org/officeDocument/2006/relationships/notesSlide" Target="/ppt/notesSlides/notesSlide18.xml" Id="R8d03a8edfbe44b2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51ab6cc4d054267" /><Relationship Type="http://schemas.openxmlformats.org/officeDocument/2006/relationships/image" Target="/ppt/media/image19.png" Id="R64b74fa4d54445c9" /><Relationship Type="http://schemas.openxmlformats.org/officeDocument/2006/relationships/notesSlide" Target="/ppt/notesSlides/notesSlide19.xml" Id="R73252235dda1420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04f72282a1f43c7" /><Relationship Type="http://schemas.openxmlformats.org/officeDocument/2006/relationships/image" Target="/ppt/media/image20.png" Id="R5343d6ff4c174578" /><Relationship Type="http://schemas.openxmlformats.org/officeDocument/2006/relationships/notesSlide" Target="/ppt/notesSlides/notesSlide20.xml" Id="R1ae34887bf6b469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ed28d195f35443d" /><Relationship Type="http://schemas.openxmlformats.org/officeDocument/2006/relationships/image" Target="/ppt/media/image21.png" Id="Rd2520270cdcb44be" /><Relationship Type="http://schemas.openxmlformats.org/officeDocument/2006/relationships/image" Target="/ppt/media/image7.jpeg" Id="Rc24afb3e1b784e7e" /><Relationship Type="http://schemas.openxmlformats.org/officeDocument/2006/relationships/notesSlide" Target="/ppt/notesSlides/notesSlide21.xml" Id="Rbc0de2a1637e4a5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e16aecb56c245ae" /><Relationship Type="http://schemas.openxmlformats.org/officeDocument/2006/relationships/image" Target="/ppt/media/image22.png" Id="R9e74150305fa4111" /><Relationship Type="http://schemas.openxmlformats.org/officeDocument/2006/relationships/image" Target="/ppt/media/image8.jpeg" Id="R1e50648732a948d2" /><Relationship Type="http://schemas.openxmlformats.org/officeDocument/2006/relationships/notesSlide" Target="/ppt/notesSlides/notesSlide22.xml" Id="R30e134802af8440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7e27ec12d1a473a" /><Relationship Type="http://schemas.openxmlformats.org/officeDocument/2006/relationships/image" Target="/ppt/media/image23.png" Id="R767dfad8865d4072" /><Relationship Type="http://schemas.openxmlformats.org/officeDocument/2006/relationships/notesSlide" Target="/ppt/notesSlides/notesSlide23.xml" Id="Rcdffd40f7fb54e0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f4213f8477847af" /><Relationship Type="http://schemas.openxmlformats.org/officeDocument/2006/relationships/image" Target="/ppt/media/image24.png" Id="R91a2746f4c374b45" /><Relationship Type="http://schemas.openxmlformats.org/officeDocument/2006/relationships/notesSlide" Target="/ppt/notesSlides/notesSlide24.xml" Id="Re08558424ab0423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31ef9866f844b13" /><Relationship Type="http://schemas.openxmlformats.org/officeDocument/2006/relationships/image" Target="/ppt/media/image25.png" Id="R59ec47a19bc2488c" /><Relationship Type="http://schemas.openxmlformats.org/officeDocument/2006/relationships/notesSlide" Target="/ppt/notesSlides/notesSlide25.xml" Id="Rfe051ce0ad3743a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04e216661cb46d8" /><Relationship Type="http://schemas.openxmlformats.org/officeDocument/2006/relationships/notesSlide" Target="/ppt/notesSlides/notesSlide26.xml" Id="Rd955d76780a0445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31edf40b97d430e" /><Relationship Type="http://schemas.openxmlformats.org/officeDocument/2006/relationships/image" Target="/ppt/media/image26.png" Id="R5fc007ce49884a48" /><Relationship Type="http://schemas.openxmlformats.org/officeDocument/2006/relationships/notesSlide" Target="/ppt/notesSlides/notesSlide27.xml" Id="R6e2c3395d089417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820138f73cd44f4" /><Relationship Type="http://schemas.openxmlformats.org/officeDocument/2006/relationships/image" Target="/ppt/media/image27.png" Id="R2ce76662dc9b4623" /><Relationship Type="http://schemas.openxmlformats.org/officeDocument/2006/relationships/notesSlide" Target="/ppt/notesSlides/notesSlide28.xml" Id="R26fc3c5b9f414fd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d9355eb3c3e4fc5" /><Relationship Type="http://schemas.openxmlformats.org/officeDocument/2006/relationships/image" Target="/ppt/media/image28.png" Id="R5e6a51b14994433f" /><Relationship Type="http://schemas.openxmlformats.org/officeDocument/2006/relationships/notesSlide" Target="/ppt/notesSlides/notesSlide29.xml" Id="Rc99cf4ce3b1f4ee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04d39c204f04178" /><Relationship Type="http://schemas.openxmlformats.org/officeDocument/2006/relationships/image" Target="/ppt/media/image29.png" Id="R90f9cc35fcf0450c" /><Relationship Type="http://schemas.openxmlformats.org/officeDocument/2006/relationships/notesSlide" Target="/ppt/notesSlides/notesSlide30.xml" Id="R84d2f32132a4487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2187c0cea7e4553" /><Relationship Type="http://schemas.openxmlformats.org/officeDocument/2006/relationships/image" Target="/ppt/media/image30.png" Id="R83eb3923d8184bad" /><Relationship Type="http://schemas.openxmlformats.org/officeDocument/2006/relationships/notesSlide" Target="/ppt/notesSlides/notesSlide31.xml" Id="R041eb70f80e446a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0ab2bf6fa284ec2" /><Relationship Type="http://schemas.openxmlformats.org/officeDocument/2006/relationships/notesSlide" Target="/ppt/notesSlides/notesSlide32.xml" Id="Rfba93b99e45c4dc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2ee66e90d034c10" /><Relationship Type="http://schemas.openxmlformats.org/officeDocument/2006/relationships/image" Target="/ppt/media/image31.png" Id="R36ae438961544b63" /><Relationship Type="http://schemas.openxmlformats.org/officeDocument/2006/relationships/notesSlide" Target="/ppt/notesSlides/notesSlide33.xml" Id="R5a1843e749774ba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b2c9e6ee3d842b0" /><Relationship Type="http://schemas.openxmlformats.org/officeDocument/2006/relationships/image" Target="/ppt/media/image32.png" Id="R9c5ed023181f4870" /><Relationship Type="http://schemas.openxmlformats.org/officeDocument/2006/relationships/notesSlide" Target="/ppt/notesSlides/notesSlide34.xml" Id="R0496a57b86264bb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f9a51a4052a9476f" /><Relationship Type="http://schemas.openxmlformats.org/officeDocument/2006/relationships/image" Target="/ppt/media/image33.png" Id="R58ce5c4bc3ef4c8b" /><Relationship Type="http://schemas.openxmlformats.org/officeDocument/2006/relationships/notesSlide" Target="/ppt/notesSlides/notesSlide35.xml" Id="R2fc1dca00dc3471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83230092d6b4ea4" /><Relationship Type="http://schemas.openxmlformats.org/officeDocument/2006/relationships/image" Target="/ppt/media/image34.png" Id="R94ed22d42f074bff" /><Relationship Type="http://schemas.openxmlformats.org/officeDocument/2006/relationships/notesSlide" Target="/ppt/notesSlides/notesSlide36.xml" Id="R31e5ae07ec8642d3" /></Relationships>
</file>

<file path=ppt/slides/slide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sp>
        <p:nvSpPr>
          <p:cNvPr id="7" name="">
            <a:extLst>
              <a:ext uri="{FF2B5EF4-FFF2-40B4-BE49-F238E27FC236}">
                <ns2:creationId id="{A7AC97BE-995D-43C8-B710-19D4F10EEBAB}"/>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01</a:t>
            </a:r>
          </a:p>
        </p:txBody>
      </p:sp>
      <p:pic>
        <p:nvPicPr>
          <p:cNvPr id="2" name="">
            <a:extLst>
              <a:ext uri="{FF2B5EF4-FFF2-40B4-BE49-F238E27FC236}">
                <ns2:creationId id="{256D1567-1E22-4203-8C6B-FAC7BC7E5857}"/>
              </a:ext>
            </a:extLst>
          </p:cNvPr>
          <p:cNvPicPr>
            <a:picLocks noChangeAspect="1"/>
          </p:cNvPicPr>
          <p:nvPr/>
        </p:nvPicPr>
        <p:blipFill>
          <a:blip r:embed="R034c0eeccf4948c0"/>
          <a:srcRect l="24610" t="0" r="24610" b="0"/>
          <a:stretch>
            <a:fillRect l="0" t="0" r="0" b="0"/>
          </a:stretch>
        </p:blipFill>
        <p:spPr>
          <a:xfrm>
            <a:off x="6810375" y="0"/>
            <a:ext cx="5381625" cy="6858000"/>
          </a:xfrm>
          <a:prstGeom prst="rect">
            <a:avLst/>
          </a:prstGeom>
        </p:spPr>
      </p:pic>
      <p:pic>
        <p:nvPicPr>
          <p:cNvPr id="3" name="">
            <a:extLst>
              <a:ext uri="{FF2B5EF4-FFF2-40B4-BE49-F238E27FC236}">
                <ns2:creationId id="{95EA2546-934B-459A-AC59-934CC0E1E9C1}"/>
              </a:ext>
            </a:extLst>
          </p:cNvPr>
          <p:cNvPicPr>
            <a:picLocks noChangeAspect="1"/>
          </p:cNvPicPr>
          <p:nvPr/>
        </p:nvPicPr>
        <p:blipFill>
          <a:blip r:embed="R2b8d2ff69cca4c51"/>
          <a:stretch/>
        </p:blipFill>
        <p:spPr>
          <a:xfrm>
            <a:off x="609600" y="463276"/>
            <a:ext cx="2457450" cy="635547"/>
          </a:xfrm>
          <a:prstGeom prst="rect">
            <a:avLst/>
          </a:prstGeom>
        </p:spPr>
      </p:pic>
      <p:sp>
        <p:nvSpPr>
          <p:cNvPr id="4" name="">
            <a:extLst>
              <a:ext uri="{FF2B5EF4-FFF2-40B4-BE49-F238E27FC236}">
                <ns2:creationId id="{7A84D4CA-7994-4015-BA7A-862B8C85D61A}"/>
              </a:ext>
            </a:extLst>
          </p:cNvPr>
          <p:cNvSpPr>
            <a:spLocks noGrp="1"/>
          </p:cNvSpPr>
          <p:nvPr/>
        </p:nvSpPr>
        <p:spPr>
          <a:xfrm>
            <a:off x="609600" y="1943100"/>
            <a:ext cx="6191250" cy="790575"/>
          </a:xfrm>
          <a:prstGeom prst="rect">
            <a:avLst/>
          </a:prstGeom>
          <a:noFill/>
          <a:ln w="0">
            <a:noFill/>
          </a:ln>
        </p:spPr>
        <p:txBody>
          <a:bodyPr wrap="square" lIns="0" tIns="0" rIns="0" bIns="0" anchor="t">
            <a:noAutofit/>
          </a:bodyPr>
          <a:lstStyle>
            <a:defPPr>
              <a:defRPr sz="4950" b="1">
                <a:solidFill>
                  <a:srgbClr val="153F36"/>
                </a:solidFill>
                <a:latin typeface="Arial"/>
                <a:ea typeface="Arial"/>
                <a:cs typeface="Arial"/>
              </a:defRPr>
            </a:defPPr>
          </a:lstStyle>
          <a:p>
            <a:pPr>
              <a:defRPr sz="4950" b="1">
                <a:solidFill>
                  <a:srgbClr val="153F36"/>
                </a:solidFill>
                <a:latin typeface="Arial"/>
                <a:ea typeface="Arial"/>
                <a:cs typeface="Arial"/>
              </a:defRPr>
            </a:pPr>
            <a:r>
              <a:rPr sz="4950" b="1" lang="en-GB">
                <a:solidFill>
                  <a:srgbClr val="153F36"/>
                </a:solidFill>
                <a:latin typeface="Arial"/>
                <a:ea typeface="Arial"/>
                <a:cs typeface="Arial"/>
              </a:rPr>
              <a:t>Forever and FCC</a:t>
            </a:r>
          </a:p>
        </p:txBody>
      </p:sp>
      <p:sp>
        <p:nvSpPr>
          <p:cNvPr id="5" name="">
            <a:extLst>
              <a:ext uri="{FF2B5EF4-FFF2-40B4-BE49-F238E27FC236}">
                <ns2:creationId id="{FC0596C7-1725-4D0C-95AB-F7C38913635E}"/>
              </a:ext>
            </a:extLst>
          </p:cNvPr>
          <p:cNvSpPr>
            <a:spLocks noGrp="1"/>
          </p:cNvSpPr>
          <p:nvPr/>
        </p:nvSpPr>
        <p:spPr>
          <a:xfrm>
            <a:off x="609600" y="2857500"/>
            <a:ext cx="6115050" cy="1676400"/>
          </a:xfrm>
          <a:prstGeom prst="rect">
            <a:avLst/>
          </a:prstGeom>
          <a:noFill/>
          <a:ln w="0">
            <a:noFill/>
          </a:ln>
        </p:spPr>
        <p:txBody>
          <a:bodyPr wrap="square" lIns="0" tIns="0" rIns="0" bIns="0" anchor="t">
            <a:noAutofit/>
          </a:bodyPr>
          <a:lstStyle>
            <a:defPPr>
              <a:defRPr sz="5250" b="1">
                <a:solidFill>
                  <a:srgbClr val="153F36"/>
                </a:solidFill>
                <a:latin typeface="Arial"/>
                <a:ea typeface="Arial"/>
                <a:cs typeface="Arial"/>
              </a:defRPr>
            </a:defPPr>
          </a:lstStyle>
          <a:p>
            <a:pPr>
              <a:defRPr sz="5250" b="1">
                <a:solidFill>
                  <a:srgbClr val="153F36"/>
                </a:solidFill>
                <a:latin typeface="Arial"/>
                <a:ea typeface="Arial"/>
                <a:cs typeface="Arial"/>
              </a:defRPr>
            </a:pPr>
            <a:r>
              <a:rPr sz="4672" b="1" lang="en-GB">
                <a:solidFill>
                  <a:srgbClr val="153F36"/>
                </a:solidFill>
                <a:latin typeface="Arial"/>
                <a:ea typeface="Arial"/>
                <a:cs typeface="Arial"/>
              </a:rPr>
              <a:t>Business opportunity</a:t>
            </a:r>
          </a:p>
          <a:p>
            <a:pPr>
              <a:defRPr sz="5250" b="1">
                <a:solidFill>
                  <a:srgbClr val="153F36"/>
                </a:solidFill>
                <a:latin typeface="Arial"/>
                <a:ea typeface="Arial"/>
                <a:cs typeface="Arial"/>
              </a:defRPr>
            </a:pPr>
            <a:r>
              <a:rPr sz="4672" b="1" lang="en-GB">
                <a:solidFill>
                  <a:srgbClr val="153F36"/>
                </a:solidFill>
                <a:latin typeface="Arial"/>
                <a:ea typeface="Arial"/>
                <a:cs typeface="Arial"/>
              </a:rPr>
              <a:t>in practice</a:t>
            </a:r>
          </a:p>
        </p:txBody>
      </p:sp>
      <p:sp>
        <p:nvSpPr>
          <p:cNvPr id="6" name="">
            <a:extLst>
              <a:ext uri="{FF2B5EF4-FFF2-40B4-BE49-F238E27FC236}">
                <ns2:creationId id="{1753A05F-C655-42C5-8499-56D405EA3424}"/>
              </a:ext>
            </a:extLst>
          </p:cNvPr>
          <p:cNvSpPr>
            <a:spLocks noGrp="1"/>
          </p:cNvSpPr>
          <p:nvPr/>
        </p:nvSpPr>
        <p:spPr>
          <a:xfrm>
            <a:off x="609600" y="5067300"/>
            <a:ext cx="5772150" cy="990600"/>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en-GB">
                <a:solidFill>
                  <a:srgbClr val="526B63"/>
                </a:solidFill>
                <a:latin typeface="Arial"/>
                <a:ea typeface="Arial"/>
                <a:cs typeface="Arial"/>
              </a:rPr>
              <a:t>Products, partnership and everyday work with digital support.</a:t>
            </a:r>
          </a:p>
        </p:txBody>
      </p:sp>
    </p:spTree>
    <p:extLst>
      <p:ext uri="{BB962C8B-B14F-4D97-AF65-F5344CB8AC3E}">
        <ns4:creationId val="1491815882"/>
      </p:ext>
    </p:extLst>
  </p:cSld>
</p:sld>
</file>

<file path=ppt/slides/slide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744F585C-B6A5-433C-8BE0-CC464C4C779F}"/>
              </a:ext>
            </a:extLst>
          </p:cNvPr>
          <p:cNvPicPr>
            <a:picLocks noChangeAspect="1"/>
          </p:cNvPicPr>
          <p:nvPr/>
        </p:nvPicPr>
        <p:blipFill>
          <a:blip r:embed="R83eae1d8ff684ca8"/>
          <a:stretch/>
        </p:blipFill>
        <p:spPr>
          <a:xfrm>
            <a:off x="9867900" y="276061"/>
            <a:ext cx="1695450" cy="438478"/>
          </a:xfrm>
          <a:prstGeom prst="rect">
            <a:avLst/>
          </a:prstGeom>
        </p:spPr>
      </p:pic>
      <p:sp>
        <p:nvSpPr>
          <p:cNvPr id="2" name="">
            <a:extLst>
              <a:ext uri="{FF2B5EF4-FFF2-40B4-BE49-F238E27FC236}">
                <ns2:creationId id="{A68AD40D-226F-4ECC-A3CD-2A2C9C7D53B2}"/>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02</a:t>
            </a:r>
          </a:p>
        </p:txBody>
      </p:sp>
      <p:sp>
        <p:nvSpPr>
          <p:cNvPr id="3" name="Title">
            <a:extLst>
              <a:ext uri="{FF2B5EF4-FFF2-40B4-BE49-F238E27FC236}">
                <ns2:creationId id="{1176B0B2-066B-4212-A51F-514684F66C87}"/>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Your hosts</a:t>
            </a:r>
          </a:p>
        </p:txBody>
      </p:sp>
      <p:sp>
        <p:nvSpPr>
          <p:cNvPr id="4" name="Presenter, name">
            <a:extLst>
              <a:ext uri="{FF2B5EF4-FFF2-40B4-BE49-F238E27FC236}">
                <ns2:creationId id="{8C10299F-EDB2-4E7F-B49E-4F214720F8FE}"/>
              </a:ext>
            </a:extLst>
          </p:cNvPr>
          <p:cNvSpPr>
            <a:spLocks noGrp="1"/>
          </p:cNvSpPr>
          <p:nvPr/>
        </p:nvSpPr>
        <p:spPr>
          <a:xfrm>
            <a:off x="609600" y="2181225"/>
            <a:ext cx="5381625" cy="1314450"/>
          </a:xfrm>
          <a:prstGeom prst="rect">
            <a:avLst/>
          </a:prstGeom>
          <a:noFill/>
          <a:ln w="0">
            <a:noFill/>
          </a:ln>
        </p:spPr>
        <p:txBody>
          <a:bodyPr wrap="square" lIns="0" tIns="0" rIns="0" bIns="0" anchor="t">
            <a:noAutofit/>
          </a:bodyPr>
          <a:lstStyle>
            <a:defPPr>
              <a:defRPr sz="3975" b="1">
                <a:solidFill>
                  <a:srgbClr val="153F36"/>
                </a:solidFill>
                <a:latin typeface="Arial"/>
                <a:ea typeface="Arial"/>
                <a:cs typeface="Arial"/>
              </a:defRPr>
            </a:defPPr>
          </a:lstStyle>
          <a:p>
            <a:pPr>
              <a:defRPr sz="3975" b="1">
                <a:solidFill>
                  <a:srgbClr val="153F36"/>
                </a:solidFill>
                <a:latin typeface="Arial"/>
                <a:ea typeface="Arial"/>
                <a:cs typeface="Arial"/>
              </a:defRPr>
            </a:pPr>
            <a:r>
              <a:rPr sz="3975" b="1" lang="en-GB">
                <a:solidFill>
                  <a:srgbClr val="153F36"/>
                </a:solidFill>
                <a:latin typeface="Arial"/>
                <a:ea typeface="Arial"/>
                <a:cs typeface="Arial"/>
              </a:rPr>
              <a:t>Stjepan and</a:t>
            </a:r>
          </a:p>
          <a:p>
            <a:pPr>
              <a:defRPr sz="3975" b="1">
                <a:solidFill>
                  <a:srgbClr val="153F36"/>
                </a:solidFill>
                <a:latin typeface="Arial"/>
                <a:ea typeface="Arial"/>
                <a:cs typeface="Arial"/>
              </a:defRPr>
            </a:pPr>
            <a:r>
              <a:rPr sz="3975" b="1" lang="en-GB">
                <a:solidFill>
                  <a:srgbClr val="153F36"/>
                </a:solidFill>
                <a:latin typeface="Arial"/>
                <a:ea typeface="Arial"/>
                <a:cs typeface="Arial"/>
              </a:rPr>
              <a:t>Snježana Beloša</a:t>
            </a:r>
          </a:p>
        </p:txBody>
      </p:sp>
      <p:sp>
        <p:nvSpPr>
          <p:cNvPr id="5" name="Presenter, description">
            <a:extLst>
              <a:ext uri="{FF2B5EF4-FFF2-40B4-BE49-F238E27FC236}">
                <ns2:creationId id="{C8BD6CD1-D5ED-485E-A612-0D7A42166A3E}"/>
              </a:ext>
            </a:extLst>
          </p:cNvPr>
          <p:cNvSpPr>
            <a:spLocks noGrp="1"/>
          </p:cNvSpPr>
          <p:nvPr/>
        </p:nvSpPr>
        <p:spPr>
          <a:xfrm>
            <a:off x="609600" y="3810000"/>
            <a:ext cx="5076825" cy="990600"/>
          </a:xfrm>
          <a:prstGeom prst="rect">
            <a:avLst/>
          </a:prstGeom>
          <a:noFill/>
          <a:ln w="0">
            <a:noFill/>
          </a:ln>
        </p:spPr>
        <p:txBody>
          <a:bodyPr wrap="square" lIns="0" tIns="0" rIns="0" bIns="0" anchor="t">
            <a:noAutofit/>
          </a:bodyPr>
          <a:lstStyle>
            <a:defPPr>
              <a:defRPr sz="2250" b="0">
                <a:solidFill>
                  <a:srgbClr val="526B63"/>
                </a:solidFill>
                <a:latin typeface="Arial"/>
                <a:ea typeface="Arial"/>
                <a:cs typeface="Arial"/>
              </a:defRPr>
            </a:defPPr>
          </a:lstStyle>
          <a:p>
            <a:pPr>
              <a:defRPr sz="2250" b="0">
                <a:solidFill>
                  <a:srgbClr val="526B63"/>
                </a:solidFill>
                <a:latin typeface="Arial"/>
                <a:ea typeface="Arial"/>
                <a:cs typeface="Arial"/>
              </a:defRPr>
            </a:pPr>
            <a:r>
              <a:rPr sz="2250" b="0" lang="en-GB">
                <a:solidFill>
                  <a:srgbClr val="526B63"/>
                </a:solidFill>
                <a:latin typeface="Arial"/>
                <a:ea typeface="Arial"/>
                <a:cs typeface="Arial"/>
              </a:rPr>
              <a:t>Creators of Forever Card Club</a:t>
            </a:r>
          </a:p>
          <a:p>
            <a:pPr>
              <a:defRPr sz="2250" b="0">
                <a:solidFill>
                  <a:srgbClr val="526B63"/>
                </a:solidFill>
                <a:latin typeface="Arial"/>
                <a:ea typeface="Arial"/>
                <a:cs typeface="Arial"/>
              </a:defRPr>
            </a:pPr>
            <a:r>
              <a:rPr sz="2250" b="0" lang="en-GB">
                <a:solidFill>
                  <a:srgbClr val="526B63"/>
                </a:solidFill>
                <a:latin typeface="Arial"/>
                <a:ea typeface="Arial"/>
                <a:cs typeface="Arial"/>
              </a:rPr>
              <a:t>and mentors to our team.</a:t>
            </a:r>
          </a:p>
        </p:txBody>
      </p:sp>
      <p:sp>
        <p:nvSpPr>
          <p:cNvPr id="6" name="Presenter, personal message">
            <a:extLst>
              <a:ext uri="{FF2B5EF4-FFF2-40B4-BE49-F238E27FC236}">
                <ns2:creationId id="{C7EB62E8-86BA-442F-820A-95F8E087C2C6}"/>
              </a:ext>
            </a:extLst>
          </p:cNvPr>
          <p:cNvSpPr>
            <a:spLocks noGrp="1"/>
          </p:cNvSpPr>
          <p:nvPr/>
        </p:nvSpPr>
        <p:spPr>
          <a:xfrm>
            <a:off x="609600" y="5124450"/>
            <a:ext cx="5076825" cy="857250"/>
          </a:xfrm>
          <a:prstGeom prst="rect">
            <a:avLst/>
          </a:prstGeom>
          <a:noFill/>
          <a:ln w="0">
            <a:noFill/>
          </a:ln>
        </p:spPr>
        <p:txBody>
          <a:bodyPr wrap="square" lIns="0" tIns="0" rIns="0" bIns="0" anchor="t">
            <a:noAutofit/>
          </a:bodyPr>
          <a:lstStyle>
            <a:defPPr>
              <a:defRPr sz="2100" b="0">
                <a:solidFill>
                  <a:srgbClr val="153F36"/>
                </a:solidFill>
                <a:latin typeface="Arial"/>
                <a:ea typeface="Arial"/>
                <a:cs typeface="Arial"/>
              </a:defRPr>
            </a:defPPr>
          </a:lstStyle>
          <a:p>
            <a:pPr>
              <a:defRPr sz="2100" b="0">
                <a:solidFill>
                  <a:srgbClr val="153F36"/>
                </a:solidFill>
                <a:latin typeface="Arial"/>
                <a:ea typeface="Arial"/>
                <a:cs typeface="Arial"/>
              </a:defRPr>
            </a:pPr>
            <a:r>
              <a:rPr sz="2100" b="0" lang="en-GB">
                <a:solidFill>
                  <a:srgbClr val="153F36"/>
                </a:solidFill>
                <a:latin typeface="Arial"/>
                <a:ea typeface="Arial"/>
                <a:cs typeface="Arial"/>
              </a:rPr>
              <a:t>We help you understand the possibilities and choose a practical starting point.</a:t>
            </a:r>
          </a:p>
        </p:txBody>
      </p:sp>
      <p:pic>
        <p:nvPicPr>
          <p:cNvPr id="7" name="">
            <a:extLst>
              <a:ext uri="{FF2B5EF4-FFF2-40B4-BE49-F238E27FC236}">
                <ns2:creationId id="{1CC6FBA4-AAA8-41D9-9116-49E85FDFC736}"/>
              </a:ext>
            </a:extLst>
          </p:cNvPr>
          <p:cNvPicPr>
            <a:picLocks noChangeAspect="1"/>
          </p:cNvPicPr>
          <p:nvPr/>
        </p:nvPicPr>
        <p:blipFill>
          <a:blip r:embed="R7d26e2f4bdc14ea7"/>
          <a:srcRect l="0" t="63" r="0" b="63"/>
          <a:stretch>
            <a:fillRect l="0" t="0" r="0" b="0"/>
          </a:stretch>
        </p:blipFill>
        <p:spPr>
          <a:xfrm>
            <a:off x="6572250" y="1952625"/>
            <a:ext cx="5010150" cy="3752850"/>
          </a:xfrm>
          <a:prstGeom prst="rect">
            <a:avLst/>
          </a:prstGeom>
        </p:spPr>
      </p:pic>
    </p:spTree>
    <p:extLst>
      <p:ext uri="{BB962C8B-B14F-4D97-AF65-F5344CB8AC3E}">
        <ns4:creationId val="1588096114"/>
      </p:ext>
    </p:extLst>
  </p:cSld>
</p:sld>
</file>

<file path=ppt/slides/slide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5E6FCE42-34ED-49DB-917B-885BF7A07AF1}"/>
              </a:ext>
            </a:extLst>
          </p:cNvPr>
          <p:cNvPicPr>
            <a:picLocks noChangeAspect="1"/>
          </p:cNvPicPr>
          <p:nvPr/>
        </p:nvPicPr>
        <p:blipFill>
          <a:blip r:embed="R242c0c3a74d44c3e"/>
          <a:stretch/>
        </p:blipFill>
        <p:spPr>
          <a:xfrm>
            <a:off x="9867900" y="276061"/>
            <a:ext cx="1695450" cy="438478"/>
          </a:xfrm>
          <a:prstGeom prst="rect">
            <a:avLst/>
          </a:prstGeom>
        </p:spPr>
      </p:pic>
      <p:sp>
        <p:nvSpPr>
          <p:cNvPr id="2" name="">
            <a:extLst>
              <a:ext uri="{FF2B5EF4-FFF2-40B4-BE49-F238E27FC236}">
                <ns2:creationId id="{1B1032C0-79B5-4738-8E25-D6937A3C85A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03</a:t>
            </a:r>
          </a:p>
        </p:txBody>
      </p:sp>
      <p:sp>
        <p:nvSpPr>
          <p:cNvPr id="3" name="Title">
            <a:extLst>
              <a:ext uri="{FF2B5EF4-FFF2-40B4-BE49-F238E27FC236}">
                <ns2:creationId id="{0C2BCB8F-C404-42C6-BD3A-B39A251103DF}"/>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What you will explore today</a:t>
            </a:r>
          </a:p>
        </p:txBody>
      </p:sp>
      <p:sp>
        <p:nvSpPr>
          <p:cNvPr id="4" name="">
            <a:extLst>
              <a:ext uri="{FF2B5EF4-FFF2-40B4-BE49-F238E27FC236}">
                <ns2:creationId id="{7090349B-17CB-4069-9021-E9AC8929150C}"/>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en-GB">
                <a:solidFill>
                  <a:srgbClr val="148977"/>
                </a:solidFill>
                <a:latin typeface="Arial"/>
                <a:ea typeface="Arial"/>
                <a:cs typeface="Arial"/>
              </a:rPr>
              <a:t>1.</a:t>
            </a:r>
          </a:p>
        </p:txBody>
      </p:sp>
      <p:sp>
        <p:nvSpPr>
          <p:cNvPr id="5" name="">
            <a:extLst>
              <a:ext uri="{FF2B5EF4-FFF2-40B4-BE49-F238E27FC236}">
                <ns2:creationId id="{B790FCFE-A2F7-46DA-9AAA-E3D158B44E5E}"/>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en-GB">
                <a:solidFill>
                  <a:srgbClr val="153F36"/>
                </a:solidFill>
                <a:latin typeface="Arial"/>
                <a:ea typeface="Arial"/>
                <a:cs typeface="Arial"/>
              </a:rPr>
              <a:t>Forever</a:t>
            </a:r>
          </a:p>
        </p:txBody>
      </p:sp>
      <p:sp>
        <p:nvSpPr>
          <p:cNvPr id="6" name="">
            <a:extLst>
              <a:ext uri="{FF2B5EF4-FFF2-40B4-BE49-F238E27FC236}">
                <ns2:creationId id="{62CF0980-2434-4AA9-A846-7ADF450EF6D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Products, official ordering and business rules.</a:t>
            </a:r>
          </a:p>
        </p:txBody>
      </p:sp>
      <p:sp>
        <p:nvSpPr>
          <p:cNvPr id="7" name="">
            <a:extLst>
              <a:ext uri="{FF2B5EF4-FFF2-40B4-BE49-F238E27FC236}">
                <ns2:creationId id="{8096E1E2-CF39-4546-9C54-85736B904FB3}"/>
              </a:ext>
            </a:extLst>
          </p:cNvPr>
          <p:cNvSpPr>
            <a:spLocks noGrp="1"/>
          </p:cNvSpPr>
          <p:nvPr/>
        </p:nvSpPr>
        <p:spPr>
          <a:xfrm>
            <a:off x="609600" y="28384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en-GB">
                <a:solidFill>
                  <a:srgbClr val="148977"/>
                </a:solidFill>
                <a:latin typeface="Arial"/>
                <a:ea typeface="Arial"/>
                <a:cs typeface="Arial"/>
              </a:rPr>
              <a:t>2.</a:t>
            </a:r>
          </a:p>
        </p:txBody>
      </p:sp>
      <p:sp>
        <p:nvSpPr>
          <p:cNvPr id="8" name="">
            <a:extLst>
              <a:ext uri="{FF2B5EF4-FFF2-40B4-BE49-F238E27FC236}">
                <ns2:creationId id="{D93BAFA1-E082-42C0-AF07-8A3F5D4A51BF}"/>
              </a:ext>
            </a:extLst>
          </p:cNvPr>
          <p:cNvSpPr>
            <a:spLocks noGrp="1"/>
          </p:cNvSpPr>
          <p:nvPr/>
        </p:nvSpPr>
        <p:spPr>
          <a:xfrm>
            <a:off x="1257300" y="28384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en-GB">
                <a:solidFill>
                  <a:srgbClr val="153F36"/>
                </a:solidFill>
                <a:latin typeface="Arial"/>
                <a:ea typeface="Arial"/>
                <a:cs typeface="Arial"/>
              </a:rPr>
              <a:t>Your choice</a:t>
            </a:r>
          </a:p>
        </p:txBody>
      </p:sp>
      <p:sp>
        <p:nvSpPr>
          <p:cNvPr id="9" name="">
            <a:extLst>
              <a:ext uri="{FF2B5EF4-FFF2-40B4-BE49-F238E27FC236}">
                <ns2:creationId id="{DC87F678-8ACE-44B6-8B16-8B5A0F8B7F0C}"/>
              </a:ext>
            </a:extLst>
          </p:cNvPr>
          <p:cNvSpPr>
            <a:spLocks noGrp="1"/>
          </p:cNvSpPr>
          <p:nvPr/>
        </p:nvSpPr>
        <p:spPr>
          <a:xfrm>
            <a:off x="1257300" y="32480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Using products or developing your own business.</a:t>
            </a:r>
          </a:p>
        </p:txBody>
      </p:sp>
      <p:sp>
        <p:nvSpPr>
          <p:cNvPr id="10" name="">
            <a:extLst>
              <a:ext uri="{FF2B5EF4-FFF2-40B4-BE49-F238E27FC236}">
                <ns2:creationId id="{3860522A-792D-4373-A4F3-28F5656DBD92}"/>
              </a:ext>
            </a:extLst>
          </p:cNvPr>
          <p:cNvSpPr>
            <a:spLocks noGrp="1"/>
          </p:cNvSpPr>
          <p:nvPr/>
        </p:nvSpPr>
        <p:spPr>
          <a:xfrm>
            <a:off x="609600" y="37147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en-GB">
                <a:solidFill>
                  <a:srgbClr val="148977"/>
                </a:solidFill>
                <a:latin typeface="Arial"/>
                <a:ea typeface="Arial"/>
                <a:cs typeface="Arial"/>
              </a:rPr>
              <a:t>3.</a:t>
            </a:r>
          </a:p>
        </p:txBody>
      </p:sp>
      <p:sp>
        <p:nvSpPr>
          <p:cNvPr id="11" name="">
            <a:extLst>
              <a:ext uri="{FF2B5EF4-FFF2-40B4-BE49-F238E27FC236}">
                <ns2:creationId id="{34D75F7B-C2E5-44A0-9838-83056B206B41}"/>
              </a:ext>
            </a:extLst>
          </p:cNvPr>
          <p:cNvSpPr>
            <a:spLocks noGrp="1"/>
          </p:cNvSpPr>
          <p:nvPr/>
        </p:nvSpPr>
        <p:spPr>
          <a:xfrm>
            <a:off x="1257300" y="37147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en-GB">
                <a:solidFill>
                  <a:srgbClr val="153F36"/>
                </a:solidFill>
                <a:latin typeface="Arial"/>
                <a:ea typeface="Arial"/>
                <a:cs typeface="Arial"/>
              </a:rPr>
              <a:t>FCC in practice</a:t>
            </a:r>
          </a:p>
        </p:txBody>
      </p:sp>
      <p:sp>
        <p:nvSpPr>
          <p:cNvPr id="12" name="">
            <a:extLst>
              <a:ext uri="{FF2B5EF4-FFF2-40B4-BE49-F238E27FC236}">
                <ns2:creationId id="{C9D45EDC-05EA-4018-BAB4-F46975DFEACA}"/>
              </a:ext>
            </a:extLst>
          </p:cNvPr>
          <p:cNvSpPr>
            <a:spLocks noGrp="1"/>
          </p:cNvSpPr>
          <p:nvPr/>
        </p:nvSpPr>
        <p:spPr>
          <a:xfrm>
            <a:off x="1257300" y="41243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Personal recommendations, contacts, webinars and support.</a:t>
            </a:r>
          </a:p>
        </p:txBody>
      </p:sp>
      <p:sp>
        <p:nvSpPr>
          <p:cNvPr id="13" name="">
            <a:extLst>
              <a:ext uri="{FF2B5EF4-FFF2-40B4-BE49-F238E27FC236}">
                <ns2:creationId id="{2E7A5D7F-6A19-4AFA-BB4D-57AF548C10AF}"/>
              </a:ext>
            </a:extLst>
          </p:cNvPr>
          <p:cNvSpPr>
            <a:spLocks noGrp="1"/>
          </p:cNvSpPr>
          <p:nvPr/>
        </p:nvSpPr>
        <p:spPr>
          <a:xfrm>
            <a:off x="609600" y="45910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en-GB">
                <a:solidFill>
                  <a:srgbClr val="148977"/>
                </a:solidFill>
                <a:latin typeface="Arial"/>
                <a:ea typeface="Arial"/>
                <a:cs typeface="Arial"/>
              </a:rPr>
              <a:t>4.</a:t>
            </a:r>
          </a:p>
        </p:txBody>
      </p:sp>
      <p:sp>
        <p:nvSpPr>
          <p:cNvPr id="14" name="">
            <a:extLst>
              <a:ext uri="{FF2B5EF4-FFF2-40B4-BE49-F238E27FC236}">
                <ns2:creationId id="{E46D0B6C-8B28-440C-9B75-E7B279A7BD4E}"/>
              </a:ext>
            </a:extLst>
          </p:cNvPr>
          <p:cNvSpPr>
            <a:spLocks noGrp="1"/>
          </p:cNvSpPr>
          <p:nvPr/>
        </p:nvSpPr>
        <p:spPr>
          <a:xfrm>
            <a:off x="1257300" y="45910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en-GB">
                <a:solidFill>
                  <a:srgbClr val="153F36"/>
                </a:solidFill>
                <a:latin typeface="Arial"/>
                <a:ea typeface="Arial"/>
                <a:cs typeface="Arial"/>
              </a:rPr>
              <a:t>Your first week</a:t>
            </a:r>
          </a:p>
        </p:txBody>
      </p:sp>
      <p:sp>
        <p:nvSpPr>
          <p:cNvPr id="15" name="">
            <a:extLst>
              <a:ext uri="{FF2B5EF4-FFF2-40B4-BE49-F238E27FC236}">
                <ns2:creationId id="{6829D74A-201C-438E-A0A9-426869F09F1D}"/>
              </a:ext>
            </a:extLst>
          </p:cNvPr>
          <p:cNvSpPr>
            <a:spLocks noGrp="1"/>
          </p:cNvSpPr>
          <p:nvPr/>
        </p:nvSpPr>
        <p:spPr>
          <a:xfrm>
            <a:off x="1257300" y="50006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A practical start with the person who invited you.</a:t>
            </a:r>
          </a:p>
        </p:txBody>
      </p:sp>
    </p:spTree>
    <p:extLst>
      <p:ext uri="{BB962C8B-B14F-4D97-AF65-F5344CB8AC3E}">
        <ns4:creationId val="15104013"/>
      </p:ext>
    </p:extLst>
  </p:cSld>
</p:sld>
</file>

<file path=ppt/slides/slide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031F2DBE-3CEF-4AB1-808D-82DFD8D39AE4}"/>
              </a:ext>
            </a:extLst>
          </p:cNvPr>
          <p:cNvPicPr>
            <a:picLocks noChangeAspect="1"/>
          </p:cNvPicPr>
          <p:nvPr/>
        </p:nvPicPr>
        <p:blipFill>
          <a:blip r:embed="Rdae54c54c13e41c1"/>
          <a:stretch/>
        </p:blipFill>
        <p:spPr>
          <a:xfrm>
            <a:off x="9867900" y="276061"/>
            <a:ext cx="1695450" cy="438478"/>
          </a:xfrm>
          <a:prstGeom prst="rect">
            <a:avLst/>
          </a:prstGeom>
        </p:spPr>
      </p:pic>
      <p:sp>
        <p:nvSpPr>
          <p:cNvPr id="2" name="">
            <a:extLst>
              <a:ext uri="{FF2B5EF4-FFF2-40B4-BE49-F238E27FC236}">
                <ns2:creationId id="{A8A277E5-B6B2-4E06-B214-ACC2911CBCFB}"/>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04</a:t>
            </a:r>
          </a:p>
        </p:txBody>
      </p:sp>
      <p:sp>
        <p:nvSpPr>
          <p:cNvPr id="3" name="Title">
            <a:extLst>
              <a:ext uri="{FF2B5EF4-FFF2-40B4-BE49-F238E27FC236}">
                <ns2:creationId id="{B03E3510-0DEE-482B-A50E-CCFBC65CBF8B}"/>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Forever Living Products</a:t>
            </a:r>
          </a:p>
        </p:txBody>
      </p:sp>
      <p:sp>
        <p:nvSpPr>
          <p:cNvPr id="4" name="">
            <a:extLst>
              <a:ext uri="{FF2B5EF4-FFF2-40B4-BE49-F238E27FC236}">
                <ns2:creationId id="{D1A63BA3-11AF-41C5-A0DB-F238BF1FED1D}"/>
              </a:ext>
            </a:extLst>
          </p:cNvPr>
          <p:cNvSpPr>
            <a:spLocks noGrp="1"/>
          </p:cNvSpPr>
          <p:nvPr/>
        </p:nvSpPr>
        <p:spPr>
          <a:xfrm>
            <a:off x="609600" y="2133600"/>
            <a:ext cx="5353050" cy="1495425"/>
          </a:xfrm>
          <a:prstGeom prst="rect">
            <a:avLst/>
          </a:prstGeom>
          <a:noFill/>
          <a:ln w="0">
            <a:noFill/>
          </a:ln>
        </p:spPr>
        <p:txBody>
          <a:bodyPr wrap="square" lIns="0" tIns="0" rIns="0" bIns="0" anchor="t">
            <a:noAutofit/>
          </a:bodyPr>
          <a:lstStyle>
            <a:defPPr>
              <a:defRPr sz="8100" b="1">
                <a:solidFill>
                  <a:srgbClr val="153F36"/>
                </a:solidFill>
                <a:latin typeface="Arial"/>
                <a:ea typeface="Arial"/>
                <a:cs typeface="Arial"/>
              </a:defRPr>
            </a:defPPr>
          </a:lstStyle>
          <a:p>
            <a:pPr>
              <a:defRPr sz="8100" b="1">
                <a:solidFill>
                  <a:srgbClr val="153F36"/>
                </a:solidFill>
                <a:latin typeface="Arial"/>
                <a:ea typeface="Arial"/>
                <a:cs typeface="Arial"/>
              </a:defRPr>
            </a:pPr>
            <a:r>
              <a:rPr sz="8100" b="1" lang="en-GB">
                <a:solidFill>
                  <a:srgbClr val="153F36"/>
                </a:solidFill>
                <a:latin typeface="Arial"/>
                <a:ea typeface="Arial"/>
                <a:cs typeface="Arial"/>
              </a:rPr>
              <a:t>1978.</a:t>
            </a:r>
          </a:p>
        </p:txBody>
      </p:sp>
      <p:sp>
        <p:nvSpPr>
          <p:cNvPr id="5" name="">
            <a:extLst>
              <a:ext uri="{FF2B5EF4-FFF2-40B4-BE49-F238E27FC236}">
                <ns2:creationId id="{3E7CC058-7669-4F2A-8739-E7D03E723F65}"/>
              </a:ext>
            </a:extLst>
          </p:cNvPr>
          <p:cNvSpPr>
            <a:spLocks noGrp="1"/>
          </p:cNvSpPr>
          <p:nvPr/>
        </p:nvSpPr>
        <p:spPr>
          <a:xfrm>
            <a:off x="647700" y="3609975"/>
            <a:ext cx="4953000" cy="542925"/>
          </a:xfrm>
          <a:prstGeom prst="rect">
            <a:avLst/>
          </a:prstGeom>
          <a:noFill/>
          <a:ln w="0">
            <a:noFill/>
          </a:ln>
        </p:spPr>
        <p:txBody>
          <a:bodyPr wrap="square" lIns="0" tIns="0" rIns="0" bIns="0" anchor="t">
            <a:noAutofit/>
          </a:bodyPr>
          <a:lstStyle>
            <a:defPPr>
              <a:defRPr sz="2475" b="1">
                <a:solidFill>
                  <a:srgbClr val="153F36"/>
                </a:solidFill>
                <a:latin typeface="Arial"/>
                <a:ea typeface="Arial"/>
                <a:cs typeface="Arial"/>
              </a:defRPr>
            </a:defPPr>
          </a:lstStyle>
          <a:p>
            <a:pPr>
              <a:defRPr sz="2475" b="1">
                <a:solidFill>
                  <a:srgbClr val="153F36"/>
                </a:solidFill>
                <a:latin typeface="Arial"/>
                <a:ea typeface="Arial"/>
                <a:cs typeface="Arial"/>
              </a:defRPr>
            </a:pPr>
            <a:r>
              <a:rPr sz="2475" b="1" lang="en-GB">
                <a:solidFill>
                  <a:srgbClr val="153F36"/>
                </a:solidFill>
                <a:latin typeface="Arial"/>
                <a:ea typeface="Arial"/>
                <a:cs typeface="Arial"/>
              </a:rPr>
              <a:t>Year founded</a:t>
            </a:r>
          </a:p>
        </p:txBody>
      </p:sp>
      <p:sp>
        <p:nvSpPr>
          <p:cNvPr id="6" name="">
            <a:extLst>
              <a:ext uri="{FF2B5EF4-FFF2-40B4-BE49-F238E27FC236}">
                <ns2:creationId id="{9F9A23A7-5EC9-47CD-A30C-C9479DD7485A}"/>
              </a:ext>
            </a:extLst>
          </p:cNvPr>
          <p:cNvSpPr>
            <a:spLocks noGrp="1"/>
          </p:cNvSpPr>
          <p:nvPr/>
        </p:nvSpPr>
        <p:spPr>
          <a:xfrm>
            <a:off x="609600" y="4457700"/>
            <a:ext cx="5248275" cy="1428750"/>
          </a:xfrm>
          <a:prstGeom prst="rect">
            <a:avLst/>
          </a:prstGeom>
          <a:noFill/>
          <a:ln w="0">
            <a:noFill/>
          </a:ln>
        </p:spPr>
        <p:txBody>
          <a:bodyPr wrap="square" lIns="0" tIns="0" rIns="0" bIns="0" anchor="t">
            <a:noAutofit/>
          </a:bodyPr>
          <a:lstStyle>
            <a:defPPr>
              <a:defRPr sz="2250" b="0">
                <a:solidFill>
                  <a:srgbClr val="526B63"/>
                </a:solidFill>
                <a:latin typeface="Arial"/>
                <a:ea typeface="Arial"/>
                <a:cs typeface="Arial"/>
              </a:defRPr>
            </a:defPPr>
          </a:lstStyle>
          <a:p>
            <a:pPr>
              <a:defRPr sz="2250" b="0">
                <a:solidFill>
                  <a:srgbClr val="526B63"/>
                </a:solidFill>
                <a:latin typeface="Arial"/>
                <a:ea typeface="Arial"/>
                <a:cs typeface="Arial"/>
              </a:defRPr>
            </a:pPr>
            <a:r>
              <a:rPr sz="2250" b="0" lang="en-GB">
                <a:solidFill>
                  <a:srgbClr val="526B63"/>
                </a:solidFill>
                <a:latin typeface="Arial"/>
                <a:ea typeface="Arial"/>
                <a:cs typeface="Arial"/>
              </a:rPr>
              <a:t>A global company with products, a sales network and official business rules.</a:t>
            </a:r>
          </a:p>
        </p:txBody>
      </p:sp>
      <p:pic>
        <p:nvPicPr>
          <p:cNvPr id="7" name="">
            <a:extLst>
              <a:ext uri="{FF2B5EF4-FFF2-40B4-BE49-F238E27FC236}">
                <ns2:creationId id="{0B1CC924-CD88-4010-9FE5-A5B82838F629}"/>
              </a:ext>
            </a:extLst>
          </p:cNvPr>
          <p:cNvPicPr>
            <a:picLocks noChangeAspect="1"/>
          </p:cNvPicPr>
          <p:nvPr/>
        </p:nvPicPr>
        <p:blipFill>
          <a:blip r:embed="Ra3daa3908981400c"/>
          <a:srcRect l="2187" t="0" r="2187" b="0"/>
          <a:stretch>
            <a:fillRect l="0" t="0" r="0" b="0"/>
          </a:stretch>
        </p:blipFill>
        <p:spPr>
          <a:xfrm>
            <a:off x="6438900" y="2057400"/>
            <a:ext cx="5143500" cy="3429000"/>
          </a:xfrm>
          <a:prstGeom prst="rect">
            <a:avLst/>
          </a:prstGeom>
        </p:spPr>
      </p:pic>
    </p:spTree>
    <p:extLst>
      <p:ext uri="{BB962C8B-B14F-4D97-AF65-F5344CB8AC3E}">
        <ns4:creationId val="708542696"/>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8C8D58AB-6E9E-4036-91B3-2CE93502D8AF}"/>
              </a:ext>
            </a:extLst>
          </p:cNvPr>
          <p:cNvPicPr>
            <a:picLocks noChangeAspect="1"/>
          </p:cNvPicPr>
          <p:nvPr/>
        </p:nvPicPr>
        <p:blipFill>
          <a:blip r:embed="Rba10fc9d1268426c"/>
          <a:stretch/>
        </p:blipFill>
        <p:spPr>
          <a:xfrm>
            <a:off x="9867900" y="276061"/>
            <a:ext cx="1695450" cy="438478"/>
          </a:xfrm>
          <a:prstGeom prst="rect">
            <a:avLst/>
          </a:prstGeom>
        </p:spPr>
      </p:pic>
      <p:sp>
        <p:nvSpPr>
          <p:cNvPr id="2" name="">
            <a:extLst>
              <a:ext uri="{FF2B5EF4-FFF2-40B4-BE49-F238E27FC236}">
                <ns2:creationId id="{E6F95587-9DD7-454A-A7A0-50CA5576146D}"/>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05</a:t>
            </a:r>
          </a:p>
        </p:txBody>
      </p:sp>
      <p:sp>
        <p:nvSpPr>
          <p:cNvPr id="3" name="Title">
            <a:extLst>
              <a:ext uri="{FF2B5EF4-FFF2-40B4-BE49-F238E27FC236}">
                <ns2:creationId id="{3F971641-B408-403C-9558-0637FE54DB8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Products in everyday life</a:t>
            </a:r>
          </a:p>
        </p:txBody>
      </p:sp>
      <p:sp>
        <p:nvSpPr>
          <p:cNvPr id="4" name="">
            <a:extLst>
              <a:ext uri="{FF2B5EF4-FFF2-40B4-BE49-F238E27FC236}">
                <ns2:creationId id="{BA40F1F6-713C-4513-869A-F89CBDFF95A4}"/>
              </a:ext>
            </a:extLst>
          </p:cNvPr>
          <p:cNvSpPr>
            <a:spLocks noGrp="1"/>
          </p:cNvSpPr>
          <p:nvPr/>
        </p:nvSpPr>
        <p:spPr>
          <a:xfrm>
            <a:off x="609600" y="2047875"/>
            <a:ext cx="5438775" cy="1981200"/>
          </a:xfrm>
          <a:prstGeom prst="rect">
            <a:avLst/>
          </a:prstGeom>
          <a:noFill/>
          <a:ln w="0">
            <a:noFill/>
          </a:ln>
        </p:spPr>
        <p:txBody>
          <a:bodyPr wrap="square" lIns="0" tIns="0" rIns="0" bIns="0" anchor="t">
            <a:noAutofit/>
          </a:bodyPr>
          <a:lstStyle>
            <a:defPPr>
              <a:defRPr sz="2925" b="1">
                <a:solidFill>
                  <a:srgbClr val="153F36"/>
                </a:solidFill>
                <a:latin typeface="Arial"/>
                <a:ea typeface="Arial"/>
                <a:cs typeface="Arial"/>
              </a:defRPr>
            </a:defPPr>
          </a:lstStyle>
          <a:p>
            <a:pPr>
              <a:defRPr sz="2925" b="1">
                <a:solidFill>
                  <a:srgbClr val="153F36"/>
                </a:solidFill>
                <a:latin typeface="Arial"/>
                <a:ea typeface="Arial"/>
                <a:cs typeface="Arial"/>
              </a:defRPr>
            </a:pPr>
            <a:r>
              <a:rPr sz="2925" b="1" lang="en-GB">
                <a:solidFill>
                  <a:srgbClr val="153F36"/>
                </a:solidFill>
                <a:latin typeface="Arial"/>
                <a:ea typeface="Arial"/>
                <a:cs typeface="Arial"/>
              </a:rPr>
              <a:t>Personal care</a:t>
            </a:r>
          </a:p>
          <a:p>
            <a:pPr>
              <a:defRPr sz="2925" b="1">
                <a:solidFill>
                  <a:srgbClr val="153F36"/>
                </a:solidFill>
                <a:latin typeface="Arial"/>
                <a:ea typeface="Arial"/>
                <a:cs typeface="Arial"/>
              </a:defRPr>
            </a:pPr>
            <a:r>
              <a:rPr sz="2925" b="1" lang="en-GB">
                <a:solidFill>
                  <a:srgbClr val="153F36"/>
                </a:solidFill>
                <a:latin typeface="Arial"/>
                <a:ea typeface="Arial"/>
                <a:cs typeface="Arial"/>
              </a:rPr>
              <a:t>Drinks</a:t>
            </a:r>
          </a:p>
          <a:p>
            <a:pPr>
              <a:defRPr sz="2925" b="1">
                <a:solidFill>
                  <a:srgbClr val="153F36"/>
                </a:solidFill>
                <a:latin typeface="Arial"/>
                <a:ea typeface="Arial"/>
                <a:cs typeface="Arial"/>
              </a:defRPr>
            </a:pPr>
            <a:r>
              <a:rPr sz="2925" b="1" lang="en-GB">
                <a:solidFill>
                  <a:srgbClr val="153F36"/>
                </a:solidFill>
                <a:latin typeface="Arial"/>
                <a:ea typeface="Arial"/>
                <a:cs typeface="Arial"/>
              </a:rPr>
              <a:t>Food supplements</a:t>
            </a:r>
          </a:p>
        </p:txBody>
      </p:sp>
      <p:sp>
        <p:nvSpPr>
          <p:cNvPr id="5" name="">
            <a:extLst>
              <a:ext uri="{FF2B5EF4-FFF2-40B4-BE49-F238E27FC236}">
                <ns2:creationId id="{1D9888A3-65A4-4BA0-A252-BAFF4B247E14}"/>
              </a:ext>
            </a:extLst>
          </p:cNvPr>
          <p:cNvSpPr>
            <a:spLocks noGrp="1"/>
          </p:cNvSpPr>
          <p:nvPr/>
        </p:nvSpPr>
        <p:spPr>
          <a:xfrm>
            <a:off x="609600" y="4314825"/>
            <a:ext cx="5410200" cy="1114425"/>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en-GB">
                <a:solidFill>
                  <a:srgbClr val="526B63"/>
                </a:solidFill>
                <a:latin typeface="Arial"/>
                <a:ea typeface="Arial"/>
                <a:cs typeface="Arial"/>
              </a:rPr>
              <a:t>A recommendation makes sense when a product suits the person and their routine.</a:t>
            </a:r>
          </a:p>
        </p:txBody>
      </p:sp>
      <p:pic>
        <p:nvPicPr>
          <p:cNvPr id="6" name="">
            <a:extLst>
              <a:ext uri="{FF2B5EF4-FFF2-40B4-BE49-F238E27FC236}">
                <ns2:creationId id="{FBA35493-A3D8-4CDD-B285-CEAA1756B8A5}"/>
              </a:ext>
            </a:extLst>
          </p:cNvPr>
          <p:cNvPicPr>
            <a:picLocks noChangeAspect="1"/>
          </p:cNvPicPr>
          <p:nvPr/>
        </p:nvPicPr>
        <p:blipFill>
          <a:blip r:embed="R5eebdc2fa42747ce"/>
          <a:srcRect l="0" t="449" r="0" b="449"/>
          <a:stretch>
            <a:fillRect l="0" t="0" r="0" b="0"/>
          </a:stretch>
        </p:blipFill>
        <p:spPr>
          <a:xfrm>
            <a:off x="7286625" y="1914525"/>
            <a:ext cx="3714750" cy="3876675"/>
          </a:xfrm>
          <a:prstGeom prst="rect">
            <a:avLst/>
          </a:prstGeom>
        </p:spPr>
      </p:pic>
    </p:spTree>
    <p:extLst>
      <p:ext uri="{BB962C8B-B14F-4D97-AF65-F5344CB8AC3E}">
        <ns4:creationId val="1185823960"/>
      </p:ext>
    </p:extLst>
  </p:cSld>
</p:sld>
</file>

<file path=ppt/slides/slide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C46B7334-D258-4863-BDBC-0EC0B34D3EC6}"/>
              </a:ext>
            </a:extLst>
          </p:cNvPr>
          <p:cNvPicPr>
            <a:picLocks noChangeAspect="1"/>
          </p:cNvPicPr>
          <p:nvPr/>
        </p:nvPicPr>
        <p:blipFill>
          <a:blip r:embed="Rc418f7fc157f4c3e"/>
          <a:stretch/>
        </p:blipFill>
        <p:spPr>
          <a:xfrm>
            <a:off x="9867900" y="276061"/>
            <a:ext cx="1695450" cy="438478"/>
          </a:xfrm>
          <a:prstGeom prst="rect">
            <a:avLst/>
          </a:prstGeom>
        </p:spPr>
      </p:pic>
      <p:sp>
        <p:nvSpPr>
          <p:cNvPr id="2" name="">
            <a:extLst>
              <a:ext uri="{FF2B5EF4-FFF2-40B4-BE49-F238E27FC236}">
                <ns2:creationId id="{5DB4D99C-680C-4273-AA73-EE7C5D30111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06</a:t>
            </a:r>
          </a:p>
        </p:txBody>
      </p:sp>
      <p:sp>
        <p:nvSpPr>
          <p:cNvPr id="3" name="Title">
            <a:extLst>
              <a:ext uri="{FF2B5EF4-FFF2-40B4-BE49-F238E27FC236}">
                <ns2:creationId id="{6D53AC0C-2BDA-402D-9E9D-A573631BA1CB}"/>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From cultivation to official orders</a:t>
            </a:r>
          </a:p>
        </p:txBody>
      </p:sp>
      <p:pic>
        <p:nvPicPr>
          <p:cNvPr id="4" name="">
            <a:extLst>
              <a:ext uri="{FF2B5EF4-FFF2-40B4-BE49-F238E27FC236}">
                <ns2:creationId id="{5D0A6E93-1A12-423D-9899-8ABB22E67C8D}"/>
              </a:ext>
            </a:extLst>
          </p:cNvPr>
          <p:cNvPicPr>
            <a:picLocks noChangeAspect="1"/>
          </p:cNvPicPr>
          <p:nvPr/>
        </p:nvPicPr>
        <p:blipFill>
          <a:blip r:embed="R760ec06578814d61"/>
          <a:srcRect l="0" t="11760" r="0" b="11760"/>
          <a:stretch>
            <a:fillRect l="0" t="0" r="0" b="0"/>
          </a:stretch>
        </p:blipFill>
        <p:spPr>
          <a:xfrm>
            <a:off x="609600" y="1981200"/>
            <a:ext cx="5257800" cy="2600325"/>
          </a:xfrm>
          <a:prstGeom prst="rect">
            <a:avLst/>
          </a:prstGeom>
        </p:spPr>
      </p:pic>
      <p:pic>
        <p:nvPicPr>
          <p:cNvPr id="5" name="">
            <a:extLst>
              <a:ext uri="{FF2B5EF4-FFF2-40B4-BE49-F238E27FC236}">
                <ns2:creationId id="{B207C59F-8F2C-47BF-BC54-ADB1CA9C1458}"/>
              </a:ext>
            </a:extLst>
          </p:cNvPr>
          <p:cNvPicPr>
            <a:picLocks noChangeAspect="1"/>
          </p:cNvPicPr>
          <p:nvPr/>
        </p:nvPicPr>
        <p:blipFill>
          <a:blip r:embed="R67e74f1e1fe24f58"/>
          <a:srcRect l="0" t="17029" r="0" b="17029"/>
          <a:stretch>
            <a:fillRect l="0" t="0" r="0" b="0"/>
          </a:stretch>
        </p:blipFill>
        <p:spPr>
          <a:xfrm>
            <a:off x="6324600" y="1981200"/>
            <a:ext cx="5257800" cy="2600325"/>
          </a:xfrm>
          <a:prstGeom prst="rect">
            <a:avLst/>
          </a:prstGeom>
        </p:spPr>
      </p:pic>
      <p:sp>
        <p:nvSpPr>
          <p:cNvPr id="6" name="">
            <a:extLst>
              <a:ext uri="{FF2B5EF4-FFF2-40B4-BE49-F238E27FC236}">
                <ns2:creationId id="{043BAD13-5883-4683-B52C-68D2B5637D91}"/>
              </a:ext>
            </a:extLst>
          </p:cNvPr>
          <p:cNvSpPr>
            <a:spLocks noGrp="1"/>
          </p:cNvSpPr>
          <p:nvPr/>
        </p:nvSpPr>
        <p:spPr>
          <a:xfrm>
            <a:off x="609600" y="4953000"/>
            <a:ext cx="10382250" cy="62865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en-GB">
                <a:solidFill>
                  <a:srgbClr val="153F36"/>
                </a:solidFill>
                <a:latin typeface="Arial"/>
                <a:ea typeface="Arial"/>
                <a:cs typeface="Arial"/>
              </a:rPr>
              <a:t>Forever manages production, orders and delivery.</a:t>
            </a:r>
          </a:p>
        </p:txBody>
      </p:sp>
      <p:sp>
        <p:nvSpPr>
          <p:cNvPr id="7" name="">
            <a:extLst>
              <a:ext uri="{FF2B5EF4-FFF2-40B4-BE49-F238E27FC236}">
                <ns2:creationId id="{E65AD224-944D-41B6-800D-07B566B65B36}"/>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en-GB">
                <a:solidFill>
                  <a:srgbClr val="526B63"/>
                </a:solidFill>
                <a:latin typeface="Arial"/>
                <a:ea typeface="Arial"/>
                <a:cs typeface="Arial"/>
              </a:rPr>
              <a:t>The partner helps the person choose a product and use the official purchasing channel.</a:t>
            </a:r>
          </a:p>
        </p:txBody>
      </p:sp>
    </p:spTree>
    <p:extLst>
      <p:ext uri="{BB962C8B-B14F-4D97-AF65-F5344CB8AC3E}">
        <ns4:creationId val="206011841"/>
      </p:ext>
    </p:extLst>
  </p:cSld>
</p:sld>
</file>

<file path=ppt/slides/slide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2E54AF73-E036-4720-891A-5121EB809BF9}"/>
              </a:ext>
            </a:extLst>
          </p:cNvPr>
          <p:cNvPicPr>
            <a:picLocks noChangeAspect="1"/>
          </p:cNvPicPr>
          <p:nvPr/>
        </p:nvPicPr>
        <p:blipFill>
          <a:blip r:embed="R9d24496200b841ee"/>
          <a:stretch/>
        </p:blipFill>
        <p:spPr>
          <a:xfrm>
            <a:off x="9867900" y="276061"/>
            <a:ext cx="1695450" cy="438478"/>
          </a:xfrm>
          <a:prstGeom prst="rect">
            <a:avLst/>
          </a:prstGeom>
        </p:spPr>
      </p:pic>
      <p:sp>
        <p:nvSpPr>
          <p:cNvPr id="2" name="">
            <a:extLst>
              <a:ext uri="{FF2B5EF4-FFF2-40B4-BE49-F238E27FC236}">
                <ns2:creationId id="{67E37213-3D26-4825-BBB6-2E564E93A55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07</a:t>
            </a:r>
          </a:p>
        </p:txBody>
      </p:sp>
      <p:sp>
        <p:nvSpPr>
          <p:cNvPr id="3" name="Title">
            <a:extLst>
              <a:ext uri="{FF2B5EF4-FFF2-40B4-BE49-F238E27FC236}">
                <ns2:creationId id="{1383C903-881D-4840-A4D5-5DDD9FAFC1F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Product user or business partner</a:t>
            </a:r>
          </a:p>
        </p:txBody>
      </p:sp>
      <p:sp>
        <p:nvSpPr>
          <p:cNvPr id="4" name="">
            <a:extLst>
              <a:ext uri="{FF2B5EF4-FFF2-40B4-BE49-F238E27FC236}">
                <ns2:creationId id="{2E14BC8A-29A8-4C50-9C5C-973F016EBCBF}"/>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en-GB">
                <a:solidFill>
                  <a:srgbClr val="153F36"/>
                </a:solidFill>
                <a:latin typeface="Arial"/>
                <a:ea typeface="Arial"/>
                <a:cs typeface="Arial"/>
              </a:rPr>
              <a:t>Product user</a:t>
            </a:r>
          </a:p>
        </p:txBody>
      </p:sp>
      <p:sp>
        <p:nvSpPr>
          <p:cNvPr id="5" name="">
            <a:extLst>
              <a:ext uri="{FF2B5EF4-FFF2-40B4-BE49-F238E27FC236}">
                <ns2:creationId id="{44DDA104-5A1E-4779-A60F-E3CEA86C4451}"/>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en-GB">
                <a:solidFill>
                  <a:srgbClr val="526B63"/>
                </a:solidFill>
                <a:latin typeface="Arial"/>
                <a:ea typeface="Arial"/>
                <a:cs typeface="Arial"/>
              </a:rPr>
              <a:t>Chooses products for personal use.</a:t>
            </a:r>
          </a:p>
          <a:p>
            <a:r>
              <a:t/>
            </a:r>
          </a:p>
          <a:p>
            <a:pPr>
              <a:defRPr sz="2175" b="0">
                <a:solidFill>
                  <a:srgbClr val="526B63"/>
                </a:solidFill>
                <a:latin typeface="Arial"/>
                <a:ea typeface="Arial"/>
                <a:cs typeface="Arial"/>
              </a:defRPr>
            </a:pPr>
            <a:r>
              <a:rPr sz="2175" b="0" lang="en-GB">
                <a:solidFill>
                  <a:srgbClr val="526B63"/>
                </a:solidFill>
                <a:latin typeface="Arial"/>
                <a:ea typeface="Arial"/>
                <a:cs typeface="Arial"/>
              </a:rPr>
              <a:t>Checks discounts and terms for their market.</a:t>
            </a:r>
          </a:p>
        </p:txBody>
      </p:sp>
      <p:sp>
        <p:nvSpPr>
          <p:cNvPr id="6" name="">
            <a:extLst>
              <a:ext uri="{FF2B5EF4-FFF2-40B4-BE49-F238E27FC236}">
                <ns2:creationId id="{CB3AEC29-C6AB-4B40-B4A4-BBBBB4FC86ED}"/>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en-GB">
                <a:solidFill>
                  <a:srgbClr val="153F36"/>
                </a:solidFill>
                <a:latin typeface="Arial"/>
                <a:ea typeface="Arial"/>
                <a:cs typeface="Arial"/>
              </a:rPr>
              <a:t>Business partner</a:t>
            </a:r>
          </a:p>
        </p:txBody>
      </p:sp>
      <p:sp>
        <p:nvSpPr>
          <p:cNvPr id="7" name="">
            <a:extLst>
              <a:ext uri="{FF2B5EF4-FFF2-40B4-BE49-F238E27FC236}">
                <ns2:creationId id="{3D3E645E-563B-44E3-A32F-90226B46A13C}"/>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en-GB">
                <a:solidFill>
                  <a:srgbClr val="526B63"/>
                </a:solidFill>
                <a:latin typeface="Arial"/>
                <a:ea typeface="Arial"/>
                <a:cs typeface="Arial"/>
              </a:rPr>
              <a:t>Learns to recommend products and work with customers.</a:t>
            </a:r>
          </a:p>
          <a:p>
            <a:r>
              <a:t/>
            </a:r>
          </a:p>
          <a:p>
            <a:pPr>
              <a:defRPr sz="2175" b="0">
                <a:solidFill>
                  <a:srgbClr val="526B63"/>
                </a:solidFill>
                <a:latin typeface="Arial"/>
                <a:ea typeface="Arial"/>
                <a:cs typeface="Arial"/>
              </a:defRPr>
            </a:pPr>
            <a:r>
              <a:rPr sz="2175" b="0" lang="en-GB">
                <a:solidFill>
                  <a:srgbClr val="526B63"/>
                </a:solidFill>
                <a:latin typeface="Arial"/>
                <a:ea typeface="Arial"/>
                <a:cs typeface="Arial"/>
              </a:rPr>
              <a:t>Can develop a team under the official plan.</a:t>
            </a:r>
          </a:p>
        </p:txBody>
      </p:sp>
      <p:sp>
        <p:nvSpPr>
          <p:cNvPr id="8" name="">
            <a:extLst>
              <a:ext uri="{FF2B5EF4-FFF2-40B4-BE49-F238E27FC236}">
                <ns2:creationId id="{0E0D066F-E836-4495-B6BA-02C6081856E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en-GB">
                <a:solidFill>
                  <a:srgbClr val="526B63"/>
                </a:solidFill>
                <a:latin typeface="Arial"/>
                <a:ea typeface="Arial"/>
                <a:cs typeface="Arial"/>
              </a:rPr>
              <a:t>The first conversation helps the person choose a suitable direction.</a:t>
            </a:r>
          </a:p>
        </p:txBody>
      </p:sp>
    </p:spTree>
    <p:extLst>
      <p:ext uri="{BB962C8B-B14F-4D97-AF65-F5344CB8AC3E}">
        <ns4:creationId val="72070813"/>
      </p:ext>
    </p:extLst>
  </p:cSld>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452BAE09-4A28-4FDF-B4F1-D84AE45B9CCE}"/>
              </a:ext>
            </a:extLst>
          </p:cNvPr>
          <p:cNvPicPr>
            <a:picLocks noChangeAspect="1"/>
          </p:cNvPicPr>
          <p:nvPr/>
        </p:nvPicPr>
        <p:blipFill>
          <a:blip r:embed="R051be96e5b284a3e"/>
          <a:stretch/>
        </p:blipFill>
        <p:spPr>
          <a:xfrm>
            <a:off x="9867900" y="276061"/>
            <a:ext cx="1695450" cy="438478"/>
          </a:xfrm>
          <a:prstGeom prst="rect">
            <a:avLst/>
          </a:prstGeom>
        </p:spPr>
      </p:pic>
      <p:sp>
        <p:nvSpPr>
          <p:cNvPr id="2" name="">
            <a:extLst>
              <a:ext uri="{FF2B5EF4-FFF2-40B4-BE49-F238E27FC236}">
                <ns2:creationId id="{7AF10F6B-11A4-4082-8474-F8BB8D3A628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08</a:t>
            </a:r>
          </a:p>
        </p:txBody>
      </p:sp>
      <p:sp>
        <p:nvSpPr>
          <p:cNvPr id="3" name="Title">
            <a:extLst>
              <a:ext uri="{FF2B5EF4-FFF2-40B4-BE49-F238E27FC236}">
                <ns2:creationId id="{FFD17B86-6F5B-4AC9-A45D-61B841C5305A}"/>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Initial qualification: 2 CC</a:t>
            </a:r>
          </a:p>
        </p:txBody>
      </p:sp>
      <p:sp>
        <p:nvSpPr>
          <p:cNvPr id="4" name="">
            <a:extLst>
              <a:ext uri="{FF2B5EF4-FFF2-40B4-BE49-F238E27FC236}">
                <ns2:creationId id="{1305E928-94E3-4B55-A605-33368A8BE1FE}"/>
              </a:ext>
            </a:extLst>
          </p:cNvPr>
          <p:cNvSpPr>
            <a:spLocks noGrp="1"/>
          </p:cNvSpPr>
          <p:nvPr/>
        </p:nvSpPr>
        <p:spPr>
          <a:xfrm>
            <a:off x="609600" y="2095500"/>
            <a:ext cx="4810125" cy="1285875"/>
          </a:xfrm>
          <a:prstGeom prst="rect">
            <a:avLst/>
          </a:prstGeom>
          <a:noFill/>
          <a:ln w="0">
            <a:noFill/>
          </a:ln>
        </p:spPr>
        <p:txBody>
          <a:bodyPr wrap="square" lIns="0" tIns="0" rIns="0" bIns="0" anchor="t">
            <a:noAutofit/>
          </a:bodyPr>
          <a:lstStyle>
            <a:defPPr>
              <a:defRPr sz="7650" b="1">
                <a:solidFill>
                  <a:srgbClr val="153F36"/>
                </a:solidFill>
                <a:latin typeface="Arial"/>
                <a:ea typeface="Arial"/>
                <a:cs typeface="Arial"/>
              </a:defRPr>
            </a:defPPr>
          </a:lstStyle>
          <a:p>
            <a:pPr>
              <a:defRPr sz="7650" b="1">
                <a:solidFill>
                  <a:srgbClr val="153F36"/>
                </a:solidFill>
                <a:latin typeface="Arial"/>
                <a:ea typeface="Arial"/>
                <a:cs typeface="Arial"/>
              </a:defRPr>
            </a:pPr>
            <a:r>
              <a:rPr sz="7650" b="1" lang="en-GB">
                <a:solidFill>
                  <a:srgbClr val="153F36"/>
                </a:solidFill>
                <a:latin typeface="Arial"/>
                <a:ea typeface="Arial"/>
                <a:cs typeface="Arial"/>
              </a:rPr>
              <a:t>2 CC</a:t>
            </a:r>
          </a:p>
        </p:txBody>
      </p:sp>
      <p:sp>
        <p:nvSpPr>
          <p:cNvPr id="5" name="">
            <a:extLst>
              <a:ext uri="{FF2B5EF4-FFF2-40B4-BE49-F238E27FC236}">
                <ns2:creationId id="{8E600297-3522-4464-94CB-5C48591DB8FF}"/>
              </a:ext>
            </a:extLst>
          </p:cNvPr>
          <p:cNvSpPr>
            <a:spLocks noGrp="1"/>
          </p:cNvSpPr>
          <p:nvPr/>
        </p:nvSpPr>
        <p:spPr>
          <a:xfrm>
            <a:off x="4572000" y="2333625"/>
            <a:ext cx="6715125" cy="1104900"/>
          </a:xfrm>
          <a:prstGeom prst="rect">
            <a:avLst/>
          </a:prstGeom>
          <a:noFill/>
          <a:ln w="0">
            <a:noFill/>
          </a:ln>
        </p:spPr>
        <p:txBody>
          <a:bodyPr wrap="square" lIns="0" tIns="0" rIns="0" bIns="0" anchor="t">
            <a:noAutofit/>
          </a:bodyPr>
          <a:lstStyle>
            <a:defPPr>
              <a:defRPr sz="2700" b="1">
                <a:solidFill>
                  <a:srgbClr val="153F36"/>
                </a:solidFill>
                <a:latin typeface="Arial"/>
                <a:ea typeface="Arial"/>
                <a:cs typeface="Arial"/>
              </a:defRPr>
            </a:defPPr>
          </a:lstStyle>
          <a:p>
            <a:pPr>
              <a:defRPr sz="2700" b="1">
                <a:solidFill>
                  <a:srgbClr val="153F36"/>
                </a:solidFill>
                <a:latin typeface="Arial"/>
                <a:ea typeface="Arial"/>
                <a:cs typeface="Arial"/>
              </a:defRPr>
            </a:pPr>
            <a:r>
              <a:rPr sz="2700" b="1" lang="en-GB">
                <a:solidFill>
                  <a:srgbClr val="153F36"/>
                </a:solidFill>
                <a:latin typeface="Arial"/>
                <a:ea typeface="Arial"/>
                <a:cs typeface="Arial"/>
              </a:rPr>
              <a:t>CC are product</a:t>
            </a:r>
          </a:p>
          <a:p>
            <a:pPr>
              <a:defRPr sz="2700" b="1">
                <a:solidFill>
                  <a:srgbClr val="153F36"/>
                </a:solidFill>
                <a:latin typeface="Arial"/>
                <a:ea typeface="Arial"/>
                <a:cs typeface="Arial"/>
              </a:defRPr>
            </a:pPr>
            <a:r>
              <a:rPr sz="2700" b="1" lang="en-GB">
                <a:solidFill>
                  <a:srgbClr val="153F36"/>
                </a:solidFill>
                <a:latin typeface="Arial"/>
                <a:ea typeface="Arial"/>
                <a:cs typeface="Arial"/>
              </a:rPr>
              <a:t>accounting points.</a:t>
            </a:r>
          </a:p>
        </p:txBody>
      </p:sp>
      <p:sp>
        <p:nvSpPr>
          <p:cNvPr id="6" name="">
            <a:extLst>
              <a:ext uri="{FF2B5EF4-FFF2-40B4-BE49-F238E27FC236}">
                <ns2:creationId id="{0D2CE9B8-81CE-4B05-9A88-8AA42B134161}"/>
              </a:ext>
            </a:extLst>
          </p:cNvPr>
          <p:cNvSpPr>
            <a:spLocks noGrp="1"/>
          </p:cNvSpPr>
          <p:nvPr/>
        </p:nvSpPr>
        <p:spPr>
          <a:xfrm>
            <a:off x="609600" y="3486150"/>
            <a:ext cx="9753600" cy="6858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en-GB">
                <a:solidFill>
                  <a:srgbClr val="153F36"/>
                </a:solidFill>
                <a:latin typeface="Arial"/>
                <a:ea typeface="Arial"/>
                <a:cs typeface="Arial"/>
              </a:rPr>
              <a:t>Over two consecutive months</a:t>
            </a:r>
          </a:p>
        </p:txBody>
      </p:sp>
      <p:sp>
        <p:nvSpPr>
          <p:cNvPr id="7" name="">
            <a:extLst>
              <a:ext uri="{FF2B5EF4-FFF2-40B4-BE49-F238E27FC236}">
                <ns2:creationId id="{F38A0995-25A3-4169-84D9-35E62D33DC4A}"/>
              </a:ext>
            </a:extLst>
          </p:cNvPr>
          <p:cNvSpPr>
            <a:spLocks noGrp="1"/>
          </p:cNvSpPr>
          <p:nvPr/>
        </p:nvSpPr>
        <p:spPr>
          <a:xfrm>
            <a:off x="609600" y="4495800"/>
            <a:ext cx="9525000" cy="933450"/>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en-GB">
                <a:solidFill>
                  <a:srgbClr val="526B63"/>
                </a:solidFill>
                <a:latin typeface="Arial"/>
                <a:ea typeface="Arial"/>
                <a:cs typeface="Arial"/>
              </a:rPr>
              <a:t>A suitable starter pack or combination of products under current terms.</a:t>
            </a:r>
          </a:p>
        </p:txBody>
      </p:sp>
      <p:sp>
        <p:nvSpPr>
          <p:cNvPr id="8" name="">
            <a:extLst>
              <a:ext uri="{FF2B5EF4-FFF2-40B4-BE49-F238E27FC236}">
                <ns2:creationId id="{77AFF33C-FD64-4E61-B81A-785DDD31156C}"/>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en-GB">
                <a:solidFill>
                  <a:srgbClr val="526B63"/>
                </a:solidFill>
                <a:latin typeface="Arial"/>
                <a:ea typeface="Arial"/>
                <a:cs typeface="Arial"/>
              </a:rPr>
              <a:t>Croatian market framework. Check price and availability in the official shop.</a:t>
            </a:r>
          </a:p>
        </p:txBody>
      </p:sp>
    </p:spTree>
    <p:extLst>
      <p:ext uri="{BB962C8B-B14F-4D97-AF65-F5344CB8AC3E}">
        <ns4:creationId val="302156339"/>
      </p:ext>
    </p:extLst>
  </p:cSld>
</p:sld>
</file>

<file path=ppt/slides/slide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54B81B2D-1CCA-483A-BFD7-E57A9B46F8C8}"/>
              </a:ext>
            </a:extLst>
          </p:cNvPr>
          <p:cNvPicPr>
            <a:picLocks noChangeAspect="1"/>
          </p:cNvPicPr>
          <p:nvPr/>
        </p:nvPicPr>
        <p:blipFill>
          <a:blip r:embed="Rf661f195b5314748"/>
          <a:stretch/>
        </p:blipFill>
        <p:spPr>
          <a:xfrm>
            <a:off x="9867900" y="276061"/>
            <a:ext cx="1695450" cy="438478"/>
          </a:xfrm>
          <a:prstGeom prst="rect">
            <a:avLst/>
          </a:prstGeom>
        </p:spPr>
      </p:pic>
      <p:sp>
        <p:nvSpPr>
          <p:cNvPr id="2" name="">
            <a:extLst>
              <a:ext uri="{FF2B5EF4-FFF2-40B4-BE49-F238E27FC236}">
                <ns2:creationId id="{54A71095-8359-4EA0-A4C1-36D0120F2536}"/>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09</a:t>
            </a:r>
          </a:p>
        </p:txBody>
      </p:sp>
      <p:sp>
        <p:nvSpPr>
          <p:cNvPr id="3" name="Title">
            <a:extLst>
              <a:ext uri="{FF2B5EF4-FFF2-40B4-BE49-F238E27FC236}">
                <ns2:creationId id="{616FFF80-E49E-4FEC-A237-32EC69152722}"/>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Discount, sales profit and bonus</a:t>
            </a:r>
          </a:p>
        </p:txBody>
      </p:sp>
      <p:sp>
        <p:nvSpPr>
          <p:cNvPr id="4" name="">
            <a:extLst>
              <a:ext uri="{FF2B5EF4-FFF2-40B4-BE49-F238E27FC236}">
                <ns2:creationId id="{BDDED255-1812-4E04-914B-6B332C90B5B4}"/>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en-GB">
                <a:solidFill>
                  <a:srgbClr val="148977"/>
                </a:solidFill>
                <a:latin typeface="Arial"/>
                <a:ea typeface="Arial"/>
                <a:cs typeface="Arial"/>
              </a:rPr>
              <a:t>1.</a:t>
            </a:r>
          </a:p>
        </p:txBody>
      </p:sp>
      <p:sp>
        <p:nvSpPr>
          <p:cNvPr id="5" name="">
            <a:extLst>
              <a:ext uri="{FF2B5EF4-FFF2-40B4-BE49-F238E27FC236}">
                <ns2:creationId id="{FD37A62D-3C45-4D0E-A38A-9915FE68876C}"/>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en-GB">
                <a:solidFill>
                  <a:srgbClr val="153F36"/>
                </a:solidFill>
                <a:latin typeface="Arial"/>
                <a:ea typeface="Arial"/>
                <a:cs typeface="Arial"/>
              </a:rPr>
              <a:t>30% after initial qualification</a:t>
            </a:r>
          </a:p>
        </p:txBody>
      </p:sp>
      <p:sp>
        <p:nvSpPr>
          <p:cNvPr id="6" name="">
            <a:extLst>
              <a:ext uri="{FF2B5EF4-FFF2-40B4-BE49-F238E27FC236}">
                <ns2:creationId id="{0AEF7DBB-93FC-4643-9868-0D9C3B4364E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Discount on subsequent orders under the Croatian market framework.</a:t>
            </a:r>
          </a:p>
        </p:txBody>
      </p:sp>
      <p:sp>
        <p:nvSpPr>
          <p:cNvPr id="7" name="">
            <a:extLst>
              <a:ext uri="{FF2B5EF4-FFF2-40B4-BE49-F238E27FC236}">
                <ns2:creationId id="{7B9CB7F3-4139-4611-87F8-435F9FF741FD}"/>
              </a:ext>
            </a:extLst>
          </p:cNvPr>
          <p:cNvSpPr>
            <a:spLocks noGrp="1"/>
          </p:cNvSpPr>
          <p:nvPr/>
        </p:nvSpPr>
        <p:spPr>
          <a:xfrm>
            <a:off x="609600" y="31242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en-GB">
                <a:solidFill>
                  <a:srgbClr val="148977"/>
                </a:solidFill>
                <a:latin typeface="Arial"/>
                <a:ea typeface="Arial"/>
                <a:cs typeface="Arial"/>
              </a:rPr>
              <a:t>2.</a:t>
            </a:r>
          </a:p>
        </p:txBody>
      </p:sp>
      <p:sp>
        <p:nvSpPr>
          <p:cNvPr id="8" name="">
            <a:extLst>
              <a:ext uri="{FF2B5EF4-FFF2-40B4-BE49-F238E27FC236}">
                <ns2:creationId id="{9C21A969-5A0A-4363-B933-89E397B75B42}"/>
              </a:ext>
            </a:extLst>
          </p:cNvPr>
          <p:cNvSpPr>
            <a:spLocks noGrp="1"/>
          </p:cNvSpPr>
          <p:nvPr/>
        </p:nvSpPr>
        <p:spPr>
          <a:xfrm>
            <a:off x="1257300" y="31242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en-GB">
                <a:solidFill>
                  <a:srgbClr val="153F36"/>
                </a:solidFill>
                <a:latin typeface="Arial"/>
                <a:ea typeface="Arial"/>
                <a:cs typeface="Arial"/>
              </a:rPr>
              <a:t>Sales profit</a:t>
            </a:r>
          </a:p>
        </p:txBody>
      </p:sp>
      <p:sp>
        <p:nvSpPr>
          <p:cNvPr id="9" name="">
            <a:extLst>
              <a:ext uri="{FF2B5EF4-FFF2-40B4-BE49-F238E27FC236}">
                <ns2:creationId id="{A037074A-E68A-4282-99A4-49DED4CAE7F8}"/>
              </a:ext>
            </a:extLst>
          </p:cNvPr>
          <p:cNvSpPr>
            <a:spLocks noGrp="1"/>
          </p:cNvSpPr>
          <p:nvPr/>
        </p:nvSpPr>
        <p:spPr>
          <a:xfrm>
            <a:off x="1257300" y="3533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Depends on the actual selling and purchase prices.</a:t>
            </a:r>
          </a:p>
        </p:txBody>
      </p:sp>
      <p:sp>
        <p:nvSpPr>
          <p:cNvPr id="10" name="">
            <a:extLst>
              <a:ext uri="{FF2B5EF4-FFF2-40B4-BE49-F238E27FC236}">
                <ns2:creationId id="{3D570E6E-8B24-4330-A562-3E522F970A4D}"/>
              </a:ext>
            </a:extLst>
          </p:cNvPr>
          <p:cNvSpPr>
            <a:spLocks noGrp="1"/>
          </p:cNvSpPr>
          <p:nvPr/>
        </p:nvSpPr>
        <p:spPr>
          <a:xfrm>
            <a:off x="609600" y="42862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en-GB">
                <a:solidFill>
                  <a:srgbClr val="148977"/>
                </a:solidFill>
                <a:latin typeface="Arial"/>
                <a:ea typeface="Arial"/>
                <a:cs typeface="Arial"/>
              </a:rPr>
              <a:t>3.</a:t>
            </a:r>
          </a:p>
        </p:txBody>
      </p:sp>
      <p:sp>
        <p:nvSpPr>
          <p:cNvPr id="11" name="">
            <a:extLst>
              <a:ext uri="{FF2B5EF4-FFF2-40B4-BE49-F238E27FC236}">
                <ns2:creationId id="{141569BD-0969-41EC-B9D6-1548A3721055}"/>
              </a:ext>
            </a:extLst>
          </p:cNvPr>
          <p:cNvSpPr>
            <a:spLocks noGrp="1"/>
          </p:cNvSpPr>
          <p:nvPr/>
        </p:nvSpPr>
        <p:spPr>
          <a:xfrm>
            <a:off x="1257300" y="42862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en-GB">
                <a:solidFill>
                  <a:srgbClr val="153F36"/>
                </a:solidFill>
                <a:latin typeface="Arial"/>
                <a:ea typeface="Arial"/>
                <a:cs typeface="Arial"/>
              </a:rPr>
              <a:t>Bonus</a:t>
            </a:r>
          </a:p>
        </p:txBody>
      </p:sp>
      <p:sp>
        <p:nvSpPr>
          <p:cNvPr id="12" name="">
            <a:extLst>
              <a:ext uri="{FF2B5EF4-FFF2-40B4-BE49-F238E27FC236}">
                <ns2:creationId id="{44D69AAF-0CFB-4734-B419-43D03A1B0923}"/>
              </a:ext>
            </a:extLst>
          </p:cNvPr>
          <p:cNvSpPr>
            <a:spLocks noGrp="1"/>
          </p:cNvSpPr>
          <p:nvPr/>
        </p:nvSpPr>
        <p:spPr>
          <a:xfrm>
            <a:off x="1257300" y="46958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Calculated on recognised sales, subject to specified terms.</a:t>
            </a:r>
          </a:p>
        </p:txBody>
      </p:sp>
      <p:sp>
        <p:nvSpPr>
          <p:cNvPr id="13" name="">
            <a:extLst>
              <a:ext uri="{FF2B5EF4-FFF2-40B4-BE49-F238E27FC236}">
                <ns2:creationId id="{BD566267-66F1-4515-8129-B602138DC9B1}"/>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en-GB">
                <a:solidFill>
                  <a:srgbClr val="526B63"/>
                </a:solidFill>
                <a:latin typeface="Arial"/>
                <a:ea typeface="Arial"/>
                <a:cs typeface="Arial"/>
              </a:rPr>
              <a:t>Net income also depends on costs, returns and taxes.</a:t>
            </a:r>
          </a:p>
        </p:txBody>
      </p:sp>
    </p:spTree>
    <p:extLst>
      <p:ext uri="{BB962C8B-B14F-4D97-AF65-F5344CB8AC3E}">
        <ns4:creationId val="402010883"/>
      </p:ext>
    </p:extLst>
  </p:cSld>
</p:sld>
</file>

<file path=ppt/slides/slide1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840DF7EE-0EBF-4A51-BCCA-50E40AAC8CD9}"/>
              </a:ext>
            </a:extLst>
          </p:cNvPr>
          <p:cNvPicPr>
            <a:picLocks noChangeAspect="1"/>
          </p:cNvPicPr>
          <p:nvPr/>
        </p:nvPicPr>
        <p:blipFill>
          <a:blip r:embed="Redb93a4280434ff1"/>
          <a:stretch/>
        </p:blipFill>
        <p:spPr>
          <a:xfrm>
            <a:off x="9867900" y="276061"/>
            <a:ext cx="1695450" cy="438478"/>
          </a:xfrm>
          <a:prstGeom prst="rect">
            <a:avLst/>
          </a:prstGeom>
        </p:spPr>
      </p:pic>
      <p:sp>
        <p:nvSpPr>
          <p:cNvPr id="2" name="">
            <a:extLst>
              <a:ext uri="{FF2B5EF4-FFF2-40B4-BE49-F238E27FC236}">
                <ns2:creationId id="{F88BD6BA-C85F-4ABA-8F08-31047BB24EE0}"/>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10</a:t>
            </a:r>
          </a:p>
        </p:txBody>
      </p:sp>
      <p:sp>
        <p:nvSpPr>
          <p:cNvPr id="3" name="Title">
            <a:extLst>
              <a:ext uri="{FF2B5EF4-FFF2-40B4-BE49-F238E27FC236}">
                <ns2:creationId id="{3292CFF6-A88B-4EB8-9D76-22FE62599277}"/>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Ways to earn income</a:t>
            </a:r>
          </a:p>
        </p:txBody>
      </p:sp>
      <p:sp>
        <p:nvSpPr>
          <p:cNvPr id="4" name="">
            <a:extLst>
              <a:ext uri="{FF2B5EF4-FFF2-40B4-BE49-F238E27FC236}">
                <ns2:creationId id="{E4F37C57-BB38-4268-A186-D1B747EFAAB6}"/>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en-GB">
                <a:solidFill>
                  <a:srgbClr val="148977"/>
                </a:solidFill>
                <a:latin typeface="Arial"/>
                <a:ea typeface="Arial"/>
                <a:cs typeface="Arial"/>
              </a:rPr>
              <a:t>1.</a:t>
            </a:r>
          </a:p>
        </p:txBody>
      </p:sp>
      <p:sp>
        <p:nvSpPr>
          <p:cNvPr id="5" name="">
            <a:extLst>
              <a:ext uri="{FF2B5EF4-FFF2-40B4-BE49-F238E27FC236}">
                <ns2:creationId id="{961A0C47-68F2-4FC3-AC65-BF70D8BE9435}"/>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en-GB">
                <a:solidFill>
                  <a:srgbClr val="153F36"/>
                </a:solidFill>
                <a:latin typeface="Arial"/>
                <a:ea typeface="Arial"/>
                <a:cs typeface="Arial"/>
              </a:rPr>
              <a:t>Retail and online sales</a:t>
            </a:r>
          </a:p>
        </p:txBody>
      </p:sp>
      <p:sp>
        <p:nvSpPr>
          <p:cNvPr id="6" name="">
            <a:extLst>
              <a:ext uri="{FF2B5EF4-FFF2-40B4-BE49-F238E27FC236}">
                <ns2:creationId id="{63F83357-877E-4FF3-915F-C3938DABCDED}"/>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Profit linked to actual product purchases.</a:t>
            </a:r>
          </a:p>
        </p:txBody>
      </p:sp>
      <p:sp>
        <p:nvSpPr>
          <p:cNvPr id="7" name="">
            <a:extLst>
              <a:ext uri="{FF2B5EF4-FFF2-40B4-BE49-F238E27FC236}">
                <ns2:creationId id="{DADDE4B6-6F20-47E2-A08D-2141BD840EEE}"/>
              </a:ext>
            </a:extLst>
          </p:cNvPr>
          <p:cNvSpPr>
            <a:spLocks noGrp="1"/>
          </p:cNvSpPr>
          <p:nvPr/>
        </p:nvSpPr>
        <p:spPr>
          <a:xfrm>
            <a:off x="609600" y="28575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en-GB">
                <a:solidFill>
                  <a:srgbClr val="148977"/>
                </a:solidFill>
                <a:latin typeface="Arial"/>
                <a:ea typeface="Arial"/>
                <a:cs typeface="Arial"/>
              </a:rPr>
              <a:t>2.</a:t>
            </a:r>
          </a:p>
        </p:txBody>
      </p:sp>
      <p:sp>
        <p:nvSpPr>
          <p:cNvPr id="8" name="">
            <a:extLst>
              <a:ext uri="{FF2B5EF4-FFF2-40B4-BE49-F238E27FC236}">
                <ns2:creationId id="{67D8978D-38A0-4FC8-BFC8-BC13A9976728}"/>
              </a:ext>
            </a:extLst>
          </p:cNvPr>
          <p:cNvSpPr>
            <a:spLocks noGrp="1"/>
          </p:cNvSpPr>
          <p:nvPr/>
        </p:nvSpPr>
        <p:spPr>
          <a:xfrm>
            <a:off x="1257300" y="28575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en-GB">
                <a:solidFill>
                  <a:srgbClr val="153F36"/>
                </a:solidFill>
                <a:latin typeface="Arial"/>
                <a:ea typeface="Arial"/>
                <a:cs typeface="Arial"/>
              </a:rPr>
              <a:t>Personal and Preferred Customer bonus</a:t>
            </a:r>
          </a:p>
        </p:txBody>
      </p:sp>
      <p:sp>
        <p:nvSpPr>
          <p:cNvPr id="9" name="">
            <a:extLst>
              <a:ext uri="{FF2B5EF4-FFF2-40B4-BE49-F238E27FC236}">
                <ns2:creationId id="{C231494E-33FE-4508-9785-F00A2151446B}"/>
              </a:ext>
            </a:extLst>
          </p:cNvPr>
          <p:cNvSpPr>
            <a:spLocks noGrp="1"/>
          </p:cNvSpPr>
          <p:nvPr/>
        </p:nvSpPr>
        <p:spPr>
          <a:xfrm>
            <a:off x="1257300" y="32670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Calculated by sales level and applicable terms.</a:t>
            </a:r>
          </a:p>
        </p:txBody>
      </p:sp>
      <p:sp>
        <p:nvSpPr>
          <p:cNvPr id="10" name="">
            <a:extLst>
              <a:ext uri="{FF2B5EF4-FFF2-40B4-BE49-F238E27FC236}">
                <ns2:creationId id="{6C5B4166-CAE5-400B-9E51-0F8ECA7D451A}"/>
              </a:ext>
            </a:extLst>
          </p:cNvPr>
          <p:cNvSpPr>
            <a:spLocks noGrp="1"/>
          </p:cNvSpPr>
          <p:nvPr/>
        </p:nvSpPr>
        <p:spPr>
          <a:xfrm>
            <a:off x="609600" y="37528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en-GB">
                <a:solidFill>
                  <a:srgbClr val="148977"/>
                </a:solidFill>
                <a:latin typeface="Arial"/>
                <a:ea typeface="Arial"/>
                <a:cs typeface="Arial"/>
              </a:rPr>
              <a:t>3.</a:t>
            </a:r>
          </a:p>
        </p:txBody>
      </p:sp>
      <p:sp>
        <p:nvSpPr>
          <p:cNvPr id="11" name="">
            <a:extLst>
              <a:ext uri="{FF2B5EF4-FFF2-40B4-BE49-F238E27FC236}">
                <ns2:creationId id="{50834E28-49CA-44B2-B93E-18D9D4627CA3}"/>
              </a:ext>
            </a:extLst>
          </p:cNvPr>
          <p:cNvSpPr>
            <a:spLocks noGrp="1"/>
          </p:cNvSpPr>
          <p:nvPr/>
        </p:nvSpPr>
        <p:spPr>
          <a:xfrm>
            <a:off x="1257300" y="37528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en-GB">
                <a:solidFill>
                  <a:srgbClr val="153F36"/>
                </a:solidFill>
                <a:latin typeface="Arial"/>
                <a:ea typeface="Arial"/>
                <a:cs typeface="Arial"/>
              </a:rPr>
              <a:t>Volume bonus</a:t>
            </a:r>
          </a:p>
        </p:txBody>
      </p:sp>
      <p:sp>
        <p:nvSpPr>
          <p:cNvPr id="12" name="">
            <a:extLst>
              <a:ext uri="{FF2B5EF4-FFF2-40B4-BE49-F238E27FC236}">
                <ns2:creationId id="{5407DF9D-985F-4E8D-8C98-F0B86ED67E9E}"/>
              </a:ext>
            </a:extLst>
          </p:cNvPr>
          <p:cNvSpPr>
            <a:spLocks noGrp="1"/>
          </p:cNvSpPr>
          <p:nvPr/>
        </p:nvSpPr>
        <p:spPr>
          <a:xfrm>
            <a:off x="1257300" y="41624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Qualified sales by lower levels in the organisation.</a:t>
            </a:r>
          </a:p>
        </p:txBody>
      </p:sp>
      <p:sp>
        <p:nvSpPr>
          <p:cNvPr id="13" name="">
            <a:extLst>
              <a:ext uri="{FF2B5EF4-FFF2-40B4-BE49-F238E27FC236}">
                <ns2:creationId id="{E9580FA4-DD30-4C4A-BAB0-1DC98066621F}"/>
              </a:ext>
            </a:extLst>
          </p:cNvPr>
          <p:cNvSpPr>
            <a:spLocks noGrp="1"/>
          </p:cNvSpPr>
          <p:nvPr/>
        </p:nvSpPr>
        <p:spPr>
          <a:xfrm>
            <a:off x="609600" y="46482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en-GB">
                <a:solidFill>
                  <a:srgbClr val="148977"/>
                </a:solidFill>
                <a:latin typeface="Arial"/>
                <a:ea typeface="Arial"/>
                <a:cs typeface="Arial"/>
              </a:rPr>
              <a:t>4.</a:t>
            </a:r>
          </a:p>
        </p:txBody>
      </p:sp>
      <p:sp>
        <p:nvSpPr>
          <p:cNvPr id="14" name="">
            <a:extLst>
              <a:ext uri="{FF2B5EF4-FFF2-40B4-BE49-F238E27FC236}">
                <ns2:creationId id="{E50EC679-BBB4-46B2-81C9-AC16645DB86B}"/>
              </a:ext>
            </a:extLst>
          </p:cNvPr>
          <p:cNvSpPr>
            <a:spLocks noGrp="1"/>
          </p:cNvSpPr>
          <p:nvPr/>
        </p:nvSpPr>
        <p:spPr>
          <a:xfrm>
            <a:off x="1257300" y="46482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en-GB">
                <a:solidFill>
                  <a:srgbClr val="153F36"/>
                </a:solidFill>
                <a:latin typeface="Arial"/>
                <a:ea typeface="Arial"/>
                <a:cs typeface="Arial"/>
              </a:rPr>
              <a:t>Leadership bonus</a:t>
            </a:r>
          </a:p>
        </p:txBody>
      </p:sp>
      <p:sp>
        <p:nvSpPr>
          <p:cNvPr id="15" name="">
            <a:extLst>
              <a:ext uri="{FF2B5EF4-FFF2-40B4-BE49-F238E27FC236}">
                <ns2:creationId id="{A8964C4B-0C42-4F0F-9058-0454BA2D8106}"/>
              </a:ext>
            </a:extLst>
          </p:cNvPr>
          <p:cNvSpPr>
            <a:spLocks noGrp="1"/>
          </p:cNvSpPr>
          <p:nvPr/>
        </p:nvSpPr>
        <p:spPr>
          <a:xfrm>
            <a:off x="1257300" y="5057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Qualified Manager generations and plan conditions.</a:t>
            </a:r>
          </a:p>
        </p:txBody>
      </p:sp>
    </p:spTree>
    <p:extLst>
      <p:ext uri="{BB962C8B-B14F-4D97-AF65-F5344CB8AC3E}">
        <ns4:creationId val="992325245"/>
      </p:ext>
    </p:extLst>
  </p:cSld>
</p:sld>
</file>

<file path=ppt/slides/slide1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A9AB977B-9D5E-4F10-952B-A0122802EBF9}"/>
              </a:ext>
            </a:extLst>
          </p:cNvPr>
          <p:cNvPicPr>
            <a:picLocks noChangeAspect="1"/>
          </p:cNvPicPr>
          <p:nvPr/>
        </p:nvPicPr>
        <p:blipFill>
          <a:blip r:embed="R5bc897ca9a314817"/>
          <a:stretch/>
        </p:blipFill>
        <p:spPr>
          <a:xfrm>
            <a:off x="9867900" y="276061"/>
            <a:ext cx="1695450" cy="438478"/>
          </a:xfrm>
          <a:prstGeom prst="rect">
            <a:avLst/>
          </a:prstGeom>
        </p:spPr>
      </p:pic>
      <p:sp>
        <p:nvSpPr>
          <p:cNvPr id="2" name="">
            <a:extLst>
              <a:ext uri="{FF2B5EF4-FFF2-40B4-BE49-F238E27FC236}">
                <ns2:creationId id="{E1206217-E73A-4CEB-9B09-737F10EA58F5}"/>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11</a:t>
            </a:r>
          </a:p>
        </p:txBody>
      </p:sp>
      <p:sp>
        <p:nvSpPr>
          <p:cNvPr id="3" name="Title">
            <a:extLst>
              <a:ext uri="{FF2B5EF4-FFF2-40B4-BE49-F238E27FC236}">
                <ns2:creationId id="{F97FCDE6-31DA-49CD-A3B9-7E9B8A32A524}"/>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Sales levels</a:t>
            </a:r>
          </a:p>
        </p:txBody>
      </p:sp>
      <p:graphicFrame>
        <p:nvGraphicFramePr>
          <p:cNvPr id="4" name="">
            <a:extLst>
              <a:ext uri="{FF2B5EF4-FFF2-40B4-BE49-F238E27FC236}">
                <ns2:creationId id="{BC47871F-1D3A-4769-8DAA-F613396509F8}"/>
              </a:ext>
            </a:extLst>
          </p:cNvPr>
          <p:cNvGraphicFramePr/>
          <p:nvPr/>
        </p:nvGraphicFramePr>
        <p:xfrm>
          <a:off x="609600" y="2114550"/>
          <a:ext cx="10953750" cy="3171825"/>
        </p:xfrm>
        <a:graphic>
          <a:graphicData uri="http://schemas.openxmlformats.org/drawingml/2006/table">
            <a:tbl>
              <a:tblPr/>
              <a:tblGrid>
                <a:gridCol w="3981450"/>
                <a:gridCol w="6972300"/>
              </a:tblGrid>
              <a:tr h="634365">
                <a:tc>
                  <a:txBody>
                    <a:bodyPr lIns="152400" tIns="133350" rIns="152400" bIns="114300">
                      <a:noAutofit/>
                    </a:bodyPr>
                    <a:lstStyle/>
                    <a:p>
                      <a:r>
                        <a:rPr sz="2025" b="1" lang="en-GB">
                          <a:solidFill>
                            <a:srgbClr val="FFFFFF"/>
                          </a:solidFill>
                          <a:latin typeface="Arial"/>
                          <a:ea typeface="Arial"/>
                          <a:cs typeface="Arial"/>
                        </a:rPr>
                        <a:t>Level</a:t>
                      </a:r>
                    </a:p>
                  </a:txBody>
                  <a:tcPr marL="91440" marR="91440" marT="45720" marB="45720">
                    <a:solidFill>
                      <a:srgbClr val="153F36"/>
                    </a:solidFill>
                  </a:tcPr>
                </a:tc>
                <a:tc>
                  <a:txBody>
                    <a:bodyPr lIns="152400" tIns="133350" rIns="152400" bIns="114300">
                      <a:noAutofit/>
                    </a:bodyPr>
                    <a:lstStyle/>
                    <a:p>
                      <a:r>
                        <a:rPr sz="2025" b="1" lang="en-GB">
                          <a:solidFill>
                            <a:srgbClr val="FFFFFF"/>
                          </a:solidFill>
                          <a:latin typeface="Arial"/>
                          <a:ea typeface="Arial"/>
                          <a:cs typeface="Arial"/>
                        </a:rPr>
                        <a:t>Qualifying volume</a:t>
                      </a:r>
                    </a:p>
                  </a:txBody>
                  <a:tcPr marL="91440" marR="91440" marT="45720" marB="45720">
                    <a:solidFill>
                      <a:srgbClr val="153F36"/>
                    </a:solidFill>
                  </a:tcPr>
                </a:tc>
              </a:tr>
              <a:tr h="634365">
                <a:tc>
                  <a:txBody>
                    <a:bodyPr lIns="152400" tIns="133350" rIns="152400" bIns="114300">
                      <a:noAutofit/>
                    </a:bodyPr>
                    <a:lstStyle/>
                    <a:p>
                      <a:r>
                        <a:rPr sz="2025" b="0" lang="en-GB">
                          <a:solidFill>
                            <a:srgbClr val="153F36"/>
                          </a:solidFill>
                          <a:latin typeface="Arial"/>
                          <a:ea typeface="Arial"/>
                          <a:cs typeface="Arial"/>
                        </a:rPr>
                        <a:t>Assistant Supervisor</a:t>
                      </a:r>
                    </a:p>
                  </a:txBody>
                  <a:tcPr marL="91440" marR="91440" marT="45720" marB="45720">
                    <a:solidFill>
                      <a:srgbClr val="FFFFFF"/>
                    </a:solidFill>
                  </a:tcPr>
                </a:tc>
                <a:tc>
                  <a:txBody>
                    <a:bodyPr lIns="152400" tIns="133350" rIns="152400" bIns="114300">
                      <a:noAutofit/>
                    </a:bodyPr>
                    <a:lstStyle/>
                    <a:p>
                      <a:r>
                        <a:rPr sz="2025" b="0" lang="en-GB">
                          <a:solidFill>
                            <a:srgbClr val="153F36"/>
                          </a:solidFill>
                          <a:latin typeface="Arial"/>
                          <a:ea typeface="Arial"/>
                          <a:cs typeface="Arial"/>
                        </a:rPr>
                        <a:t>2 CC over two consecutive months</a:t>
                      </a:r>
                    </a:p>
                  </a:txBody>
                  <a:tcPr marL="91440" marR="91440" marT="45720" marB="45720">
                    <a:solidFill>
                      <a:srgbClr val="FFFFFF"/>
                    </a:solidFill>
                  </a:tcPr>
                </a:tc>
              </a:tr>
              <a:tr h="634365">
                <a:tc>
                  <a:txBody>
                    <a:bodyPr lIns="152400" tIns="133350" rIns="152400" bIns="114300">
                      <a:noAutofit/>
                    </a:bodyPr>
                    <a:lstStyle/>
                    <a:p>
                      <a:r>
                        <a:rPr sz="2025" b="0" lang="en-GB">
                          <a:solidFill>
                            <a:srgbClr val="153F36"/>
                          </a:solidFill>
                          <a:latin typeface="Arial"/>
                          <a:ea typeface="Arial"/>
                          <a:cs typeface="Arial"/>
                        </a:rPr>
                        <a:t>Supervisor</a:t>
                      </a:r>
                    </a:p>
                  </a:txBody>
                  <a:tcPr marL="91440" marR="91440" marT="45720" marB="45720">
                    <a:solidFill>
                      <a:srgbClr val="F3F7F2"/>
                    </a:solidFill>
                  </a:tcPr>
                </a:tc>
                <a:tc>
                  <a:txBody>
                    <a:bodyPr lIns="152400" tIns="133350" rIns="152400" bIns="114300">
                      <a:noAutofit/>
                    </a:bodyPr>
                    <a:lstStyle/>
                    <a:p>
                      <a:r>
                        <a:rPr sz="2025" b="0" lang="en-GB">
                          <a:solidFill>
                            <a:srgbClr val="153F36"/>
                          </a:solidFill>
                          <a:latin typeface="Arial"/>
                          <a:ea typeface="Arial"/>
                          <a:cs typeface="Arial"/>
                        </a:rPr>
                        <a:t>10 CC, check the timeframe locally</a:t>
                      </a:r>
                    </a:p>
                  </a:txBody>
                  <a:tcPr marL="91440" marR="91440" marT="45720" marB="45720">
                    <a:solidFill>
                      <a:srgbClr val="F3F7F2"/>
                    </a:solidFill>
                  </a:tcPr>
                </a:tc>
              </a:tr>
              <a:tr h="634365">
                <a:tc>
                  <a:txBody>
                    <a:bodyPr lIns="152400" tIns="133350" rIns="152400" bIns="114300">
                      <a:noAutofit/>
                    </a:bodyPr>
                    <a:lstStyle/>
                    <a:p>
                      <a:r>
                        <a:rPr sz="2025" b="0" lang="en-GB">
                          <a:solidFill>
                            <a:srgbClr val="153F36"/>
                          </a:solidFill>
                          <a:latin typeface="Arial"/>
                          <a:ea typeface="Arial"/>
                          <a:cs typeface="Arial"/>
                        </a:rPr>
                        <a:t>Assistant Manager</a:t>
                      </a:r>
                    </a:p>
                  </a:txBody>
                  <a:tcPr marL="91440" marR="91440" marT="45720" marB="45720">
                    <a:solidFill>
                      <a:srgbClr val="FFFFFF"/>
                    </a:solidFill>
                  </a:tcPr>
                </a:tc>
                <a:tc>
                  <a:txBody>
                    <a:bodyPr lIns="152400" tIns="133350" rIns="152400" bIns="114300">
                      <a:noAutofit/>
                    </a:bodyPr>
                    <a:lstStyle/>
                    <a:p>
                      <a:r>
                        <a:rPr sz="2025" b="0" lang="en-GB">
                          <a:solidFill>
                            <a:srgbClr val="153F36"/>
                          </a:solidFill>
                          <a:latin typeface="Arial"/>
                          <a:ea typeface="Arial"/>
                          <a:cs typeface="Arial"/>
                        </a:rPr>
                        <a:t>60 CC over two consecutive months</a:t>
                      </a:r>
                    </a:p>
                  </a:txBody>
                  <a:tcPr marL="91440" marR="91440" marT="45720" marB="45720">
                    <a:solidFill>
                      <a:srgbClr val="FFFFFF"/>
                    </a:solidFill>
                  </a:tcPr>
                </a:tc>
              </a:tr>
              <a:tr h="634365">
                <a:tc>
                  <a:txBody>
                    <a:bodyPr lIns="152400" tIns="133350" rIns="152400" bIns="114300">
                      <a:noAutofit/>
                    </a:bodyPr>
                    <a:lstStyle/>
                    <a:p>
                      <a:r>
                        <a:rPr sz="2025" b="0" lang="en-GB">
                          <a:solidFill>
                            <a:srgbClr val="153F36"/>
                          </a:solidFill>
                          <a:latin typeface="Arial"/>
                          <a:ea typeface="Arial"/>
                          <a:cs typeface="Arial"/>
                        </a:rPr>
                        <a:t>Manager</a:t>
                      </a:r>
                    </a:p>
                  </a:txBody>
                  <a:tcPr marL="91440" marR="91440" marT="45720" marB="45720">
                    <a:solidFill>
                      <a:srgbClr val="F3F7F2"/>
                    </a:solidFill>
                  </a:tcPr>
                </a:tc>
                <a:tc>
                  <a:txBody>
                    <a:bodyPr lIns="152400" tIns="133350" rIns="152400" bIns="114300">
                      <a:noAutofit/>
                    </a:bodyPr>
                    <a:lstStyle/>
                    <a:p>
                      <a:r>
                        <a:rPr sz="2025" b="0" lang="en-GB">
                          <a:solidFill>
                            <a:srgbClr val="153F36"/>
                          </a:solidFill>
                          <a:latin typeface="Arial"/>
                          <a:ea typeface="Arial"/>
                          <a:cs typeface="Arial"/>
                        </a:rPr>
                        <a:t>120 CC in 1 or 2 months, or 150 CC in 3 or 4 months</a:t>
                      </a:r>
                    </a:p>
                  </a:txBody>
                  <a:tcPr marL="91440" marR="91440" marT="45720" marB="45720">
                    <a:solidFill>
                      <a:srgbClr val="F3F7F2"/>
                    </a:solidFill>
                  </a:tcPr>
                </a:tc>
              </a:tr>
            </a:tbl>
          </a:graphicData>
        </a:graphic>
      </p:graphicFrame>
      <p:sp>
        <p:nvSpPr>
          <p:cNvPr id="5" name="">
            <a:extLst>
              <a:ext uri="{FF2B5EF4-FFF2-40B4-BE49-F238E27FC236}">
                <ns2:creationId id="{9DFB2BCF-6AA8-4740-A837-9F538AEBF00A}"/>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en-GB">
                <a:solidFill>
                  <a:srgbClr val="526B63"/>
                </a:solidFill>
                <a:latin typeface="Arial"/>
                <a:ea typeface="Arial"/>
                <a:cs typeface="Arial"/>
              </a:rPr>
              <a:t>Croatian framework. Advancement follows recognised product sales volume.</a:t>
            </a:r>
          </a:p>
        </p:txBody>
      </p:sp>
    </p:spTree>
    <p:extLst>
      <p:ext uri="{BB962C8B-B14F-4D97-AF65-F5344CB8AC3E}">
        <ns4:creationId val="1649879452"/>
      </p:ext>
    </p:extLst>
  </p:cSld>
</p:sld>
</file>

<file path=ppt/slides/slide1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E97F2449-B0C8-45FF-9BA5-1467F6340A5D}"/>
              </a:ext>
            </a:extLst>
          </p:cNvPr>
          <p:cNvPicPr>
            <a:picLocks noChangeAspect="1"/>
          </p:cNvPicPr>
          <p:nvPr/>
        </p:nvPicPr>
        <p:blipFill>
          <a:blip r:embed="Rc8567ceef5234c8d"/>
          <a:stretch/>
        </p:blipFill>
        <p:spPr>
          <a:xfrm>
            <a:off x="9867900" y="276061"/>
            <a:ext cx="1695450" cy="438478"/>
          </a:xfrm>
          <a:prstGeom prst="rect">
            <a:avLst/>
          </a:prstGeom>
        </p:spPr>
      </p:pic>
      <p:sp>
        <p:nvSpPr>
          <p:cNvPr id="2" name="">
            <a:extLst>
              <a:ext uri="{FF2B5EF4-FFF2-40B4-BE49-F238E27FC236}">
                <ns2:creationId id="{B9FFE9D7-C589-4DAD-A5DC-C4584AC8344D}"/>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12</a:t>
            </a:r>
          </a:p>
        </p:txBody>
      </p:sp>
      <p:sp>
        <p:nvSpPr>
          <p:cNvPr id="3" name="Title">
            <a:extLst>
              <a:ext uri="{FF2B5EF4-FFF2-40B4-BE49-F238E27FC236}">
                <ns2:creationId id="{F91E5C4C-3C31-4F72-9B91-81AAABDBF56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Level and monthly activity</a:t>
            </a:r>
          </a:p>
        </p:txBody>
      </p:sp>
      <p:sp>
        <p:nvSpPr>
          <p:cNvPr id="4" name="">
            <a:extLst>
              <a:ext uri="{FF2B5EF4-FFF2-40B4-BE49-F238E27FC236}">
                <ns2:creationId id="{703903BE-E1EA-4755-AF0E-DDC0FD0D2C54}"/>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en-GB">
                <a:solidFill>
                  <a:srgbClr val="153F36"/>
                </a:solidFill>
                <a:latin typeface="Arial"/>
                <a:ea typeface="Arial"/>
                <a:cs typeface="Arial"/>
              </a:rPr>
              <a:t>Achieved level</a:t>
            </a:r>
          </a:p>
        </p:txBody>
      </p:sp>
      <p:sp>
        <p:nvSpPr>
          <p:cNvPr id="5" name="">
            <a:extLst>
              <a:ext uri="{FF2B5EF4-FFF2-40B4-BE49-F238E27FC236}">
                <ns2:creationId id="{9A996385-7B48-4296-A854-5EB0CE2EE565}"/>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en-GB">
                <a:solidFill>
                  <a:srgbClr val="526B63"/>
                </a:solidFill>
                <a:latin typeface="Arial"/>
                <a:ea typeface="Arial"/>
                <a:cs typeface="Arial"/>
              </a:rPr>
              <a:t>Shows the sales qualification achieved.</a:t>
            </a:r>
          </a:p>
          <a:p>
            <a:r>
              <a:t/>
            </a:r>
          </a:p>
          <a:p>
            <a:pPr>
              <a:defRPr sz="2175" b="0">
                <a:solidFill>
                  <a:srgbClr val="526B63"/>
                </a:solidFill>
                <a:latin typeface="Arial"/>
                <a:ea typeface="Arial"/>
                <a:cs typeface="Arial"/>
              </a:defRPr>
            </a:pPr>
            <a:r>
              <a:rPr sz="2175" b="0" lang="en-GB">
                <a:solidFill>
                  <a:srgbClr val="526B63"/>
                </a:solidFill>
                <a:latin typeface="Arial"/>
                <a:ea typeface="Arial"/>
                <a:cs typeface="Arial"/>
              </a:rPr>
              <a:t>Certain payments still have monthly conditions.</a:t>
            </a:r>
          </a:p>
        </p:txBody>
      </p:sp>
      <p:sp>
        <p:nvSpPr>
          <p:cNvPr id="6" name="">
            <a:extLst>
              <a:ext uri="{FF2B5EF4-FFF2-40B4-BE49-F238E27FC236}">
                <ns2:creationId id="{77D1FAA2-01AE-4439-AF68-AFF32BA013D3}"/>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en-GB">
                <a:solidFill>
                  <a:srgbClr val="153F36"/>
                </a:solidFill>
                <a:latin typeface="Arial"/>
                <a:ea typeface="Arial"/>
                <a:cs typeface="Arial"/>
              </a:rPr>
              <a:t>Activity in Croatia</a:t>
            </a:r>
          </a:p>
        </p:txBody>
      </p:sp>
      <p:sp>
        <p:nvSpPr>
          <p:cNvPr id="7" name="">
            <a:extLst>
              <a:ext uri="{FF2B5EF4-FFF2-40B4-BE49-F238E27FC236}">
                <ns2:creationId id="{DE9F55C7-C377-46B3-ABD2-90B1875D63BE}"/>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en-GB">
                <a:solidFill>
                  <a:srgbClr val="526B63"/>
                </a:solidFill>
                <a:latin typeface="Arial"/>
                <a:ea typeface="Arial"/>
                <a:cs typeface="Arial"/>
              </a:rPr>
              <a:t>4 CC per month, including at least 1 personally purchased CC.</a:t>
            </a:r>
          </a:p>
          <a:p>
            <a:r>
              <a:t/>
            </a:r>
          </a:p>
          <a:p>
            <a:pPr>
              <a:defRPr sz="2175" b="0">
                <a:solidFill>
                  <a:srgbClr val="526B63"/>
                </a:solidFill>
                <a:latin typeface="Arial"/>
                <a:ea typeface="Arial"/>
                <a:cs typeface="Arial"/>
              </a:defRPr>
            </a:pPr>
            <a:r>
              <a:rPr sz="2175" b="0" lang="en-GB">
                <a:solidFill>
                  <a:srgbClr val="526B63"/>
                </a:solidFill>
                <a:latin typeface="Arial"/>
                <a:ea typeface="Arial"/>
                <a:cs typeface="Arial"/>
              </a:rPr>
              <a:t>Applies to certain bonuses and qualifications.</a:t>
            </a:r>
          </a:p>
        </p:txBody>
      </p:sp>
      <p:sp>
        <p:nvSpPr>
          <p:cNvPr id="8" name="">
            <a:extLst>
              <a:ext uri="{FF2B5EF4-FFF2-40B4-BE49-F238E27FC236}">
                <ns2:creationId id="{FD9B8A60-55C5-4285-811D-8CC7872E0136}"/>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en-GB">
                <a:solidFill>
                  <a:srgbClr val="526B63"/>
                </a:solidFill>
                <a:latin typeface="Arial"/>
                <a:ea typeface="Arial"/>
                <a:cs typeface="Arial"/>
              </a:rPr>
              <a:t>Review your market rules and sales plan with your sponsor or manager.</a:t>
            </a:r>
          </a:p>
        </p:txBody>
      </p:sp>
    </p:spTree>
    <p:extLst>
      <p:ext uri="{BB962C8B-B14F-4D97-AF65-F5344CB8AC3E}">
        <ns4:creationId val="1437305113"/>
      </p:ext>
    </p:extLst>
  </p:cSld>
</p:sld>
</file>

<file path=ppt/slides/slide1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7CE17F46-7524-406F-87EF-22855383B637}"/>
              </a:ext>
            </a:extLst>
          </p:cNvPr>
          <p:cNvPicPr>
            <a:picLocks noChangeAspect="1"/>
          </p:cNvPicPr>
          <p:nvPr/>
        </p:nvPicPr>
        <p:blipFill>
          <a:blip r:embed="Rf83108d97d584295"/>
          <a:stretch/>
        </p:blipFill>
        <p:spPr>
          <a:xfrm>
            <a:off x="9867900" y="276061"/>
            <a:ext cx="1695450" cy="438478"/>
          </a:xfrm>
          <a:prstGeom prst="rect">
            <a:avLst/>
          </a:prstGeom>
        </p:spPr>
      </p:pic>
      <p:sp>
        <p:nvSpPr>
          <p:cNvPr id="2" name="">
            <a:extLst>
              <a:ext uri="{FF2B5EF4-FFF2-40B4-BE49-F238E27FC236}">
                <ns2:creationId id="{40911F3A-0291-4E27-930B-9F7571F7C8F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13</a:t>
            </a:r>
          </a:p>
        </p:txBody>
      </p:sp>
      <p:sp>
        <p:nvSpPr>
          <p:cNvPr id="3" name="Title">
            <a:extLst>
              <a:ext uri="{FF2B5EF4-FFF2-40B4-BE49-F238E27FC236}">
                <ns2:creationId id="{EC120288-5F29-45BC-8AC5-7E6A97B0B8D2}"/>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Further development opportunities</a:t>
            </a:r>
          </a:p>
        </p:txBody>
      </p:sp>
      <p:sp>
        <p:nvSpPr>
          <p:cNvPr id="4" name="">
            <a:extLst>
              <a:ext uri="{FF2B5EF4-FFF2-40B4-BE49-F238E27FC236}">
                <ns2:creationId id="{941C9B93-C75E-4126-A8E8-C4081A9BAE11}"/>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en-GB">
                <a:solidFill>
                  <a:srgbClr val="148977"/>
                </a:solidFill>
                <a:latin typeface="Arial"/>
                <a:ea typeface="Arial"/>
                <a:cs typeface="Arial"/>
              </a:rPr>
              <a:t>1.</a:t>
            </a:r>
          </a:p>
        </p:txBody>
      </p:sp>
      <p:sp>
        <p:nvSpPr>
          <p:cNvPr id="5" name="">
            <a:extLst>
              <a:ext uri="{FF2B5EF4-FFF2-40B4-BE49-F238E27FC236}">
                <ns2:creationId id="{73D521F0-969B-4577-8CDA-78D20D152E22}"/>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en-GB">
                <a:solidFill>
                  <a:srgbClr val="153F36"/>
                </a:solidFill>
                <a:latin typeface="Arial"/>
                <a:ea typeface="Arial"/>
                <a:cs typeface="Arial"/>
              </a:rPr>
              <a:t>Forever2Drive</a:t>
            </a:r>
          </a:p>
        </p:txBody>
      </p:sp>
      <p:sp>
        <p:nvSpPr>
          <p:cNvPr id="6" name="">
            <a:extLst>
              <a:ext uri="{FF2B5EF4-FFF2-40B4-BE49-F238E27FC236}">
                <ns2:creationId id="{ACF17F9F-E8A8-40BE-883F-DDC4827BF5EB}"/>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Incentive subject to qualification and ongoing conditions.</a:t>
            </a:r>
          </a:p>
        </p:txBody>
      </p:sp>
      <p:sp>
        <p:nvSpPr>
          <p:cNvPr id="7" name="">
            <a:extLst>
              <a:ext uri="{FF2B5EF4-FFF2-40B4-BE49-F238E27FC236}">
                <ns2:creationId id="{359B9063-6C13-4CE2-BCD9-9BD3727E9FED}"/>
              </a:ext>
            </a:extLst>
          </p:cNvPr>
          <p:cNvSpPr>
            <a:spLocks noGrp="1"/>
          </p:cNvSpPr>
          <p:nvPr/>
        </p:nvSpPr>
        <p:spPr>
          <a:xfrm>
            <a:off x="609600" y="284797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en-GB">
                <a:solidFill>
                  <a:srgbClr val="148977"/>
                </a:solidFill>
                <a:latin typeface="Arial"/>
                <a:ea typeface="Arial"/>
                <a:cs typeface="Arial"/>
              </a:rPr>
              <a:t>2.</a:t>
            </a:r>
          </a:p>
        </p:txBody>
      </p:sp>
      <p:sp>
        <p:nvSpPr>
          <p:cNvPr id="8" name="">
            <a:extLst>
              <a:ext uri="{FF2B5EF4-FFF2-40B4-BE49-F238E27FC236}">
                <ns2:creationId id="{75478720-3A7B-4E47-9017-69248B3E4C2D}"/>
              </a:ext>
            </a:extLst>
          </p:cNvPr>
          <p:cNvSpPr>
            <a:spLocks noGrp="1"/>
          </p:cNvSpPr>
          <p:nvPr/>
        </p:nvSpPr>
        <p:spPr>
          <a:xfrm>
            <a:off x="1257300" y="284797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en-GB">
                <a:solidFill>
                  <a:srgbClr val="153F36"/>
                </a:solidFill>
                <a:latin typeface="Arial"/>
                <a:ea typeface="Arial"/>
                <a:cs typeface="Arial"/>
              </a:rPr>
              <a:t>Eagle Manager</a:t>
            </a:r>
          </a:p>
        </p:txBody>
      </p:sp>
      <p:sp>
        <p:nvSpPr>
          <p:cNvPr id="9" name="">
            <a:extLst>
              <a:ext uri="{FF2B5EF4-FFF2-40B4-BE49-F238E27FC236}">
                <ns2:creationId id="{57C824BA-1407-4003-AE3E-95F40257C3D7}"/>
              </a:ext>
            </a:extLst>
          </p:cNvPr>
          <p:cNvSpPr>
            <a:spLocks noGrp="1"/>
          </p:cNvSpPr>
          <p:nvPr/>
        </p:nvSpPr>
        <p:spPr>
          <a:xfrm>
            <a:off x="1257300" y="32575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Developing people, the sales organisation and qualifications.</a:t>
            </a:r>
          </a:p>
        </p:txBody>
      </p:sp>
      <p:sp>
        <p:nvSpPr>
          <p:cNvPr id="10" name="">
            <a:extLst>
              <a:ext uri="{FF2B5EF4-FFF2-40B4-BE49-F238E27FC236}">
                <ns2:creationId id="{C7DEDA4A-108F-4739-BF5B-CB0EC39ED372}"/>
              </a:ext>
            </a:extLst>
          </p:cNvPr>
          <p:cNvSpPr>
            <a:spLocks noGrp="1"/>
          </p:cNvSpPr>
          <p:nvPr/>
        </p:nvSpPr>
        <p:spPr>
          <a:xfrm>
            <a:off x="609600" y="37338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en-GB">
                <a:solidFill>
                  <a:srgbClr val="148977"/>
                </a:solidFill>
                <a:latin typeface="Arial"/>
                <a:ea typeface="Arial"/>
                <a:cs typeface="Arial"/>
              </a:rPr>
              <a:t>3.</a:t>
            </a:r>
          </a:p>
        </p:txBody>
      </p:sp>
      <p:sp>
        <p:nvSpPr>
          <p:cNvPr id="11" name="">
            <a:extLst>
              <a:ext uri="{FF2B5EF4-FFF2-40B4-BE49-F238E27FC236}">
                <ns2:creationId id="{FC77939D-3BE0-48FF-BD9E-9E2DA6EB9D4D}"/>
              </a:ext>
            </a:extLst>
          </p:cNvPr>
          <p:cNvSpPr>
            <a:spLocks noGrp="1"/>
          </p:cNvSpPr>
          <p:nvPr/>
        </p:nvSpPr>
        <p:spPr>
          <a:xfrm>
            <a:off x="1257300" y="37338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en-GB">
                <a:solidFill>
                  <a:srgbClr val="153F36"/>
                </a:solidFill>
                <a:latin typeface="Arial"/>
                <a:ea typeface="Arial"/>
                <a:cs typeface="Arial"/>
              </a:rPr>
              <a:t>Global Rally</a:t>
            </a:r>
          </a:p>
        </p:txBody>
      </p:sp>
      <p:sp>
        <p:nvSpPr>
          <p:cNvPr id="12" name="">
            <a:extLst>
              <a:ext uri="{FF2B5EF4-FFF2-40B4-BE49-F238E27FC236}">
                <ns2:creationId id="{9D0D43DD-DCED-4D9D-A8DF-DF03C8EDE1E3}"/>
              </a:ext>
            </a:extLst>
          </p:cNvPr>
          <p:cNvSpPr>
            <a:spLocks noGrp="1"/>
          </p:cNvSpPr>
          <p:nvPr/>
        </p:nvSpPr>
        <p:spPr>
          <a:xfrm>
            <a:off x="1257300" y="41433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Annual qualification based on recognised CC.</a:t>
            </a:r>
          </a:p>
        </p:txBody>
      </p:sp>
      <p:sp>
        <p:nvSpPr>
          <p:cNvPr id="13" name="">
            <a:extLst>
              <a:ext uri="{FF2B5EF4-FFF2-40B4-BE49-F238E27FC236}">
                <ns2:creationId id="{0DE06633-3104-4D5D-AFC2-6DD58A379127}"/>
              </a:ext>
            </a:extLst>
          </p:cNvPr>
          <p:cNvSpPr>
            <a:spLocks noGrp="1"/>
          </p:cNvSpPr>
          <p:nvPr/>
        </p:nvSpPr>
        <p:spPr>
          <a:xfrm>
            <a:off x="609600" y="461962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en-GB">
                <a:solidFill>
                  <a:srgbClr val="148977"/>
                </a:solidFill>
                <a:latin typeface="Arial"/>
                <a:ea typeface="Arial"/>
                <a:cs typeface="Arial"/>
              </a:rPr>
              <a:t>4.</a:t>
            </a:r>
          </a:p>
        </p:txBody>
      </p:sp>
      <p:sp>
        <p:nvSpPr>
          <p:cNvPr id="14" name="">
            <a:extLst>
              <a:ext uri="{FF2B5EF4-FFF2-40B4-BE49-F238E27FC236}">
                <ns2:creationId id="{7181DCFD-1327-4AEA-A125-DB42B98E41DD}"/>
              </a:ext>
            </a:extLst>
          </p:cNvPr>
          <p:cNvSpPr>
            <a:spLocks noGrp="1"/>
          </p:cNvSpPr>
          <p:nvPr/>
        </p:nvSpPr>
        <p:spPr>
          <a:xfrm>
            <a:off x="1257300" y="461962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en-GB">
                <a:solidFill>
                  <a:srgbClr val="153F36"/>
                </a:solidFill>
                <a:latin typeface="Arial"/>
                <a:ea typeface="Arial"/>
                <a:cs typeface="Arial"/>
              </a:rPr>
              <a:t>Chairman’s Bonus</a:t>
            </a:r>
          </a:p>
        </p:txBody>
      </p:sp>
      <p:sp>
        <p:nvSpPr>
          <p:cNvPr id="15" name="">
            <a:extLst>
              <a:ext uri="{FF2B5EF4-FFF2-40B4-BE49-F238E27FC236}">
                <ns2:creationId id="{0FC1322E-D4F3-4F90-B54D-8742B0118D65}"/>
              </a:ext>
            </a:extLst>
          </p:cNvPr>
          <p:cNvSpPr>
            <a:spLocks noGrp="1"/>
          </p:cNvSpPr>
          <p:nvPr/>
        </p:nvSpPr>
        <p:spPr>
          <a:xfrm>
            <a:off x="1257300" y="5029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Advanced qualification and shares in a bonus fund.</a:t>
            </a:r>
          </a:p>
        </p:txBody>
      </p:sp>
    </p:spTree>
    <p:extLst>
      <p:ext uri="{BB962C8B-B14F-4D97-AF65-F5344CB8AC3E}">
        <ns4:creationId val="237719923"/>
      </p:ext>
    </p:extLst>
  </p:cSld>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53F36"/>
        </a:solidFill>
      </p:bgPr>
    </p:bg>
    <p:spTree>
      <p:nvGrpSpPr>
        <p:cNvPr id="1" name=""/>
        <p:cNvGrpSpPr/>
        <p:nvPr/>
      </p:nvGrpSpPr>
      <p:grpSpPr>
        <a:xfrm/>
      </p:grpSpPr>
      <p:sp>
        <p:nvSpPr>
          <p:cNvPr id="8" name="">
            <a:extLst>
              <a:ext uri="{FF2B5EF4-FFF2-40B4-BE49-F238E27FC236}">
                <ns2:creationId id="{F113DD45-36D4-4DA6-8B79-68B74FBB84D7}"/>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D4E8DD"/>
                </a:solidFill>
                <a:latin typeface="Arial"/>
                <a:ea typeface="Arial"/>
                <a:cs typeface="Arial"/>
              </a:defRPr>
            </a:defPPr>
          </a:lstStyle>
          <a:p>
            <a:pPr>
              <a:defRPr sz="1350" b="0">
                <a:solidFill>
                  <a:srgbClr val="D4E8DD"/>
                </a:solidFill>
                <a:latin typeface="Arial"/>
                <a:ea typeface="Arial"/>
                <a:cs typeface="Arial"/>
              </a:defRPr>
            </a:pPr>
            <a:r>
              <a:rPr sz="1350" b="0" lang="en-GB">
                <a:solidFill>
                  <a:srgbClr val="D4E8DD"/>
                </a:solidFill>
                <a:latin typeface="Arial"/>
                <a:ea typeface="Arial"/>
                <a:cs typeface="Arial"/>
              </a:rPr>
              <a:t>14</a:t>
            </a:r>
          </a:p>
        </p:txBody>
      </p:sp>
      <p:sp>
        <p:nvSpPr>
          <p:cNvPr id="2" name="Title">
            <a:extLst>
              <a:ext uri="{FF2B5EF4-FFF2-40B4-BE49-F238E27FC236}">
                <ns2:creationId id="{CAA3B91D-F917-4DA2-B226-01A327BB4928}"/>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FFFFFF"/>
                </a:solidFill>
                <a:latin typeface="Arial"/>
                <a:ea typeface="Arial"/>
                <a:cs typeface="Arial"/>
              </a:defRPr>
            </a:defPPr>
          </a:lstStyle>
          <a:p>
            <a:pPr>
              <a:defRPr sz="3600" b="1">
                <a:solidFill>
                  <a:srgbClr val="FFFFFF"/>
                </a:solidFill>
                <a:latin typeface="Arial"/>
                <a:ea typeface="Arial"/>
                <a:cs typeface="Arial"/>
              </a:defRPr>
            </a:pPr>
            <a:r>
              <a:rPr sz="3600" b="1" lang="en-GB">
                <a:solidFill>
                  <a:srgbClr val="FFFFFF"/>
                </a:solidFill>
                <a:latin typeface="Arial"/>
                <a:ea typeface="Arial"/>
                <a:cs typeface="Arial"/>
              </a:rPr>
              <a:t>Forever and FCC: their roles</a:t>
            </a:r>
          </a:p>
        </p:txBody>
      </p:sp>
      <p:sp>
        <p:nvSpPr>
          <p:cNvPr id="3" name="">
            <a:extLst>
              <a:ext uri="{FF2B5EF4-FFF2-40B4-BE49-F238E27FC236}">
                <ns2:creationId id="{87010EBA-D139-47AC-B90D-AEF1B6E02C00}"/>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FFFFFF"/>
                </a:solidFill>
                <a:latin typeface="Arial"/>
                <a:ea typeface="Arial"/>
                <a:cs typeface="Arial"/>
              </a:defRPr>
            </a:defPPr>
          </a:lstStyle>
          <a:p>
            <a:pPr>
              <a:defRPr sz="2625" b="1">
                <a:solidFill>
                  <a:srgbClr val="FFFFFF"/>
                </a:solidFill>
                <a:latin typeface="Arial"/>
                <a:ea typeface="Arial"/>
                <a:cs typeface="Arial"/>
              </a:defRPr>
            </a:pPr>
            <a:r>
              <a:rPr sz="2625" b="1" lang="en-GB">
                <a:solidFill>
                  <a:srgbClr val="FFFFFF"/>
                </a:solidFill>
                <a:latin typeface="Arial"/>
                <a:ea typeface="Arial"/>
                <a:cs typeface="Arial"/>
              </a:rPr>
              <a:t>Forever</a:t>
            </a:r>
          </a:p>
        </p:txBody>
      </p:sp>
      <p:sp>
        <p:nvSpPr>
          <p:cNvPr id="4" name="">
            <a:extLst>
              <a:ext uri="{FF2B5EF4-FFF2-40B4-BE49-F238E27FC236}">
                <ns2:creationId id="{5D9D1F61-7188-45FC-9FBB-33255E60669E}"/>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D4E8DD"/>
                </a:solidFill>
                <a:latin typeface="Arial"/>
                <a:ea typeface="Arial"/>
                <a:cs typeface="Arial"/>
              </a:defRPr>
            </a:defPPr>
          </a:lstStyle>
          <a:p>
            <a:pPr>
              <a:defRPr sz="2175" b="0">
                <a:solidFill>
                  <a:srgbClr val="D4E8DD"/>
                </a:solidFill>
                <a:latin typeface="Arial"/>
                <a:ea typeface="Arial"/>
                <a:cs typeface="Arial"/>
              </a:defRPr>
            </a:pPr>
            <a:r>
              <a:rPr sz="2175" b="0" lang="en-GB">
                <a:solidFill>
                  <a:srgbClr val="D4E8DD"/>
                </a:solidFill>
                <a:latin typeface="Arial"/>
                <a:ea typeface="Arial"/>
                <a:cs typeface="Arial"/>
              </a:rPr>
              <a:t>Products, official purchasing, sales policy and calculations.</a:t>
            </a:r>
          </a:p>
        </p:txBody>
      </p:sp>
      <p:sp>
        <p:nvSpPr>
          <p:cNvPr id="5" name="">
            <a:extLst>
              <a:ext uri="{FF2B5EF4-FFF2-40B4-BE49-F238E27FC236}">
                <ns2:creationId id="{F68DF54D-E5BD-4144-BF02-CF641CC1EC3A}"/>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FFFFFF"/>
                </a:solidFill>
                <a:latin typeface="Arial"/>
                <a:ea typeface="Arial"/>
                <a:cs typeface="Arial"/>
              </a:defRPr>
            </a:defPPr>
          </a:lstStyle>
          <a:p>
            <a:pPr>
              <a:defRPr sz="2625" b="1">
                <a:solidFill>
                  <a:srgbClr val="FFFFFF"/>
                </a:solidFill>
                <a:latin typeface="Arial"/>
                <a:ea typeface="Arial"/>
                <a:cs typeface="Arial"/>
              </a:defRPr>
            </a:pPr>
            <a:r>
              <a:rPr sz="2625" b="1" lang="en-GB">
                <a:solidFill>
                  <a:srgbClr val="FFFFFF"/>
                </a:solidFill>
                <a:latin typeface="Arial"/>
                <a:ea typeface="Arial"/>
                <a:cs typeface="Arial"/>
              </a:rPr>
              <a:t>Forever Card Club</a:t>
            </a:r>
          </a:p>
        </p:txBody>
      </p:sp>
      <p:sp>
        <p:nvSpPr>
          <p:cNvPr id="6" name="">
            <a:extLst>
              <a:ext uri="{FF2B5EF4-FFF2-40B4-BE49-F238E27FC236}">
                <ns2:creationId id="{FBAF949A-07D7-451F-B687-7E2C03D536B3}"/>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D4E8DD"/>
                </a:solidFill>
                <a:latin typeface="Arial"/>
                <a:ea typeface="Arial"/>
                <a:cs typeface="Arial"/>
              </a:defRPr>
            </a:defPPr>
          </a:lstStyle>
          <a:p>
            <a:pPr>
              <a:defRPr sz="2175" b="0">
                <a:solidFill>
                  <a:srgbClr val="D4E8DD"/>
                </a:solidFill>
                <a:latin typeface="Arial"/>
                <a:ea typeface="Arial"/>
                <a:cs typeface="Arial"/>
              </a:defRPr>
            </a:pPr>
            <a:r>
              <a:rPr sz="2175" b="0" lang="en-GB">
                <a:solidFill>
                  <a:srgbClr val="D4E8DD"/>
                </a:solidFill>
                <a:latin typeface="Arial"/>
                <a:ea typeface="Arial"/>
                <a:cs typeface="Arial"/>
              </a:rPr>
              <a:t>Your workspace for recommendations, contacts, learning and support.</a:t>
            </a:r>
          </a:p>
        </p:txBody>
      </p:sp>
      <p:sp>
        <p:nvSpPr>
          <p:cNvPr id="7" name="">
            <a:extLst>
              <a:ext uri="{FF2B5EF4-FFF2-40B4-BE49-F238E27FC236}">
                <ns2:creationId id="{E0555F00-9647-448C-9424-76B402954AD8}"/>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D4E8DD"/>
                </a:solidFill>
                <a:latin typeface="Arial"/>
                <a:ea typeface="Arial"/>
                <a:cs typeface="Arial"/>
              </a:defRPr>
            </a:defPPr>
          </a:lstStyle>
          <a:p>
            <a:pPr>
              <a:defRPr sz="1650" b="0">
                <a:solidFill>
                  <a:srgbClr val="D4E8DD"/>
                </a:solidFill>
                <a:latin typeface="Arial"/>
                <a:ea typeface="Arial"/>
                <a:cs typeface="Arial"/>
              </a:defRPr>
            </a:pPr>
            <a:r>
              <a:rPr sz="1650" b="0" lang="en-GB">
                <a:solidFill>
                  <a:srgbClr val="D4E8DD"/>
                </a:solidFill>
                <a:latin typeface="Arial"/>
                <a:ea typeface="Arial"/>
                <a:cs typeface="Arial"/>
              </a:rPr>
              <a:t>FCC is our team's independent system. It is not an official Forever application.</a:t>
            </a:r>
          </a:p>
        </p:txBody>
      </p:sp>
    </p:spTree>
    <p:extLst>
      <p:ext uri="{BB962C8B-B14F-4D97-AF65-F5344CB8AC3E}">
        <ns3:creationId val="126074295"/>
      </p:ext>
    </p:extLst>
  </p:cSld>
</p:sld>
</file>

<file path=ppt/slides/slide1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101BC16A-314B-4D63-87BE-75099EBE651E}"/>
              </a:ext>
            </a:extLst>
          </p:cNvPr>
          <p:cNvPicPr>
            <a:picLocks noChangeAspect="1"/>
          </p:cNvPicPr>
          <p:nvPr/>
        </p:nvPicPr>
        <p:blipFill>
          <a:blip r:embed="R96ec4f327d4d4f96"/>
          <a:stretch/>
        </p:blipFill>
        <p:spPr>
          <a:xfrm>
            <a:off x="9867900" y="276061"/>
            <a:ext cx="1695450" cy="438478"/>
          </a:xfrm>
          <a:prstGeom prst="rect">
            <a:avLst/>
          </a:prstGeom>
        </p:spPr>
      </p:pic>
      <p:sp>
        <p:nvSpPr>
          <p:cNvPr id="2" name="">
            <a:extLst>
              <a:ext uri="{FF2B5EF4-FFF2-40B4-BE49-F238E27FC236}">
                <ns2:creationId id="{96C0FEC2-0597-4F16-BB30-8FE640BEF54C}"/>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15</a:t>
            </a:r>
          </a:p>
        </p:txBody>
      </p:sp>
      <p:sp>
        <p:nvSpPr>
          <p:cNvPr id="3" name="Title">
            <a:extLst>
              <a:ext uri="{FF2B5EF4-FFF2-40B4-BE49-F238E27FC236}">
                <ns2:creationId id="{C4C47A17-4BAE-477D-A7D2-C5494BB18311}"/>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Your digital card</a:t>
            </a:r>
          </a:p>
        </p:txBody>
      </p:sp>
      <p:sp>
        <p:nvSpPr>
          <p:cNvPr id="4" name="">
            <a:extLst>
              <a:ext uri="{FF2B5EF4-FFF2-40B4-BE49-F238E27FC236}">
                <ns2:creationId id="{DE9E9B70-73E3-471A-B7FE-01385382147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en-GB">
                <a:solidFill>
                  <a:srgbClr val="148977"/>
                </a:solidFill>
                <a:latin typeface="Arial"/>
                <a:ea typeface="Arial"/>
                <a:cs typeface="Arial"/>
              </a:rPr>
              <a:t>1.</a:t>
            </a:r>
          </a:p>
        </p:txBody>
      </p:sp>
      <p:sp>
        <p:nvSpPr>
          <p:cNvPr id="5" name="">
            <a:extLst>
              <a:ext uri="{FF2B5EF4-FFF2-40B4-BE49-F238E27FC236}">
                <ns2:creationId id="{EA5D95E4-3717-4599-8D18-236CE754C736}"/>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en-GB">
                <a:solidFill>
                  <a:srgbClr val="153F36"/>
                </a:solidFill>
                <a:latin typeface="Arial"/>
                <a:ea typeface="Arial"/>
                <a:cs typeface="Arial"/>
              </a:rPr>
              <a:t>Personal contact</a:t>
            </a:r>
          </a:p>
        </p:txBody>
      </p:sp>
      <p:sp>
        <p:nvSpPr>
          <p:cNvPr id="6" name="">
            <a:extLst>
              <a:ext uri="{FF2B5EF4-FFF2-40B4-BE49-F238E27FC236}">
                <ns2:creationId id="{3C52910B-BE23-448E-BCE0-7FCB4EBEA6D6}"/>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Your name, photo and a way for people to contact you.</a:t>
            </a:r>
          </a:p>
        </p:txBody>
      </p:sp>
      <p:sp>
        <p:nvSpPr>
          <p:cNvPr id="7" name="">
            <a:extLst>
              <a:ext uri="{FF2B5EF4-FFF2-40B4-BE49-F238E27FC236}">
                <ns2:creationId id="{87157C25-E8A9-4655-80D1-71405D608FB7}"/>
              </a:ext>
            </a:extLst>
          </p:cNvPr>
          <p:cNvSpPr>
            <a:spLocks noGrp="1"/>
          </p:cNvSpPr>
          <p:nvPr/>
        </p:nvSpPr>
        <p:spPr>
          <a:xfrm>
            <a:off x="609600" y="3095625"/>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en-GB">
                <a:solidFill>
                  <a:srgbClr val="148977"/>
                </a:solidFill>
                <a:latin typeface="Arial"/>
                <a:ea typeface="Arial"/>
                <a:cs typeface="Arial"/>
              </a:rPr>
              <a:t>2.</a:t>
            </a:r>
          </a:p>
        </p:txBody>
      </p:sp>
      <p:sp>
        <p:nvSpPr>
          <p:cNvPr id="8" name="">
            <a:extLst>
              <a:ext uri="{FF2B5EF4-FFF2-40B4-BE49-F238E27FC236}">
                <ns2:creationId id="{09DDF819-9E51-4A20-8401-B97FBA911693}"/>
              </a:ext>
            </a:extLst>
          </p:cNvPr>
          <p:cNvSpPr>
            <a:spLocks noGrp="1"/>
          </p:cNvSpPr>
          <p:nvPr/>
        </p:nvSpPr>
        <p:spPr>
          <a:xfrm>
            <a:off x="1257300" y="3095625"/>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en-GB">
                <a:solidFill>
                  <a:srgbClr val="153F36"/>
                </a:solidFill>
                <a:latin typeface="Arial"/>
                <a:ea typeface="Arial"/>
                <a:cs typeface="Arial"/>
              </a:rPr>
              <a:t>Useful content</a:t>
            </a:r>
          </a:p>
        </p:txBody>
      </p:sp>
      <p:sp>
        <p:nvSpPr>
          <p:cNvPr id="9" name="">
            <a:extLst>
              <a:ext uri="{FF2B5EF4-FFF2-40B4-BE49-F238E27FC236}">
                <ns2:creationId id="{BD50225C-D510-4BFD-809A-B44813DEDCE5}"/>
              </a:ext>
            </a:extLst>
          </p:cNvPr>
          <p:cNvSpPr>
            <a:spLocks noGrp="1"/>
          </p:cNvSpPr>
          <p:nvPr/>
        </p:nvSpPr>
        <p:spPr>
          <a:xfrm>
            <a:off x="1257300" y="3505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Products and business information you want to share.</a:t>
            </a:r>
          </a:p>
        </p:txBody>
      </p:sp>
      <p:sp>
        <p:nvSpPr>
          <p:cNvPr id="10" name="">
            <a:extLst>
              <a:ext uri="{FF2B5EF4-FFF2-40B4-BE49-F238E27FC236}">
                <ns2:creationId id="{9E10415B-E2F5-4078-8A2C-FD1B2869469C}"/>
              </a:ext>
            </a:extLst>
          </p:cNvPr>
          <p:cNvSpPr>
            <a:spLocks noGrp="1"/>
          </p:cNvSpPr>
          <p:nvPr/>
        </p:nvSpPr>
        <p:spPr>
          <a:xfrm>
            <a:off x="609600" y="42291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en-GB">
                <a:solidFill>
                  <a:srgbClr val="148977"/>
                </a:solidFill>
                <a:latin typeface="Arial"/>
                <a:ea typeface="Arial"/>
                <a:cs typeface="Arial"/>
              </a:rPr>
              <a:t>3.</a:t>
            </a:r>
          </a:p>
        </p:txBody>
      </p:sp>
      <p:sp>
        <p:nvSpPr>
          <p:cNvPr id="11" name="">
            <a:extLst>
              <a:ext uri="{FF2B5EF4-FFF2-40B4-BE49-F238E27FC236}">
                <ns2:creationId id="{01B69A65-A2D9-4BED-93F5-6FE4434AFD3B}"/>
              </a:ext>
            </a:extLst>
          </p:cNvPr>
          <p:cNvSpPr>
            <a:spLocks noGrp="1"/>
          </p:cNvSpPr>
          <p:nvPr/>
        </p:nvSpPr>
        <p:spPr>
          <a:xfrm>
            <a:off x="1257300" y="42291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en-GB">
                <a:solidFill>
                  <a:srgbClr val="153F36"/>
                </a:solidFill>
                <a:latin typeface="Arial"/>
                <a:ea typeface="Arial"/>
                <a:cs typeface="Arial"/>
              </a:rPr>
              <a:t>Forever Web shop</a:t>
            </a:r>
          </a:p>
        </p:txBody>
      </p:sp>
      <p:sp>
        <p:nvSpPr>
          <p:cNvPr id="12" name="">
            <a:extLst>
              <a:ext uri="{FF2B5EF4-FFF2-40B4-BE49-F238E27FC236}">
                <ns2:creationId id="{D2CB6E9D-15B6-4BE1-97AF-B7FD2905CACC}"/>
              </a:ext>
            </a:extLst>
          </p:cNvPr>
          <p:cNvSpPr>
            <a:spLocks noGrp="1"/>
          </p:cNvSpPr>
          <p:nvPr/>
        </p:nvSpPr>
        <p:spPr>
          <a:xfrm>
            <a:off x="1257300" y="46386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A recommendation linked to your Forever ID number.</a:t>
            </a:r>
          </a:p>
        </p:txBody>
      </p:sp>
      <p:sp>
        <p:nvSpPr>
          <p:cNvPr id="13" name="">
            <a:extLst>
              <a:ext uri="{FF2B5EF4-FFF2-40B4-BE49-F238E27FC236}">
                <ns2:creationId id="{A0B246FC-D94D-416D-BD28-5AF3DCBEB6D9}"/>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en-GB">
                <a:solidFill>
                  <a:srgbClr val="526B63"/>
                </a:solidFill>
                <a:latin typeface="Arial"/>
                <a:ea typeface="Arial"/>
                <a:cs typeface="Arial"/>
              </a:rPr>
              <a:t>Edit your card in My card and share your personal link.</a:t>
            </a:r>
          </a:p>
        </p:txBody>
      </p:sp>
    </p:spTree>
    <p:extLst>
      <p:ext uri="{BB962C8B-B14F-4D97-AF65-F5344CB8AC3E}">
        <ns4:creationId val="476486187"/>
      </p:ext>
    </p:extLst>
  </p:cSld>
</p:sld>
</file>

<file path=ppt/slides/slide1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3AC82866-4F1A-473C-B145-078052CC4BB7}"/>
              </a:ext>
            </a:extLst>
          </p:cNvPr>
          <p:cNvPicPr>
            <a:picLocks noChangeAspect="1"/>
          </p:cNvPicPr>
          <p:nvPr/>
        </p:nvPicPr>
        <p:blipFill>
          <a:blip r:embed="Rc17e468844c54e84"/>
          <a:stretch/>
        </p:blipFill>
        <p:spPr>
          <a:xfrm>
            <a:off x="9867900" y="276061"/>
            <a:ext cx="1695450" cy="438478"/>
          </a:xfrm>
          <a:prstGeom prst="rect">
            <a:avLst/>
          </a:prstGeom>
        </p:spPr>
      </p:pic>
      <p:sp>
        <p:nvSpPr>
          <p:cNvPr id="2" name="">
            <a:extLst>
              <a:ext uri="{FF2B5EF4-FFF2-40B4-BE49-F238E27FC236}">
                <ns2:creationId id="{70619AB1-E169-480F-B897-BB94CF101CC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16</a:t>
            </a:r>
          </a:p>
        </p:txBody>
      </p:sp>
      <p:sp>
        <p:nvSpPr>
          <p:cNvPr id="3" name="Title">
            <a:extLst>
              <a:ext uri="{FF2B5EF4-FFF2-40B4-BE49-F238E27FC236}">
                <ns2:creationId id="{2F32543F-6D32-4352-8392-5F2ECBEDC6A8}"/>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Product recommendation</a:t>
            </a:r>
          </a:p>
        </p:txBody>
      </p:sp>
      <p:sp>
        <p:nvSpPr>
          <p:cNvPr id="4" name="">
            <a:extLst>
              <a:ext uri="{FF2B5EF4-FFF2-40B4-BE49-F238E27FC236}">
                <ns2:creationId id="{0F8C843F-A45D-45FF-AF7C-9289C1804CAF}"/>
              </a:ext>
            </a:extLst>
          </p:cNvPr>
          <p:cNvSpPr>
            <a:spLocks noGrp="1"/>
          </p:cNvSpPr>
          <p:nvPr/>
        </p:nvSpPr>
        <p:spPr>
          <a:xfrm>
            <a:off x="609600" y="2152650"/>
            <a:ext cx="5810250" cy="2543175"/>
          </a:xfrm>
          <a:prstGeom prst="rect">
            <a:avLst/>
          </a:prstGeom>
          <a:noFill/>
          <a:ln w="0">
            <a:noFill/>
          </a:ln>
        </p:spPr>
        <p:txBody>
          <a:bodyPr wrap="square" lIns="0" tIns="0" rIns="0" bIns="0" anchor="t">
            <a:noAutofit/>
          </a:bodyPr>
          <a:lstStyle>
            <a:defPPr>
              <a:defRPr sz="3150" b="1">
                <a:solidFill>
                  <a:srgbClr val="153F36"/>
                </a:solidFill>
                <a:latin typeface="Arial"/>
                <a:ea typeface="Arial"/>
                <a:cs typeface="Arial"/>
              </a:defRPr>
            </a:defPPr>
          </a:lstStyle>
          <a:p>
            <a:pPr>
              <a:defRPr sz="3150" b="1">
                <a:solidFill>
                  <a:srgbClr val="153F36"/>
                </a:solidFill>
                <a:latin typeface="Arial"/>
                <a:ea typeface="Arial"/>
                <a:cs typeface="Arial"/>
              </a:defRPr>
            </a:pPr>
            <a:r>
              <a:rPr sz="3150" b="1" lang="en-GB">
                <a:solidFill>
                  <a:srgbClr val="153F36"/>
                </a:solidFill>
                <a:latin typeface="Arial"/>
                <a:ea typeface="Arial"/>
                <a:cs typeface="Arial"/>
              </a:rPr>
              <a:t>Choose a product.</a:t>
            </a:r>
          </a:p>
          <a:p>
            <a:pPr>
              <a:defRPr sz="3150" b="1">
                <a:solidFill>
                  <a:srgbClr val="153F36"/>
                </a:solidFill>
                <a:latin typeface="Arial"/>
                <a:ea typeface="Arial"/>
                <a:cs typeface="Arial"/>
              </a:defRPr>
            </a:pPr>
            <a:r>
              <a:rPr sz="3150" b="1" lang="en-GB">
                <a:solidFill>
                  <a:srgbClr val="153F36"/>
                </a:solidFill>
                <a:latin typeface="Arial"/>
                <a:ea typeface="Arial"/>
                <a:cs typeface="Arial"/>
              </a:rPr>
              <a:t>Adapt the message.</a:t>
            </a:r>
          </a:p>
          <a:p>
            <a:pPr>
              <a:defRPr sz="3150" b="1">
                <a:solidFill>
                  <a:srgbClr val="153F36"/>
                </a:solidFill>
                <a:latin typeface="Arial"/>
                <a:ea typeface="Arial"/>
                <a:cs typeface="Arial"/>
              </a:defRPr>
            </a:pPr>
            <a:r>
              <a:rPr sz="3150" b="1" lang="en-GB">
                <a:solidFill>
                  <a:srgbClr val="153F36"/>
                </a:solidFill>
                <a:latin typeface="Arial"/>
                <a:ea typeface="Arial"/>
                <a:cs typeface="Arial"/>
              </a:rPr>
              <a:t>Share your</a:t>
            </a:r>
          </a:p>
          <a:p>
            <a:pPr>
              <a:defRPr sz="3150" b="1">
                <a:solidFill>
                  <a:srgbClr val="153F36"/>
                </a:solidFill>
                <a:latin typeface="Arial"/>
                <a:ea typeface="Arial"/>
                <a:cs typeface="Arial"/>
              </a:defRPr>
            </a:pPr>
            <a:r>
              <a:rPr sz="3150" b="1" lang="en-GB">
                <a:solidFill>
                  <a:srgbClr val="153F36"/>
                </a:solidFill>
                <a:latin typeface="Arial"/>
                <a:ea typeface="Arial"/>
                <a:cs typeface="Arial"/>
              </a:rPr>
              <a:t>recommendation.</a:t>
            </a:r>
          </a:p>
        </p:txBody>
      </p:sp>
      <p:sp>
        <p:nvSpPr>
          <p:cNvPr id="5" name="">
            <a:extLst>
              <a:ext uri="{FF2B5EF4-FFF2-40B4-BE49-F238E27FC236}">
                <ns2:creationId id="{9618F7B4-8815-4E7A-9AA5-F7752A962CA8}"/>
              </a:ext>
            </a:extLst>
          </p:cNvPr>
          <p:cNvSpPr>
            <a:spLocks noGrp="1"/>
          </p:cNvSpPr>
          <p:nvPr/>
        </p:nvSpPr>
        <p:spPr>
          <a:xfrm>
            <a:off x="609600" y="4962525"/>
            <a:ext cx="5505450" cy="1104900"/>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en-GB">
                <a:solidFill>
                  <a:srgbClr val="526B63"/>
                </a:solidFill>
                <a:latin typeface="Arial"/>
                <a:ea typeface="Arial"/>
                <a:cs typeface="Arial"/>
              </a:rPr>
              <a:t>The purchase is completed in the official shop for the selected market.</a:t>
            </a:r>
          </a:p>
        </p:txBody>
      </p:sp>
      <p:pic>
        <p:nvPicPr>
          <p:cNvPr id="6" name="">
            <a:extLst>
              <a:ext uri="{FF2B5EF4-FFF2-40B4-BE49-F238E27FC236}">
                <ns2:creationId id="{39976A63-FB8D-4AF1-9CE1-E346A83FF05D}"/>
              </a:ext>
            </a:extLst>
          </p:cNvPr>
          <p:cNvPicPr>
            <a:picLocks noChangeAspect="1"/>
          </p:cNvPicPr>
          <p:nvPr/>
        </p:nvPicPr>
        <p:blipFill>
          <a:blip r:embed="R94ff2c7901084e46"/>
          <a:srcRect l="19844" t="9722" r="55156" b="28472"/>
          <a:stretch/>
        </p:blipFill>
        <p:spPr>
          <a:xfrm>
            <a:off x="7286625" y="1695450"/>
            <a:ext cx="3714750" cy="5124450"/>
          </a:xfrm>
          <a:prstGeom prst="rect">
            <a:avLst/>
          </a:prstGeom>
        </p:spPr>
      </p:pic>
      <p:sp>
        <p:nvSpPr>
          <p:cNvPr id="8" name="Interface example"/>
          <p:cNvSpPr>
            <a:spLocks noGrp="1"/>
          </p:cNvSpPr>
          <p:nvPr/>
        </p:nvSpPr>
        <p:spPr>
          <a:xfrm>
            <a:off x="609600" y="6238875"/>
            <a:ext cx="6191250" cy="28575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lgn="l"/>
            <a:r>
              <a:rPr sz="1400" b="0" lang="en-GB" dirty="0">
                <a:solidFill>
                  <a:srgbClr val="526B63"/>
                </a:solidFill>
                <a:latin typeface="Arial"/>
              </a:rPr>
              <a:t>Example of the Croatian FCC interface.</a:t>
            </a:r>
          </a:p>
        </p:txBody>
      </p:sp>
    </p:spTree>
    <p:extLst>
      <p:ext uri="{BB962C8B-B14F-4D97-AF65-F5344CB8AC3E}">
        <ns4:creationId val="881719525"/>
      </p:ext>
    </p:extLst>
  </p:cSld>
</p:sld>
</file>

<file path=ppt/slides/slide1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F86D17C0-D7F3-45EA-967D-967E55EE8F83}"/>
              </a:ext>
            </a:extLst>
          </p:cNvPr>
          <p:cNvPicPr>
            <a:picLocks noChangeAspect="1"/>
          </p:cNvPicPr>
          <p:nvPr/>
        </p:nvPicPr>
        <p:blipFill>
          <a:blip r:embed="R595a642bf0454749"/>
          <a:stretch/>
        </p:blipFill>
        <p:spPr>
          <a:xfrm>
            <a:off x="9867900" y="276061"/>
            <a:ext cx="1695450" cy="438478"/>
          </a:xfrm>
          <a:prstGeom prst="rect">
            <a:avLst/>
          </a:prstGeom>
        </p:spPr>
      </p:pic>
      <p:sp>
        <p:nvSpPr>
          <p:cNvPr id="2" name="">
            <a:extLst>
              <a:ext uri="{FF2B5EF4-FFF2-40B4-BE49-F238E27FC236}">
                <ns2:creationId id="{4CEB6670-C2AA-4467-91EC-97E39F1D73FA}"/>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17</a:t>
            </a:r>
          </a:p>
        </p:txBody>
      </p:sp>
      <p:sp>
        <p:nvSpPr>
          <p:cNvPr id="3" name="Title">
            <a:extLst>
              <a:ext uri="{FF2B5EF4-FFF2-40B4-BE49-F238E27FC236}">
                <ns2:creationId id="{40317049-7FB1-4A36-BA93-DFB89F66E1F3}"/>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Business partnership and starter pack</a:t>
            </a:r>
          </a:p>
        </p:txBody>
      </p:sp>
      <p:sp>
        <p:nvSpPr>
          <p:cNvPr id="4" name="">
            <a:extLst>
              <a:ext uri="{FF2B5EF4-FFF2-40B4-BE49-F238E27FC236}">
                <ns2:creationId id="{423E083F-38C2-4E49-88D7-BD3CEBE4AA0C}"/>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en-GB">
                <a:solidFill>
                  <a:srgbClr val="148977"/>
                </a:solidFill>
                <a:latin typeface="Arial"/>
                <a:ea typeface="Arial"/>
                <a:cs typeface="Arial"/>
              </a:rPr>
              <a:t>1.</a:t>
            </a:r>
          </a:p>
        </p:txBody>
      </p:sp>
      <p:sp>
        <p:nvSpPr>
          <p:cNvPr id="5" name="">
            <a:extLst>
              <a:ext uri="{FF2B5EF4-FFF2-40B4-BE49-F238E27FC236}">
                <ns2:creationId id="{B7C7534D-288A-42A5-83E7-F29F37899079}"/>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en-GB">
                <a:solidFill>
                  <a:srgbClr val="153F36"/>
                </a:solidFill>
                <a:latin typeface="Arial"/>
                <a:ea typeface="Arial"/>
                <a:cs typeface="Arial"/>
              </a:rPr>
              <a:t>Business information</a:t>
            </a:r>
          </a:p>
        </p:txBody>
      </p:sp>
      <p:sp>
        <p:nvSpPr>
          <p:cNvPr id="6" name="">
            <a:extLst>
              <a:ext uri="{FF2B5EF4-FFF2-40B4-BE49-F238E27FC236}">
                <ns2:creationId id="{AD6CE61F-E3C0-4E6E-8FEE-073F384D663E}"/>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An overview of the possibilities before making a decision.</a:t>
            </a:r>
          </a:p>
        </p:txBody>
      </p:sp>
      <p:sp>
        <p:nvSpPr>
          <p:cNvPr id="7" name="">
            <a:extLst>
              <a:ext uri="{FF2B5EF4-FFF2-40B4-BE49-F238E27FC236}">
                <ns2:creationId id="{7123A8D0-039A-4339-9BAB-CFD9A4CDFA90}"/>
              </a:ext>
            </a:extLst>
          </p:cNvPr>
          <p:cNvSpPr>
            <a:spLocks noGrp="1"/>
          </p:cNvSpPr>
          <p:nvPr/>
        </p:nvSpPr>
        <p:spPr>
          <a:xfrm>
            <a:off x="609600" y="3114675"/>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en-GB">
                <a:solidFill>
                  <a:srgbClr val="148977"/>
                </a:solidFill>
                <a:latin typeface="Arial"/>
                <a:ea typeface="Arial"/>
                <a:cs typeface="Arial"/>
              </a:rPr>
              <a:t>2.</a:t>
            </a:r>
          </a:p>
        </p:txBody>
      </p:sp>
      <p:sp>
        <p:nvSpPr>
          <p:cNvPr id="8" name="">
            <a:extLst>
              <a:ext uri="{FF2B5EF4-FFF2-40B4-BE49-F238E27FC236}">
                <ns2:creationId id="{0846DCA2-8253-49B5-A450-922F0FC34097}"/>
              </a:ext>
            </a:extLst>
          </p:cNvPr>
          <p:cNvSpPr>
            <a:spLocks noGrp="1"/>
          </p:cNvSpPr>
          <p:nvPr/>
        </p:nvSpPr>
        <p:spPr>
          <a:xfrm>
            <a:off x="1257300" y="3114675"/>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en-GB">
                <a:solidFill>
                  <a:srgbClr val="153F36"/>
                </a:solidFill>
                <a:latin typeface="Arial"/>
                <a:ea typeface="Arial"/>
                <a:cs typeface="Arial"/>
              </a:rPr>
              <a:t>Starter pack</a:t>
            </a:r>
          </a:p>
        </p:txBody>
      </p:sp>
      <p:sp>
        <p:nvSpPr>
          <p:cNvPr id="9" name="">
            <a:extLst>
              <a:ext uri="{FF2B5EF4-FFF2-40B4-BE49-F238E27FC236}">
                <ns2:creationId id="{23B5AF94-FCC0-4FD5-97DB-CA7ECAF7E006}"/>
              </a:ext>
            </a:extLst>
          </p:cNvPr>
          <p:cNvSpPr>
            <a:spLocks noGrp="1"/>
          </p:cNvSpPr>
          <p:nvPr/>
        </p:nvSpPr>
        <p:spPr>
          <a:xfrm>
            <a:off x="1257300" y="35242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A link to the official local process.</a:t>
            </a:r>
          </a:p>
        </p:txBody>
      </p:sp>
      <p:sp>
        <p:nvSpPr>
          <p:cNvPr id="10" name="">
            <a:extLst>
              <a:ext uri="{FF2B5EF4-FFF2-40B4-BE49-F238E27FC236}">
                <ns2:creationId id="{44091B20-92BD-4F96-81CB-4C2569DDA57E}"/>
              </a:ext>
            </a:extLst>
          </p:cNvPr>
          <p:cNvSpPr>
            <a:spLocks noGrp="1"/>
          </p:cNvSpPr>
          <p:nvPr/>
        </p:nvSpPr>
        <p:spPr>
          <a:xfrm>
            <a:off x="609600" y="42672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en-GB">
                <a:solidFill>
                  <a:srgbClr val="148977"/>
                </a:solidFill>
                <a:latin typeface="Arial"/>
                <a:ea typeface="Arial"/>
                <a:cs typeface="Arial"/>
              </a:rPr>
              <a:t>3.</a:t>
            </a:r>
          </a:p>
        </p:txBody>
      </p:sp>
      <p:sp>
        <p:nvSpPr>
          <p:cNvPr id="11" name="">
            <a:extLst>
              <a:ext uri="{FF2B5EF4-FFF2-40B4-BE49-F238E27FC236}">
                <ns2:creationId id="{FB3A53A3-847D-42D5-BE6A-327E911D5457}"/>
              </a:ext>
            </a:extLst>
          </p:cNvPr>
          <p:cNvSpPr>
            <a:spLocks noGrp="1"/>
          </p:cNvSpPr>
          <p:nvPr/>
        </p:nvSpPr>
        <p:spPr>
          <a:xfrm>
            <a:off x="1257300" y="42672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en-GB">
                <a:solidFill>
                  <a:srgbClr val="153F36"/>
                </a:solidFill>
                <a:latin typeface="Arial"/>
                <a:ea typeface="Arial"/>
                <a:cs typeface="Arial"/>
              </a:rPr>
              <a:t>Your recommendation</a:t>
            </a:r>
          </a:p>
        </p:txBody>
      </p:sp>
      <p:sp>
        <p:nvSpPr>
          <p:cNvPr id="12" name="">
            <a:extLst>
              <a:ext uri="{FF2B5EF4-FFF2-40B4-BE49-F238E27FC236}">
                <ns2:creationId id="{CD6900A3-9105-4B4A-8204-3F1851783DA4}"/>
              </a:ext>
            </a:extLst>
          </p:cNvPr>
          <p:cNvSpPr>
            <a:spLocks noGrp="1"/>
          </p:cNvSpPr>
          <p:nvPr/>
        </p:nvSpPr>
        <p:spPr>
          <a:xfrm>
            <a:off x="1257300" y="4676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Linked to your Forever ID under the market's rules.</a:t>
            </a:r>
          </a:p>
        </p:txBody>
      </p:sp>
      <p:sp>
        <p:nvSpPr>
          <p:cNvPr id="13" name="">
            <a:extLst>
              <a:ext uri="{FF2B5EF4-FFF2-40B4-BE49-F238E27FC236}">
                <ns2:creationId id="{86D648FA-AB6C-449A-89C6-E053C9F302EA}"/>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en-GB">
                <a:solidFill>
                  <a:srgbClr val="526B63"/>
                </a:solidFill>
                <a:latin typeface="Arial"/>
                <a:ea typeface="Arial"/>
                <a:cs typeface="Arial"/>
              </a:rPr>
              <a:t>Before deciding, review the pack contents, price and business terms together.</a:t>
            </a:r>
          </a:p>
        </p:txBody>
      </p:sp>
    </p:spTree>
    <p:extLst>
      <p:ext uri="{BB962C8B-B14F-4D97-AF65-F5344CB8AC3E}">
        <ns4:creationId val="1985799901"/>
      </p:ext>
    </p:extLst>
  </p:cSld>
</p:sld>
</file>

<file path=ppt/slides/slide1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36D3208E-D467-45B6-B84F-993282DA2C05}"/>
              </a:ext>
            </a:extLst>
          </p:cNvPr>
          <p:cNvPicPr>
            <a:picLocks noChangeAspect="1"/>
          </p:cNvPicPr>
          <p:nvPr/>
        </p:nvPicPr>
        <p:blipFill>
          <a:blip r:embed="Rcc997d641f674b2e"/>
          <a:stretch/>
        </p:blipFill>
        <p:spPr>
          <a:xfrm>
            <a:off x="9867900" y="276061"/>
            <a:ext cx="1695450" cy="438478"/>
          </a:xfrm>
          <a:prstGeom prst="rect">
            <a:avLst/>
          </a:prstGeom>
        </p:spPr>
      </p:pic>
      <p:sp>
        <p:nvSpPr>
          <p:cNvPr id="2" name="">
            <a:extLst>
              <a:ext uri="{FF2B5EF4-FFF2-40B4-BE49-F238E27FC236}">
                <ns2:creationId id="{350745C5-7885-44C5-A038-D3DF1BE3084D}"/>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18</a:t>
            </a:r>
          </a:p>
        </p:txBody>
      </p:sp>
      <p:sp>
        <p:nvSpPr>
          <p:cNvPr id="3" name="Title">
            <a:extLst>
              <a:ext uri="{FF2B5EF4-FFF2-40B4-BE49-F238E27FC236}">
                <ns2:creationId id="{716B21D9-4588-41FE-B7DE-88EE1983E4B0}"/>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Contacts and agreed follow ups</a:t>
            </a:r>
          </a:p>
        </p:txBody>
      </p:sp>
      <p:sp>
        <p:nvSpPr>
          <p:cNvPr id="4" name="">
            <a:extLst>
              <a:ext uri="{FF2B5EF4-FFF2-40B4-BE49-F238E27FC236}">
                <ns2:creationId id="{35A73B73-CF45-46EB-A7C8-ADD62F54412B}"/>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en-GB">
                <a:solidFill>
                  <a:srgbClr val="148977"/>
                </a:solidFill>
                <a:latin typeface="Arial"/>
                <a:ea typeface="Arial"/>
                <a:cs typeface="Arial"/>
              </a:rPr>
              <a:t>1.</a:t>
            </a:r>
          </a:p>
        </p:txBody>
      </p:sp>
      <p:sp>
        <p:nvSpPr>
          <p:cNvPr id="5" name="">
            <a:extLst>
              <a:ext uri="{FF2B5EF4-FFF2-40B4-BE49-F238E27FC236}">
                <ns2:creationId id="{2EA067BA-7EDF-4565-9395-E5B2E840046D}"/>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en-GB">
                <a:solidFill>
                  <a:srgbClr val="153F36"/>
                </a:solidFill>
                <a:latin typeface="Arial"/>
                <a:ea typeface="Arial"/>
                <a:cs typeface="Arial"/>
              </a:rPr>
              <a:t>Record the reason for interest</a:t>
            </a:r>
          </a:p>
        </p:txBody>
      </p:sp>
      <p:sp>
        <p:nvSpPr>
          <p:cNvPr id="6" name="">
            <a:extLst>
              <a:ext uri="{FF2B5EF4-FFF2-40B4-BE49-F238E27FC236}">
                <ns2:creationId id="{174972BC-F64E-4F59-881A-3ADD61DB6C4F}"/>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A product, business opportunity or selected webinar.</a:t>
            </a:r>
          </a:p>
        </p:txBody>
      </p:sp>
      <p:sp>
        <p:nvSpPr>
          <p:cNvPr id="7" name="">
            <a:extLst>
              <a:ext uri="{FF2B5EF4-FFF2-40B4-BE49-F238E27FC236}">
                <ns2:creationId id="{A980A2D7-D029-4CA9-98EA-E1E24BDC96E8}"/>
              </a:ext>
            </a:extLst>
          </p:cNvPr>
          <p:cNvSpPr>
            <a:spLocks noGrp="1"/>
          </p:cNvSpPr>
          <p:nvPr/>
        </p:nvSpPr>
        <p:spPr>
          <a:xfrm>
            <a:off x="609600" y="3133725"/>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en-GB">
                <a:solidFill>
                  <a:srgbClr val="148977"/>
                </a:solidFill>
                <a:latin typeface="Arial"/>
                <a:ea typeface="Arial"/>
                <a:cs typeface="Arial"/>
              </a:rPr>
              <a:t>2.</a:t>
            </a:r>
          </a:p>
        </p:txBody>
      </p:sp>
      <p:sp>
        <p:nvSpPr>
          <p:cNvPr id="8" name="">
            <a:extLst>
              <a:ext uri="{FF2B5EF4-FFF2-40B4-BE49-F238E27FC236}">
                <ns2:creationId id="{21F348C9-ADAE-4A31-9086-7382091A7469}"/>
              </a:ext>
            </a:extLst>
          </p:cNvPr>
          <p:cNvSpPr>
            <a:spLocks noGrp="1"/>
          </p:cNvSpPr>
          <p:nvPr/>
        </p:nvSpPr>
        <p:spPr>
          <a:xfrm>
            <a:off x="1257300" y="3133725"/>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en-GB">
                <a:solidFill>
                  <a:srgbClr val="153F36"/>
                </a:solidFill>
                <a:latin typeface="Arial"/>
                <a:ea typeface="Arial"/>
                <a:cs typeface="Arial"/>
              </a:rPr>
              <a:t>Save the agreement</a:t>
            </a:r>
          </a:p>
        </p:txBody>
      </p:sp>
      <p:sp>
        <p:nvSpPr>
          <p:cNvPr id="9" name="">
            <a:extLst>
              <a:ext uri="{FF2B5EF4-FFF2-40B4-BE49-F238E27FC236}">
                <ns2:creationId id="{1939F4C9-7AC8-4E57-95EE-A8ED90B8F700}"/>
              </a:ext>
            </a:extLst>
          </p:cNvPr>
          <p:cNvSpPr>
            <a:spLocks noGrp="1"/>
          </p:cNvSpPr>
          <p:nvPr/>
        </p:nvSpPr>
        <p:spPr>
          <a:xfrm>
            <a:off x="1257300" y="35433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What you discussed and when you will contact them again.</a:t>
            </a:r>
          </a:p>
        </p:txBody>
      </p:sp>
      <p:sp>
        <p:nvSpPr>
          <p:cNvPr id="10" name="">
            <a:extLst>
              <a:ext uri="{FF2B5EF4-FFF2-40B4-BE49-F238E27FC236}">
                <ns2:creationId id="{1FB78878-179B-4961-98D8-1E538F979850}"/>
              </a:ext>
            </a:extLst>
          </p:cNvPr>
          <p:cNvSpPr>
            <a:spLocks noGrp="1"/>
          </p:cNvSpPr>
          <p:nvPr/>
        </p:nvSpPr>
        <p:spPr>
          <a:xfrm>
            <a:off x="609600" y="430530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en-GB">
                <a:solidFill>
                  <a:srgbClr val="148977"/>
                </a:solidFill>
                <a:latin typeface="Arial"/>
                <a:ea typeface="Arial"/>
                <a:cs typeface="Arial"/>
              </a:rPr>
              <a:t>3.</a:t>
            </a:r>
          </a:p>
        </p:txBody>
      </p:sp>
      <p:sp>
        <p:nvSpPr>
          <p:cNvPr id="11" name="">
            <a:extLst>
              <a:ext uri="{FF2B5EF4-FFF2-40B4-BE49-F238E27FC236}">
                <ns2:creationId id="{069C8E17-B1D6-4228-B6CE-91556722565C}"/>
              </a:ext>
            </a:extLst>
          </p:cNvPr>
          <p:cNvSpPr>
            <a:spLocks noGrp="1"/>
          </p:cNvSpPr>
          <p:nvPr/>
        </p:nvSpPr>
        <p:spPr>
          <a:xfrm>
            <a:off x="1257300" y="430530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en-GB">
                <a:solidFill>
                  <a:srgbClr val="153F36"/>
                </a:solidFill>
                <a:latin typeface="Arial"/>
                <a:ea typeface="Arial"/>
                <a:cs typeface="Arial"/>
              </a:rPr>
              <a:t>Confirm the actual action</a:t>
            </a:r>
          </a:p>
        </p:txBody>
      </p:sp>
      <p:sp>
        <p:nvSpPr>
          <p:cNvPr id="12" name="">
            <a:extLst>
              <a:ext uri="{FF2B5EF4-FFF2-40B4-BE49-F238E27FC236}">
                <ns2:creationId id="{1A8CF46B-3238-4DDE-9E94-1ABCB125750F}"/>
              </a:ext>
            </a:extLst>
          </p:cNvPr>
          <p:cNvSpPr>
            <a:spLocks noGrp="1"/>
          </p:cNvSpPr>
          <p:nvPr/>
        </p:nvSpPr>
        <p:spPr>
          <a:xfrm>
            <a:off x="1257300" y="47148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Drafts and messages actually sent have different statuses.</a:t>
            </a:r>
          </a:p>
        </p:txBody>
      </p:sp>
      <p:sp>
        <p:nvSpPr>
          <p:cNvPr id="13" name="">
            <a:extLst>
              <a:ext uri="{FF2B5EF4-FFF2-40B4-BE49-F238E27FC236}">
                <ns2:creationId id="{2F5FF45C-FE0C-45D2-9A2F-99DE8DEC9997}"/>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en-GB">
                <a:solidFill>
                  <a:srgbClr val="526B63"/>
                </a:solidFill>
                <a:latin typeface="Arial"/>
                <a:ea typeface="Arial"/>
                <a:cs typeface="Arial"/>
              </a:rPr>
              <a:t>Example: Ana wants product details. You agreed to talk on Thursday.</a:t>
            </a:r>
          </a:p>
        </p:txBody>
      </p:sp>
    </p:spTree>
    <p:extLst>
      <p:ext uri="{BB962C8B-B14F-4D97-AF65-F5344CB8AC3E}">
        <ns4:creationId val="449993391"/>
      </p:ext>
    </p:extLst>
  </p:cSld>
</p:sld>
</file>

<file path=ppt/slides/slide1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5ADCFCC7-A789-4960-978D-09BFFD23F46C}"/>
              </a:ext>
            </a:extLst>
          </p:cNvPr>
          <p:cNvPicPr>
            <a:picLocks noChangeAspect="1"/>
          </p:cNvPicPr>
          <p:nvPr/>
        </p:nvPicPr>
        <p:blipFill>
          <a:blip r:embed="R64b74fa4d54445c9"/>
          <a:stretch/>
        </p:blipFill>
        <p:spPr>
          <a:xfrm>
            <a:off x="9867900" y="276061"/>
            <a:ext cx="1695450" cy="438478"/>
          </a:xfrm>
          <a:prstGeom prst="rect">
            <a:avLst/>
          </a:prstGeom>
        </p:spPr>
      </p:pic>
      <p:sp>
        <p:nvSpPr>
          <p:cNvPr id="2" name="">
            <a:extLst>
              <a:ext uri="{FF2B5EF4-FFF2-40B4-BE49-F238E27FC236}">
                <ns2:creationId id="{FAC00C27-9DC4-4087-B955-2DAE7D6A8F6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19</a:t>
            </a:r>
          </a:p>
        </p:txBody>
      </p:sp>
      <p:sp>
        <p:nvSpPr>
          <p:cNvPr id="3" name="Title">
            <a:extLst>
              <a:ext uri="{FF2B5EF4-FFF2-40B4-BE49-F238E27FC236}">
                <ns2:creationId id="{DF82E299-944A-4628-8F4C-EE73BB76D6E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AI Coach for your next action</a:t>
            </a:r>
          </a:p>
        </p:txBody>
      </p:sp>
      <p:sp>
        <p:nvSpPr>
          <p:cNvPr id="4" name="">
            <a:extLst>
              <a:ext uri="{FF2B5EF4-FFF2-40B4-BE49-F238E27FC236}">
                <ns2:creationId id="{4618C986-4CF7-4F17-A8A6-90697A6FBD9C}"/>
              </a:ext>
            </a:extLst>
          </p:cNvPr>
          <p:cNvSpPr>
            <a:spLocks noGrp="1"/>
          </p:cNvSpPr>
          <p:nvPr/>
        </p:nvSpPr>
        <p:spPr>
          <a:xfrm>
            <a:off x="609600" y="2171700"/>
            <a:ext cx="10620375" cy="1905000"/>
          </a:xfrm>
          <a:prstGeom prst="rect">
            <a:avLst/>
          </a:prstGeom>
          <a:noFill/>
          <a:ln w="0">
            <a:noFill/>
          </a:ln>
        </p:spPr>
        <p:txBody>
          <a:bodyPr wrap="square" lIns="0" tIns="0" rIns="0" bIns="0" anchor="t">
            <a:noAutofit/>
          </a:bodyPr>
          <a:lstStyle>
            <a:defPPr>
              <a:defRPr sz="3150" b="1">
                <a:solidFill>
                  <a:srgbClr val="153F36"/>
                </a:solidFill>
                <a:latin typeface="Arial"/>
                <a:ea typeface="Arial"/>
                <a:cs typeface="Arial"/>
              </a:defRPr>
            </a:defPPr>
          </a:lstStyle>
          <a:p>
            <a:pPr>
              <a:defRPr sz="3150" b="1">
                <a:solidFill>
                  <a:srgbClr val="153F36"/>
                </a:solidFill>
                <a:latin typeface="Arial"/>
                <a:ea typeface="Arial"/>
                <a:cs typeface="Arial"/>
              </a:defRPr>
            </a:pPr>
            <a:r>
              <a:rPr sz="3150" b="1" lang="en-GB">
                <a:solidFill>
                  <a:srgbClr val="153F36"/>
                </a:solidFill>
                <a:latin typeface="Arial"/>
                <a:ea typeface="Arial"/>
                <a:cs typeface="Arial"/>
              </a:rPr>
              <a:t>“Ana wants to know more about the product.</a:t>
            </a:r>
          </a:p>
          <a:p>
            <a:pPr>
              <a:defRPr sz="3150" b="1">
                <a:solidFill>
                  <a:srgbClr val="153F36"/>
                </a:solidFill>
                <a:latin typeface="Arial"/>
                <a:ea typeface="Arial"/>
                <a:cs typeface="Arial"/>
              </a:defRPr>
            </a:pPr>
            <a:r>
              <a:rPr sz="3150" b="1" lang="en-GB">
                <a:solidFill>
                  <a:srgbClr val="153F36"/>
                </a:solidFill>
                <a:latin typeface="Arial"/>
                <a:ea typeface="Arial"/>
                <a:cs typeface="Arial"/>
              </a:rPr>
              <a:t>Help me write a short message</a:t>
            </a:r>
          </a:p>
          <a:p>
            <a:pPr>
              <a:defRPr sz="3150" b="1">
                <a:solidFill>
                  <a:srgbClr val="153F36"/>
                </a:solidFill>
                <a:latin typeface="Arial"/>
                <a:ea typeface="Arial"/>
                <a:cs typeface="Arial"/>
              </a:defRPr>
            </a:pPr>
            <a:r>
              <a:rPr sz="3150" b="1" lang="en-GB">
                <a:solidFill>
                  <a:srgbClr val="153F36"/>
                </a:solidFill>
                <a:latin typeface="Arial"/>
                <a:ea typeface="Arial"/>
                <a:cs typeface="Arial"/>
              </a:rPr>
              <a:t>and suggest the next conversation.”</a:t>
            </a:r>
          </a:p>
        </p:txBody>
      </p:sp>
      <p:sp>
        <p:nvSpPr>
          <p:cNvPr id="5" name="">
            <a:extLst>
              <a:ext uri="{FF2B5EF4-FFF2-40B4-BE49-F238E27FC236}">
                <ns2:creationId id="{7A79F3E1-BCA2-4DD5-8614-AB0D88B13E50}"/>
              </a:ext>
            </a:extLst>
          </p:cNvPr>
          <p:cNvSpPr>
            <a:spLocks noGrp="1"/>
          </p:cNvSpPr>
          <p:nvPr/>
        </p:nvSpPr>
        <p:spPr>
          <a:xfrm>
            <a:off x="609600" y="4429125"/>
            <a:ext cx="9810750" cy="952500"/>
          </a:xfrm>
          <a:prstGeom prst="rect">
            <a:avLst/>
          </a:prstGeom>
          <a:noFill/>
          <a:ln w="0">
            <a:noFill/>
          </a:ln>
        </p:spPr>
        <p:txBody>
          <a:bodyPr wrap="square" lIns="0" tIns="0" rIns="0" bIns="0" anchor="t">
            <a:noAutofit/>
          </a:bodyPr>
          <a:lstStyle>
            <a:defPPr>
              <a:defRPr sz="2400" b="0">
                <a:solidFill>
                  <a:srgbClr val="526B63"/>
                </a:solidFill>
                <a:latin typeface="Arial"/>
                <a:ea typeface="Arial"/>
                <a:cs typeface="Arial"/>
              </a:defRPr>
            </a:defPPr>
          </a:lstStyle>
          <a:p>
            <a:pPr>
              <a:defRPr sz="2400" b="0">
                <a:solidFill>
                  <a:srgbClr val="526B63"/>
                </a:solidFill>
                <a:latin typeface="Arial"/>
                <a:ea typeface="Arial"/>
                <a:cs typeface="Arial"/>
              </a:defRPr>
            </a:pPr>
            <a:r>
              <a:rPr sz="2400" b="0" lang="en-GB">
                <a:solidFill>
                  <a:srgbClr val="526B63"/>
                </a:solidFill>
                <a:latin typeface="Arial"/>
                <a:ea typeface="Arial"/>
                <a:cs typeface="Arial"/>
              </a:rPr>
              <a:t>Review the generated text and adapt it to the way you speak.</a:t>
            </a:r>
          </a:p>
        </p:txBody>
      </p:sp>
      <p:sp>
        <p:nvSpPr>
          <p:cNvPr id="6" name="">
            <a:extLst>
              <a:ext uri="{FF2B5EF4-FFF2-40B4-BE49-F238E27FC236}">
                <ns2:creationId id="{22416B2D-1F11-433C-BBC2-0F785465E81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en-GB">
                <a:solidFill>
                  <a:srgbClr val="526B63"/>
                </a:solidFill>
                <a:latin typeface="Arial"/>
                <a:ea typeface="Arial"/>
                <a:cs typeface="Arial"/>
              </a:rPr>
              <a:t>PRO feature. You decide what to send and confirm actual sending.</a:t>
            </a:r>
          </a:p>
        </p:txBody>
      </p:sp>
    </p:spTree>
    <p:extLst>
      <p:ext uri="{BB962C8B-B14F-4D97-AF65-F5344CB8AC3E}">
        <ns4:creationId val="1346486136"/>
      </p:ext>
    </p:extLst>
  </p:cSld>
</p:sld>
</file>

<file path=ppt/slides/slide2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FF8A0D6A-54B6-4B2D-9DB0-C5BDDF808E3D}"/>
              </a:ext>
            </a:extLst>
          </p:cNvPr>
          <p:cNvPicPr>
            <a:picLocks noChangeAspect="1"/>
          </p:cNvPicPr>
          <p:nvPr/>
        </p:nvPicPr>
        <p:blipFill>
          <a:blip r:embed="R5343d6ff4c174578"/>
          <a:stretch/>
        </p:blipFill>
        <p:spPr>
          <a:xfrm>
            <a:off x="9867900" y="276061"/>
            <a:ext cx="1695450" cy="438478"/>
          </a:xfrm>
          <a:prstGeom prst="rect">
            <a:avLst/>
          </a:prstGeom>
        </p:spPr>
      </p:pic>
      <p:sp>
        <p:nvSpPr>
          <p:cNvPr id="2" name="">
            <a:extLst>
              <a:ext uri="{FF2B5EF4-FFF2-40B4-BE49-F238E27FC236}">
                <ns2:creationId id="{E6769AB0-AB42-4284-BB52-4656C71D4B12}"/>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20</a:t>
            </a:r>
          </a:p>
        </p:txBody>
      </p:sp>
      <p:sp>
        <p:nvSpPr>
          <p:cNvPr id="3" name="Title">
            <a:extLst>
              <a:ext uri="{FF2B5EF4-FFF2-40B4-BE49-F238E27FC236}">
                <ns2:creationId id="{90491E5F-0446-4BAA-B6BE-4190663616A3}"/>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My path: guided daily work</a:t>
            </a:r>
          </a:p>
        </p:txBody>
      </p:sp>
      <p:sp>
        <p:nvSpPr>
          <p:cNvPr id="4" name="">
            <a:extLst>
              <a:ext uri="{FF2B5EF4-FFF2-40B4-BE49-F238E27FC236}">
                <ns2:creationId id="{92687A41-C742-4378-AD11-49975B1C34BB}"/>
              </a:ext>
            </a:extLst>
          </p:cNvPr>
          <p:cNvSpPr>
            <a:spLocks noGrp="1"/>
          </p:cNvSpPr>
          <p:nvPr/>
        </p:nvSpPr>
        <p:spPr>
          <a:xfrm>
            <a:off x="609600" y="2076450"/>
            <a:ext cx="3333750" cy="1428750"/>
          </a:xfrm>
          <a:prstGeom prst="rect">
            <a:avLst/>
          </a:prstGeom>
          <a:noFill/>
          <a:ln w="0">
            <a:noFill/>
          </a:ln>
        </p:spPr>
        <p:txBody>
          <a:bodyPr wrap="square" lIns="0" tIns="0" rIns="0" bIns="0" anchor="t">
            <a:noAutofit/>
          </a:bodyPr>
          <a:lstStyle>
            <a:defPPr>
              <a:defRPr sz="8400" b="1">
                <a:solidFill>
                  <a:srgbClr val="153F36"/>
                </a:solidFill>
                <a:latin typeface="Arial"/>
                <a:ea typeface="Arial"/>
                <a:cs typeface="Arial"/>
              </a:defRPr>
            </a:defPPr>
          </a:lstStyle>
          <a:p>
            <a:pPr>
              <a:defRPr sz="8400" b="1">
                <a:solidFill>
                  <a:srgbClr val="153F36"/>
                </a:solidFill>
                <a:latin typeface="Arial"/>
                <a:ea typeface="Arial"/>
                <a:cs typeface="Arial"/>
              </a:defRPr>
            </a:pPr>
            <a:r>
              <a:rPr sz="8400" b="1" lang="en-GB">
                <a:solidFill>
                  <a:srgbClr val="153F36"/>
                </a:solidFill>
                <a:latin typeface="Arial"/>
                <a:ea typeface="Arial"/>
                <a:cs typeface="Arial"/>
              </a:rPr>
              <a:t>90</a:t>
            </a:r>
          </a:p>
        </p:txBody>
      </p:sp>
      <p:sp>
        <p:nvSpPr>
          <p:cNvPr id="5" name="">
            <a:extLst>
              <a:ext uri="{FF2B5EF4-FFF2-40B4-BE49-F238E27FC236}">
                <ns2:creationId id="{ADADDF67-C3F1-4410-80F0-92B1ADC7D175}"/>
              </a:ext>
            </a:extLst>
          </p:cNvPr>
          <p:cNvSpPr>
            <a:spLocks noGrp="1"/>
          </p:cNvSpPr>
          <p:nvPr/>
        </p:nvSpPr>
        <p:spPr>
          <a:xfrm>
            <a:off x="4038600" y="2343150"/>
            <a:ext cx="7010400" cy="1066800"/>
          </a:xfrm>
          <a:prstGeom prst="rect">
            <a:avLst/>
          </a:prstGeom>
          <a:noFill/>
          <a:ln w="0">
            <a:noFill/>
          </a:ln>
        </p:spPr>
        <p:txBody>
          <a:bodyPr wrap="square" lIns="0" tIns="0" rIns="0" bIns="0" anchor="t">
            <a:noAutofit/>
          </a:bodyPr>
          <a:lstStyle>
            <a:defPPr>
              <a:defRPr sz="3225" b="1">
                <a:solidFill>
                  <a:srgbClr val="153F36"/>
                </a:solidFill>
                <a:latin typeface="Arial"/>
                <a:ea typeface="Arial"/>
                <a:cs typeface="Arial"/>
              </a:defRPr>
            </a:defPPr>
          </a:lstStyle>
          <a:p>
            <a:pPr>
              <a:defRPr sz="3225" b="1">
                <a:solidFill>
                  <a:srgbClr val="153F36"/>
                </a:solidFill>
                <a:latin typeface="Arial"/>
                <a:ea typeface="Arial"/>
                <a:cs typeface="Arial"/>
              </a:defRPr>
            </a:pPr>
            <a:r>
              <a:rPr sz="3225" b="1" lang="en-GB">
                <a:solidFill>
                  <a:srgbClr val="153F36"/>
                </a:solidFill>
                <a:latin typeface="Arial"/>
                <a:ea typeface="Arial"/>
                <a:cs typeface="Arial"/>
              </a:rPr>
              <a:t>Steps to learn through actual actions</a:t>
            </a:r>
          </a:p>
        </p:txBody>
      </p:sp>
      <p:sp>
        <p:nvSpPr>
          <p:cNvPr id="6" name="">
            <a:extLst>
              <a:ext uri="{FF2B5EF4-FFF2-40B4-BE49-F238E27FC236}">
                <ns2:creationId id="{7C5AB490-C659-4C9B-B69E-DD904A82A66E}"/>
              </a:ext>
            </a:extLst>
          </p:cNvPr>
          <p:cNvSpPr>
            <a:spLocks noGrp="1"/>
          </p:cNvSpPr>
          <p:nvPr/>
        </p:nvSpPr>
        <p:spPr>
          <a:xfrm>
            <a:off x="609600" y="4105275"/>
            <a:ext cx="10382250" cy="857250"/>
          </a:xfrm>
          <a:prstGeom prst="rect">
            <a:avLst/>
          </a:prstGeom>
          <a:noFill/>
          <a:ln w="0">
            <a:noFill/>
          </a:ln>
        </p:spPr>
        <p:txBody>
          <a:bodyPr wrap="square" lIns="0" tIns="0" rIns="0" bIns="0" anchor="t">
            <a:noAutofit/>
          </a:bodyPr>
          <a:lstStyle>
            <a:defPPr>
              <a:defRPr sz="2475" b="0">
                <a:solidFill>
                  <a:srgbClr val="526B63"/>
                </a:solidFill>
                <a:latin typeface="Arial"/>
                <a:ea typeface="Arial"/>
                <a:cs typeface="Arial"/>
              </a:defRPr>
            </a:defPPr>
          </a:lstStyle>
          <a:p>
            <a:pPr>
              <a:defRPr sz="2475" b="0">
                <a:solidFill>
                  <a:srgbClr val="526B63"/>
                </a:solidFill>
                <a:latin typeface="Arial"/>
                <a:ea typeface="Arial"/>
                <a:cs typeface="Arial"/>
              </a:defRPr>
            </a:pPr>
            <a:r>
              <a:rPr sz="2475" b="0" lang="en-GB">
                <a:solidFill>
                  <a:srgbClr val="526B63"/>
                </a:solidFill>
                <a:latin typeface="Arial"/>
                <a:ea typeface="Arial"/>
                <a:cs typeface="Arial"/>
              </a:rPr>
              <a:t>Today's task has a specific action, support and a completion criterion.</a:t>
            </a:r>
          </a:p>
        </p:txBody>
      </p:sp>
      <p:sp>
        <p:nvSpPr>
          <p:cNvPr id="7" name="">
            <a:extLst>
              <a:ext uri="{FF2B5EF4-FFF2-40B4-BE49-F238E27FC236}">
                <ns2:creationId id="{0E5742C4-2A4A-4AB4-9CFF-680A82FB8898}"/>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en-GB">
                <a:solidFill>
                  <a:srgbClr val="526B63"/>
                </a:solidFill>
                <a:latin typeface="Arial"/>
                <a:ea typeface="Arial"/>
                <a:cs typeface="Arial"/>
              </a:rPr>
              <a:t>4 Core: Recruitment, Retention, Productivity and Development. Access follows programme terms.</a:t>
            </a:r>
          </a:p>
        </p:txBody>
      </p:sp>
    </p:spTree>
    <p:extLst>
      <p:ext uri="{BB962C8B-B14F-4D97-AF65-F5344CB8AC3E}">
        <ns4:creationId val="779428553"/>
      </p:ext>
    </p:extLst>
  </p:cSld>
</p:sld>
</file>

<file path=ppt/slides/slide2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755CBF8A-CF99-4296-B52A-929A5B188D96}"/>
              </a:ext>
            </a:extLst>
          </p:cNvPr>
          <p:cNvPicPr>
            <a:picLocks noChangeAspect="1"/>
          </p:cNvPicPr>
          <p:nvPr/>
        </p:nvPicPr>
        <p:blipFill>
          <a:blip r:embed="Rd2520270cdcb44be"/>
          <a:stretch/>
        </p:blipFill>
        <p:spPr>
          <a:xfrm>
            <a:off x="9867900" y="276061"/>
            <a:ext cx="1695450" cy="438478"/>
          </a:xfrm>
          <a:prstGeom prst="rect">
            <a:avLst/>
          </a:prstGeom>
        </p:spPr>
      </p:pic>
      <p:sp>
        <p:nvSpPr>
          <p:cNvPr id="2" name="">
            <a:extLst>
              <a:ext uri="{FF2B5EF4-FFF2-40B4-BE49-F238E27FC236}">
                <ns2:creationId id="{D632DCC3-6502-4FE5-A452-5728A3FF9CB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21</a:t>
            </a:r>
          </a:p>
        </p:txBody>
      </p:sp>
      <p:sp>
        <p:nvSpPr>
          <p:cNvPr id="3" name="Title">
            <a:extLst>
              <a:ext uri="{FF2B5EF4-FFF2-40B4-BE49-F238E27FC236}">
                <ns2:creationId id="{9CA21175-6AB5-4D8F-B8A5-DF0C57ACDEB4}"/>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Learning linked to practice</a:t>
            </a:r>
          </a:p>
        </p:txBody>
      </p:sp>
      <p:sp>
        <p:nvSpPr>
          <p:cNvPr id="4" name="">
            <a:extLst>
              <a:ext uri="{FF2B5EF4-FFF2-40B4-BE49-F238E27FC236}">
                <ns2:creationId id="{5601D9A2-9AD3-4AD3-8BED-F082627DE474}"/>
              </a:ext>
            </a:extLst>
          </p:cNvPr>
          <p:cNvSpPr>
            <a:spLocks noGrp="1"/>
          </p:cNvSpPr>
          <p:nvPr/>
        </p:nvSpPr>
        <p:spPr>
          <a:xfrm>
            <a:off x="609600" y="1819275"/>
            <a:ext cx="10477500" cy="59055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en-GB">
                <a:solidFill>
                  <a:srgbClr val="153F36"/>
                </a:solidFill>
                <a:latin typeface="Arial"/>
                <a:ea typeface="Arial"/>
                <a:cs typeface="Arial"/>
              </a:rPr>
              <a:t>Turn the topic into a useful conversation.</a:t>
            </a:r>
          </a:p>
        </p:txBody>
      </p:sp>
      <p:pic>
        <p:nvPicPr>
          <p:cNvPr id="5" name="">
            <a:extLst>
              <a:ext uri="{FF2B5EF4-FFF2-40B4-BE49-F238E27FC236}">
                <ns2:creationId id="{A42EF5A1-048A-40A7-8EB7-D73F3B145432}"/>
              </a:ext>
            </a:extLst>
          </p:cNvPr>
          <p:cNvPicPr>
            <a:picLocks noChangeAspect="1"/>
          </p:cNvPicPr>
          <p:nvPr/>
        </p:nvPicPr>
        <p:blipFill>
          <a:blip r:embed="Rc24afb3e1b784e7e"/>
          <a:srcRect l="21797" t="23750" r="4141" b="31389"/>
          <a:stretch/>
        </p:blipFill>
        <p:spPr>
          <a:xfrm>
            <a:off x="609600" y="2552700"/>
            <a:ext cx="10953750" cy="3733800"/>
          </a:xfrm>
          <a:prstGeom prst="rect">
            <a:avLst/>
          </a:prstGeom>
        </p:spPr>
      </p:pic>
      <p:sp>
        <p:nvSpPr>
          <p:cNvPr id="7" name="Interface example"/>
          <p:cNvSpPr>
            <a:spLocks noGrp="1"/>
          </p:cNvSpPr>
          <p:nvPr/>
        </p:nvSpPr>
        <p:spPr>
          <a:xfrm>
            <a:off x="609600" y="6362700"/>
            <a:ext cx="10477500" cy="28575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lgn="l"/>
            <a:r>
              <a:rPr sz="1400" b="0" lang="en-GB" dirty="0">
                <a:solidFill>
                  <a:srgbClr val="526B63"/>
                </a:solidFill>
                <a:latin typeface="Arial"/>
              </a:rPr>
              <a:t>Example of the Croatian FCC interface.</a:t>
            </a:r>
          </a:p>
        </p:txBody>
      </p:sp>
    </p:spTree>
    <p:extLst>
      <p:ext uri="{BB962C8B-B14F-4D97-AF65-F5344CB8AC3E}">
        <ns4:creationId val="872864147"/>
      </p:ext>
    </p:extLst>
  </p:cSld>
</p:sld>
</file>

<file path=ppt/slides/slide2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429D5618-D6D1-4709-9032-CCBDE1794EC0}"/>
              </a:ext>
            </a:extLst>
          </p:cNvPr>
          <p:cNvPicPr>
            <a:picLocks noChangeAspect="1"/>
          </p:cNvPicPr>
          <p:nvPr/>
        </p:nvPicPr>
        <p:blipFill>
          <a:blip r:embed="R9e74150305fa4111"/>
          <a:stretch/>
        </p:blipFill>
        <p:spPr>
          <a:xfrm>
            <a:off x="9867900" y="276061"/>
            <a:ext cx="1695450" cy="438478"/>
          </a:xfrm>
          <a:prstGeom prst="rect">
            <a:avLst/>
          </a:prstGeom>
        </p:spPr>
      </p:pic>
      <p:sp>
        <p:nvSpPr>
          <p:cNvPr id="2" name="">
            <a:extLst>
              <a:ext uri="{FF2B5EF4-FFF2-40B4-BE49-F238E27FC236}">
                <ns2:creationId id="{6D26F613-9E2D-4BC5-A70E-316C062077E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22</a:t>
            </a:r>
          </a:p>
        </p:txBody>
      </p:sp>
      <p:sp>
        <p:nvSpPr>
          <p:cNvPr id="3" name="Title">
            <a:extLst>
              <a:ext uri="{FF2B5EF4-FFF2-40B4-BE49-F238E27FC236}">
                <ns2:creationId id="{3DBF11A3-4EDF-4D18-977F-B4AACE2BE63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Invitation to a selected webinar</a:t>
            </a:r>
          </a:p>
        </p:txBody>
      </p:sp>
      <p:sp>
        <p:nvSpPr>
          <p:cNvPr id="4" name="">
            <a:extLst>
              <a:ext uri="{FF2B5EF4-FFF2-40B4-BE49-F238E27FC236}">
                <ns2:creationId id="{64A80DF6-83D6-420D-B270-58B477A61493}"/>
              </a:ext>
            </a:extLst>
          </p:cNvPr>
          <p:cNvSpPr>
            <a:spLocks noGrp="1"/>
          </p:cNvSpPr>
          <p:nvPr/>
        </p:nvSpPr>
        <p:spPr>
          <a:xfrm>
            <a:off x="609600" y="2152650"/>
            <a:ext cx="3333750" cy="2657475"/>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en-GB">
                <a:solidFill>
                  <a:srgbClr val="153F36"/>
                </a:solidFill>
                <a:latin typeface="Arial"/>
                <a:ea typeface="Arial"/>
                <a:cs typeface="Arial"/>
              </a:rPr>
              <a:t>Choose a date.</a:t>
            </a:r>
          </a:p>
          <a:p>
            <a:pPr>
              <a:defRPr sz="2625" b="1">
                <a:solidFill>
                  <a:srgbClr val="153F36"/>
                </a:solidFill>
                <a:latin typeface="Arial"/>
                <a:ea typeface="Arial"/>
                <a:cs typeface="Arial"/>
              </a:defRPr>
            </a:pPr>
            <a:r>
              <a:rPr sz="2625" b="1" lang="en-GB">
                <a:solidFill>
                  <a:srgbClr val="153F36"/>
                </a:solidFill>
                <a:latin typeface="Arial"/>
                <a:ea typeface="Arial"/>
                <a:cs typeface="Arial"/>
              </a:rPr>
              <a:t>Add a personal</a:t>
            </a:r>
          </a:p>
          <a:p>
            <a:pPr>
              <a:defRPr sz="2625" b="1">
                <a:solidFill>
                  <a:srgbClr val="153F36"/>
                </a:solidFill>
                <a:latin typeface="Arial"/>
                <a:ea typeface="Arial"/>
                <a:cs typeface="Arial"/>
              </a:defRPr>
            </a:pPr>
            <a:r>
              <a:rPr sz="2625" b="1" lang="en-GB">
                <a:solidFill>
                  <a:srgbClr val="153F36"/>
                </a:solidFill>
                <a:latin typeface="Arial"/>
                <a:ea typeface="Arial"/>
                <a:cs typeface="Arial"/>
              </a:rPr>
              <a:t>reason to invite.</a:t>
            </a:r>
          </a:p>
          <a:p>
            <a:pPr>
              <a:defRPr sz="2625" b="1">
                <a:solidFill>
                  <a:srgbClr val="153F36"/>
                </a:solidFill>
                <a:latin typeface="Arial"/>
                <a:ea typeface="Arial"/>
                <a:cs typeface="Arial"/>
              </a:defRPr>
            </a:pPr>
            <a:r>
              <a:rPr sz="2625" b="1" lang="en-GB">
                <a:solidFill>
                  <a:srgbClr val="153F36"/>
                </a:solidFill>
                <a:latin typeface="Arial"/>
                <a:ea typeface="Arial"/>
                <a:cs typeface="Arial"/>
              </a:rPr>
              <a:t>Send your link.</a:t>
            </a:r>
          </a:p>
        </p:txBody>
      </p:sp>
      <p:sp>
        <p:nvSpPr>
          <p:cNvPr id="5" name="">
            <a:extLst>
              <a:ext uri="{FF2B5EF4-FFF2-40B4-BE49-F238E27FC236}">
                <ns2:creationId id="{958B8E7C-0CB5-4427-A2CD-626ACD27829B}"/>
              </a:ext>
            </a:extLst>
          </p:cNvPr>
          <p:cNvSpPr>
            <a:spLocks noGrp="1"/>
          </p:cNvSpPr>
          <p:nvPr/>
        </p:nvSpPr>
        <p:spPr>
          <a:xfrm>
            <a:off x="609600" y="4972050"/>
            <a:ext cx="3333750" cy="1123950"/>
          </a:xfrm>
          <a:prstGeom prst="rect">
            <a:avLst/>
          </a:prstGeom>
          <a:noFill/>
          <a:ln w="0">
            <a:noFill/>
          </a:ln>
        </p:spPr>
        <p:txBody>
          <a:bodyPr wrap="square" lIns="0" tIns="0" rIns="0" bIns="0" anchor="t">
            <a:noAutofit/>
          </a:bodyPr>
          <a:lstStyle>
            <a:defPPr>
              <a:defRPr sz="2025" b="0">
                <a:solidFill>
                  <a:srgbClr val="526B63"/>
                </a:solidFill>
                <a:latin typeface="Arial"/>
                <a:ea typeface="Arial"/>
                <a:cs typeface="Arial"/>
              </a:defRPr>
            </a:defPPr>
          </a:lstStyle>
          <a:p>
            <a:pPr>
              <a:defRPr sz="2025" b="0">
                <a:solidFill>
                  <a:srgbClr val="526B63"/>
                </a:solidFill>
                <a:latin typeface="Arial"/>
                <a:ea typeface="Arial"/>
                <a:cs typeface="Arial"/>
              </a:defRPr>
            </a:pPr>
            <a:r>
              <a:rPr sz="2025" b="0" lang="en-GB">
                <a:solidFill>
                  <a:srgbClr val="526B63"/>
                </a:solidFill>
                <a:latin typeface="Arial"/>
                <a:ea typeface="Arial"/>
                <a:cs typeface="Arial"/>
              </a:rPr>
              <a:t>The guest registers for a specific event through your invitation.</a:t>
            </a:r>
          </a:p>
        </p:txBody>
      </p:sp>
      <p:pic>
        <p:nvPicPr>
          <p:cNvPr id="6" name="">
            <a:extLst>
              <a:ext uri="{FF2B5EF4-FFF2-40B4-BE49-F238E27FC236}">
                <ns2:creationId id="{3390DCC8-0B52-4314-8F10-D4E2C4601566}"/>
              </a:ext>
            </a:extLst>
          </p:cNvPr>
          <p:cNvPicPr>
            <a:picLocks noChangeAspect="1"/>
          </p:cNvPicPr>
          <p:nvPr/>
        </p:nvPicPr>
        <p:blipFill>
          <a:blip r:embed="R1e50648732a948d2"/>
          <a:srcRect l="56250" t="24028" r="4531" b="22222"/>
          <a:stretch/>
        </p:blipFill>
        <p:spPr>
          <a:xfrm>
            <a:off x="5667375" y="1924050"/>
            <a:ext cx="5524500" cy="4257675"/>
          </a:xfrm>
          <a:prstGeom prst="rect">
            <a:avLst/>
          </a:prstGeom>
        </p:spPr>
      </p:pic>
      <p:sp>
        <p:nvSpPr>
          <p:cNvPr id="8" name="Interface example"/>
          <p:cNvSpPr>
            <a:spLocks noGrp="1"/>
          </p:cNvSpPr>
          <p:nvPr/>
        </p:nvSpPr>
        <p:spPr>
          <a:xfrm>
            <a:off x="609600" y="6238875"/>
            <a:ext cx="6191250" cy="28575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lgn="l"/>
            <a:r>
              <a:rPr sz="1400" b="0" lang="en-GB" dirty="0">
                <a:solidFill>
                  <a:srgbClr val="526B63"/>
                </a:solidFill>
                <a:latin typeface="Arial"/>
              </a:rPr>
              <a:t>Example of the Croatian FCC interface.</a:t>
            </a:r>
          </a:p>
        </p:txBody>
      </p:sp>
    </p:spTree>
    <p:extLst>
      <p:ext uri="{BB962C8B-B14F-4D97-AF65-F5344CB8AC3E}">
        <ns4:creationId val="700804711"/>
      </p:ext>
    </p:extLst>
  </p:cSld>
</p:sld>
</file>

<file path=ppt/slides/slide2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D5E12F88-80BE-4ED3-9045-0929104BF85E}"/>
              </a:ext>
            </a:extLst>
          </p:cNvPr>
          <p:cNvPicPr>
            <a:picLocks noChangeAspect="1"/>
          </p:cNvPicPr>
          <p:nvPr/>
        </p:nvPicPr>
        <p:blipFill>
          <a:blip r:embed="R767dfad8865d4072"/>
          <a:stretch/>
        </p:blipFill>
        <p:spPr>
          <a:xfrm>
            <a:off x="9867900" y="276061"/>
            <a:ext cx="1695450" cy="438478"/>
          </a:xfrm>
          <a:prstGeom prst="rect">
            <a:avLst/>
          </a:prstGeom>
        </p:spPr>
      </p:pic>
      <p:sp>
        <p:nvSpPr>
          <p:cNvPr id="2" name="">
            <a:extLst>
              <a:ext uri="{FF2B5EF4-FFF2-40B4-BE49-F238E27FC236}">
                <ns2:creationId id="{6C95CCE3-AAC8-46D2-A89D-918660909B14}"/>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23</a:t>
            </a:r>
          </a:p>
        </p:txBody>
      </p:sp>
      <p:sp>
        <p:nvSpPr>
          <p:cNvPr id="3" name="Title">
            <a:extLst>
              <a:ext uri="{FF2B5EF4-FFF2-40B4-BE49-F238E27FC236}">
                <ns2:creationId id="{86A969A1-FE90-4CAE-9E4D-B1F25AAE345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Marko registered. What happens next?</a:t>
            </a:r>
          </a:p>
        </p:txBody>
      </p:sp>
      <p:sp>
        <p:nvSpPr>
          <p:cNvPr id="4" name="">
            <a:extLst>
              <a:ext uri="{FF2B5EF4-FFF2-40B4-BE49-F238E27FC236}">
                <ns2:creationId id="{E5F1DAFA-2528-492F-B2BE-F6718195409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en-GB">
                <a:solidFill>
                  <a:srgbClr val="148977"/>
                </a:solidFill>
                <a:latin typeface="Arial"/>
                <a:ea typeface="Arial"/>
                <a:cs typeface="Arial"/>
              </a:rPr>
              <a:t>1.</a:t>
            </a:r>
          </a:p>
        </p:txBody>
      </p:sp>
      <p:sp>
        <p:nvSpPr>
          <p:cNvPr id="5" name="">
            <a:extLst>
              <a:ext uri="{FF2B5EF4-FFF2-40B4-BE49-F238E27FC236}">
                <ns2:creationId id="{4DB35653-FBDF-4BEC-83F0-6FBB39603769}"/>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en-GB">
                <a:solidFill>
                  <a:srgbClr val="153F36"/>
                </a:solidFill>
                <a:latin typeface="Arial"/>
                <a:ea typeface="Arial"/>
                <a:cs typeface="Arial"/>
              </a:rPr>
              <a:t>Registration for a specific date</a:t>
            </a:r>
          </a:p>
        </p:txBody>
      </p:sp>
      <p:sp>
        <p:nvSpPr>
          <p:cNvPr id="6" name="">
            <a:extLst>
              <a:ext uri="{FF2B5EF4-FFF2-40B4-BE49-F238E27FC236}">
                <ns2:creationId id="{CB2364BB-A3BB-4784-8D31-FC7726F1C590}"/>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The contact and registration remain linked to the inviter.</a:t>
            </a:r>
          </a:p>
        </p:txBody>
      </p:sp>
      <p:sp>
        <p:nvSpPr>
          <p:cNvPr id="7" name="">
            <a:extLst>
              <a:ext uri="{FF2B5EF4-FFF2-40B4-BE49-F238E27FC236}">
                <ns2:creationId id="{AD290595-7437-4728-8D3A-3E8B1D2B748F}"/>
              </a:ext>
            </a:extLst>
          </p:cNvPr>
          <p:cNvSpPr>
            <a:spLocks noGrp="1"/>
          </p:cNvSpPr>
          <p:nvPr/>
        </p:nvSpPr>
        <p:spPr>
          <a:xfrm>
            <a:off x="609600" y="284797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en-GB">
                <a:solidFill>
                  <a:srgbClr val="148977"/>
                </a:solidFill>
                <a:latin typeface="Arial"/>
                <a:ea typeface="Arial"/>
                <a:cs typeface="Arial"/>
              </a:rPr>
              <a:t>2.</a:t>
            </a:r>
          </a:p>
        </p:txBody>
      </p:sp>
      <p:sp>
        <p:nvSpPr>
          <p:cNvPr id="8" name="">
            <a:extLst>
              <a:ext uri="{FF2B5EF4-FFF2-40B4-BE49-F238E27FC236}">
                <ns2:creationId id="{46695ECA-CB8D-4B9F-A2E8-B65C37B9556C}"/>
              </a:ext>
            </a:extLst>
          </p:cNvPr>
          <p:cNvSpPr>
            <a:spLocks noGrp="1"/>
          </p:cNvSpPr>
          <p:nvPr/>
        </p:nvSpPr>
        <p:spPr>
          <a:xfrm>
            <a:off x="1257300" y="284797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en-GB">
                <a:solidFill>
                  <a:srgbClr val="153F36"/>
                </a:solidFill>
                <a:latin typeface="Arial"/>
                <a:ea typeface="Arial"/>
                <a:cs typeface="Arial"/>
              </a:rPr>
              <a:t>Before the webinar</a:t>
            </a:r>
          </a:p>
        </p:txBody>
      </p:sp>
      <p:sp>
        <p:nvSpPr>
          <p:cNvPr id="9" name="">
            <a:extLst>
              <a:ext uri="{FF2B5EF4-FFF2-40B4-BE49-F238E27FC236}">
                <ns2:creationId id="{62BE4D3F-BC4E-41C9-B048-D3D0AD57E314}"/>
              </a:ext>
            </a:extLst>
          </p:cNvPr>
          <p:cNvSpPr>
            <a:spLocks noGrp="1"/>
          </p:cNvSpPr>
          <p:nvPr/>
        </p:nvSpPr>
        <p:spPr>
          <a:xfrm>
            <a:off x="1257300" y="32575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Confirmation and selected reminders help the guest attend.</a:t>
            </a:r>
          </a:p>
        </p:txBody>
      </p:sp>
      <p:sp>
        <p:nvSpPr>
          <p:cNvPr id="10" name="">
            <a:extLst>
              <a:ext uri="{FF2B5EF4-FFF2-40B4-BE49-F238E27FC236}">
                <ns2:creationId id="{8ECC572D-40C3-4866-9005-CFF07D7DA9C3}"/>
              </a:ext>
            </a:extLst>
          </p:cNvPr>
          <p:cNvSpPr>
            <a:spLocks noGrp="1"/>
          </p:cNvSpPr>
          <p:nvPr/>
        </p:nvSpPr>
        <p:spPr>
          <a:xfrm>
            <a:off x="609600" y="37338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en-GB">
                <a:solidFill>
                  <a:srgbClr val="148977"/>
                </a:solidFill>
                <a:latin typeface="Arial"/>
                <a:ea typeface="Arial"/>
                <a:cs typeface="Arial"/>
              </a:rPr>
              <a:t>3.</a:t>
            </a:r>
          </a:p>
        </p:txBody>
      </p:sp>
      <p:sp>
        <p:nvSpPr>
          <p:cNvPr id="11" name="">
            <a:extLst>
              <a:ext uri="{FF2B5EF4-FFF2-40B4-BE49-F238E27FC236}">
                <ns2:creationId id="{9B07424D-9E40-46F4-B29D-C0C5CD66F25E}"/>
              </a:ext>
            </a:extLst>
          </p:cNvPr>
          <p:cNvSpPr>
            <a:spLocks noGrp="1"/>
          </p:cNvSpPr>
          <p:nvPr/>
        </p:nvSpPr>
        <p:spPr>
          <a:xfrm>
            <a:off x="1257300" y="37338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en-GB">
                <a:solidFill>
                  <a:srgbClr val="153F36"/>
                </a:solidFill>
                <a:latin typeface="Arial"/>
                <a:ea typeface="Arial"/>
                <a:cs typeface="Arial"/>
              </a:rPr>
              <a:t>After the webinar</a:t>
            </a:r>
          </a:p>
        </p:txBody>
      </p:sp>
      <p:sp>
        <p:nvSpPr>
          <p:cNvPr id="12" name="">
            <a:extLst>
              <a:ext uri="{FF2B5EF4-FFF2-40B4-BE49-F238E27FC236}">
                <ns2:creationId id="{CC04F91B-0460-4471-969A-A7A5BB25A43D}"/>
              </a:ext>
            </a:extLst>
          </p:cNvPr>
          <p:cNvSpPr>
            <a:spLocks noGrp="1"/>
          </p:cNvSpPr>
          <p:nvPr/>
        </p:nvSpPr>
        <p:spPr>
          <a:xfrm>
            <a:off x="1257300" y="41433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The partner confirms attendance and arranges a conversation.</a:t>
            </a:r>
          </a:p>
        </p:txBody>
      </p:sp>
      <p:sp>
        <p:nvSpPr>
          <p:cNvPr id="13" name="">
            <a:extLst>
              <a:ext uri="{FF2B5EF4-FFF2-40B4-BE49-F238E27FC236}">
                <ns2:creationId id="{1996C6A4-A7E3-4F17-8120-05460EF79D98}"/>
              </a:ext>
            </a:extLst>
          </p:cNvPr>
          <p:cNvSpPr>
            <a:spLocks noGrp="1"/>
          </p:cNvSpPr>
          <p:nvPr/>
        </p:nvSpPr>
        <p:spPr>
          <a:xfrm>
            <a:off x="609600" y="461962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en-GB">
                <a:solidFill>
                  <a:srgbClr val="148977"/>
                </a:solidFill>
                <a:latin typeface="Arial"/>
                <a:ea typeface="Arial"/>
                <a:cs typeface="Arial"/>
              </a:rPr>
              <a:t>4.</a:t>
            </a:r>
          </a:p>
        </p:txBody>
      </p:sp>
      <p:sp>
        <p:nvSpPr>
          <p:cNvPr id="14" name="">
            <a:extLst>
              <a:ext uri="{FF2B5EF4-FFF2-40B4-BE49-F238E27FC236}">
                <ns2:creationId id="{0015C3FA-BB82-4048-81E2-1B20DA03DFA6}"/>
              </a:ext>
            </a:extLst>
          </p:cNvPr>
          <p:cNvSpPr>
            <a:spLocks noGrp="1"/>
          </p:cNvSpPr>
          <p:nvPr/>
        </p:nvSpPr>
        <p:spPr>
          <a:xfrm>
            <a:off x="1257300" y="461962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en-GB">
                <a:solidFill>
                  <a:srgbClr val="153F36"/>
                </a:solidFill>
                <a:latin typeface="Arial"/>
                <a:ea typeface="Arial"/>
                <a:cs typeface="Arial"/>
              </a:rPr>
              <a:t>If they did not attend</a:t>
            </a:r>
          </a:p>
        </p:txBody>
      </p:sp>
      <p:sp>
        <p:nvSpPr>
          <p:cNvPr id="15" name="">
            <a:extLst>
              <a:ext uri="{FF2B5EF4-FFF2-40B4-BE49-F238E27FC236}">
                <ns2:creationId id="{67891E00-CB5A-48F8-9822-D3F7DBF396CA}"/>
              </a:ext>
            </a:extLst>
          </p:cNvPr>
          <p:cNvSpPr>
            <a:spLocks noGrp="1"/>
          </p:cNvSpPr>
          <p:nvPr/>
        </p:nvSpPr>
        <p:spPr>
          <a:xfrm>
            <a:off x="1257300" y="5029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A personal conversation and a new invitation for another date.</a:t>
            </a:r>
          </a:p>
        </p:txBody>
      </p:sp>
    </p:spTree>
    <p:extLst>
      <p:ext uri="{BB962C8B-B14F-4D97-AF65-F5344CB8AC3E}">
        <ns4:creationId val="2122822085"/>
      </p:ext>
    </p:extLst>
  </p:cSld>
</p:sld>
</file>

<file path=ppt/slides/slide2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B9472236-3934-486C-A23A-6370DE23E664}"/>
              </a:ext>
            </a:extLst>
          </p:cNvPr>
          <p:cNvPicPr>
            <a:picLocks noChangeAspect="1"/>
          </p:cNvPicPr>
          <p:nvPr/>
        </p:nvPicPr>
        <p:blipFill>
          <a:blip r:embed="R91a2746f4c374b45"/>
          <a:stretch/>
        </p:blipFill>
        <p:spPr>
          <a:xfrm>
            <a:off x="9867900" y="276061"/>
            <a:ext cx="1695450" cy="438478"/>
          </a:xfrm>
          <a:prstGeom prst="rect">
            <a:avLst/>
          </a:prstGeom>
        </p:spPr>
      </p:pic>
      <p:sp>
        <p:nvSpPr>
          <p:cNvPr id="2" name="">
            <a:extLst>
              <a:ext uri="{FF2B5EF4-FFF2-40B4-BE49-F238E27FC236}">
                <ns2:creationId id="{68B0361B-9635-4166-AE62-4CF793B4F1A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24</a:t>
            </a:r>
          </a:p>
        </p:txBody>
      </p:sp>
      <p:sp>
        <p:nvSpPr>
          <p:cNvPr id="3" name="Title">
            <a:extLst>
              <a:ext uri="{FF2B5EF4-FFF2-40B4-BE49-F238E27FC236}">
                <ns2:creationId id="{A3F07F94-2F35-418F-817F-9743B462CB62}"/>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Personal and team webinars</a:t>
            </a:r>
          </a:p>
        </p:txBody>
      </p:sp>
      <p:sp>
        <p:nvSpPr>
          <p:cNvPr id="4" name="">
            <a:extLst>
              <a:ext uri="{FF2B5EF4-FFF2-40B4-BE49-F238E27FC236}">
                <ns2:creationId id="{15C68868-CAC3-4747-A74E-8D8DCC287173}"/>
              </a:ext>
            </a:extLst>
          </p:cNvPr>
          <p:cNvSpPr>
            <a:spLocks noGrp="1"/>
          </p:cNvSpPr>
          <p:nvPr/>
        </p:nvSpPr>
        <p:spPr>
          <a:xfrm>
            <a:off x="609600" y="2181225"/>
            <a:ext cx="10591800" cy="2190750"/>
          </a:xfrm>
          <a:prstGeom prst="rect">
            <a:avLst/>
          </a:prstGeom>
          <a:noFill/>
          <a:ln w="0">
            <a:noFill/>
          </a:ln>
        </p:spPr>
        <p:txBody>
          <a:bodyPr wrap="square" lIns="0" tIns="0" rIns="0" bIns="0" anchor="t">
            <a:noAutofit/>
          </a:bodyPr>
          <a:lstStyle>
            <a:defPPr>
              <a:defRPr sz="3150" b="1">
                <a:solidFill>
                  <a:srgbClr val="153F36"/>
                </a:solidFill>
                <a:latin typeface="Arial"/>
                <a:ea typeface="Arial"/>
                <a:cs typeface="Arial"/>
              </a:defRPr>
            </a:defPPr>
          </a:lstStyle>
          <a:p>
            <a:pPr>
              <a:defRPr sz="3150" b="1">
                <a:solidFill>
                  <a:srgbClr val="153F36"/>
                </a:solidFill>
                <a:latin typeface="Arial"/>
                <a:ea typeface="Arial"/>
                <a:cs typeface="Arial"/>
              </a:defRPr>
            </a:pPr>
            <a:r>
              <a:rPr sz="3150" b="1" lang="en-GB">
                <a:solidFill>
                  <a:srgbClr val="153F36"/>
                </a:solidFill>
                <a:latin typeface="Arial"/>
                <a:ea typeface="Arial"/>
                <a:cs typeface="Arial"/>
              </a:rPr>
              <a:t>A single event or regular meeting.</a:t>
            </a:r>
          </a:p>
          <a:p>
            <a:pPr>
              <a:defRPr sz="3150" b="1">
                <a:solidFill>
                  <a:srgbClr val="153F36"/>
                </a:solidFill>
                <a:latin typeface="Arial"/>
                <a:ea typeface="Arial"/>
                <a:cs typeface="Arial"/>
              </a:defRPr>
            </a:pPr>
            <a:r>
              <a:rPr sz="3150" b="1" lang="en-GB">
                <a:solidFill>
                  <a:srgbClr val="153F36"/>
                </a:solidFill>
                <a:latin typeface="Arial"/>
                <a:ea typeface="Arial"/>
                <a:cs typeface="Arial"/>
              </a:rPr>
              <a:t>In your chosen language.</a:t>
            </a:r>
          </a:p>
          <a:p>
            <a:pPr>
              <a:defRPr sz="3150" b="1">
                <a:solidFill>
                  <a:srgbClr val="153F36"/>
                </a:solidFill>
                <a:latin typeface="Arial"/>
                <a:ea typeface="Arial"/>
                <a:cs typeface="Arial"/>
              </a:defRPr>
            </a:pPr>
            <a:r>
              <a:rPr sz="3150" b="1" lang="en-GB">
                <a:solidFill>
                  <a:srgbClr val="153F36"/>
                </a:solidFill>
                <a:latin typeface="Arial"/>
                <a:ea typeface="Arial"/>
                <a:cs typeface="Arial"/>
              </a:rPr>
              <a:t>For your own invitations or FCC team.</a:t>
            </a:r>
          </a:p>
        </p:txBody>
      </p:sp>
      <p:sp>
        <p:nvSpPr>
          <p:cNvPr id="5" name="">
            <a:extLst>
              <a:ext uri="{FF2B5EF4-FFF2-40B4-BE49-F238E27FC236}">
                <ns2:creationId id="{CA141C86-D453-47CD-8181-922C077B11D4}"/>
              </a:ext>
            </a:extLst>
          </p:cNvPr>
          <p:cNvSpPr>
            <a:spLocks noGrp="1"/>
          </p:cNvSpPr>
          <p:nvPr/>
        </p:nvSpPr>
        <p:spPr>
          <a:xfrm>
            <a:off x="609600" y="4733925"/>
            <a:ext cx="10448925" cy="866775"/>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en-GB">
                <a:solidFill>
                  <a:srgbClr val="526B63"/>
                </a:solidFill>
                <a:latin typeface="Arial"/>
                <a:ea typeface="Arial"/>
                <a:cs typeface="Arial"/>
              </a:rPr>
              <a:t>Each member invites through their own link and keeps their own contacts.</a:t>
            </a:r>
          </a:p>
        </p:txBody>
      </p:sp>
      <p:sp>
        <p:nvSpPr>
          <p:cNvPr id="6" name="">
            <a:extLst>
              <a:ext uri="{FF2B5EF4-FFF2-40B4-BE49-F238E27FC236}">
                <ns2:creationId id="{330A4E96-5E13-4241-96CF-B5C8186A91E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en-GB">
                <a:solidFill>
                  <a:srgbClr val="526B63"/>
                </a:solidFill>
                <a:latin typeface="Arial"/>
                <a:ea typeface="Arial"/>
                <a:cs typeface="Arial"/>
              </a:rPr>
              <a:t>Creating your own webinars is available in the PRO plan.</a:t>
            </a:r>
          </a:p>
        </p:txBody>
      </p:sp>
    </p:spTree>
    <p:extLst>
      <p:ext uri="{BB962C8B-B14F-4D97-AF65-F5344CB8AC3E}">
        <ns4:creationId val="1264850231"/>
      </p:ext>
    </p:extLst>
  </p:cSld>
</p:sld>
</file>

<file path=ppt/slides/slide2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5E86031B-74C2-4608-8EC0-F7A06E16AB36}"/>
              </a:ext>
            </a:extLst>
          </p:cNvPr>
          <p:cNvPicPr>
            <a:picLocks noChangeAspect="1"/>
          </p:cNvPicPr>
          <p:nvPr/>
        </p:nvPicPr>
        <p:blipFill>
          <a:blip r:embed="R59ec47a19bc2488c"/>
          <a:stretch/>
        </p:blipFill>
        <p:spPr>
          <a:xfrm>
            <a:off x="9867900" y="276061"/>
            <a:ext cx="1695450" cy="438478"/>
          </a:xfrm>
          <a:prstGeom prst="rect">
            <a:avLst/>
          </a:prstGeom>
        </p:spPr>
      </p:pic>
      <p:sp>
        <p:nvSpPr>
          <p:cNvPr id="2" name="">
            <a:extLst>
              <a:ext uri="{FF2B5EF4-FFF2-40B4-BE49-F238E27FC236}">
                <ns2:creationId id="{93698D6B-5742-4E5B-834D-CB8A1A514169}"/>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25</a:t>
            </a:r>
          </a:p>
        </p:txBody>
      </p:sp>
      <p:sp>
        <p:nvSpPr>
          <p:cNvPr id="3" name="Title">
            <a:extLst>
              <a:ext uri="{FF2B5EF4-FFF2-40B4-BE49-F238E27FC236}">
                <ns2:creationId id="{E8A14DF5-11A1-4D9F-9B08-F9C64AB2045B}"/>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Supporting partners in My team</a:t>
            </a:r>
          </a:p>
        </p:txBody>
      </p:sp>
      <p:sp>
        <p:nvSpPr>
          <p:cNvPr id="4" name="">
            <a:extLst>
              <a:ext uri="{FF2B5EF4-FFF2-40B4-BE49-F238E27FC236}">
                <ns2:creationId id="{5C794550-AB76-4651-9D65-FCC54402C9D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en-GB">
                <a:solidFill>
                  <a:srgbClr val="148977"/>
                </a:solidFill>
                <a:latin typeface="Arial"/>
                <a:ea typeface="Arial"/>
                <a:cs typeface="Arial"/>
              </a:rPr>
              <a:t>1.</a:t>
            </a:r>
          </a:p>
        </p:txBody>
      </p:sp>
      <p:sp>
        <p:nvSpPr>
          <p:cNvPr id="5" name="">
            <a:extLst>
              <a:ext uri="{FF2B5EF4-FFF2-40B4-BE49-F238E27FC236}">
                <ns2:creationId id="{0D790686-2438-4A73-8815-5D8A40D9C276}"/>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en-GB">
                <a:solidFill>
                  <a:srgbClr val="153F36"/>
                </a:solidFill>
                <a:latin typeface="Arial"/>
                <a:ea typeface="Arial"/>
                <a:cs typeface="Arial"/>
              </a:rPr>
              <a:t>People and progress overview</a:t>
            </a:r>
          </a:p>
        </p:txBody>
      </p:sp>
      <p:sp>
        <p:nvSpPr>
          <p:cNvPr id="6" name="">
            <a:extLst>
              <a:ext uri="{FF2B5EF4-FFF2-40B4-BE49-F238E27FC236}">
                <ns2:creationId id="{57A656BD-9E7D-4723-A3EB-C0005AB55657}"/>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See where a conversation and support can help.</a:t>
            </a:r>
          </a:p>
        </p:txBody>
      </p:sp>
      <p:sp>
        <p:nvSpPr>
          <p:cNvPr id="7" name="">
            <a:extLst>
              <a:ext uri="{FF2B5EF4-FFF2-40B4-BE49-F238E27FC236}">
                <ns2:creationId id="{967AC6C6-2AA2-4DBF-B458-584184EDCB24}"/>
              </a:ext>
            </a:extLst>
          </p:cNvPr>
          <p:cNvSpPr>
            <a:spLocks noGrp="1"/>
          </p:cNvSpPr>
          <p:nvPr/>
        </p:nvSpPr>
        <p:spPr>
          <a:xfrm>
            <a:off x="609600" y="3105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en-GB">
                <a:solidFill>
                  <a:srgbClr val="148977"/>
                </a:solidFill>
                <a:latin typeface="Arial"/>
                <a:ea typeface="Arial"/>
                <a:cs typeface="Arial"/>
              </a:rPr>
              <a:t>2.</a:t>
            </a:r>
          </a:p>
        </p:txBody>
      </p:sp>
      <p:sp>
        <p:nvSpPr>
          <p:cNvPr id="8" name="">
            <a:extLst>
              <a:ext uri="{FF2B5EF4-FFF2-40B4-BE49-F238E27FC236}">
                <ns2:creationId id="{56B851E9-6FC5-431B-859B-AF028D6FEB8F}"/>
              </a:ext>
            </a:extLst>
          </p:cNvPr>
          <p:cNvSpPr>
            <a:spLocks noGrp="1"/>
          </p:cNvSpPr>
          <p:nvPr/>
        </p:nvSpPr>
        <p:spPr>
          <a:xfrm>
            <a:off x="1257300" y="3105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en-GB">
                <a:solidFill>
                  <a:srgbClr val="153F36"/>
                </a:solidFill>
                <a:latin typeface="Arial"/>
                <a:ea typeface="Arial"/>
                <a:cs typeface="Arial"/>
              </a:rPr>
              <a:t>Personal outreach</a:t>
            </a:r>
          </a:p>
        </p:txBody>
      </p:sp>
      <p:sp>
        <p:nvSpPr>
          <p:cNvPr id="9" name="">
            <a:extLst>
              <a:ext uri="{FF2B5EF4-FFF2-40B4-BE49-F238E27FC236}">
                <ns2:creationId id="{818F0784-40F3-44C9-9582-B7A15C5FB7EE}"/>
              </a:ext>
            </a:extLst>
          </p:cNvPr>
          <p:cNvSpPr>
            <a:spLocks noGrp="1"/>
          </p:cNvSpPr>
          <p:nvPr/>
        </p:nvSpPr>
        <p:spPr>
          <a:xfrm>
            <a:off x="1257300" y="3514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Prepare a message and confirm that it was actually sent.</a:t>
            </a:r>
          </a:p>
        </p:txBody>
      </p:sp>
      <p:sp>
        <p:nvSpPr>
          <p:cNvPr id="10" name="">
            <a:extLst>
              <a:ext uri="{FF2B5EF4-FFF2-40B4-BE49-F238E27FC236}">
                <ns2:creationId id="{B9F0BD01-52B3-41AC-98C0-040405407F1A}"/>
              </a:ext>
            </a:extLst>
          </p:cNvPr>
          <p:cNvSpPr>
            <a:spLocks noGrp="1"/>
          </p:cNvSpPr>
          <p:nvPr/>
        </p:nvSpPr>
        <p:spPr>
          <a:xfrm>
            <a:off x="609600" y="4248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en-GB">
                <a:solidFill>
                  <a:srgbClr val="148977"/>
                </a:solidFill>
                <a:latin typeface="Arial"/>
                <a:ea typeface="Arial"/>
                <a:cs typeface="Arial"/>
              </a:rPr>
              <a:t>3.</a:t>
            </a:r>
          </a:p>
        </p:txBody>
      </p:sp>
      <p:sp>
        <p:nvSpPr>
          <p:cNvPr id="11" name="">
            <a:extLst>
              <a:ext uri="{FF2B5EF4-FFF2-40B4-BE49-F238E27FC236}">
                <ns2:creationId id="{481DB09C-DD2D-4344-86DC-1D4C290AFDE8}"/>
              </a:ext>
            </a:extLst>
          </p:cNvPr>
          <p:cNvSpPr>
            <a:spLocks noGrp="1"/>
          </p:cNvSpPr>
          <p:nvPr/>
        </p:nvSpPr>
        <p:spPr>
          <a:xfrm>
            <a:off x="1257300" y="4248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en-GB">
                <a:solidFill>
                  <a:srgbClr val="153F36"/>
                </a:solidFill>
                <a:latin typeface="Arial"/>
                <a:ea typeface="Arial"/>
                <a:cs typeface="Arial"/>
              </a:rPr>
              <a:t>Next agreement</a:t>
            </a:r>
          </a:p>
        </p:txBody>
      </p:sp>
      <p:sp>
        <p:nvSpPr>
          <p:cNvPr id="12" name="">
            <a:extLst>
              <a:ext uri="{FF2B5EF4-FFF2-40B4-BE49-F238E27FC236}">
                <ns2:creationId id="{FA5462F9-CF88-452C-9CD7-60E7B954693D}"/>
              </a:ext>
            </a:extLst>
          </p:cNvPr>
          <p:cNvSpPr>
            <a:spLocks noGrp="1"/>
          </p:cNvSpPr>
          <p:nvPr/>
        </p:nvSpPr>
        <p:spPr>
          <a:xfrm>
            <a:off x="1257300" y="4657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A reminder for a conversation and continued support.</a:t>
            </a:r>
          </a:p>
        </p:txBody>
      </p:sp>
      <p:sp>
        <p:nvSpPr>
          <p:cNvPr id="13" name="">
            <a:extLst>
              <a:ext uri="{FF2B5EF4-FFF2-40B4-BE49-F238E27FC236}">
                <ns2:creationId id="{EA4F5EE5-D9B7-490A-8B9A-397E2C501279}"/>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en-GB">
                <a:solidFill>
                  <a:srgbClr val="526B63"/>
                </a:solidFill>
                <a:latin typeface="Arial"/>
                <a:ea typeface="Arial"/>
                <a:cs typeface="Arial"/>
              </a:rPr>
              <a:t>PRO feature. Figures support the conversation without replacing it.</a:t>
            </a:r>
          </a:p>
        </p:txBody>
      </p:sp>
    </p:spTree>
    <p:extLst>
      <p:ext uri="{BB962C8B-B14F-4D97-AF65-F5344CB8AC3E}">
        <ns4:creationId val="743576115"/>
      </p:ext>
    </p:extLst>
  </p:cSld>
</p:sld>
</file>

<file path=ppt/slides/slide2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53F36"/>
        </a:solidFill>
      </p:bgPr>
    </p:bg>
    <p:spTree>
      <p:nvGrpSpPr>
        <p:cNvPr id="1" name=""/>
        <p:cNvGrpSpPr/>
        <p:nvPr/>
      </p:nvGrpSpPr>
      <p:grpSpPr>
        <a:xfrm/>
      </p:grpSpPr>
      <p:sp>
        <p:nvSpPr>
          <p:cNvPr id="15" name="">
            <a:extLst>
              <a:ext uri="{FF2B5EF4-FFF2-40B4-BE49-F238E27FC236}">
                <ns2:creationId id="{8FD54B42-D5D9-4C8E-A795-D8C9DC824F7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D4E8DD"/>
                </a:solidFill>
                <a:latin typeface="Arial"/>
                <a:ea typeface="Arial"/>
                <a:cs typeface="Arial"/>
              </a:defRPr>
            </a:defPPr>
          </a:lstStyle>
          <a:p>
            <a:pPr>
              <a:defRPr sz="1350" b="0">
                <a:solidFill>
                  <a:srgbClr val="D4E8DD"/>
                </a:solidFill>
                <a:latin typeface="Arial"/>
                <a:ea typeface="Arial"/>
                <a:cs typeface="Arial"/>
              </a:defRPr>
            </a:pPr>
            <a:r>
              <a:rPr sz="1350" b="0" lang="en-GB">
                <a:solidFill>
                  <a:srgbClr val="D4E8DD"/>
                </a:solidFill>
                <a:latin typeface="Arial"/>
                <a:ea typeface="Arial"/>
                <a:cs typeface="Arial"/>
              </a:rPr>
              <a:t>26</a:t>
            </a:r>
          </a:p>
        </p:txBody>
      </p:sp>
      <p:sp>
        <p:nvSpPr>
          <p:cNvPr id="2" name="Title">
            <a:extLst>
              <a:ext uri="{FF2B5EF4-FFF2-40B4-BE49-F238E27FC236}">
                <ns2:creationId id="{0A8A4CAC-4231-4F7F-ACB0-D9A1910CA91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FFFFFF"/>
                </a:solidFill>
                <a:latin typeface="Arial"/>
                <a:ea typeface="Arial"/>
                <a:cs typeface="Arial"/>
              </a:defRPr>
            </a:defPPr>
          </a:lstStyle>
          <a:p>
            <a:pPr>
              <a:defRPr sz="3600" b="1">
                <a:solidFill>
                  <a:srgbClr val="FFFFFF"/>
                </a:solidFill>
                <a:latin typeface="Arial"/>
                <a:ea typeface="Arial"/>
                <a:cs typeface="Arial"/>
              </a:defRPr>
            </a:pPr>
            <a:r>
              <a:rPr sz="3600" b="1" lang="en-GB">
                <a:solidFill>
                  <a:srgbClr val="FFFFFF"/>
                </a:solidFill>
                <a:latin typeface="Arial"/>
                <a:ea typeface="Arial"/>
                <a:cs typeface="Arial"/>
              </a:rPr>
              <a:t>One everyday example</a:t>
            </a:r>
          </a:p>
        </p:txBody>
      </p:sp>
      <p:sp>
        <p:nvSpPr>
          <p:cNvPr id="3" name="">
            <a:extLst>
              <a:ext uri="{FF2B5EF4-FFF2-40B4-BE49-F238E27FC236}">
                <ns2:creationId id="{95AA7EBA-6878-4508-B7DD-388E8A06A72D}"/>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en-GB">
                <a:solidFill>
                  <a:srgbClr val="D4E8DD"/>
                </a:solidFill>
                <a:latin typeface="Arial"/>
                <a:ea typeface="Arial"/>
                <a:cs typeface="Arial"/>
              </a:rPr>
              <a:t>1.</a:t>
            </a:r>
          </a:p>
        </p:txBody>
      </p:sp>
      <p:sp>
        <p:nvSpPr>
          <p:cNvPr id="4" name="">
            <a:extLst>
              <a:ext uri="{FF2B5EF4-FFF2-40B4-BE49-F238E27FC236}">
                <ns2:creationId id="{03646A3A-C104-4F37-B92F-BB2EAE187254}"/>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en-GB">
                <a:solidFill>
                  <a:srgbClr val="FFFFFF"/>
                </a:solidFill>
                <a:latin typeface="Arial"/>
                <a:ea typeface="Arial"/>
                <a:cs typeface="Arial"/>
              </a:rPr>
              <a:t>Today's step</a:t>
            </a:r>
          </a:p>
        </p:txBody>
      </p:sp>
      <p:sp>
        <p:nvSpPr>
          <p:cNvPr id="5" name="">
            <a:extLst>
              <a:ext uri="{FF2B5EF4-FFF2-40B4-BE49-F238E27FC236}">
                <ns2:creationId id="{FE393999-B9B5-4679-B5D3-6DB274700D3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en-GB">
                <a:solidFill>
                  <a:srgbClr val="D4E8DD"/>
                </a:solidFill>
                <a:latin typeface="Arial"/>
                <a:ea typeface="Arial"/>
                <a:cs typeface="Arial"/>
              </a:rPr>
              <a:t>I open the task and understand what to do.</a:t>
            </a:r>
          </a:p>
        </p:txBody>
      </p:sp>
      <p:sp>
        <p:nvSpPr>
          <p:cNvPr id="6" name="">
            <a:extLst>
              <a:ext uri="{FF2B5EF4-FFF2-40B4-BE49-F238E27FC236}">
                <ns2:creationId id="{91FEC0DE-5CB4-4CA9-AAEC-3F72A813B357}"/>
              </a:ext>
            </a:extLst>
          </p:cNvPr>
          <p:cNvSpPr>
            <a:spLocks noGrp="1"/>
          </p:cNvSpPr>
          <p:nvPr/>
        </p:nvSpPr>
        <p:spPr>
          <a:xfrm>
            <a:off x="609600" y="28765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en-GB">
                <a:solidFill>
                  <a:srgbClr val="D4E8DD"/>
                </a:solidFill>
                <a:latin typeface="Arial"/>
                <a:ea typeface="Arial"/>
                <a:cs typeface="Arial"/>
              </a:rPr>
              <a:t>2.</a:t>
            </a:r>
          </a:p>
        </p:txBody>
      </p:sp>
      <p:sp>
        <p:nvSpPr>
          <p:cNvPr id="7" name="">
            <a:extLst>
              <a:ext uri="{FF2B5EF4-FFF2-40B4-BE49-F238E27FC236}">
                <ns2:creationId id="{DAD20ADD-6670-452E-AC38-4568348090F2}"/>
              </a:ext>
            </a:extLst>
          </p:cNvPr>
          <p:cNvSpPr>
            <a:spLocks noGrp="1"/>
          </p:cNvSpPr>
          <p:nvPr/>
        </p:nvSpPr>
        <p:spPr>
          <a:xfrm>
            <a:off x="1257300" y="28765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en-GB">
                <a:solidFill>
                  <a:srgbClr val="FFFFFF"/>
                </a:solidFill>
                <a:latin typeface="Arial"/>
                <a:ea typeface="Arial"/>
                <a:cs typeface="Arial"/>
              </a:rPr>
              <a:t>Ana and her interest</a:t>
            </a:r>
          </a:p>
        </p:txBody>
      </p:sp>
      <p:sp>
        <p:nvSpPr>
          <p:cNvPr id="8" name="">
            <a:extLst>
              <a:ext uri="{FF2B5EF4-FFF2-40B4-BE49-F238E27FC236}">
                <ns2:creationId id="{65D3A541-A07B-40D6-996F-497837E3F221}"/>
              </a:ext>
            </a:extLst>
          </p:cNvPr>
          <p:cNvSpPr>
            <a:spLocks noGrp="1"/>
          </p:cNvSpPr>
          <p:nvPr/>
        </p:nvSpPr>
        <p:spPr>
          <a:xfrm>
            <a:off x="1257300" y="32861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en-GB">
                <a:solidFill>
                  <a:srgbClr val="D4E8DD"/>
                </a:solidFill>
                <a:latin typeface="Arial"/>
                <a:ea typeface="Arial"/>
                <a:cs typeface="Arial"/>
              </a:rPr>
              <a:t>I prepare a useful message based on our conversation.</a:t>
            </a:r>
          </a:p>
        </p:txBody>
      </p:sp>
      <p:sp>
        <p:nvSpPr>
          <p:cNvPr id="9" name="">
            <a:extLst>
              <a:ext uri="{FF2B5EF4-FFF2-40B4-BE49-F238E27FC236}">
                <ns2:creationId id="{B0B45942-1C82-4F2E-A57D-A14033966DFD}"/>
              </a:ext>
            </a:extLst>
          </p:cNvPr>
          <p:cNvSpPr>
            <a:spLocks noGrp="1"/>
          </p:cNvSpPr>
          <p:nvPr/>
        </p:nvSpPr>
        <p:spPr>
          <a:xfrm>
            <a:off x="609600" y="37909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en-GB">
                <a:solidFill>
                  <a:srgbClr val="D4E8DD"/>
                </a:solidFill>
                <a:latin typeface="Arial"/>
                <a:ea typeface="Arial"/>
                <a:cs typeface="Arial"/>
              </a:rPr>
              <a:t>3.</a:t>
            </a:r>
          </a:p>
        </p:txBody>
      </p:sp>
      <p:sp>
        <p:nvSpPr>
          <p:cNvPr id="10" name="">
            <a:extLst>
              <a:ext uri="{FF2B5EF4-FFF2-40B4-BE49-F238E27FC236}">
                <ns2:creationId id="{60121B05-21D8-491D-8733-458B22AA21A7}"/>
              </a:ext>
            </a:extLst>
          </p:cNvPr>
          <p:cNvSpPr>
            <a:spLocks noGrp="1"/>
          </p:cNvSpPr>
          <p:nvPr/>
        </p:nvSpPr>
        <p:spPr>
          <a:xfrm>
            <a:off x="1257300" y="37909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en-GB">
                <a:solidFill>
                  <a:srgbClr val="FFFFFF"/>
                </a:solidFill>
                <a:latin typeface="Arial"/>
                <a:ea typeface="Arial"/>
                <a:cs typeface="Arial"/>
              </a:rPr>
              <a:t>My recommendation</a:t>
            </a:r>
          </a:p>
        </p:txBody>
      </p:sp>
      <p:sp>
        <p:nvSpPr>
          <p:cNvPr id="11" name="">
            <a:extLst>
              <a:ext uri="{FF2B5EF4-FFF2-40B4-BE49-F238E27FC236}">
                <ns2:creationId id="{F6AE71F9-B8CE-4986-8A1F-59474B627BB0}"/>
              </a:ext>
            </a:extLst>
          </p:cNvPr>
          <p:cNvSpPr>
            <a:spLocks noGrp="1"/>
          </p:cNvSpPr>
          <p:nvPr/>
        </p:nvSpPr>
        <p:spPr>
          <a:xfrm>
            <a:off x="1257300" y="42005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en-GB">
                <a:solidFill>
                  <a:srgbClr val="D4E8DD"/>
                </a:solidFill>
                <a:latin typeface="Arial"/>
                <a:ea typeface="Arial"/>
                <a:cs typeface="Arial"/>
              </a:rPr>
              <a:t>I share a product or invitation for the selected date.</a:t>
            </a:r>
          </a:p>
        </p:txBody>
      </p:sp>
      <p:sp>
        <p:nvSpPr>
          <p:cNvPr id="12" name="">
            <a:extLst>
              <a:ext uri="{FF2B5EF4-FFF2-40B4-BE49-F238E27FC236}">
                <ns2:creationId id="{F4A4571D-FA77-422B-9D76-F3ACB7D696EF}"/>
              </a:ext>
            </a:extLst>
          </p:cNvPr>
          <p:cNvSpPr>
            <a:spLocks noGrp="1"/>
          </p:cNvSpPr>
          <p:nvPr/>
        </p:nvSpPr>
        <p:spPr>
          <a:xfrm>
            <a:off x="609600" y="47053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en-GB">
                <a:solidFill>
                  <a:srgbClr val="D4E8DD"/>
                </a:solidFill>
                <a:latin typeface="Arial"/>
                <a:ea typeface="Arial"/>
                <a:cs typeface="Arial"/>
              </a:rPr>
              <a:t>4.</a:t>
            </a:r>
          </a:p>
        </p:txBody>
      </p:sp>
      <p:sp>
        <p:nvSpPr>
          <p:cNvPr id="13" name="">
            <a:extLst>
              <a:ext uri="{FF2B5EF4-FFF2-40B4-BE49-F238E27FC236}">
                <ns2:creationId id="{7F97F9DF-E177-4FFC-BEA3-E8607C5F908E}"/>
              </a:ext>
            </a:extLst>
          </p:cNvPr>
          <p:cNvSpPr>
            <a:spLocks noGrp="1"/>
          </p:cNvSpPr>
          <p:nvPr/>
        </p:nvSpPr>
        <p:spPr>
          <a:xfrm>
            <a:off x="1257300" y="47053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en-GB">
                <a:solidFill>
                  <a:srgbClr val="FFFFFF"/>
                </a:solidFill>
                <a:latin typeface="Arial"/>
                <a:ea typeface="Arial"/>
                <a:cs typeface="Arial"/>
              </a:rPr>
              <a:t>Next agreement</a:t>
            </a:r>
          </a:p>
        </p:txBody>
      </p:sp>
      <p:sp>
        <p:nvSpPr>
          <p:cNvPr id="14" name="">
            <a:extLst>
              <a:ext uri="{FF2B5EF4-FFF2-40B4-BE49-F238E27FC236}">
                <ns2:creationId id="{AE76C082-5565-4973-AD5C-698FD8AAAAA8}"/>
              </a:ext>
            </a:extLst>
          </p:cNvPr>
          <p:cNvSpPr>
            <a:spLocks noGrp="1"/>
          </p:cNvSpPr>
          <p:nvPr/>
        </p:nvSpPr>
        <p:spPr>
          <a:xfrm>
            <a:off x="1257300" y="51149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en-GB">
                <a:solidFill>
                  <a:srgbClr val="D4E8DD"/>
                </a:solidFill>
                <a:latin typeface="Arial"/>
                <a:ea typeface="Arial"/>
                <a:cs typeface="Arial"/>
              </a:rPr>
              <a:t>I record the action and the next contact date.</a:t>
            </a:r>
          </a:p>
        </p:txBody>
      </p:sp>
    </p:spTree>
    <p:extLst>
      <p:ext uri="{BB962C8B-B14F-4D97-AF65-F5344CB8AC3E}">
        <ns3:creationId val="1769184539"/>
      </p:ext>
    </p:extLst>
  </p:cSld>
</p:sld>
</file>

<file path=ppt/slides/slide2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AD69F793-5AC2-4B61-8E08-807EA3E82C93}"/>
              </a:ext>
            </a:extLst>
          </p:cNvPr>
          <p:cNvPicPr>
            <a:picLocks noChangeAspect="1"/>
          </p:cNvPicPr>
          <p:nvPr/>
        </p:nvPicPr>
        <p:blipFill>
          <a:blip r:embed="R5fc007ce49884a48"/>
          <a:stretch/>
        </p:blipFill>
        <p:spPr>
          <a:xfrm>
            <a:off x="9867900" y="276061"/>
            <a:ext cx="1695450" cy="438478"/>
          </a:xfrm>
          <a:prstGeom prst="rect">
            <a:avLst/>
          </a:prstGeom>
        </p:spPr>
      </p:pic>
      <p:sp>
        <p:nvSpPr>
          <p:cNvPr id="2" name="">
            <a:extLst>
              <a:ext uri="{FF2B5EF4-FFF2-40B4-BE49-F238E27FC236}">
                <ns2:creationId id="{D599A719-1E57-4637-B8AE-2EADBB60B92A}"/>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27</a:t>
            </a:r>
          </a:p>
        </p:txBody>
      </p:sp>
      <p:sp>
        <p:nvSpPr>
          <p:cNvPr id="3" name="Title">
            <a:extLst>
              <a:ext uri="{FF2B5EF4-FFF2-40B4-BE49-F238E27FC236}">
                <ns2:creationId id="{8BB1BE9D-040A-44D0-AEAF-D2C3ACE9FBD0}"/>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The week around your webinar</a:t>
            </a:r>
          </a:p>
        </p:txBody>
      </p:sp>
      <p:sp>
        <p:nvSpPr>
          <p:cNvPr id="4" name="">
            <a:extLst>
              <a:ext uri="{FF2B5EF4-FFF2-40B4-BE49-F238E27FC236}">
                <ns2:creationId id="{0F5BB3E7-43FB-4F91-B6E5-6557057A7B6C}"/>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en-GB">
                <a:solidFill>
                  <a:srgbClr val="148977"/>
                </a:solidFill>
                <a:latin typeface="Arial"/>
                <a:ea typeface="Arial"/>
                <a:cs typeface="Arial"/>
              </a:rPr>
              <a:t>1.</a:t>
            </a:r>
          </a:p>
        </p:txBody>
      </p:sp>
      <p:sp>
        <p:nvSpPr>
          <p:cNvPr id="5" name="">
            <a:extLst>
              <a:ext uri="{FF2B5EF4-FFF2-40B4-BE49-F238E27FC236}">
                <ns2:creationId id="{82D731A5-172B-48C5-9CD0-E353F39BF95A}"/>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en-GB">
                <a:solidFill>
                  <a:srgbClr val="153F36"/>
                </a:solidFill>
                <a:latin typeface="Arial"/>
                <a:ea typeface="Arial"/>
                <a:cs typeface="Arial"/>
              </a:rPr>
              <a:t>Before the event</a:t>
            </a:r>
          </a:p>
        </p:txBody>
      </p:sp>
      <p:sp>
        <p:nvSpPr>
          <p:cNvPr id="6" name="">
            <a:extLst>
              <a:ext uri="{FF2B5EF4-FFF2-40B4-BE49-F238E27FC236}">
                <ns2:creationId id="{DE5EA19D-E7B5-44A8-9292-5670686D93E3}"/>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Invite people suited to the topic and track registrations.</a:t>
            </a:r>
          </a:p>
        </p:txBody>
      </p:sp>
      <p:sp>
        <p:nvSpPr>
          <p:cNvPr id="7" name="">
            <a:extLst>
              <a:ext uri="{FF2B5EF4-FFF2-40B4-BE49-F238E27FC236}">
                <ns2:creationId id="{3563B572-16E0-4754-AEA8-67452D850777}"/>
              </a:ext>
            </a:extLst>
          </p:cNvPr>
          <p:cNvSpPr>
            <a:spLocks noGrp="1"/>
          </p:cNvSpPr>
          <p:nvPr/>
        </p:nvSpPr>
        <p:spPr>
          <a:xfrm>
            <a:off x="609600" y="3133725"/>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en-GB">
                <a:solidFill>
                  <a:srgbClr val="148977"/>
                </a:solidFill>
                <a:latin typeface="Arial"/>
                <a:ea typeface="Arial"/>
                <a:cs typeface="Arial"/>
              </a:rPr>
              <a:t>2.</a:t>
            </a:r>
          </a:p>
        </p:txBody>
      </p:sp>
      <p:sp>
        <p:nvSpPr>
          <p:cNvPr id="8" name="">
            <a:extLst>
              <a:ext uri="{FF2B5EF4-FFF2-40B4-BE49-F238E27FC236}">
                <ns2:creationId id="{8ADC08C2-B626-42AB-8FE0-A6E440453B26}"/>
              </a:ext>
            </a:extLst>
          </p:cNvPr>
          <p:cNvSpPr>
            <a:spLocks noGrp="1"/>
          </p:cNvSpPr>
          <p:nvPr/>
        </p:nvSpPr>
        <p:spPr>
          <a:xfrm>
            <a:off x="1257300" y="3133725"/>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en-GB">
                <a:solidFill>
                  <a:srgbClr val="153F36"/>
                </a:solidFill>
                <a:latin typeface="Arial"/>
                <a:ea typeface="Arial"/>
                <a:cs typeface="Arial"/>
              </a:rPr>
              <a:t>On the webinar day</a:t>
            </a:r>
          </a:p>
        </p:txBody>
      </p:sp>
      <p:sp>
        <p:nvSpPr>
          <p:cNvPr id="9" name="">
            <a:extLst>
              <a:ext uri="{FF2B5EF4-FFF2-40B4-BE49-F238E27FC236}">
                <ns2:creationId id="{DADD1F90-51F6-4480-B898-7B0301DA703B}"/>
              </a:ext>
            </a:extLst>
          </p:cNvPr>
          <p:cNvSpPr>
            <a:spLocks noGrp="1"/>
          </p:cNvSpPr>
          <p:nvPr/>
        </p:nvSpPr>
        <p:spPr>
          <a:xfrm>
            <a:off x="1257300" y="35433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Check the agreement with guests and the access link.</a:t>
            </a:r>
          </a:p>
        </p:txBody>
      </p:sp>
      <p:sp>
        <p:nvSpPr>
          <p:cNvPr id="10" name="">
            <a:extLst>
              <a:ext uri="{FF2B5EF4-FFF2-40B4-BE49-F238E27FC236}">
                <ns2:creationId id="{484C3046-0C6A-4B03-8AD2-29A084085E35}"/>
              </a:ext>
            </a:extLst>
          </p:cNvPr>
          <p:cNvSpPr>
            <a:spLocks noGrp="1"/>
          </p:cNvSpPr>
          <p:nvPr/>
        </p:nvSpPr>
        <p:spPr>
          <a:xfrm>
            <a:off x="609600" y="43053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en-GB">
                <a:solidFill>
                  <a:srgbClr val="148977"/>
                </a:solidFill>
                <a:latin typeface="Arial"/>
                <a:ea typeface="Arial"/>
                <a:cs typeface="Arial"/>
              </a:rPr>
              <a:t>3.</a:t>
            </a:r>
          </a:p>
        </p:txBody>
      </p:sp>
      <p:sp>
        <p:nvSpPr>
          <p:cNvPr id="11" name="">
            <a:extLst>
              <a:ext uri="{FF2B5EF4-FFF2-40B4-BE49-F238E27FC236}">
                <ns2:creationId id="{9A55AF0B-C2C8-4E43-9E8D-6C7703D217C1}"/>
              </a:ext>
            </a:extLst>
          </p:cNvPr>
          <p:cNvSpPr>
            <a:spLocks noGrp="1"/>
          </p:cNvSpPr>
          <p:nvPr/>
        </p:nvSpPr>
        <p:spPr>
          <a:xfrm>
            <a:off x="1257300" y="43053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en-GB">
                <a:solidFill>
                  <a:srgbClr val="153F36"/>
                </a:solidFill>
                <a:latin typeface="Arial"/>
                <a:ea typeface="Arial"/>
                <a:cs typeface="Arial"/>
              </a:rPr>
              <a:t>After the meeting</a:t>
            </a:r>
          </a:p>
        </p:txBody>
      </p:sp>
      <p:sp>
        <p:nvSpPr>
          <p:cNvPr id="12" name="">
            <a:extLst>
              <a:ext uri="{FF2B5EF4-FFF2-40B4-BE49-F238E27FC236}">
                <ns2:creationId id="{DB263AC0-53C8-4704-9C0D-1FE463EBD2D5}"/>
              </a:ext>
            </a:extLst>
          </p:cNvPr>
          <p:cNvSpPr>
            <a:spLocks noGrp="1"/>
          </p:cNvSpPr>
          <p:nvPr/>
        </p:nvSpPr>
        <p:spPr>
          <a:xfrm>
            <a:off x="1257300" y="47148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Discuss their interest and agree on the next step.</a:t>
            </a:r>
          </a:p>
        </p:txBody>
      </p:sp>
      <p:sp>
        <p:nvSpPr>
          <p:cNvPr id="13" name="">
            <a:extLst>
              <a:ext uri="{FF2B5EF4-FFF2-40B4-BE49-F238E27FC236}">
                <ns2:creationId id="{75B3B4AC-FE57-4B6D-896B-D75217171EA0}"/>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en-GB">
                <a:solidFill>
                  <a:srgbClr val="526B63"/>
                </a:solidFill>
                <a:latin typeface="Arial"/>
                <a:ea typeface="Arial"/>
                <a:cs typeface="Arial"/>
              </a:rPr>
              <a:t>Between meetings, work with customers and continue available My path steps.</a:t>
            </a:r>
          </a:p>
        </p:txBody>
      </p:sp>
    </p:spTree>
    <p:extLst>
      <p:ext uri="{BB962C8B-B14F-4D97-AF65-F5344CB8AC3E}">
        <ns4:creationId val="1050284790"/>
      </p:ext>
    </p:extLst>
  </p:cSld>
</p:sld>
</file>

<file path=ppt/slides/slide2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90AF6069-FCC7-4456-B755-1C11B7C5D272}"/>
              </a:ext>
            </a:extLst>
          </p:cNvPr>
          <p:cNvPicPr>
            <a:picLocks noChangeAspect="1"/>
          </p:cNvPicPr>
          <p:nvPr/>
        </p:nvPicPr>
        <p:blipFill>
          <a:blip r:embed="R2ce76662dc9b4623"/>
          <a:stretch/>
        </p:blipFill>
        <p:spPr>
          <a:xfrm>
            <a:off x="9867900" y="276061"/>
            <a:ext cx="1695450" cy="438478"/>
          </a:xfrm>
          <a:prstGeom prst="rect">
            <a:avLst/>
          </a:prstGeom>
        </p:spPr>
      </p:pic>
      <p:sp>
        <p:nvSpPr>
          <p:cNvPr id="2" name="">
            <a:extLst>
              <a:ext uri="{FF2B5EF4-FFF2-40B4-BE49-F238E27FC236}">
                <ns2:creationId id="{C23F1E39-5BF0-44A4-A298-3D226CF4DBA5}"/>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28</a:t>
            </a:r>
          </a:p>
        </p:txBody>
      </p:sp>
      <p:sp>
        <p:nvSpPr>
          <p:cNvPr id="3" name="Title">
            <a:extLst>
              <a:ext uri="{FF2B5EF4-FFF2-40B4-BE49-F238E27FC236}">
                <ns2:creationId id="{AB0951CD-823B-4F14-9076-B1C104C88A1D}"/>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An example first week</a:t>
            </a:r>
          </a:p>
        </p:txBody>
      </p:sp>
      <p:sp>
        <p:nvSpPr>
          <p:cNvPr id="4" name="">
            <a:extLst>
              <a:ext uri="{FF2B5EF4-FFF2-40B4-BE49-F238E27FC236}">
                <ns2:creationId id="{E4E16D70-7C22-4173-AEA3-D57D27D08849}"/>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en-GB">
                <a:solidFill>
                  <a:srgbClr val="148977"/>
                </a:solidFill>
                <a:latin typeface="Arial"/>
                <a:ea typeface="Arial"/>
                <a:cs typeface="Arial"/>
              </a:rPr>
              <a:t>1.</a:t>
            </a:r>
          </a:p>
        </p:txBody>
      </p:sp>
      <p:sp>
        <p:nvSpPr>
          <p:cNvPr id="5" name="">
            <a:extLst>
              <a:ext uri="{FF2B5EF4-FFF2-40B4-BE49-F238E27FC236}">
                <ns2:creationId id="{89CAEC09-35AD-4098-B8D6-9F7812181948}"/>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en-GB">
                <a:solidFill>
                  <a:srgbClr val="153F36"/>
                </a:solidFill>
                <a:latin typeface="Arial"/>
                <a:ea typeface="Arial"/>
                <a:cs typeface="Arial"/>
              </a:rPr>
              <a:t>Getting started</a:t>
            </a:r>
          </a:p>
        </p:txBody>
      </p:sp>
      <p:sp>
        <p:nvSpPr>
          <p:cNvPr id="6" name="">
            <a:extLst>
              <a:ext uri="{FF2B5EF4-FFF2-40B4-BE49-F238E27FC236}">
                <ns2:creationId id="{0D5006A6-5EE1-48F3-BADE-BF53FCED4EB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Your account, card and a conversation with your sponsor.</a:t>
            </a:r>
          </a:p>
        </p:txBody>
      </p:sp>
      <p:sp>
        <p:nvSpPr>
          <p:cNvPr id="7" name="">
            <a:extLst>
              <a:ext uri="{FF2B5EF4-FFF2-40B4-BE49-F238E27FC236}">
                <ns2:creationId id="{7303B055-FEE5-47B6-8053-4DA925ABC5E7}"/>
              </a:ext>
            </a:extLst>
          </p:cNvPr>
          <p:cNvSpPr>
            <a:spLocks noGrp="1"/>
          </p:cNvSpPr>
          <p:nvPr/>
        </p:nvSpPr>
        <p:spPr>
          <a:xfrm>
            <a:off x="609600" y="28575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en-GB">
                <a:solidFill>
                  <a:srgbClr val="148977"/>
                </a:solidFill>
                <a:latin typeface="Arial"/>
                <a:ea typeface="Arial"/>
                <a:cs typeface="Arial"/>
              </a:rPr>
              <a:t>2.</a:t>
            </a:r>
          </a:p>
        </p:txBody>
      </p:sp>
      <p:sp>
        <p:nvSpPr>
          <p:cNvPr id="8" name="">
            <a:extLst>
              <a:ext uri="{FF2B5EF4-FFF2-40B4-BE49-F238E27FC236}">
                <ns2:creationId id="{9F217234-F93D-4B66-BF0E-A719F5C8D308}"/>
              </a:ext>
            </a:extLst>
          </p:cNvPr>
          <p:cNvSpPr>
            <a:spLocks noGrp="1"/>
          </p:cNvSpPr>
          <p:nvPr/>
        </p:nvSpPr>
        <p:spPr>
          <a:xfrm>
            <a:off x="1257300" y="28575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en-GB">
                <a:solidFill>
                  <a:srgbClr val="153F36"/>
                </a:solidFill>
                <a:latin typeface="Arial"/>
                <a:ea typeface="Arial"/>
                <a:cs typeface="Arial"/>
              </a:rPr>
              <a:t>One useful recommendation</a:t>
            </a:r>
          </a:p>
        </p:txBody>
      </p:sp>
      <p:sp>
        <p:nvSpPr>
          <p:cNvPr id="9" name="">
            <a:extLst>
              <a:ext uri="{FF2B5EF4-FFF2-40B4-BE49-F238E27FC236}">
                <ns2:creationId id="{CC951A8C-6108-4925-B9E2-E88BC497C0F5}"/>
              </a:ext>
            </a:extLst>
          </p:cNvPr>
          <p:cNvSpPr>
            <a:spLocks noGrp="1"/>
          </p:cNvSpPr>
          <p:nvPr/>
        </p:nvSpPr>
        <p:spPr>
          <a:xfrm>
            <a:off x="1257300" y="32670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Choose a product and write a natural personal message.</a:t>
            </a:r>
          </a:p>
        </p:txBody>
      </p:sp>
      <p:sp>
        <p:nvSpPr>
          <p:cNvPr id="10" name="">
            <a:extLst>
              <a:ext uri="{FF2B5EF4-FFF2-40B4-BE49-F238E27FC236}">
                <ns2:creationId id="{9D38A44F-AE96-4E0B-9981-4DAFF3425B47}"/>
              </a:ext>
            </a:extLst>
          </p:cNvPr>
          <p:cNvSpPr>
            <a:spLocks noGrp="1"/>
          </p:cNvSpPr>
          <p:nvPr/>
        </p:nvSpPr>
        <p:spPr>
          <a:xfrm>
            <a:off x="609600" y="37528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en-GB">
                <a:solidFill>
                  <a:srgbClr val="148977"/>
                </a:solidFill>
                <a:latin typeface="Arial"/>
                <a:ea typeface="Arial"/>
                <a:cs typeface="Arial"/>
              </a:rPr>
              <a:t>3.</a:t>
            </a:r>
          </a:p>
        </p:txBody>
      </p:sp>
      <p:sp>
        <p:nvSpPr>
          <p:cNvPr id="11" name="">
            <a:extLst>
              <a:ext uri="{FF2B5EF4-FFF2-40B4-BE49-F238E27FC236}">
                <ns2:creationId id="{8E9E14C2-91E9-4D7C-AAE4-F4F0E9B5CF6F}"/>
              </a:ext>
            </a:extLst>
          </p:cNvPr>
          <p:cNvSpPr>
            <a:spLocks noGrp="1"/>
          </p:cNvSpPr>
          <p:nvPr/>
        </p:nvSpPr>
        <p:spPr>
          <a:xfrm>
            <a:off x="1257300" y="37528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en-GB">
                <a:solidFill>
                  <a:srgbClr val="153F36"/>
                </a:solidFill>
                <a:latin typeface="Arial"/>
                <a:ea typeface="Arial"/>
                <a:cs typeface="Arial"/>
              </a:rPr>
              <a:t>One invitation</a:t>
            </a:r>
          </a:p>
        </p:txBody>
      </p:sp>
      <p:sp>
        <p:nvSpPr>
          <p:cNvPr id="12" name="">
            <a:extLst>
              <a:ext uri="{FF2B5EF4-FFF2-40B4-BE49-F238E27FC236}">
                <ns2:creationId id="{D22D0B3A-262A-432C-81FD-50F65D84DE52}"/>
              </a:ext>
            </a:extLst>
          </p:cNvPr>
          <p:cNvSpPr>
            <a:spLocks noGrp="1"/>
          </p:cNvSpPr>
          <p:nvPr/>
        </p:nvSpPr>
        <p:spPr>
          <a:xfrm>
            <a:off x="1257300" y="41624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Choose a current webinar and prepare the invitation.</a:t>
            </a:r>
          </a:p>
        </p:txBody>
      </p:sp>
      <p:sp>
        <p:nvSpPr>
          <p:cNvPr id="13" name="">
            <a:extLst>
              <a:ext uri="{FF2B5EF4-FFF2-40B4-BE49-F238E27FC236}">
                <ns2:creationId id="{E7B9CBFC-3ADE-4A30-AE7C-A4D42E435278}"/>
              </a:ext>
            </a:extLst>
          </p:cNvPr>
          <p:cNvSpPr>
            <a:spLocks noGrp="1"/>
          </p:cNvSpPr>
          <p:nvPr/>
        </p:nvSpPr>
        <p:spPr>
          <a:xfrm>
            <a:off x="609600" y="46482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en-GB">
                <a:solidFill>
                  <a:srgbClr val="148977"/>
                </a:solidFill>
                <a:latin typeface="Arial"/>
                <a:ea typeface="Arial"/>
                <a:cs typeface="Arial"/>
              </a:rPr>
              <a:t>4.</a:t>
            </a:r>
          </a:p>
        </p:txBody>
      </p:sp>
      <p:sp>
        <p:nvSpPr>
          <p:cNvPr id="14" name="">
            <a:extLst>
              <a:ext uri="{FF2B5EF4-FFF2-40B4-BE49-F238E27FC236}">
                <ns2:creationId id="{08B2CFAD-8690-4998-8924-E7791A9679EB}"/>
              </a:ext>
            </a:extLst>
          </p:cNvPr>
          <p:cNvSpPr>
            <a:spLocks noGrp="1"/>
          </p:cNvSpPr>
          <p:nvPr/>
        </p:nvSpPr>
        <p:spPr>
          <a:xfrm>
            <a:off x="1257300" y="46482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en-GB">
                <a:solidFill>
                  <a:srgbClr val="153F36"/>
                </a:solidFill>
                <a:latin typeface="Arial"/>
                <a:ea typeface="Arial"/>
                <a:cs typeface="Arial"/>
              </a:rPr>
              <a:t>Brief reflection</a:t>
            </a:r>
          </a:p>
        </p:txBody>
      </p:sp>
      <p:sp>
        <p:nvSpPr>
          <p:cNvPr id="15" name="">
            <a:extLst>
              <a:ext uri="{FF2B5EF4-FFF2-40B4-BE49-F238E27FC236}">
                <ns2:creationId id="{31F9D09C-3988-4A44-80DE-E4905FDBB713}"/>
              </a:ext>
            </a:extLst>
          </p:cNvPr>
          <p:cNvSpPr>
            <a:spLocks noGrp="1"/>
          </p:cNvSpPr>
          <p:nvPr/>
        </p:nvSpPr>
        <p:spPr>
          <a:xfrm>
            <a:off x="1257300" y="5057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What is done, what is unclear and what comes next.</a:t>
            </a:r>
          </a:p>
        </p:txBody>
      </p:sp>
    </p:spTree>
    <p:extLst>
      <p:ext uri="{BB962C8B-B14F-4D97-AF65-F5344CB8AC3E}">
        <ns4:creationId val="185701561"/>
      </p:ext>
    </p:extLst>
  </p:cSld>
</p:sld>
</file>

<file path=ppt/slides/slide2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6A372F37-AC02-4069-917F-14900D63FA2F}"/>
              </a:ext>
            </a:extLst>
          </p:cNvPr>
          <p:cNvPicPr>
            <a:picLocks noChangeAspect="1"/>
          </p:cNvPicPr>
          <p:nvPr/>
        </p:nvPicPr>
        <p:blipFill>
          <a:blip r:embed="R5e6a51b14994433f"/>
          <a:stretch/>
        </p:blipFill>
        <p:spPr>
          <a:xfrm>
            <a:off x="9867900" y="276061"/>
            <a:ext cx="1695450" cy="438478"/>
          </a:xfrm>
          <a:prstGeom prst="rect">
            <a:avLst/>
          </a:prstGeom>
        </p:spPr>
      </p:pic>
      <p:sp>
        <p:nvSpPr>
          <p:cNvPr id="2" name="">
            <a:extLst>
              <a:ext uri="{FF2B5EF4-FFF2-40B4-BE49-F238E27FC236}">
                <ns2:creationId id="{F59ED990-7C91-47DE-B6FF-FD1484E9EE76}"/>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29</a:t>
            </a:r>
          </a:p>
        </p:txBody>
      </p:sp>
      <p:sp>
        <p:nvSpPr>
          <p:cNvPr id="3" name="Title">
            <a:extLst>
              <a:ext uri="{FF2B5EF4-FFF2-40B4-BE49-F238E27FC236}">
                <ns2:creationId id="{26408AEC-A0D6-4A44-A0F9-D0C8BC1357D7}"/>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Free and PRO: choosing what you need</a:t>
            </a:r>
          </a:p>
        </p:txBody>
      </p:sp>
      <p:sp>
        <p:nvSpPr>
          <p:cNvPr id="4" name="">
            <a:extLst>
              <a:ext uri="{FF2B5EF4-FFF2-40B4-BE49-F238E27FC236}">
                <ns2:creationId id="{60B55B24-89D6-4E5D-A9E8-E601C38C3855}"/>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en-GB">
                <a:solidFill>
                  <a:srgbClr val="153F36"/>
                </a:solidFill>
                <a:latin typeface="Arial"/>
                <a:ea typeface="Arial"/>
                <a:cs typeface="Arial"/>
              </a:rPr>
              <a:t>Free</a:t>
            </a:r>
          </a:p>
        </p:txBody>
      </p:sp>
      <p:sp>
        <p:nvSpPr>
          <p:cNvPr id="5" name="">
            <a:extLst>
              <a:ext uri="{FF2B5EF4-FFF2-40B4-BE49-F238E27FC236}">
                <ns2:creationId id="{43A95E34-CA37-48CF-8F92-03753AFC8E52}"/>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en-GB">
                <a:solidFill>
                  <a:srgbClr val="526B63"/>
                </a:solidFill>
                <a:latin typeface="Arial"/>
                <a:ea typeface="Arial"/>
                <a:cs typeface="Arial"/>
              </a:rPr>
              <a:t>Personal card and sharing recommendations.</a:t>
            </a:r>
          </a:p>
          <a:p>
            <a:r>
              <a:t/>
            </a:r>
          </a:p>
          <a:p>
            <a:pPr>
              <a:defRPr sz="2175" b="0">
                <a:solidFill>
                  <a:srgbClr val="526B63"/>
                </a:solidFill>
                <a:latin typeface="Arial"/>
                <a:ea typeface="Arial"/>
                <a:cs typeface="Arial"/>
              </a:defRPr>
            </a:pPr>
            <a:r>
              <a:rPr sz="2175" b="0" lang="en-GB">
                <a:solidFill>
                  <a:srgbClr val="526B63"/>
                </a:solidFill>
                <a:latin typeface="Arial"/>
                <a:ea typeface="Arial"/>
                <a:cs typeface="Arial"/>
              </a:rPr>
              <a:t>Contacts, agreed follow ups and personal tasks.</a:t>
            </a:r>
          </a:p>
        </p:txBody>
      </p:sp>
      <p:sp>
        <p:nvSpPr>
          <p:cNvPr id="6" name="">
            <a:extLst>
              <a:ext uri="{FF2B5EF4-FFF2-40B4-BE49-F238E27FC236}">
                <ns2:creationId id="{C4E1F5DC-0C3B-4C12-8156-1609B7C6E1B3}"/>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en-GB">
                <a:solidFill>
                  <a:srgbClr val="153F36"/>
                </a:solidFill>
                <a:latin typeface="Arial"/>
                <a:ea typeface="Arial"/>
                <a:cs typeface="Arial"/>
              </a:rPr>
              <a:t>PRO</a:t>
            </a:r>
          </a:p>
        </p:txBody>
      </p:sp>
      <p:sp>
        <p:nvSpPr>
          <p:cNvPr id="7" name="">
            <a:extLst>
              <a:ext uri="{FF2B5EF4-FFF2-40B4-BE49-F238E27FC236}">
                <ns2:creationId id="{E86197AF-9652-4CFF-A13A-1751EB92289C}"/>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en-GB">
                <a:solidFill>
                  <a:srgbClr val="526B63"/>
                </a:solidFill>
                <a:latin typeface="Arial"/>
                <a:ea typeface="Arial"/>
                <a:cs typeface="Arial"/>
              </a:rPr>
              <a:t>Personal Coach and team overview.</a:t>
            </a:r>
          </a:p>
          <a:p>
            <a:r>
              <a:t/>
            </a:r>
          </a:p>
          <a:p>
            <a:pPr>
              <a:defRPr sz="2175" b="0">
                <a:solidFill>
                  <a:srgbClr val="526B63"/>
                </a:solidFill>
                <a:latin typeface="Arial"/>
                <a:ea typeface="Arial"/>
                <a:cs typeface="Arial"/>
              </a:defRPr>
            </a:pPr>
            <a:r>
              <a:rPr sz="2175" b="0" lang="en-GB">
                <a:solidFill>
                  <a:srgbClr val="526B63"/>
                </a:solidFill>
                <a:latin typeface="Arial"/>
                <a:ea typeface="Arial"/>
                <a:cs typeface="Arial"/>
              </a:rPr>
              <a:t>Own webinars, video invitations and additional tools.</a:t>
            </a:r>
          </a:p>
        </p:txBody>
      </p:sp>
      <p:sp>
        <p:nvSpPr>
          <p:cNvPr id="8" name="">
            <a:extLst>
              <a:ext uri="{FF2B5EF4-FFF2-40B4-BE49-F238E27FC236}">
                <ns2:creationId id="{9AC41453-B93F-4081-8A58-8F439FDBAE8E}"/>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en-GB">
                <a:solidFill>
                  <a:srgbClr val="526B63"/>
                </a:solidFill>
                <a:latin typeface="Arial"/>
                <a:ea typeface="Arial"/>
                <a:cs typeface="Arial"/>
              </a:rPr>
              <a:t>PRO is a paid plan. Current features and prices are shown in FCC.</a:t>
            </a:r>
          </a:p>
        </p:txBody>
      </p:sp>
    </p:spTree>
    <p:extLst>
      <p:ext uri="{BB962C8B-B14F-4D97-AF65-F5344CB8AC3E}">
        <ns4:creationId val="1992491909"/>
      </p:ext>
    </p:extLst>
  </p:cSld>
</p:sld>
</file>

<file path=ppt/slides/slide3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8A847E84-CE4C-4CC0-B070-58B987762D4A}"/>
              </a:ext>
            </a:extLst>
          </p:cNvPr>
          <p:cNvPicPr>
            <a:picLocks noChangeAspect="1"/>
          </p:cNvPicPr>
          <p:nvPr/>
        </p:nvPicPr>
        <p:blipFill>
          <a:blip r:embed="R90f9cc35fcf0450c"/>
          <a:stretch/>
        </p:blipFill>
        <p:spPr>
          <a:xfrm>
            <a:off x="9867900" y="276061"/>
            <a:ext cx="1695450" cy="438478"/>
          </a:xfrm>
          <a:prstGeom prst="rect">
            <a:avLst/>
          </a:prstGeom>
        </p:spPr>
      </p:pic>
      <p:sp>
        <p:nvSpPr>
          <p:cNvPr id="2" name="">
            <a:extLst>
              <a:ext uri="{FF2B5EF4-FFF2-40B4-BE49-F238E27FC236}">
                <ns2:creationId id="{3998E854-20B7-4D4D-825D-9507829847E4}"/>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30</a:t>
            </a:r>
          </a:p>
        </p:txBody>
      </p:sp>
      <p:sp>
        <p:nvSpPr>
          <p:cNvPr id="3" name="Title">
            <a:extLst>
              <a:ext uri="{FF2B5EF4-FFF2-40B4-BE49-F238E27FC236}">
                <ns2:creationId id="{D7A61237-BA69-4EAE-BC4F-F276472E1BCE}"/>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Questions for a personal conversation</a:t>
            </a:r>
          </a:p>
        </p:txBody>
      </p:sp>
      <p:sp>
        <p:nvSpPr>
          <p:cNvPr id="4" name="">
            <a:extLst>
              <a:ext uri="{FF2B5EF4-FFF2-40B4-BE49-F238E27FC236}">
                <ns2:creationId id="{2DF79649-6C2F-45FF-8E1E-2C06B3DFCAC7}"/>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en-GB">
                <a:solidFill>
                  <a:srgbClr val="148977"/>
                </a:solidFill>
                <a:latin typeface="Arial"/>
                <a:ea typeface="Arial"/>
                <a:cs typeface="Arial"/>
              </a:rPr>
              <a:t>1.</a:t>
            </a:r>
          </a:p>
        </p:txBody>
      </p:sp>
      <p:sp>
        <p:nvSpPr>
          <p:cNvPr id="5" name="">
            <a:extLst>
              <a:ext uri="{FF2B5EF4-FFF2-40B4-BE49-F238E27FC236}">
                <ns2:creationId id="{0B6DA76C-B943-432A-B447-BF9D222BC1C7}"/>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en-GB">
                <a:solidFill>
                  <a:srgbClr val="153F36"/>
                </a:solidFill>
                <a:latin typeface="Arial"/>
                <a:ea typeface="Arial"/>
                <a:cs typeface="Arial"/>
              </a:rPr>
              <a:t>Which starting point suits me?</a:t>
            </a:r>
          </a:p>
        </p:txBody>
      </p:sp>
      <p:sp>
        <p:nvSpPr>
          <p:cNvPr id="6" name="">
            <a:extLst>
              <a:ext uri="{FF2B5EF4-FFF2-40B4-BE49-F238E27FC236}">
                <ns2:creationId id="{980D52DB-06F8-442B-9486-2B3594D0853F}"/>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Using products or a business partnership.</a:t>
            </a:r>
          </a:p>
        </p:txBody>
      </p:sp>
      <p:sp>
        <p:nvSpPr>
          <p:cNvPr id="7" name="">
            <a:extLst>
              <a:ext uri="{FF2B5EF4-FFF2-40B4-BE49-F238E27FC236}">
                <ns2:creationId id="{756C80F1-00D4-47FA-A748-CF5C89E7CDA3}"/>
              </a:ext>
            </a:extLst>
          </p:cNvPr>
          <p:cNvSpPr>
            <a:spLocks noGrp="1"/>
          </p:cNvSpPr>
          <p:nvPr/>
        </p:nvSpPr>
        <p:spPr>
          <a:xfrm>
            <a:off x="609600" y="284797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en-GB">
                <a:solidFill>
                  <a:srgbClr val="148977"/>
                </a:solidFill>
                <a:latin typeface="Arial"/>
                <a:ea typeface="Arial"/>
                <a:cs typeface="Arial"/>
              </a:rPr>
              <a:t>2.</a:t>
            </a:r>
          </a:p>
        </p:txBody>
      </p:sp>
      <p:sp>
        <p:nvSpPr>
          <p:cNvPr id="8" name="">
            <a:extLst>
              <a:ext uri="{FF2B5EF4-FFF2-40B4-BE49-F238E27FC236}">
                <ns2:creationId id="{57DE507B-F306-4302-BC81-A9F642343139}"/>
              </a:ext>
            </a:extLst>
          </p:cNvPr>
          <p:cNvSpPr>
            <a:spLocks noGrp="1"/>
          </p:cNvSpPr>
          <p:nvPr/>
        </p:nvSpPr>
        <p:spPr>
          <a:xfrm>
            <a:off x="1257300" y="284797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en-GB">
                <a:solidFill>
                  <a:srgbClr val="153F36"/>
                </a:solidFill>
                <a:latin typeface="Arial"/>
                <a:ea typeface="Arial"/>
                <a:cs typeface="Arial"/>
              </a:rPr>
              <a:t>How much time can I set aside?</a:t>
            </a:r>
          </a:p>
        </p:txBody>
      </p:sp>
      <p:sp>
        <p:nvSpPr>
          <p:cNvPr id="9" name="">
            <a:extLst>
              <a:ext uri="{FF2B5EF4-FFF2-40B4-BE49-F238E27FC236}">
                <ns2:creationId id="{F22B9F41-26A8-4FA6-8538-9DB9DA3162CF}"/>
              </a:ext>
            </a:extLst>
          </p:cNvPr>
          <p:cNvSpPr>
            <a:spLocks noGrp="1"/>
          </p:cNvSpPr>
          <p:nvPr/>
        </p:nvSpPr>
        <p:spPr>
          <a:xfrm>
            <a:off x="1257300" y="32575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Agree on a realistic pace and available steps.</a:t>
            </a:r>
          </a:p>
        </p:txBody>
      </p:sp>
      <p:sp>
        <p:nvSpPr>
          <p:cNvPr id="10" name="">
            <a:extLst>
              <a:ext uri="{FF2B5EF4-FFF2-40B4-BE49-F238E27FC236}">
                <ns2:creationId id="{3AEF13F9-FCAD-4E39-9580-49296A61F38E}"/>
              </a:ext>
            </a:extLst>
          </p:cNvPr>
          <p:cNvSpPr>
            <a:spLocks noGrp="1"/>
          </p:cNvSpPr>
          <p:nvPr/>
        </p:nvSpPr>
        <p:spPr>
          <a:xfrm>
            <a:off x="609600" y="37338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en-GB">
                <a:solidFill>
                  <a:srgbClr val="148977"/>
                </a:solidFill>
                <a:latin typeface="Arial"/>
                <a:ea typeface="Arial"/>
                <a:cs typeface="Arial"/>
              </a:rPr>
              <a:t>3.</a:t>
            </a:r>
          </a:p>
        </p:txBody>
      </p:sp>
      <p:sp>
        <p:nvSpPr>
          <p:cNvPr id="11" name="">
            <a:extLst>
              <a:ext uri="{FF2B5EF4-FFF2-40B4-BE49-F238E27FC236}">
                <ns2:creationId id="{79B1BB93-4440-41B9-A6A6-361B1780F78E}"/>
              </a:ext>
            </a:extLst>
          </p:cNvPr>
          <p:cNvSpPr>
            <a:spLocks noGrp="1"/>
          </p:cNvSpPr>
          <p:nvPr/>
        </p:nvSpPr>
        <p:spPr>
          <a:xfrm>
            <a:off x="1257300" y="37338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en-GB">
                <a:solidFill>
                  <a:srgbClr val="153F36"/>
                </a:solidFill>
                <a:latin typeface="Arial"/>
                <a:ea typeface="Arial"/>
                <a:cs typeface="Arial"/>
              </a:rPr>
              <a:t>Which costs should I check?</a:t>
            </a:r>
          </a:p>
        </p:txBody>
      </p:sp>
      <p:sp>
        <p:nvSpPr>
          <p:cNvPr id="12" name="">
            <a:extLst>
              <a:ext uri="{FF2B5EF4-FFF2-40B4-BE49-F238E27FC236}">
                <ns2:creationId id="{0D214BC7-68F9-4224-B971-EF7B21F274B6}"/>
              </a:ext>
            </a:extLst>
          </p:cNvPr>
          <p:cNvSpPr>
            <a:spLocks noGrp="1"/>
          </p:cNvSpPr>
          <p:nvPr/>
        </p:nvSpPr>
        <p:spPr>
          <a:xfrm>
            <a:off x="1257300" y="41433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Products, business and possibly the FCC PRO plan.</a:t>
            </a:r>
          </a:p>
        </p:txBody>
      </p:sp>
      <p:sp>
        <p:nvSpPr>
          <p:cNvPr id="13" name="">
            <a:extLst>
              <a:ext uri="{FF2B5EF4-FFF2-40B4-BE49-F238E27FC236}">
                <ns2:creationId id="{BAA6452F-3A8A-4DDB-8B39-8563C5F5DEAC}"/>
              </a:ext>
            </a:extLst>
          </p:cNvPr>
          <p:cNvSpPr>
            <a:spLocks noGrp="1"/>
          </p:cNvSpPr>
          <p:nvPr/>
        </p:nvSpPr>
        <p:spPr>
          <a:xfrm>
            <a:off x="609600" y="461962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en-GB">
                <a:solidFill>
                  <a:srgbClr val="148977"/>
                </a:solidFill>
                <a:latin typeface="Arial"/>
                <a:ea typeface="Arial"/>
                <a:cs typeface="Arial"/>
              </a:rPr>
              <a:t>4.</a:t>
            </a:r>
          </a:p>
        </p:txBody>
      </p:sp>
      <p:sp>
        <p:nvSpPr>
          <p:cNvPr id="14" name="">
            <a:extLst>
              <a:ext uri="{FF2B5EF4-FFF2-40B4-BE49-F238E27FC236}">
                <ns2:creationId id="{771B1C17-3F7C-4F88-85D9-5C27843AEC35}"/>
              </a:ext>
            </a:extLst>
          </p:cNvPr>
          <p:cNvSpPr>
            <a:spLocks noGrp="1"/>
          </p:cNvSpPr>
          <p:nvPr/>
        </p:nvSpPr>
        <p:spPr>
          <a:xfrm>
            <a:off x="1257300" y="461962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en-GB">
                <a:solidFill>
                  <a:srgbClr val="153F36"/>
                </a:solidFill>
                <a:latin typeface="Arial"/>
                <a:ea typeface="Arial"/>
                <a:cs typeface="Arial"/>
              </a:rPr>
              <a:t>Where can I get help?</a:t>
            </a:r>
          </a:p>
        </p:txBody>
      </p:sp>
      <p:sp>
        <p:nvSpPr>
          <p:cNvPr id="15" name="">
            <a:extLst>
              <a:ext uri="{FF2B5EF4-FFF2-40B4-BE49-F238E27FC236}">
                <ns2:creationId id="{E15C9F73-FB10-4547-9706-D38095AA7206}"/>
              </a:ext>
            </a:extLst>
          </p:cNvPr>
          <p:cNvSpPr>
            <a:spLocks noGrp="1"/>
          </p:cNvSpPr>
          <p:nvPr/>
        </p:nvSpPr>
        <p:spPr>
          <a:xfrm>
            <a:off x="1257300" y="5029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Your sponsor, team, learning and FCC support.</a:t>
            </a:r>
          </a:p>
        </p:txBody>
      </p:sp>
    </p:spTree>
    <p:extLst>
      <p:ext uri="{BB962C8B-B14F-4D97-AF65-F5344CB8AC3E}">
        <ns4:creationId val="65287420"/>
      </p:ext>
    </p:extLst>
  </p:cSld>
</p:sld>
</file>

<file path=ppt/slides/slide3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8F7198C6-2DE8-43DF-B1EF-D88A1974C6C5}"/>
              </a:ext>
            </a:extLst>
          </p:cNvPr>
          <p:cNvPicPr>
            <a:picLocks noChangeAspect="1"/>
          </p:cNvPicPr>
          <p:nvPr/>
        </p:nvPicPr>
        <p:blipFill>
          <a:blip r:embed="R83eb3923d8184bad"/>
          <a:stretch/>
        </p:blipFill>
        <p:spPr>
          <a:xfrm>
            <a:off x="9867900" y="276061"/>
            <a:ext cx="1695450" cy="438478"/>
          </a:xfrm>
          <a:prstGeom prst="rect">
            <a:avLst/>
          </a:prstGeom>
        </p:spPr>
      </p:pic>
      <p:sp>
        <p:nvSpPr>
          <p:cNvPr id="2" name="">
            <a:extLst>
              <a:ext uri="{FF2B5EF4-FFF2-40B4-BE49-F238E27FC236}">
                <ns2:creationId id="{1A09478C-BF47-4F20-BD76-F045C9D915C8}"/>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31</a:t>
            </a:r>
          </a:p>
        </p:txBody>
      </p:sp>
      <p:sp>
        <p:nvSpPr>
          <p:cNvPr id="3" name="Title">
            <a:extLst>
              <a:ext uri="{FF2B5EF4-FFF2-40B4-BE49-F238E27FC236}">
                <ns2:creationId id="{7D02396B-C2D6-47CB-AB7E-1597B626F1FE}"/>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The next step after the webinar</a:t>
            </a:r>
          </a:p>
        </p:txBody>
      </p:sp>
      <p:sp>
        <p:nvSpPr>
          <p:cNvPr id="4" name="">
            <a:extLst>
              <a:ext uri="{FF2B5EF4-FFF2-40B4-BE49-F238E27FC236}">
                <ns2:creationId id="{10FB5614-1D74-41FB-BD52-AAD704F16FB3}"/>
              </a:ext>
            </a:extLst>
          </p:cNvPr>
          <p:cNvSpPr>
            <a:spLocks noGrp="1"/>
          </p:cNvSpPr>
          <p:nvPr/>
        </p:nvSpPr>
        <p:spPr>
          <a:xfrm>
            <a:off x="609600" y="2171700"/>
            <a:ext cx="10401300" cy="1514475"/>
          </a:xfrm>
          <a:prstGeom prst="rect">
            <a:avLst/>
          </a:prstGeom>
          <a:noFill/>
          <a:ln w="0">
            <a:noFill/>
          </a:ln>
        </p:spPr>
        <p:txBody>
          <a:bodyPr wrap="square" lIns="0" tIns="0" rIns="0" bIns="0" anchor="t">
            <a:noAutofit/>
          </a:bodyPr>
          <a:lstStyle>
            <a:defPPr>
              <a:defRPr sz="4425" b="1">
                <a:solidFill>
                  <a:srgbClr val="153F36"/>
                </a:solidFill>
                <a:latin typeface="Arial"/>
                <a:ea typeface="Arial"/>
                <a:cs typeface="Arial"/>
              </a:defRPr>
            </a:defPPr>
          </a:lstStyle>
          <a:p>
            <a:pPr>
              <a:defRPr sz="4425" b="1">
                <a:solidFill>
                  <a:srgbClr val="153F36"/>
                </a:solidFill>
                <a:latin typeface="Arial"/>
                <a:ea typeface="Arial"/>
                <a:cs typeface="Arial"/>
              </a:defRPr>
            </a:pPr>
            <a:r>
              <a:rPr sz="4425" b="1" lang="en-GB">
                <a:solidFill>
                  <a:srgbClr val="153F36"/>
                </a:solidFill>
                <a:latin typeface="Arial"/>
                <a:ea typeface="Arial"/>
                <a:cs typeface="Arial"/>
              </a:rPr>
              <a:t>A conversation with the person</a:t>
            </a:r>
          </a:p>
          <a:p>
            <a:pPr>
              <a:defRPr sz="4425" b="1">
                <a:solidFill>
                  <a:srgbClr val="153F36"/>
                </a:solidFill>
                <a:latin typeface="Arial"/>
                <a:ea typeface="Arial"/>
                <a:cs typeface="Arial"/>
              </a:defRPr>
            </a:pPr>
            <a:r>
              <a:rPr sz="4425" b="1" lang="en-GB">
                <a:solidFill>
                  <a:srgbClr val="153F36"/>
                </a:solidFill>
                <a:latin typeface="Arial"/>
                <a:ea typeface="Arial"/>
                <a:cs typeface="Arial"/>
              </a:rPr>
              <a:t>who invited you</a:t>
            </a:r>
          </a:p>
        </p:txBody>
      </p:sp>
      <p:sp>
        <p:nvSpPr>
          <p:cNvPr id="5" name="">
            <a:extLst>
              <a:ext uri="{FF2B5EF4-FFF2-40B4-BE49-F238E27FC236}">
                <ns2:creationId id="{138D5422-BFFA-4FC8-B03E-A2E56FC32628}"/>
              </a:ext>
            </a:extLst>
          </p:cNvPr>
          <p:cNvSpPr>
            <a:spLocks noGrp="1"/>
          </p:cNvSpPr>
          <p:nvPr/>
        </p:nvSpPr>
        <p:spPr>
          <a:xfrm>
            <a:off x="609600" y="4181475"/>
            <a:ext cx="9763125" cy="1181100"/>
          </a:xfrm>
          <a:prstGeom prst="rect">
            <a:avLst/>
          </a:prstGeom>
          <a:noFill/>
          <a:ln w="0">
            <a:noFill/>
          </a:ln>
        </p:spPr>
        <p:txBody>
          <a:bodyPr wrap="square" lIns="0" tIns="0" rIns="0" bIns="0" anchor="t">
            <a:noAutofit/>
          </a:bodyPr>
          <a:lstStyle>
            <a:defPPr>
              <a:defRPr sz="2475" b="0">
                <a:solidFill>
                  <a:srgbClr val="526B63"/>
                </a:solidFill>
                <a:latin typeface="Arial"/>
                <a:ea typeface="Arial"/>
                <a:cs typeface="Arial"/>
              </a:defRPr>
            </a:defPPr>
          </a:lstStyle>
          <a:p>
            <a:pPr>
              <a:defRPr sz="2475" b="0">
                <a:solidFill>
                  <a:srgbClr val="526B63"/>
                </a:solidFill>
                <a:latin typeface="Arial"/>
                <a:ea typeface="Arial"/>
                <a:cs typeface="Arial"/>
              </a:defRPr>
            </a:pPr>
            <a:r>
              <a:rPr sz="2475" b="0" lang="en-GB">
                <a:solidFill>
                  <a:srgbClr val="526B63"/>
                </a:solidFill>
                <a:latin typeface="Arial"/>
                <a:ea typeface="Arial"/>
                <a:cs typeface="Arial"/>
              </a:rPr>
              <a:t>Explain what interests you, what needs clarification and how much time you want to set aside.</a:t>
            </a:r>
          </a:p>
        </p:txBody>
      </p:sp>
      <p:sp>
        <p:nvSpPr>
          <p:cNvPr id="6" name="">
            <a:extLst>
              <a:ext uri="{FF2B5EF4-FFF2-40B4-BE49-F238E27FC236}">
                <ns2:creationId id="{7F5EB97C-EEF2-4CDA-AB3D-386B3AC6E2D9}"/>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en-GB">
                <a:solidFill>
                  <a:srgbClr val="526B63"/>
                </a:solidFill>
                <a:latin typeface="Arial"/>
                <a:ea typeface="Arial"/>
                <a:cs typeface="Arial"/>
              </a:rPr>
              <a:t>Agree on one specific action and a date to continue the conversation.</a:t>
            </a:r>
          </a:p>
        </p:txBody>
      </p:sp>
    </p:spTree>
    <p:extLst>
      <p:ext uri="{BB962C8B-B14F-4D97-AF65-F5344CB8AC3E}">
        <ns4:creationId val="1646637869"/>
      </p:ext>
    </p:extLst>
  </p:cSld>
</p:sld>
</file>

<file path=ppt/slides/slide3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53F36"/>
        </a:solidFill>
      </p:bgPr>
    </p:bg>
    <p:spTree>
      <p:nvGrpSpPr>
        <p:cNvPr id="1" name=""/>
        <p:cNvGrpSpPr/>
        <p:nvPr/>
      </p:nvGrpSpPr>
      <p:grpSpPr>
        <a:xfrm/>
      </p:grpSpPr>
      <p:sp>
        <p:nvSpPr>
          <p:cNvPr id="4" name="">
            <a:extLst>
              <a:ext uri="{FF2B5EF4-FFF2-40B4-BE49-F238E27FC236}">
                <ns2:creationId id="{DE1B7833-FA5B-4202-9F43-6A55485BA4CF}"/>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D4E8DD"/>
                </a:solidFill>
                <a:latin typeface="Arial"/>
                <a:ea typeface="Arial"/>
                <a:cs typeface="Arial"/>
              </a:defRPr>
            </a:defPPr>
          </a:lstStyle>
          <a:p>
            <a:pPr>
              <a:defRPr sz="1350" b="0">
                <a:solidFill>
                  <a:srgbClr val="D4E8DD"/>
                </a:solidFill>
                <a:latin typeface="Arial"/>
                <a:ea typeface="Arial"/>
                <a:cs typeface="Arial"/>
              </a:defRPr>
            </a:pPr>
            <a:r>
              <a:rPr sz="1350" b="0" lang="en-GB">
                <a:solidFill>
                  <a:srgbClr val="D4E8DD"/>
                </a:solidFill>
                <a:latin typeface="Arial"/>
                <a:ea typeface="Arial"/>
                <a:cs typeface="Arial"/>
              </a:rPr>
              <a:t>32</a:t>
            </a:r>
          </a:p>
        </p:txBody>
      </p:sp>
      <p:sp>
        <p:nvSpPr>
          <p:cNvPr id="2" name="">
            <a:extLst>
              <a:ext uri="{FF2B5EF4-FFF2-40B4-BE49-F238E27FC236}">
                <ns2:creationId id="{48673BED-A37E-4BEC-B045-8AE20E7E660B}"/>
              </a:ext>
            </a:extLst>
          </p:cNvPr>
          <p:cNvSpPr>
            <a:spLocks noGrp="1"/>
          </p:cNvSpPr>
          <p:nvPr/>
        </p:nvSpPr>
        <p:spPr>
          <a:xfrm>
            <a:off x="609600" y="1609725"/>
            <a:ext cx="10734675" cy="2047875"/>
          </a:xfrm>
          <a:prstGeom prst="rect">
            <a:avLst/>
          </a:prstGeom>
          <a:noFill/>
          <a:ln w="0">
            <a:noFill/>
          </a:ln>
        </p:spPr>
        <p:txBody>
          <a:bodyPr wrap="square" lIns="0" tIns="0" rIns="0" bIns="0" anchor="t">
            <a:noAutofit/>
          </a:bodyPr>
          <a:lstStyle>
            <a:defPPr>
              <a:defRPr sz="5100" b="1">
                <a:solidFill>
                  <a:srgbClr val="FFFFFF"/>
                </a:solidFill>
                <a:latin typeface="Arial"/>
                <a:ea typeface="Arial"/>
                <a:cs typeface="Arial"/>
              </a:defRPr>
            </a:defPPr>
          </a:lstStyle>
          <a:p>
            <a:pPr>
              <a:defRPr sz="5100" b="1">
                <a:solidFill>
                  <a:srgbClr val="FFFFFF"/>
                </a:solidFill>
                <a:latin typeface="Arial"/>
                <a:ea typeface="Arial"/>
                <a:cs typeface="Arial"/>
              </a:defRPr>
            </a:pPr>
            <a:r>
              <a:rPr sz="5100" b="1" lang="en-GB">
                <a:solidFill>
                  <a:srgbClr val="FFFFFF"/>
                </a:solidFill>
                <a:latin typeface="Arial"/>
                <a:ea typeface="Arial"/>
                <a:cs typeface="Arial"/>
              </a:rPr>
              <a:t>Your start</a:t>
            </a:r>
          </a:p>
          <a:p>
            <a:pPr>
              <a:defRPr sz="5100" b="1">
                <a:solidFill>
                  <a:srgbClr val="FFFFFF"/>
                </a:solidFill>
                <a:latin typeface="Arial"/>
                <a:ea typeface="Arial"/>
                <a:cs typeface="Arial"/>
              </a:defRPr>
            </a:pPr>
            <a:r>
              <a:rPr sz="5100" b="1" lang="en-GB">
                <a:solidFill>
                  <a:srgbClr val="FFFFFF"/>
                </a:solidFill>
                <a:latin typeface="Arial"/>
                <a:ea typeface="Arial"/>
                <a:cs typeface="Arial"/>
              </a:rPr>
              <a:t>can be simple</a:t>
            </a:r>
          </a:p>
        </p:txBody>
      </p:sp>
      <p:sp>
        <p:nvSpPr>
          <p:cNvPr id="3" name="">
            <a:extLst>
              <a:ext uri="{FF2B5EF4-FFF2-40B4-BE49-F238E27FC236}">
                <ns2:creationId id="{441CDA0A-7E8B-43A7-86BF-23F4BF9B0BE0}"/>
              </a:ext>
            </a:extLst>
          </p:cNvPr>
          <p:cNvSpPr>
            <a:spLocks noGrp="1"/>
          </p:cNvSpPr>
          <p:nvPr/>
        </p:nvSpPr>
        <p:spPr>
          <a:xfrm>
            <a:off x="609600" y="4210050"/>
            <a:ext cx="9820275" cy="1638300"/>
          </a:xfrm>
          <a:prstGeom prst="rect">
            <a:avLst/>
          </a:prstGeom>
          <a:noFill/>
          <a:ln w="0">
            <a:noFill/>
          </a:ln>
        </p:spPr>
        <p:txBody>
          <a:bodyPr wrap="square" lIns="0" tIns="0" rIns="0" bIns="0" anchor="t">
            <a:noAutofit/>
          </a:bodyPr>
          <a:lstStyle>
            <a:defPPr>
              <a:defRPr sz="2925" b="0">
                <a:solidFill>
                  <a:srgbClr val="D4E8DD"/>
                </a:solidFill>
                <a:latin typeface="Arial"/>
                <a:ea typeface="Arial"/>
                <a:cs typeface="Arial"/>
              </a:defRPr>
            </a:defPPr>
          </a:lstStyle>
          <a:p>
            <a:pPr>
              <a:defRPr sz="2925" b="0">
                <a:solidFill>
                  <a:srgbClr val="D4E8DD"/>
                </a:solidFill>
                <a:latin typeface="Arial"/>
                <a:ea typeface="Arial"/>
                <a:cs typeface="Arial"/>
              </a:defRPr>
            </a:pPr>
            <a:r>
              <a:rPr sz="2925" b="0" lang="en-GB">
                <a:solidFill>
                  <a:srgbClr val="D4E8DD"/>
                </a:solidFill>
                <a:latin typeface="Arial"/>
                <a:ea typeface="Arial"/>
                <a:cs typeface="Arial"/>
              </a:rPr>
              <a:t>One conversation.</a:t>
            </a:r>
          </a:p>
          <a:p>
            <a:pPr>
              <a:defRPr sz="2925" b="0">
                <a:solidFill>
                  <a:srgbClr val="D4E8DD"/>
                </a:solidFill>
                <a:latin typeface="Arial"/>
                <a:ea typeface="Arial"/>
                <a:cs typeface="Arial"/>
              </a:defRPr>
            </a:pPr>
            <a:r>
              <a:rPr sz="2925" b="0" lang="en-GB">
                <a:solidFill>
                  <a:srgbClr val="D4E8DD"/>
                </a:solidFill>
                <a:latin typeface="Arial"/>
                <a:ea typeface="Arial"/>
                <a:cs typeface="Arial"/>
              </a:rPr>
              <a:t>One clear decision.</a:t>
            </a:r>
          </a:p>
          <a:p>
            <a:pPr>
              <a:defRPr sz="2925" b="0">
                <a:solidFill>
                  <a:srgbClr val="D4E8DD"/>
                </a:solidFill>
                <a:latin typeface="Arial"/>
                <a:ea typeface="Arial"/>
                <a:cs typeface="Arial"/>
              </a:defRPr>
            </a:pPr>
            <a:r>
              <a:rPr sz="2925" b="0" lang="en-GB">
                <a:solidFill>
                  <a:srgbClr val="D4E8DD"/>
                </a:solidFill>
                <a:latin typeface="Arial"/>
                <a:ea typeface="Arial"/>
                <a:cs typeface="Arial"/>
              </a:rPr>
              <a:t>An agreed next step.</a:t>
            </a:r>
          </a:p>
        </p:txBody>
      </p:sp>
    </p:spTree>
    <p:extLst>
      <p:ext uri="{BB962C8B-B14F-4D97-AF65-F5344CB8AC3E}">
        <ns3:creationId val="2036074544"/>
      </p:ext>
    </p:extLst>
  </p:cSld>
</p:sld>
</file>

<file path=ppt/slides/slide3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919AC765-DEBD-459C-8A3F-7848B2BF249B}"/>
              </a:ext>
            </a:extLst>
          </p:cNvPr>
          <p:cNvPicPr>
            <a:picLocks noChangeAspect="1"/>
          </p:cNvPicPr>
          <p:nvPr/>
        </p:nvPicPr>
        <p:blipFill>
          <a:blip r:embed="R36ae438961544b63"/>
          <a:stretch/>
        </p:blipFill>
        <p:spPr>
          <a:xfrm>
            <a:off x="9867900" y="276061"/>
            <a:ext cx="1695450" cy="438478"/>
          </a:xfrm>
          <a:prstGeom prst="rect">
            <a:avLst/>
          </a:prstGeom>
        </p:spPr>
      </p:pic>
      <p:sp>
        <p:nvSpPr>
          <p:cNvPr id="2" name="">
            <a:extLst>
              <a:ext uri="{FF2B5EF4-FFF2-40B4-BE49-F238E27FC236}">
                <ns2:creationId id="{C776E80E-1314-42F9-9BAB-2C2CE53DC492}"/>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33</a:t>
            </a:r>
          </a:p>
        </p:txBody>
      </p:sp>
      <p:sp>
        <p:nvSpPr>
          <p:cNvPr id="3" name="Title">
            <a:extLst>
              <a:ext uri="{FF2B5EF4-FFF2-40B4-BE49-F238E27FC236}">
                <ns2:creationId id="{FDBD1ABF-94B5-497A-B205-2296ED44BDD1}"/>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Appendix: personal bonuses</a:t>
            </a:r>
          </a:p>
        </p:txBody>
      </p:sp>
      <p:graphicFrame>
        <p:nvGraphicFramePr>
          <p:cNvPr id="4" name="">
            <a:extLst>
              <a:ext uri="{FF2B5EF4-FFF2-40B4-BE49-F238E27FC236}">
                <ns2:creationId id="{1052CBF9-BCC3-48FB-82FB-2DD99DE0DD52}"/>
              </a:ext>
            </a:extLst>
          </p:cNvPr>
          <p:cNvGraphicFramePr/>
          <p:nvPr/>
        </p:nvGraphicFramePr>
        <p:xfrm>
          <a:off x="609600" y="2114550"/>
          <a:ext cx="10953750" cy="3133725"/>
        </p:xfrm>
        <a:graphic>
          <a:graphicData uri="http://schemas.openxmlformats.org/drawingml/2006/table">
            <a:tbl>
              <a:tblPr/>
              <a:tblGrid>
                <a:gridCol w="5905500"/>
                <a:gridCol w="5048250"/>
              </a:tblGrid>
              <a:tr h="626745">
                <a:tc>
                  <a:txBody>
                    <a:bodyPr lIns="152400" tIns="133350" rIns="152400" bIns="114300">
                      <a:noAutofit/>
                    </a:bodyPr>
                    <a:lstStyle/>
                    <a:p>
                      <a:r>
                        <a:rPr sz="2100" b="1" lang="en-GB">
                          <a:solidFill>
                            <a:srgbClr val="FFFFFF"/>
                          </a:solidFill>
                          <a:latin typeface="Arial"/>
                          <a:ea typeface="Arial"/>
                          <a:cs typeface="Arial"/>
                        </a:rPr>
                        <a:t>Level</a:t>
                      </a:r>
                    </a:p>
                  </a:txBody>
                  <a:tcPr marL="91440" marR="91440" marT="45720" marB="45720">
                    <a:solidFill>
                      <a:srgbClr val="153F36"/>
                    </a:solidFill>
                  </a:tcPr>
                </a:tc>
                <a:tc>
                  <a:txBody>
                    <a:bodyPr lIns="152400" tIns="133350" rIns="152400" bIns="114300">
                      <a:noAutofit/>
                    </a:bodyPr>
                    <a:lstStyle/>
                    <a:p>
                      <a:r>
                        <a:rPr sz="2100" b="1" lang="en-GB">
                          <a:solidFill>
                            <a:srgbClr val="FFFFFF"/>
                          </a:solidFill>
                          <a:latin typeface="Arial"/>
                          <a:ea typeface="Arial"/>
                          <a:cs typeface="Arial"/>
                        </a:rPr>
                        <a:t>Personal bonus subject to conditions</a:t>
                      </a:r>
                    </a:p>
                  </a:txBody>
                  <a:tcPr marL="91440" marR="91440" marT="45720" marB="45720">
                    <a:solidFill>
                      <a:srgbClr val="153F36"/>
                    </a:solidFill>
                  </a:tcPr>
                </a:tc>
              </a:tr>
              <a:tr h="626745">
                <a:tc>
                  <a:txBody>
                    <a:bodyPr lIns="152400" tIns="133350" rIns="152400" bIns="114300">
                      <a:noAutofit/>
                    </a:bodyPr>
                    <a:lstStyle/>
                    <a:p>
                      <a:r>
                        <a:rPr sz="2100" b="0" lang="en-GB">
                          <a:solidFill>
                            <a:srgbClr val="153F36"/>
                          </a:solidFill>
                          <a:latin typeface="Arial"/>
                          <a:ea typeface="Arial"/>
                          <a:cs typeface="Arial"/>
                        </a:rPr>
                        <a:t>Assistant Supervisor</a:t>
                      </a:r>
                    </a:p>
                  </a:txBody>
                  <a:tcPr marL="91440" marR="91440" marT="45720" marB="45720">
                    <a:solidFill>
                      <a:srgbClr val="FFFFFF"/>
                    </a:solidFill>
                  </a:tcPr>
                </a:tc>
                <a:tc>
                  <a:txBody>
                    <a:bodyPr lIns="152400" tIns="133350" rIns="152400" bIns="114300">
                      <a:noAutofit/>
                    </a:bodyPr>
                    <a:lstStyle/>
                    <a:p>
                      <a:r>
                        <a:rPr sz="2100" b="0" lang="en-GB">
                          <a:solidFill>
                            <a:srgbClr val="153F36"/>
                          </a:solidFill>
                          <a:latin typeface="Arial"/>
                          <a:ea typeface="Arial"/>
                          <a:cs typeface="Arial"/>
                        </a:rPr>
                        <a:t>5%</a:t>
                      </a:r>
                    </a:p>
                  </a:txBody>
                  <a:tcPr marL="91440" marR="91440" marT="45720" marB="45720">
                    <a:solidFill>
                      <a:srgbClr val="FFFFFF"/>
                    </a:solidFill>
                  </a:tcPr>
                </a:tc>
              </a:tr>
              <a:tr h="626745">
                <a:tc>
                  <a:txBody>
                    <a:bodyPr lIns="152400" tIns="133350" rIns="152400" bIns="114300">
                      <a:noAutofit/>
                    </a:bodyPr>
                    <a:lstStyle/>
                    <a:p>
                      <a:r>
                        <a:rPr sz="2100" b="0" lang="en-GB">
                          <a:solidFill>
                            <a:srgbClr val="153F36"/>
                          </a:solidFill>
                          <a:latin typeface="Arial"/>
                          <a:ea typeface="Arial"/>
                          <a:cs typeface="Arial"/>
                        </a:rPr>
                        <a:t>Supervisor</a:t>
                      </a:r>
                    </a:p>
                  </a:txBody>
                  <a:tcPr marL="91440" marR="91440" marT="45720" marB="45720">
                    <a:solidFill>
                      <a:srgbClr val="F3F7F2"/>
                    </a:solidFill>
                  </a:tcPr>
                </a:tc>
                <a:tc>
                  <a:txBody>
                    <a:bodyPr lIns="152400" tIns="133350" rIns="152400" bIns="114300">
                      <a:noAutofit/>
                    </a:bodyPr>
                    <a:lstStyle/>
                    <a:p>
                      <a:r>
                        <a:rPr sz="2100" b="0" lang="en-GB">
                          <a:solidFill>
                            <a:srgbClr val="153F36"/>
                          </a:solidFill>
                          <a:latin typeface="Arial"/>
                          <a:ea typeface="Arial"/>
                          <a:cs typeface="Arial"/>
                        </a:rPr>
                        <a:t>8%</a:t>
                      </a:r>
                    </a:p>
                  </a:txBody>
                  <a:tcPr marL="91440" marR="91440" marT="45720" marB="45720">
                    <a:solidFill>
                      <a:srgbClr val="F3F7F2"/>
                    </a:solidFill>
                  </a:tcPr>
                </a:tc>
              </a:tr>
              <a:tr h="626745">
                <a:tc>
                  <a:txBody>
                    <a:bodyPr lIns="152400" tIns="133350" rIns="152400" bIns="114300">
                      <a:noAutofit/>
                    </a:bodyPr>
                    <a:lstStyle/>
                    <a:p>
                      <a:r>
                        <a:rPr sz="2100" b="0" lang="en-GB">
                          <a:solidFill>
                            <a:srgbClr val="153F36"/>
                          </a:solidFill>
                          <a:latin typeface="Arial"/>
                          <a:ea typeface="Arial"/>
                          <a:cs typeface="Arial"/>
                        </a:rPr>
                        <a:t>Assistant Manager</a:t>
                      </a:r>
                    </a:p>
                  </a:txBody>
                  <a:tcPr marL="91440" marR="91440" marT="45720" marB="45720">
                    <a:solidFill>
                      <a:srgbClr val="FFFFFF"/>
                    </a:solidFill>
                  </a:tcPr>
                </a:tc>
                <a:tc>
                  <a:txBody>
                    <a:bodyPr lIns="152400" tIns="133350" rIns="152400" bIns="114300">
                      <a:noAutofit/>
                    </a:bodyPr>
                    <a:lstStyle/>
                    <a:p>
                      <a:r>
                        <a:rPr sz="2100" b="0" lang="en-GB">
                          <a:solidFill>
                            <a:srgbClr val="153F36"/>
                          </a:solidFill>
                          <a:latin typeface="Arial"/>
                          <a:ea typeface="Arial"/>
                          <a:cs typeface="Arial"/>
                        </a:rPr>
                        <a:t>13%</a:t>
                      </a:r>
                    </a:p>
                  </a:txBody>
                  <a:tcPr marL="91440" marR="91440" marT="45720" marB="45720">
                    <a:solidFill>
                      <a:srgbClr val="FFFFFF"/>
                    </a:solidFill>
                  </a:tcPr>
                </a:tc>
              </a:tr>
              <a:tr h="626745">
                <a:tc>
                  <a:txBody>
                    <a:bodyPr lIns="152400" tIns="133350" rIns="152400" bIns="114300">
                      <a:noAutofit/>
                    </a:bodyPr>
                    <a:lstStyle/>
                    <a:p>
                      <a:r>
                        <a:rPr sz="2100" b="0" lang="en-GB">
                          <a:solidFill>
                            <a:srgbClr val="153F36"/>
                          </a:solidFill>
                          <a:latin typeface="Arial"/>
                          <a:ea typeface="Arial"/>
                          <a:cs typeface="Arial"/>
                        </a:rPr>
                        <a:t>Manager</a:t>
                      </a:r>
                    </a:p>
                  </a:txBody>
                  <a:tcPr marL="91440" marR="91440" marT="45720" marB="45720">
                    <a:solidFill>
                      <a:srgbClr val="F3F7F2"/>
                    </a:solidFill>
                  </a:tcPr>
                </a:tc>
                <a:tc>
                  <a:txBody>
                    <a:bodyPr lIns="152400" tIns="133350" rIns="152400" bIns="114300">
                      <a:noAutofit/>
                    </a:bodyPr>
                    <a:lstStyle/>
                    <a:p>
                      <a:r>
                        <a:rPr sz="2100" b="0" lang="en-GB">
                          <a:solidFill>
                            <a:srgbClr val="153F36"/>
                          </a:solidFill>
                          <a:latin typeface="Arial"/>
                          <a:ea typeface="Arial"/>
                          <a:cs typeface="Arial"/>
                        </a:rPr>
                        <a:t>18%</a:t>
                      </a:r>
                    </a:p>
                  </a:txBody>
                  <a:tcPr marL="91440" marR="91440" marT="45720" marB="45720">
                    <a:solidFill>
                      <a:srgbClr val="F3F7F2"/>
                    </a:solidFill>
                  </a:tcPr>
                </a:tc>
              </a:tr>
            </a:tbl>
          </a:graphicData>
        </a:graphic>
      </p:graphicFrame>
      <p:sp>
        <p:nvSpPr>
          <p:cNvPr id="5" name="">
            <a:extLst>
              <a:ext uri="{FF2B5EF4-FFF2-40B4-BE49-F238E27FC236}">
                <ns2:creationId id="{1E561589-9528-4BA8-A2CF-2393305A4FED}"/>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en-GB">
                <a:solidFill>
                  <a:srgbClr val="526B63"/>
                </a:solidFill>
                <a:latin typeface="Arial"/>
                <a:ea typeface="Arial"/>
                <a:cs typeface="Arial"/>
              </a:rPr>
              <a:t>Volume bonus: 3% to 13%. Leadership: 6%, 3%, 2%, with additional conditions.</a:t>
            </a:r>
          </a:p>
        </p:txBody>
      </p:sp>
    </p:spTree>
    <p:extLst>
      <p:ext uri="{BB962C8B-B14F-4D97-AF65-F5344CB8AC3E}">
        <ns4:creationId val="515602699"/>
      </p:ext>
    </p:extLst>
  </p:cSld>
</p:sld>
</file>

<file path=ppt/slides/slide3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281D3A7B-CCA2-4A99-B091-81AFBE2930EC}"/>
              </a:ext>
            </a:extLst>
          </p:cNvPr>
          <p:cNvPicPr>
            <a:picLocks noChangeAspect="1"/>
          </p:cNvPicPr>
          <p:nvPr/>
        </p:nvPicPr>
        <p:blipFill>
          <a:blip r:embed="R9c5ed023181f4870"/>
          <a:stretch/>
        </p:blipFill>
        <p:spPr>
          <a:xfrm>
            <a:off x="9867900" y="276061"/>
            <a:ext cx="1695450" cy="438478"/>
          </a:xfrm>
          <a:prstGeom prst="rect">
            <a:avLst/>
          </a:prstGeom>
        </p:spPr>
      </p:pic>
      <p:sp>
        <p:nvSpPr>
          <p:cNvPr id="2" name="">
            <a:extLst>
              <a:ext uri="{FF2B5EF4-FFF2-40B4-BE49-F238E27FC236}">
                <ns2:creationId id="{FDD79E68-255C-4685-B243-6F1616C2F4F8}"/>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34</a:t>
            </a:r>
          </a:p>
        </p:txBody>
      </p:sp>
      <p:sp>
        <p:nvSpPr>
          <p:cNvPr id="3" name="Title">
            <a:extLst>
              <a:ext uri="{FF2B5EF4-FFF2-40B4-BE49-F238E27FC236}">
                <ns2:creationId id="{780CCEFC-9D8C-49DA-9FD7-987C98FE8701}"/>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Appendix: Forever2Drive</a:t>
            </a:r>
          </a:p>
        </p:txBody>
      </p:sp>
      <p:graphicFrame>
        <p:nvGraphicFramePr>
          <p:cNvPr id="4" name="">
            <a:extLst>
              <a:ext uri="{FF2B5EF4-FFF2-40B4-BE49-F238E27FC236}">
                <ns2:creationId id="{7E2485A5-066A-4AE2-AF1F-F24B4FA08B35}"/>
              </a:ext>
            </a:extLst>
          </p:cNvPr>
          <p:cNvGraphicFramePr/>
          <p:nvPr/>
        </p:nvGraphicFramePr>
        <p:xfrm>
          <a:off x="609600" y="2114550"/>
          <a:ext cx="10953750" cy="2647950"/>
        </p:xfrm>
        <a:graphic>
          <a:graphicData uri="http://schemas.openxmlformats.org/drawingml/2006/table">
            <a:tbl>
              <a:tblPr/>
              <a:tblGrid>
                <a:gridCol w="1238250"/>
                <a:gridCol w="2047875"/>
                <a:gridCol w="2047875"/>
                <a:gridCol w="2047875"/>
                <a:gridCol w="3571875"/>
              </a:tblGrid>
              <a:tr h="661988">
                <a:tc>
                  <a:txBody>
                    <a:bodyPr lIns="152400" tIns="133350" rIns="152400" bIns="114300">
                      <a:noAutofit/>
                    </a:bodyPr>
                    <a:lstStyle/>
                    <a:p>
                      <a:r>
                        <a:rPr sz="2025" b="1" lang="en-GB">
                          <a:solidFill>
                            <a:srgbClr val="FFFFFF"/>
                          </a:solidFill>
                          <a:latin typeface="Arial"/>
                          <a:ea typeface="Arial"/>
                          <a:cs typeface="Arial"/>
                        </a:rPr>
                        <a:t>Level</a:t>
                      </a:r>
                    </a:p>
                  </a:txBody>
                  <a:tcPr marL="91440" marR="91440" marT="45720" marB="45720">
                    <a:solidFill>
                      <a:srgbClr val="153F36"/>
                    </a:solidFill>
                  </a:tcPr>
                </a:tc>
                <a:tc>
                  <a:txBody>
                    <a:bodyPr lIns="152400" tIns="133350" rIns="152400" bIns="114300">
                      <a:noAutofit/>
                    </a:bodyPr>
                    <a:lstStyle/>
                    <a:p>
                      <a:r>
                        <a:rPr sz="2025" b="1" lang="en-GB">
                          <a:solidFill>
                            <a:srgbClr val="FFFFFF"/>
                          </a:solidFill>
                          <a:latin typeface="Arial"/>
                          <a:ea typeface="Arial"/>
                          <a:cs typeface="Arial"/>
                        </a:rPr>
                        <a:t>Month 1</a:t>
                      </a:r>
                    </a:p>
                  </a:txBody>
                  <a:tcPr marL="91440" marR="91440" marT="45720" marB="45720">
                    <a:solidFill>
                      <a:srgbClr val="153F36"/>
                    </a:solidFill>
                  </a:tcPr>
                </a:tc>
                <a:tc>
                  <a:txBody>
                    <a:bodyPr lIns="152400" tIns="133350" rIns="152400" bIns="114300">
                      <a:noAutofit/>
                    </a:bodyPr>
                    <a:lstStyle/>
                    <a:p>
                      <a:r>
                        <a:rPr sz="2025" b="1" lang="en-GB">
                          <a:solidFill>
                            <a:srgbClr val="FFFFFF"/>
                          </a:solidFill>
                          <a:latin typeface="Arial"/>
                          <a:ea typeface="Arial"/>
                          <a:cs typeface="Arial"/>
                        </a:rPr>
                        <a:t>Month 2</a:t>
                      </a:r>
                    </a:p>
                  </a:txBody>
                  <a:tcPr marL="91440" marR="91440" marT="45720" marB="45720">
                    <a:solidFill>
                      <a:srgbClr val="153F36"/>
                    </a:solidFill>
                  </a:tcPr>
                </a:tc>
                <a:tc>
                  <a:txBody>
                    <a:bodyPr lIns="152400" tIns="133350" rIns="152400" bIns="114300">
                      <a:noAutofit/>
                    </a:bodyPr>
                    <a:lstStyle/>
                    <a:p>
                      <a:r>
                        <a:rPr sz="2025" b="1" lang="en-GB">
                          <a:solidFill>
                            <a:srgbClr val="FFFFFF"/>
                          </a:solidFill>
                          <a:latin typeface="Arial"/>
                          <a:ea typeface="Arial"/>
                          <a:cs typeface="Arial"/>
                        </a:rPr>
                        <a:t>Month 3</a:t>
                      </a:r>
                    </a:p>
                  </a:txBody>
                  <a:tcPr marL="91440" marR="91440" marT="45720" marB="45720">
                    <a:solidFill>
                      <a:srgbClr val="153F36"/>
                    </a:solidFill>
                  </a:tcPr>
                </a:tc>
                <a:tc>
                  <a:txBody>
                    <a:bodyPr lIns="152400" tIns="133350" rIns="152400" bIns="114300">
                      <a:noAutofit/>
                    </a:bodyPr>
                    <a:lstStyle/>
                    <a:p>
                      <a:r>
                        <a:rPr sz="2025" b="1" lang="en-GB">
                          <a:solidFill>
                            <a:srgbClr val="FFFFFF"/>
                          </a:solidFill>
                          <a:latin typeface="Arial"/>
                          <a:ea typeface="Arial"/>
                          <a:cs typeface="Arial"/>
                        </a:rPr>
                        <a:t>Monthly maximum</a:t>
                      </a:r>
                    </a:p>
                  </a:txBody>
                  <a:tcPr marL="91440" marR="91440" marT="45720" marB="45720">
                    <a:solidFill>
                      <a:srgbClr val="153F36"/>
                    </a:solidFill>
                  </a:tcPr>
                </a:tc>
              </a:tr>
              <a:tr h="661988">
                <a:tc>
                  <a:txBody>
                    <a:bodyPr lIns="152400" tIns="133350" rIns="152400" bIns="114300">
                      <a:noAutofit/>
                    </a:bodyPr>
                    <a:lstStyle/>
                    <a:p>
                      <a:r>
                        <a:rPr sz="2025" b="0" lang="en-GB">
                          <a:solidFill>
                            <a:srgbClr val="153F36"/>
                          </a:solidFill>
                          <a:latin typeface="Arial"/>
                          <a:ea typeface="Arial"/>
                          <a:cs typeface="Arial"/>
                        </a:rPr>
                        <a:t>1</a:t>
                      </a:r>
                    </a:p>
                  </a:txBody>
                  <a:tcPr marL="91440" marR="91440" marT="45720" marB="45720">
                    <a:solidFill>
                      <a:srgbClr val="FFFFFF"/>
                    </a:solidFill>
                  </a:tcPr>
                </a:tc>
                <a:tc>
                  <a:txBody>
                    <a:bodyPr lIns="152400" tIns="133350" rIns="152400" bIns="114300">
                      <a:noAutofit/>
                    </a:bodyPr>
                    <a:lstStyle/>
                    <a:p>
                      <a:r>
                        <a:rPr sz="2025" b="0" lang="en-GB">
                          <a:solidFill>
                            <a:srgbClr val="153F36"/>
                          </a:solidFill>
                          <a:latin typeface="Arial"/>
                          <a:ea typeface="Arial"/>
                          <a:cs typeface="Arial"/>
                        </a:rPr>
                        <a:t>50 CC</a:t>
                      </a:r>
                    </a:p>
                  </a:txBody>
                  <a:tcPr marL="91440" marR="91440" marT="45720" marB="45720">
                    <a:solidFill>
                      <a:srgbClr val="FFFFFF"/>
                    </a:solidFill>
                  </a:tcPr>
                </a:tc>
                <a:tc>
                  <a:txBody>
                    <a:bodyPr lIns="152400" tIns="133350" rIns="152400" bIns="114300">
                      <a:noAutofit/>
                    </a:bodyPr>
                    <a:lstStyle/>
                    <a:p>
                      <a:r>
                        <a:rPr sz="2025" b="0" lang="en-GB">
                          <a:solidFill>
                            <a:srgbClr val="153F36"/>
                          </a:solidFill>
                          <a:latin typeface="Arial"/>
                          <a:ea typeface="Arial"/>
                          <a:cs typeface="Arial"/>
                        </a:rPr>
                        <a:t>100 CC</a:t>
                      </a:r>
                    </a:p>
                  </a:txBody>
                  <a:tcPr marL="91440" marR="91440" marT="45720" marB="45720">
                    <a:solidFill>
                      <a:srgbClr val="FFFFFF"/>
                    </a:solidFill>
                  </a:tcPr>
                </a:tc>
                <a:tc>
                  <a:txBody>
                    <a:bodyPr lIns="152400" tIns="133350" rIns="152400" bIns="114300">
                      <a:noAutofit/>
                    </a:bodyPr>
                    <a:lstStyle/>
                    <a:p>
                      <a:r>
                        <a:rPr sz="2025" b="0" lang="en-GB">
                          <a:solidFill>
                            <a:srgbClr val="153F36"/>
                          </a:solidFill>
                          <a:latin typeface="Arial"/>
                          <a:ea typeface="Arial"/>
                          <a:cs typeface="Arial"/>
                        </a:rPr>
                        <a:t>150 CC</a:t>
                      </a:r>
                    </a:p>
                  </a:txBody>
                  <a:tcPr marL="91440" marR="91440" marT="45720" marB="45720">
                    <a:solidFill>
                      <a:srgbClr val="FFFFFF"/>
                    </a:solidFill>
                  </a:tcPr>
                </a:tc>
                <a:tc>
                  <a:txBody>
                    <a:bodyPr lIns="152400" tIns="133350" rIns="152400" bIns="114300">
                      <a:noAutofit/>
                    </a:bodyPr>
                    <a:lstStyle/>
                    <a:p>
                      <a:r>
                        <a:rPr sz="2025" b="0" lang="en-GB">
                          <a:solidFill>
                            <a:srgbClr val="153F36"/>
                          </a:solidFill>
                          <a:latin typeface="Arial"/>
                          <a:ea typeface="Arial"/>
                          <a:cs typeface="Arial"/>
                        </a:rPr>
                        <a:t>400 USD</a:t>
                      </a:r>
                    </a:p>
                  </a:txBody>
                  <a:tcPr marL="91440" marR="91440" marT="45720" marB="45720">
                    <a:solidFill>
                      <a:srgbClr val="FFFFFF"/>
                    </a:solidFill>
                  </a:tcPr>
                </a:tc>
              </a:tr>
              <a:tr h="661988">
                <a:tc>
                  <a:txBody>
                    <a:bodyPr lIns="152400" tIns="133350" rIns="152400" bIns="114300">
                      <a:noAutofit/>
                    </a:bodyPr>
                    <a:lstStyle/>
                    <a:p>
                      <a:r>
                        <a:rPr sz="2025" b="0" lang="en-GB">
                          <a:solidFill>
                            <a:srgbClr val="153F36"/>
                          </a:solidFill>
                          <a:latin typeface="Arial"/>
                          <a:ea typeface="Arial"/>
                          <a:cs typeface="Arial"/>
                        </a:rPr>
                        <a:t>2</a:t>
                      </a:r>
                    </a:p>
                  </a:txBody>
                  <a:tcPr marL="91440" marR="91440" marT="45720" marB="45720">
                    <a:solidFill>
                      <a:srgbClr val="F3F7F2"/>
                    </a:solidFill>
                  </a:tcPr>
                </a:tc>
                <a:tc>
                  <a:txBody>
                    <a:bodyPr lIns="152400" tIns="133350" rIns="152400" bIns="114300">
                      <a:noAutofit/>
                    </a:bodyPr>
                    <a:lstStyle/>
                    <a:p>
                      <a:r>
                        <a:rPr sz="2025" b="0" lang="en-GB">
                          <a:solidFill>
                            <a:srgbClr val="153F36"/>
                          </a:solidFill>
                          <a:latin typeface="Arial"/>
                          <a:ea typeface="Arial"/>
                          <a:cs typeface="Arial"/>
                        </a:rPr>
                        <a:t>75 CC</a:t>
                      </a:r>
                    </a:p>
                  </a:txBody>
                  <a:tcPr marL="91440" marR="91440" marT="45720" marB="45720">
                    <a:solidFill>
                      <a:srgbClr val="F3F7F2"/>
                    </a:solidFill>
                  </a:tcPr>
                </a:tc>
                <a:tc>
                  <a:txBody>
                    <a:bodyPr lIns="152400" tIns="133350" rIns="152400" bIns="114300">
                      <a:noAutofit/>
                    </a:bodyPr>
                    <a:lstStyle/>
                    <a:p>
                      <a:r>
                        <a:rPr sz="2025" b="0" lang="en-GB">
                          <a:solidFill>
                            <a:srgbClr val="153F36"/>
                          </a:solidFill>
                          <a:latin typeface="Arial"/>
                          <a:ea typeface="Arial"/>
                          <a:cs typeface="Arial"/>
                        </a:rPr>
                        <a:t>150 CC</a:t>
                      </a:r>
                    </a:p>
                  </a:txBody>
                  <a:tcPr marL="91440" marR="91440" marT="45720" marB="45720">
                    <a:solidFill>
                      <a:srgbClr val="F3F7F2"/>
                    </a:solidFill>
                  </a:tcPr>
                </a:tc>
                <a:tc>
                  <a:txBody>
                    <a:bodyPr lIns="152400" tIns="133350" rIns="152400" bIns="114300">
                      <a:noAutofit/>
                    </a:bodyPr>
                    <a:lstStyle/>
                    <a:p>
                      <a:r>
                        <a:rPr sz="2025" b="0" lang="en-GB">
                          <a:solidFill>
                            <a:srgbClr val="153F36"/>
                          </a:solidFill>
                          <a:latin typeface="Arial"/>
                          <a:ea typeface="Arial"/>
                          <a:cs typeface="Arial"/>
                        </a:rPr>
                        <a:t>225 CC</a:t>
                      </a:r>
                    </a:p>
                  </a:txBody>
                  <a:tcPr marL="91440" marR="91440" marT="45720" marB="45720">
                    <a:solidFill>
                      <a:srgbClr val="F3F7F2"/>
                    </a:solidFill>
                  </a:tcPr>
                </a:tc>
                <a:tc>
                  <a:txBody>
                    <a:bodyPr lIns="152400" tIns="133350" rIns="152400" bIns="114300">
                      <a:noAutofit/>
                    </a:bodyPr>
                    <a:lstStyle/>
                    <a:p>
                      <a:r>
                        <a:rPr sz="2025" b="0" lang="en-GB">
                          <a:solidFill>
                            <a:srgbClr val="153F36"/>
                          </a:solidFill>
                          <a:latin typeface="Arial"/>
                          <a:ea typeface="Arial"/>
                          <a:cs typeface="Arial"/>
                        </a:rPr>
                        <a:t>600 USD</a:t>
                      </a:r>
                    </a:p>
                  </a:txBody>
                  <a:tcPr marL="91440" marR="91440" marT="45720" marB="45720">
                    <a:solidFill>
                      <a:srgbClr val="F3F7F2"/>
                    </a:solidFill>
                  </a:tcPr>
                </a:tc>
              </a:tr>
              <a:tr h="661988">
                <a:tc>
                  <a:txBody>
                    <a:bodyPr lIns="152400" tIns="133350" rIns="152400" bIns="114300">
                      <a:noAutofit/>
                    </a:bodyPr>
                    <a:lstStyle/>
                    <a:p>
                      <a:r>
                        <a:rPr sz="2025" b="0" lang="en-GB">
                          <a:solidFill>
                            <a:srgbClr val="153F36"/>
                          </a:solidFill>
                          <a:latin typeface="Arial"/>
                          <a:ea typeface="Arial"/>
                          <a:cs typeface="Arial"/>
                        </a:rPr>
                        <a:t>3</a:t>
                      </a:r>
                    </a:p>
                  </a:txBody>
                  <a:tcPr marL="91440" marR="91440" marT="45720" marB="45720">
                    <a:solidFill>
                      <a:srgbClr val="FFFFFF"/>
                    </a:solidFill>
                  </a:tcPr>
                </a:tc>
                <a:tc>
                  <a:txBody>
                    <a:bodyPr lIns="152400" tIns="133350" rIns="152400" bIns="114300">
                      <a:noAutofit/>
                    </a:bodyPr>
                    <a:lstStyle/>
                    <a:p>
                      <a:r>
                        <a:rPr sz="2025" b="0" lang="en-GB">
                          <a:solidFill>
                            <a:srgbClr val="153F36"/>
                          </a:solidFill>
                          <a:latin typeface="Arial"/>
                          <a:ea typeface="Arial"/>
                          <a:cs typeface="Arial"/>
                        </a:rPr>
                        <a:t>100 CC</a:t>
                      </a:r>
                    </a:p>
                  </a:txBody>
                  <a:tcPr marL="91440" marR="91440" marT="45720" marB="45720">
                    <a:solidFill>
                      <a:srgbClr val="FFFFFF"/>
                    </a:solidFill>
                  </a:tcPr>
                </a:tc>
                <a:tc>
                  <a:txBody>
                    <a:bodyPr lIns="152400" tIns="133350" rIns="152400" bIns="114300">
                      <a:noAutofit/>
                    </a:bodyPr>
                    <a:lstStyle/>
                    <a:p>
                      <a:r>
                        <a:rPr sz="2025" b="0" lang="en-GB">
                          <a:solidFill>
                            <a:srgbClr val="153F36"/>
                          </a:solidFill>
                          <a:latin typeface="Arial"/>
                          <a:ea typeface="Arial"/>
                          <a:cs typeface="Arial"/>
                        </a:rPr>
                        <a:t>200 CC</a:t>
                      </a:r>
                    </a:p>
                  </a:txBody>
                  <a:tcPr marL="91440" marR="91440" marT="45720" marB="45720">
                    <a:solidFill>
                      <a:srgbClr val="FFFFFF"/>
                    </a:solidFill>
                  </a:tcPr>
                </a:tc>
                <a:tc>
                  <a:txBody>
                    <a:bodyPr lIns="152400" tIns="133350" rIns="152400" bIns="114300">
                      <a:noAutofit/>
                    </a:bodyPr>
                    <a:lstStyle/>
                    <a:p>
                      <a:r>
                        <a:rPr sz="2025" b="0" lang="en-GB">
                          <a:solidFill>
                            <a:srgbClr val="153F36"/>
                          </a:solidFill>
                          <a:latin typeface="Arial"/>
                          <a:ea typeface="Arial"/>
                          <a:cs typeface="Arial"/>
                        </a:rPr>
                        <a:t>300 CC</a:t>
                      </a:r>
                    </a:p>
                  </a:txBody>
                  <a:tcPr marL="91440" marR="91440" marT="45720" marB="45720">
                    <a:solidFill>
                      <a:srgbClr val="FFFFFF"/>
                    </a:solidFill>
                  </a:tcPr>
                </a:tc>
                <a:tc>
                  <a:txBody>
                    <a:bodyPr lIns="152400" tIns="133350" rIns="152400" bIns="114300">
                      <a:noAutofit/>
                    </a:bodyPr>
                    <a:lstStyle/>
                    <a:p>
                      <a:r>
                        <a:rPr sz="2025" b="0" lang="en-GB">
                          <a:solidFill>
                            <a:srgbClr val="153F36"/>
                          </a:solidFill>
                          <a:latin typeface="Arial"/>
                          <a:ea typeface="Arial"/>
                          <a:cs typeface="Arial"/>
                        </a:rPr>
                        <a:t>800 USD</a:t>
                      </a:r>
                    </a:p>
                  </a:txBody>
                  <a:tcPr marL="91440" marR="91440" marT="45720" marB="45720">
                    <a:solidFill>
                      <a:srgbClr val="FFFFFF"/>
                    </a:solidFill>
                  </a:tcPr>
                </a:tc>
              </a:tr>
            </a:tbl>
          </a:graphicData>
        </a:graphic>
      </p:graphicFrame>
      <p:sp>
        <p:nvSpPr>
          <p:cNvPr id="5" name="">
            <a:extLst>
              <a:ext uri="{FF2B5EF4-FFF2-40B4-BE49-F238E27FC236}">
                <ns2:creationId id="{B4AC18CE-F6CB-49F2-8416-567B308FCF87}"/>
              </a:ext>
            </a:extLst>
          </p:cNvPr>
          <p:cNvSpPr>
            <a:spLocks noGrp="1"/>
          </p:cNvSpPr>
          <p:nvPr/>
        </p:nvSpPr>
        <p:spPr>
          <a:xfrm>
            <a:off x="609600" y="5143500"/>
            <a:ext cx="10458450" cy="809625"/>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en-GB">
                <a:solidFill>
                  <a:srgbClr val="153F36"/>
                </a:solidFill>
                <a:latin typeface="Arial"/>
                <a:ea typeface="Arial"/>
                <a:cs typeface="Arial"/>
              </a:rPr>
              <a:t>Qualification and ongoing conditions. Incentive for up to 36 months.</a:t>
            </a:r>
          </a:p>
        </p:txBody>
      </p:sp>
    </p:spTree>
    <p:extLst>
      <p:ext uri="{BB962C8B-B14F-4D97-AF65-F5344CB8AC3E}">
        <ns4:creationId val="280473326"/>
      </p:ext>
    </p:extLst>
  </p:cSld>
</p:sld>
</file>

<file path=ppt/slides/slide3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B9E3C7C8-35B4-441E-B1C2-00BCFB5C9F40}"/>
              </a:ext>
            </a:extLst>
          </p:cNvPr>
          <p:cNvPicPr>
            <a:picLocks noChangeAspect="1"/>
          </p:cNvPicPr>
          <p:nvPr/>
        </p:nvPicPr>
        <p:blipFill>
          <a:blip r:embed="R58ce5c4bc3ef4c8b"/>
          <a:stretch/>
        </p:blipFill>
        <p:spPr>
          <a:xfrm>
            <a:off x="9867900" y="276061"/>
            <a:ext cx="1695450" cy="438478"/>
          </a:xfrm>
          <a:prstGeom prst="rect">
            <a:avLst/>
          </a:prstGeom>
        </p:spPr>
      </p:pic>
      <p:sp>
        <p:nvSpPr>
          <p:cNvPr id="2" name="">
            <a:extLst>
              <a:ext uri="{FF2B5EF4-FFF2-40B4-BE49-F238E27FC236}">
                <ns2:creationId id="{0CB37FEB-5A20-485A-9A04-1936EE10F0CF}"/>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35</a:t>
            </a:r>
          </a:p>
        </p:txBody>
      </p:sp>
      <p:sp>
        <p:nvSpPr>
          <p:cNvPr id="3" name="Title">
            <a:extLst>
              <a:ext uri="{FF2B5EF4-FFF2-40B4-BE49-F238E27FC236}">
                <ns2:creationId id="{B655E18D-295A-4CD8-9A03-B3FC391A9AED}"/>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Appendix: annual qualifications</a:t>
            </a:r>
          </a:p>
        </p:txBody>
      </p:sp>
      <p:sp>
        <p:nvSpPr>
          <p:cNvPr id="4" name="">
            <a:extLst>
              <a:ext uri="{FF2B5EF4-FFF2-40B4-BE49-F238E27FC236}">
                <ns2:creationId id="{F037214A-CF38-4FAB-8F4B-BC9F710748A2}"/>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en-GB">
                <a:solidFill>
                  <a:srgbClr val="148977"/>
                </a:solidFill>
                <a:latin typeface="Arial"/>
                <a:ea typeface="Arial"/>
                <a:cs typeface="Arial"/>
              </a:rPr>
              <a:t>1.</a:t>
            </a:r>
          </a:p>
        </p:txBody>
      </p:sp>
      <p:sp>
        <p:nvSpPr>
          <p:cNvPr id="5" name="">
            <a:extLst>
              <a:ext uri="{FF2B5EF4-FFF2-40B4-BE49-F238E27FC236}">
                <ns2:creationId id="{DE39F66B-A442-4DB2-BC88-152A2F537F88}"/>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en-GB">
                <a:solidFill>
                  <a:srgbClr val="153F36"/>
                </a:solidFill>
                <a:latin typeface="Arial"/>
                <a:ea typeface="Arial"/>
                <a:cs typeface="Arial"/>
              </a:rPr>
              <a:t>Eagle Manager</a:t>
            </a:r>
          </a:p>
        </p:txBody>
      </p:sp>
      <p:sp>
        <p:nvSpPr>
          <p:cNvPr id="6" name="">
            <a:extLst>
              <a:ext uri="{FF2B5EF4-FFF2-40B4-BE49-F238E27FC236}">
                <ns2:creationId id="{5EB13131-225A-47B3-A990-4556686F98B8}"/>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720 total CC, 100 new CC and 3 new Supervisor lines.</a:t>
            </a:r>
          </a:p>
        </p:txBody>
      </p:sp>
      <p:sp>
        <p:nvSpPr>
          <p:cNvPr id="7" name="">
            <a:extLst>
              <a:ext uri="{FF2B5EF4-FFF2-40B4-BE49-F238E27FC236}">
                <ns2:creationId id="{81F9A9B6-F0B7-4FC8-82A9-040A17BA37F4}"/>
              </a:ext>
            </a:extLst>
          </p:cNvPr>
          <p:cNvSpPr>
            <a:spLocks noGrp="1"/>
          </p:cNvSpPr>
          <p:nvPr/>
        </p:nvSpPr>
        <p:spPr>
          <a:xfrm>
            <a:off x="609600" y="312420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en-GB">
                <a:solidFill>
                  <a:srgbClr val="148977"/>
                </a:solidFill>
                <a:latin typeface="Arial"/>
                <a:ea typeface="Arial"/>
                <a:cs typeface="Arial"/>
              </a:rPr>
              <a:t>2.</a:t>
            </a:r>
          </a:p>
        </p:txBody>
      </p:sp>
      <p:sp>
        <p:nvSpPr>
          <p:cNvPr id="8" name="">
            <a:extLst>
              <a:ext uri="{FF2B5EF4-FFF2-40B4-BE49-F238E27FC236}">
                <ns2:creationId id="{C4C32F05-04BB-4214-8487-F780C8E1B8F9}"/>
              </a:ext>
            </a:extLst>
          </p:cNvPr>
          <p:cNvSpPr>
            <a:spLocks noGrp="1"/>
          </p:cNvSpPr>
          <p:nvPr/>
        </p:nvSpPr>
        <p:spPr>
          <a:xfrm>
            <a:off x="1257300" y="312420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en-GB">
                <a:solidFill>
                  <a:srgbClr val="153F36"/>
                </a:solidFill>
                <a:latin typeface="Arial"/>
                <a:ea typeface="Arial"/>
                <a:cs typeface="Arial"/>
              </a:rPr>
              <a:t>Global Rally</a:t>
            </a:r>
          </a:p>
        </p:txBody>
      </p:sp>
      <p:sp>
        <p:nvSpPr>
          <p:cNvPr id="9" name="">
            <a:extLst>
              <a:ext uri="{FF2B5EF4-FFF2-40B4-BE49-F238E27FC236}">
                <ns2:creationId id="{AD802E04-F4DC-4E5B-83E7-81C942E85FE4}"/>
              </a:ext>
            </a:extLst>
          </p:cNvPr>
          <p:cNvSpPr>
            <a:spLocks noGrp="1"/>
          </p:cNvSpPr>
          <p:nvPr/>
        </p:nvSpPr>
        <p:spPr>
          <a:xfrm>
            <a:off x="1257300" y="3533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From 1,500 total CC, including at least 50 new CC.</a:t>
            </a:r>
          </a:p>
        </p:txBody>
      </p:sp>
      <p:sp>
        <p:nvSpPr>
          <p:cNvPr id="10" name="">
            <a:extLst>
              <a:ext uri="{FF2B5EF4-FFF2-40B4-BE49-F238E27FC236}">
                <ns2:creationId id="{765D29EF-17EE-439A-9148-70DA52221B41}"/>
              </a:ext>
            </a:extLst>
          </p:cNvPr>
          <p:cNvSpPr>
            <a:spLocks noGrp="1"/>
          </p:cNvSpPr>
          <p:nvPr/>
        </p:nvSpPr>
        <p:spPr>
          <a:xfrm>
            <a:off x="609600" y="428625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en-GB">
                <a:solidFill>
                  <a:srgbClr val="148977"/>
                </a:solidFill>
                <a:latin typeface="Arial"/>
                <a:ea typeface="Arial"/>
                <a:cs typeface="Arial"/>
              </a:rPr>
              <a:t>3.</a:t>
            </a:r>
          </a:p>
        </p:txBody>
      </p:sp>
      <p:sp>
        <p:nvSpPr>
          <p:cNvPr id="11" name="">
            <a:extLst>
              <a:ext uri="{FF2B5EF4-FFF2-40B4-BE49-F238E27FC236}">
                <ns2:creationId id="{5C8C13D5-EA0A-45FF-B19C-610392AA90BD}"/>
              </a:ext>
            </a:extLst>
          </p:cNvPr>
          <p:cNvSpPr>
            <a:spLocks noGrp="1"/>
          </p:cNvSpPr>
          <p:nvPr/>
        </p:nvSpPr>
        <p:spPr>
          <a:xfrm>
            <a:off x="1257300" y="428625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en-GB">
                <a:solidFill>
                  <a:srgbClr val="153F36"/>
                </a:solidFill>
                <a:latin typeface="Arial"/>
                <a:ea typeface="Arial"/>
                <a:cs typeface="Arial"/>
              </a:rPr>
              <a:t>Chairman’s Bonus</a:t>
            </a:r>
          </a:p>
        </p:txBody>
      </p:sp>
      <p:sp>
        <p:nvSpPr>
          <p:cNvPr id="12" name="">
            <a:extLst>
              <a:ext uri="{FF2B5EF4-FFF2-40B4-BE49-F238E27FC236}">
                <ns2:creationId id="{ED3D2BFE-A33E-4B2F-ABBA-68D93EE7CCAA}"/>
              </a:ext>
            </a:extLst>
          </p:cNvPr>
          <p:cNvSpPr>
            <a:spLocks noGrp="1"/>
          </p:cNvSpPr>
          <p:nvPr/>
        </p:nvSpPr>
        <p:spPr>
          <a:xfrm>
            <a:off x="1257300" y="46958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Developed qualified lines and additional programme conditions.</a:t>
            </a:r>
          </a:p>
        </p:txBody>
      </p:sp>
      <p:sp>
        <p:nvSpPr>
          <p:cNvPr id="13" name="">
            <a:extLst>
              <a:ext uri="{FF2B5EF4-FFF2-40B4-BE49-F238E27FC236}">
                <ns2:creationId id="{B903DFC0-E1C3-44EE-AD9B-AD2E08F86D6D}"/>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en-GB">
                <a:solidFill>
                  <a:srgbClr val="526B63"/>
                </a:solidFill>
                <a:latin typeface="Arial"/>
                <a:ea typeface="Arial"/>
                <a:cs typeface="Arial"/>
              </a:rPr>
              <a:t>Thresholds are a summary. Timeframes, maintenance and all further terms are in the local policy.</a:t>
            </a:r>
          </a:p>
        </p:txBody>
      </p:sp>
    </p:spTree>
    <p:extLst>
      <p:ext uri="{BB962C8B-B14F-4D97-AF65-F5344CB8AC3E}">
        <ns4:creationId val="880705396"/>
      </p:ext>
    </p:extLst>
  </p:cSld>
</p:sld>
</file>

<file path=ppt/slides/slide3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88852AA4-6578-41AF-9740-5117C7F6172E}"/>
              </a:ext>
            </a:extLst>
          </p:cNvPr>
          <p:cNvPicPr>
            <a:picLocks noChangeAspect="1"/>
          </p:cNvPicPr>
          <p:nvPr/>
        </p:nvPicPr>
        <p:blipFill>
          <a:blip r:embed="R94ed22d42f074bff"/>
          <a:stretch/>
        </p:blipFill>
        <p:spPr>
          <a:xfrm>
            <a:off x="9867900" y="276061"/>
            <a:ext cx="1695450" cy="438478"/>
          </a:xfrm>
          <a:prstGeom prst="rect">
            <a:avLst/>
          </a:prstGeom>
        </p:spPr>
      </p:pic>
      <p:sp>
        <p:nvSpPr>
          <p:cNvPr id="2" name="">
            <a:extLst>
              <a:ext uri="{FF2B5EF4-FFF2-40B4-BE49-F238E27FC236}">
                <ns2:creationId id="{F484BD7A-5B1B-4432-9A78-B974D5EEA709}"/>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en-GB">
                <a:solidFill>
                  <a:srgbClr val="526B63"/>
                </a:solidFill>
                <a:latin typeface="Arial"/>
                <a:ea typeface="Arial"/>
                <a:cs typeface="Arial"/>
              </a:rPr>
              <a:t>36</a:t>
            </a:r>
          </a:p>
        </p:txBody>
      </p:sp>
      <p:sp>
        <p:nvSpPr>
          <p:cNvPr id="3" name="Title">
            <a:extLst>
              <a:ext uri="{FF2B5EF4-FFF2-40B4-BE49-F238E27FC236}">
                <ns2:creationId id="{AADE5631-8BAA-49DB-AB4C-B28590B49F43}"/>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en-GB">
                <a:solidFill>
                  <a:srgbClr val="153F36"/>
                </a:solidFill>
                <a:latin typeface="Arial"/>
                <a:ea typeface="Arial"/>
                <a:cs typeface="Arial"/>
              </a:rPr>
              <a:t>Appendix: payments and actual income</a:t>
            </a:r>
          </a:p>
        </p:txBody>
      </p:sp>
      <p:sp>
        <p:nvSpPr>
          <p:cNvPr id="4" name="">
            <a:extLst>
              <a:ext uri="{FF2B5EF4-FFF2-40B4-BE49-F238E27FC236}">
                <ns2:creationId id="{4648F494-74C7-41B9-A7AD-105B8730022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en-GB">
                <a:solidFill>
                  <a:srgbClr val="148977"/>
                </a:solidFill>
                <a:latin typeface="Arial"/>
                <a:ea typeface="Arial"/>
                <a:cs typeface="Arial"/>
              </a:rPr>
              <a:t>1.</a:t>
            </a:r>
          </a:p>
        </p:txBody>
      </p:sp>
      <p:sp>
        <p:nvSpPr>
          <p:cNvPr id="5" name="">
            <a:extLst>
              <a:ext uri="{FF2B5EF4-FFF2-40B4-BE49-F238E27FC236}">
                <ns2:creationId id="{D8F3ADF8-D3CE-4D09-B5D5-37B3C4DF925C}"/>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en-GB">
                <a:solidFill>
                  <a:srgbClr val="153F36"/>
                </a:solidFill>
                <a:latin typeface="Arial"/>
                <a:ea typeface="Arial"/>
                <a:cs typeface="Arial"/>
              </a:rPr>
              <a:t>Bonuses for the previous month</a:t>
            </a:r>
          </a:p>
        </p:txBody>
      </p:sp>
      <p:sp>
        <p:nvSpPr>
          <p:cNvPr id="6" name="">
            <a:extLst>
              <a:ext uri="{FF2B5EF4-FFF2-40B4-BE49-F238E27FC236}">
                <ns2:creationId id="{3C09A159-46FC-4266-AE84-DE17BCFA81A2}"/>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Under Croatian policy, on the 15th of the following month.</a:t>
            </a:r>
          </a:p>
        </p:txBody>
      </p:sp>
      <p:sp>
        <p:nvSpPr>
          <p:cNvPr id="7" name="">
            <a:extLst>
              <a:ext uri="{FF2B5EF4-FFF2-40B4-BE49-F238E27FC236}">
                <ns2:creationId id="{7AEEAE2C-E72E-48F1-91F1-C715F3B5457C}"/>
              </a:ext>
            </a:extLst>
          </p:cNvPr>
          <p:cNvSpPr>
            <a:spLocks noGrp="1"/>
          </p:cNvSpPr>
          <p:nvPr/>
        </p:nvSpPr>
        <p:spPr>
          <a:xfrm>
            <a:off x="609600" y="3105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en-GB">
                <a:solidFill>
                  <a:srgbClr val="148977"/>
                </a:solidFill>
                <a:latin typeface="Arial"/>
                <a:ea typeface="Arial"/>
                <a:cs typeface="Arial"/>
              </a:rPr>
              <a:t>2.</a:t>
            </a:r>
          </a:p>
        </p:txBody>
      </p:sp>
      <p:sp>
        <p:nvSpPr>
          <p:cNvPr id="8" name="">
            <a:extLst>
              <a:ext uri="{FF2B5EF4-FFF2-40B4-BE49-F238E27FC236}">
                <ns2:creationId id="{D7C8ED34-9B2A-4A5B-8F5C-E661D3D95A39}"/>
              </a:ext>
            </a:extLst>
          </p:cNvPr>
          <p:cNvSpPr>
            <a:spLocks noGrp="1"/>
          </p:cNvSpPr>
          <p:nvPr/>
        </p:nvSpPr>
        <p:spPr>
          <a:xfrm>
            <a:off x="1257300" y="3105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en-GB">
                <a:solidFill>
                  <a:srgbClr val="153F36"/>
                </a:solidFill>
                <a:latin typeface="Arial"/>
                <a:ea typeface="Arial"/>
                <a:cs typeface="Arial"/>
              </a:rPr>
              <a:t>Online profit</a:t>
            </a:r>
          </a:p>
        </p:txBody>
      </p:sp>
      <p:sp>
        <p:nvSpPr>
          <p:cNvPr id="9" name="">
            <a:extLst>
              <a:ext uri="{FF2B5EF4-FFF2-40B4-BE49-F238E27FC236}">
                <ns2:creationId id="{03EEB3A6-8AA0-4AAC-8BB6-5A5C316EB19C}"/>
              </a:ext>
            </a:extLst>
          </p:cNvPr>
          <p:cNvSpPr>
            <a:spLocks noGrp="1"/>
          </p:cNvSpPr>
          <p:nvPr/>
        </p:nvSpPr>
        <p:spPr>
          <a:xfrm>
            <a:off x="1257300" y="3514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Global Pay after the 10th, 20th and last day of the month.</a:t>
            </a:r>
          </a:p>
        </p:txBody>
      </p:sp>
      <p:sp>
        <p:nvSpPr>
          <p:cNvPr id="10" name="">
            <a:extLst>
              <a:ext uri="{FF2B5EF4-FFF2-40B4-BE49-F238E27FC236}">
                <ns2:creationId id="{3836A816-BCC9-4762-B15B-376FBDA90C2D}"/>
              </a:ext>
            </a:extLst>
          </p:cNvPr>
          <p:cNvSpPr>
            <a:spLocks noGrp="1"/>
          </p:cNvSpPr>
          <p:nvPr/>
        </p:nvSpPr>
        <p:spPr>
          <a:xfrm>
            <a:off x="609600" y="4248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en-GB">
                <a:solidFill>
                  <a:srgbClr val="148977"/>
                </a:solidFill>
                <a:latin typeface="Arial"/>
                <a:ea typeface="Arial"/>
                <a:cs typeface="Arial"/>
              </a:rPr>
              <a:t>3.</a:t>
            </a:r>
          </a:p>
        </p:txBody>
      </p:sp>
      <p:sp>
        <p:nvSpPr>
          <p:cNvPr id="11" name="">
            <a:extLst>
              <a:ext uri="{FF2B5EF4-FFF2-40B4-BE49-F238E27FC236}">
                <ns2:creationId id="{02C2B9B3-EB86-468F-B5C8-D10A79D640D8}"/>
              </a:ext>
            </a:extLst>
          </p:cNvPr>
          <p:cNvSpPr>
            <a:spLocks noGrp="1"/>
          </p:cNvSpPr>
          <p:nvPr/>
        </p:nvSpPr>
        <p:spPr>
          <a:xfrm>
            <a:off x="1257300" y="4248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en-GB">
                <a:solidFill>
                  <a:srgbClr val="153F36"/>
                </a:solidFill>
                <a:latin typeface="Arial"/>
                <a:ea typeface="Arial"/>
                <a:cs typeface="Arial"/>
              </a:rPr>
              <a:t>Actual income</a:t>
            </a:r>
          </a:p>
        </p:txBody>
      </p:sp>
      <p:sp>
        <p:nvSpPr>
          <p:cNvPr id="12" name="">
            <a:extLst>
              <a:ext uri="{FF2B5EF4-FFF2-40B4-BE49-F238E27FC236}">
                <ns2:creationId id="{04657A1D-053C-48FC-B7DB-E622C573FFDA}"/>
              </a:ext>
            </a:extLst>
          </p:cNvPr>
          <p:cNvSpPr>
            <a:spLocks noGrp="1"/>
          </p:cNvSpPr>
          <p:nvPr/>
        </p:nvSpPr>
        <p:spPr>
          <a:xfrm>
            <a:off x="1257300" y="4657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en-GB">
                <a:solidFill>
                  <a:srgbClr val="526B63"/>
                </a:solidFill>
                <a:latin typeface="Arial"/>
                <a:ea typeface="Arial"/>
                <a:cs typeface="Arial"/>
              </a:rPr>
              <a:t>Recognised sales, accounting for costs, returns and tax obligations.</a:t>
            </a:r>
          </a:p>
        </p:txBody>
      </p:sp>
      <p:sp>
        <p:nvSpPr>
          <p:cNvPr id="13" name="">
            <a:extLst>
              <a:ext uri="{FF2B5EF4-FFF2-40B4-BE49-F238E27FC236}">
                <ns2:creationId id="{D0CED1DA-9CAB-4767-B17A-CCA055B377B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en-GB">
                <a:solidFill>
                  <a:srgbClr val="526B63"/>
                </a:solidFill>
                <a:latin typeface="Arial"/>
                <a:ea typeface="Arial"/>
                <a:cs typeface="Arial"/>
              </a:rPr>
              <a:t>Results depend on the person, market and actual sales. FCC does not guarantee earnings.</a:t>
            </a:r>
          </a:p>
        </p:txBody>
      </p:sp>
    </p:spTree>
    <p:extLst>
      <p:ext uri="{BB962C8B-B14F-4D97-AF65-F5344CB8AC3E}">
        <ns4:creationId val="805322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2026-10-04T12:05:50.0890000Z</dcterms:created>
  <dcterms:modified xsi:type="dcterms:W3CDTF">2026-10-04T12:05:50.0890000Z</dcterms:modified>
</coreProperties>
</file>