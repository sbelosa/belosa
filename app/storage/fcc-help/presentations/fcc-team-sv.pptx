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e8ae9ebd874a7b" /><Relationship Type="http://schemas.openxmlformats.org/officeDocument/2006/relationships/extended-properties" Target="/docProps/app.xml" Id="R01380b84c3dd45ec" /><Relationship Type="http://schemas.openxmlformats.org/officeDocument/2006/relationships/officeDocument" Target="/ppt/presentation.xml" Id="Ra84fedbd27db4393" /></Relationships>
</file>

<file path=ppt/presentation.xml><?xml version="1.0" encoding="utf-8"?>
<p:presentation xmlns:p="http://schemas.openxmlformats.org/presentationml/2006/main">
  <p:sldMasterIdLst>
    <p:sldMasterId xmlns:r="http://schemas.openxmlformats.org/officeDocument/2006/relationships" id="2147483648" r:id="Rc9e88217567e4db7"/>
  </p:sldMasterIdLst>
  <p:notesMasterIdLst>
    <p:notesMasterId xmlns:r="http://schemas.openxmlformats.org/officeDocument/2006/relationships" r:id="Rc18a70ab738d4fdd"/>
  </p:notesMasterIdLst>
  <p:sldIdLst>
    <p:sldId xmlns:r="http://schemas.openxmlformats.org/officeDocument/2006/relationships" id="256" r:id="Re8ed2e66c8d84047"/>
    <p:sldId xmlns:r="http://schemas.openxmlformats.org/officeDocument/2006/relationships" id="257" r:id="R4746b0e7c5ef4131"/>
    <p:sldId xmlns:r="http://schemas.openxmlformats.org/officeDocument/2006/relationships" id="258" r:id="Rbc31ff09593c4d17"/>
    <p:sldId xmlns:r="http://schemas.openxmlformats.org/officeDocument/2006/relationships" id="259" r:id="Rae4ed353ca834eb3"/>
    <p:sldId xmlns:r="http://schemas.openxmlformats.org/officeDocument/2006/relationships" id="260" r:id="Ra1b02be37e2e4ff2"/>
    <p:sldId xmlns:r="http://schemas.openxmlformats.org/officeDocument/2006/relationships" id="261" r:id="Rfe59078e123f44b1"/>
    <p:sldId xmlns:r="http://schemas.openxmlformats.org/officeDocument/2006/relationships" id="262" r:id="R590dc5576ed441ae"/>
    <p:sldId xmlns:r="http://schemas.openxmlformats.org/officeDocument/2006/relationships" id="263" r:id="R0328f91799364ba2"/>
    <p:sldId xmlns:r="http://schemas.openxmlformats.org/officeDocument/2006/relationships" id="264" r:id="Re580240414f64df3"/>
    <p:sldId xmlns:r="http://schemas.openxmlformats.org/officeDocument/2006/relationships" id="265" r:id="Re3803403ee9b468b"/>
    <p:sldId xmlns:r="http://schemas.openxmlformats.org/officeDocument/2006/relationships" id="266" r:id="Re9729d197679489d"/>
    <p:sldId xmlns:r="http://schemas.openxmlformats.org/officeDocument/2006/relationships" id="267" r:id="R17364f024e114fa7"/>
    <p:sldId xmlns:r="http://schemas.openxmlformats.org/officeDocument/2006/relationships" id="268" r:id="Ra32d2299b1e34645"/>
    <p:sldId xmlns:r="http://schemas.openxmlformats.org/officeDocument/2006/relationships" id="269" r:id="R112da9e5e26d4a1a"/>
    <p:sldId xmlns:r="http://schemas.openxmlformats.org/officeDocument/2006/relationships" id="270" r:id="Rfc6e8098b0094e49"/>
    <p:sldId xmlns:r="http://schemas.openxmlformats.org/officeDocument/2006/relationships" id="271" r:id="R637ab624bb744813"/>
    <p:sldId xmlns:r="http://schemas.openxmlformats.org/officeDocument/2006/relationships" id="272" r:id="R83dee26be35c43dd"/>
    <p:sldId xmlns:r="http://schemas.openxmlformats.org/officeDocument/2006/relationships" id="273" r:id="R618fda44c9f74872"/>
    <p:sldId xmlns:r="http://schemas.openxmlformats.org/officeDocument/2006/relationships" id="274" r:id="R1b6aa91c6bb84531"/>
    <p:sldId xmlns:r="http://schemas.openxmlformats.org/officeDocument/2006/relationships" id="275" r:id="Rff9f2644ad404234"/>
    <p:sldId xmlns:r="http://schemas.openxmlformats.org/officeDocument/2006/relationships" id="276" r:id="Rffdacc3614814b34"/>
    <p:sldId xmlns:r="http://schemas.openxmlformats.org/officeDocument/2006/relationships" id="277" r:id="R7cd2e17b0ac44598"/>
    <p:sldId xmlns:r="http://schemas.openxmlformats.org/officeDocument/2006/relationships" id="278" r:id="Rbaf6e7b843f34b38"/>
    <p:sldId xmlns:r="http://schemas.openxmlformats.org/officeDocument/2006/relationships" id="279" r:id="Re58715032f894a0b"/>
    <p:sldId xmlns:r="http://schemas.openxmlformats.org/officeDocument/2006/relationships" id="280" r:id="R671b64fee09647d1"/>
    <p:sldId xmlns:r="http://schemas.openxmlformats.org/officeDocument/2006/relationships" id="281" r:id="R0f1efdb0735b4810"/>
    <p:sldId xmlns:r="http://schemas.openxmlformats.org/officeDocument/2006/relationships" id="282" r:id="R299277170d58463a"/>
    <p:sldId xmlns:r="http://schemas.openxmlformats.org/officeDocument/2006/relationships" id="283" r:id="R47c1e12bebaf4e1e"/>
    <p:sldId xmlns:r="http://schemas.openxmlformats.org/officeDocument/2006/relationships" id="284" r:id="R33f2281931074e26"/>
    <p:sldId xmlns:r="http://schemas.openxmlformats.org/officeDocument/2006/relationships" id="285" r:id="Rcb00a46c0526422d"/>
    <p:sldId xmlns:r="http://schemas.openxmlformats.org/officeDocument/2006/relationships" id="286" r:id="Rdefdab25799b403c"/>
    <p:sldId xmlns:r="http://schemas.openxmlformats.org/officeDocument/2006/relationships" id="287" r:id="Rf00af2c51ef04723"/>
    <p:sldId xmlns:r="http://schemas.openxmlformats.org/officeDocument/2006/relationships" id="288" r:id="R6dd932b7d3e94967"/>
    <p:sldId xmlns:r="http://schemas.openxmlformats.org/officeDocument/2006/relationships" id="289" r:id="R05566556677748cd"/>
    <p:sldId xmlns:r="http://schemas.openxmlformats.org/officeDocument/2006/relationships" id="290" r:id="Rff449ac26a254c77"/>
    <p:sldId xmlns:r="http://schemas.openxmlformats.org/officeDocument/2006/relationships" id="291" r:id="Rce57f775d35142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51f3484e124c0d" /><Relationship Type="http://schemas.openxmlformats.org/officeDocument/2006/relationships/slideMaster" Target="/ppt/slideMasters/slideMaster1.xml" Id="Rc9e88217567e4db7" /><Relationship Type="http://schemas.openxmlformats.org/officeDocument/2006/relationships/notesMaster" Target="/ppt/notesMasters/notesMaster1.xml" Id="Rc18a70ab738d4fdd" /><Relationship Type="http://schemas.openxmlformats.org/officeDocument/2006/relationships/presProps" Target="/ppt/presProps.xml" Id="Rdd6d008c9f824ff1" /><Relationship Type="http://schemas.openxmlformats.org/officeDocument/2006/relationships/tableStyles" Target="/ppt/tableStyles.xml" Id="R5dfb1b75d143461b" /><Relationship Type="http://schemas.openxmlformats.org/officeDocument/2006/relationships/slide" Target="/ppt/slides/slide1.xml" Id="Re8ed2e66c8d84047" /><Relationship Type="http://schemas.openxmlformats.org/officeDocument/2006/relationships/slide" Target="/ppt/slides/slide2.xml" Id="R4746b0e7c5ef4131" /><Relationship Type="http://schemas.openxmlformats.org/officeDocument/2006/relationships/slide" Target="/ppt/slides/slide3.xml" Id="Rbc31ff09593c4d17" /><Relationship Type="http://schemas.openxmlformats.org/officeDocument/2006/relationships/slide" Target="/ppt/slides/slide4.xml" Id="Rae4ed353ca834eb3" /><Relationship Type="http://schemas.openxmlformats.org/officeDocument/2006/relationships/slide" Target="/ppt/slides/slide5.xml" Id="Ra1b02be37e2e4ff2" /><Relationship Type="http://schemas.openxmlformats.org/officeDocument/2006/relationships/slide" Target="/ppt/slides/slide6.xml" Id="Rfe59078e123f44b1" /><Relationship Type="http://schemas.openxmlformats.org/officeDocument/2006/relationships/slide" Target="/ppt/slides/slide7.xml" Id="R590dc5576ed441ae" /><Relationship Type="http://schemas.openxmlformats.org/officeDocument/2006/relationships/slide" Target="/ppt/slides/slide8.xml" Id="R0328f91799364ba2" /><Relationship Type="http://schemas.openxmlformats.org/officeDocument/2006/relationships/slide" Target="/ppt/slides/slide9.xml" Id="Re580240414f64df3" /><Relationship Type="http://schemas.openxmlformats.org/officeDocument/2006/relationships/slide" Target="/ppt/slides/slide10.xml" Id="Re3803403ee9b468b" /><Relationship Type="http://schemas.openxmlformats.org/officeDocument/2006/relationships/slide" Target="/ppt/slides/slide11.xml" Id="Re9729d197679489d" /><Relationship Type="http://schemas.openxmlformats.org/officeDocument/2006/relationships/slide" Target="/ppt/slides/slide12.xml" Id="R17364f024e114fa7" /><Relationship Type="http://schemas.openxmlformats.org/officeDocument/2006/relationships/slide" Target="/ppt/slides/slide13.xml" Id="Ra32d2299b1e34645" /><Relationship Type="http://schemas.openxmlformats.org/officeDocument/2006/relationships/slide" Target="/ppt/slides/slide14.xml" Id="R112da9e5e26d4a1a" /><Relationship Type="http://schemas.openxmlformats.org/officeDocument/2006/relationships/slide" Target="/ppt/slides/slide15.xml" Id="Rfc6e8098b0094e49" /><Relationship Type="http://schemas.openxmlformats.org/officeDocument/2006/relationships/slide" Target="/ppt/slides/slide16.xml" Id="R637ab624bb744813" /><Relationship Type="http://schemas.openxmlformats.org/officeDocument/2006/relationships/slide" Target="/ppt/slides/slide17.xml" Id="R83dee26be35c43dd" /><Relationship Type="http://schemas.openxmlformats.org/officeDocument/2006/relationships/slide" Target="/ppt/slides/slide18.xml" Id="R618fda44c9f74872" /><Relationship Type="http://schemas.openxmlformats.org/officeDocument/2006/relationships/slide" Target="/ppt/slides/slide19.xml" Id="R1b6aa91c6bb84531" /><Relationship Type="http://schemas.openxmlformats.org/officeDocument/2006/relationships/slide" Target="/ppt/slides/slide20.xml" Id="Rff9f2644ad404234" /><Relationship Type="http://schemas.openxmlformats.org/officeDocument/2006/relationships/slide" Target="/ppt/slides/slide21.xml" Id="Rffdacc3614814b34" /><Relationship Type="http://schemas.openxmlformats.org/officeDocument/2006/relationships/slide" Target="/ppt/slides/slide22.xml" Id="R7cd2e17b0ac44598" /><Relationship Type="http://schemas.openxmlformats.org/officeDocument/2006/relationships/slide" Target="/ppt/slides/slide23.xml" Id="Rbaf6e7b843f34b38" /><Relationship Type="http://schemas.openxmlformats.org/officeDocument/2006/relationships/slide" Target="/ppt/slides/slide24.xml" Id="Re58715032f894a0b" /><Relationship Type="http://schemas.openxmlformats.org/officeDocument/2006/relationships/slide" Target="/ppt/slides/slide25.xml" Id="R671b64fee09647d1" /><Relationship Type="http://schemas.openxmlformats.org/officeDocument/2006/relationships/slide" Target="/ppt/slides/slide26.xml" Id="R0f1efdb0735b4810" /><Relationship Type="http://schemas.openxmlformats.org/officeDocument/2006/relationships/slide" Target="/ppt/slides/slide27.xml" Id="R299277170d58463a" /><Relationship Type="http://schemas.openxmlformats.org/officeDocument/2006/relationships/slide" Target="/ppt/slides/slide28.xml" Id="R47c1e12bebaf4e1e" /><Relationship Type="http://schemas.openxmlformats.org/officeDocument/2006/relationships/slide" Target="/ppt/slides/slide29.xml" Id="R33f2281931074e26" /><Relationship Type="http://schemas.openxmlformats.org/officeDocument/2006/relationships/slide" Target="/ppt/slides/slide30.xml" Id="Rcb00a46c0526422d" /><Relationship Type="http://schemas.openxmlformats.org/officeDocument/2006/relationships/slide" Target="/ppt/slides/slide31.xml" Id="Rdefdab25799b403c" /><Relationship Type="http://schemas.openxmlformats.org/officeDocument/2006/relationships/slide" Target="/ppt/slides/slide32.xml" Id="Rf00af2c51ef04723" /><Relationship Type="http://schemas.openxmlformats.org/officeDocument/2006/relationships/slide" Target="/ppt/slides/slide33.xml" Id="R6dd932b7d3e94967" /><Relationship Type="http://schemas.openxmlformats.org/officeDocument/2006/relationships/slide" Target="/ppt/slides/slide34.xml" Id="R05566556677748cd" /><Relationship Type="http://schemas.openxmlformats.org/officeDocument/2006/relationships/slide" Target="/ppt/slides/slide35.xml" Id="Rff449ac26a254c77" /><Relationship Type="http://schemas.openxmlformats.org/officeDocument/2006/relationships/slide" Target="/ppt/slides/slide36.xml" Id="Rce57f775d35142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6a719019c04d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96e187a9264970" /><Relationship Type="http://schemas.openxmlformats.org/officeDocument/2006/relationships/notesMaster" Target="/ppt/notesMasters/notesMaster1.xml" Id="Rd6ba87770fec45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3804c4900144eb" /><Relationship Type="http://schemas.openxmlformats.org/officeDocument/2006/relationships/notesMaster" Target="/ppt/notesMasters/notesMaster1.xml" Id="Rae1d711f98904d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ce734e65b84f03" /><Relationship Type="http://schemas.openxmlformats.org/officeDocument/2006/relationships/notesMaster" Target="/ppt/notesMasters/notesMaster1.xml" Id="R3196595326904c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bd2ae38c244181" /><Relationship Type="http://schemas.openxmlformats.org/officeDocument/2006/relationships/notesMaster" Target="/ppt/notesMasters/notesMaster1.xml" Id="Rb45bffc5c14d4e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f50df7094b47c4" /><Relationship Type="http://schemas.openxmlformats.org/officeDocument/2006/relationships/notesMaster" Target="/ppt/notesMasters/notesMaster1.xml" Id="Ra29a7855fc7e44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ceed1dbe064194" /><Relationship Type="http://schemas.openxmlformats.org/officeDocument/2006/relationships/notesMaster" Target="/ppt/notesMasters/notesMaster1.xml" Id="R9009548589204c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bf2fae2d674d8b" /><Relationship Type="http://schemas.openxmlformats.org/officeDocument/2006/relationships/notesMaster" Target="/ppt/notesMasters/notesMaster1.xml" Id="R9a68c937125640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3d1f28bd684f47" /><Relationship Type="http://schemas.openxmlformats.org/officeDocument/2006/relationships/notesMaster" Target="/ppt/notesMasters/notesMaster1.xml" Id="R4f66a1fe075747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082f67a9a94eb0" /><Relationship Type="http://schemas.openxmlformats.org/officeDocument/2006/relationships/notesMaster" Target="/ppt/notesMasters/notesMaster1.xml" Id="R0dcd16fd22174c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d494a01c6d4c2b" /><Relationship Type="http://schemas.openxmlformats.org/officeDocument/2006/relationships/notesMaster" Target="/ppt/notesMasters/notesMaster1.xml" Id="Rf0be8b2ba7f84a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c2dac3e3384d40" /><Relationship Type="http://schemas.openxmlformats.org/officeDocument/2006/relationships/notesMaster" Target="/ppt/notesMasters/notesMaster1.xml" Id="R12b543772d5040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7db9ff243443af" /><Relationship Type="http://schemas.openxmlformats.org/officeDocument/2006/relationships/notesMaster" Target="/ppt/notesMasters/notesMaster1.xml" Id="R41d7c42f991c48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5d318d74824b8f" /><Relationship Type="http://schemas.openxmlformats.org/officeDocument/2006/relationships/notesMaster" Target="/ppt/notesMasters/notesMaster1.xml" Id="R6cc8e392453a40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6e000b97a5487e" /><Relationship Type="http://schemas.openxmlformats.org/officeDocument/2006/relationships/notesMaster" Target="/ppt/notesMasters/notesMaster1.xml" Id="Rd4903da3fca449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82a1051921a476d" /><Relationship Type="http://schemas.openxmlformats.org/officeDocument/2006/relationships/notesMaster" Target="/ppt/notesMasters/notesMaster1.xml" Id="R145e09a0677a4ea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1b9fc78b574304" /><Relationship Type="http://schemas.openxmlformats.org/officeDocument/2006/relationships/notesMaster" Target="/ppt/notesMasters/notesMaster1.xml" Id="Raf7a5c504e8c42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7e2ace3f364bb4" /><Relationship Type="http://schemas.openxmlformats.org/officeDocument/2006/relationships/notesMaster" Target="/ppt/notesMasters/notesMaster1.xml" Id="Rdae45306c3c143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699c39e0e34f5d" /><Relationship Type="http://schemas.openxmlformats.org/officeDocument/2006/relationships/notesMaster" Target="/ppt/notesMasters/notesMaster1.xml" Id="R7b480820a0044fa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7d8867e05e74d7b" /><Relationship Type="http://schemas.openxmlformats.org/officeDocument/2006/relationships/notesMaster" Target="/ppt/notesMasters/notesMaster1.xml" Id="R8033f3f879b142f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807b4f2a22743ff" /><Relationship Type="http://schemas.openxmlformats.org/officeDocument/2006/relationships/notesMaster" Target="/ppt/notesMasters/notesMaster1.xml" Id="R4b9ce22d074142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416c2e7bab84a96" /><Relationship Type="http://schemas.openxmlformats.org/officeDocument/2006/relationships/notesMaster" Target="/ppt/notesMasters/notesMaster1.xml" Id="R2275f7ce1f994ed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9907580cc774395" /><Relationship Type="http://schemas.openxmlformats.org/officeDocument/2006/relationships/notesMaster" Target="/ppt/notesMasters/notesMaster1.xml" Id="R469ab7642294470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1cb433f060f4963" /><Relationship Type="http://schemas.openxmlformats.org/officeDocument/2006/relationships/notesMaster" Target="/ppt/notesMasters/notesMaster1.xml" Id="R7b4d7234a6044de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aa4b0c937a34b4b" /><Relationship Type="http://schemas.openxmlformats.org/officeDocument/2006/relationships/notesMaster" Target="/ppt/notesMasters/notesMaster1.xml" Id="Rc2246cd9c6a8463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cd6218a495d47cc" /><Relationship Type="http://schemas.openxmlformats.org/officeDocument/2006/relationships/notesMaster" Target="/ppt/notesMasters/notesMaster1.xml" Id="R3d5dcb5fc3b946f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027dd530cc34012" /><Relationship Type="http://schemas.openxmlformats.org/officeDocument/2006/relationships/notesMaster" Target="/ppt/notesMasters/notesMaster1.xml" Id="Rf1d88de2a7ca48f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2574ee6f72646ed" /><Relationship Type="http://schemas.openxmlformats.org/officeDocument/2006/relationships/notesMaster" Target="/ppt/notesMasters/notesMaster1.xml" Id="R5343f4f46e024e1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230466004cc4193" /><Relationship Type="http://schemas.openxmlformats.org/officeDocument/2006/relationships/notesMaster" Target="/ppt/notesMasters/notesMaster1.xml" Id="R49fd3b65ef50448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c4bd6a826b04c10" /><Relationship Type="http://schemas.openxmlformats.org/officeDocument/2006/relationships/notesMaster" Target="/ppt/notesMasters/notesMaster1.xml" Id="R02760a6c7df24a6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fd0436381f6401c" /><Relationship Type="http://schemas.openxmlformats.org/officeDocument/2006/relationships/notesMaster" Target="/ppt/notesMasters/notesMaster1.xml" Id="R080d4de62ebf41e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37f0224225e4dba" /><Relationship Type="http://schemas.openxmlformats.org/officeDocument/2006/relationships/notesMaster" Target="/ppt/notesMasters/notesMaster1.xml" Id="R00fbaf2ef36c436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a9b230ea7c44160" /><Relationship Type="http://schemas.openxmlformats.org/officeDocument/2006/relationships/notesMaster" Target="/ppt/notesMasters/notesMaster1.xml" Id="Rd2a61c7ba35a477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ea83218b7254a5e" /><Relationship Type="http://schemas.openxmlformats.org/officeDocument/2006/relationships/notesMaster" Target="/ppt/notesMasters/notesMaster1.xml" Id="R66b0be88079f4e4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ef4899d87ad4280" /><Relationship Type="http://schemas.openxmlformats.org/officeDocument/2006/relationships/notesMaster" Target="/ppt/notesMasters/notesMaster1.xml" Id="R38d47d1dbe65492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634e1d4a1f44fa0" /><Relationship Type="http://schemas.openxmlformats.org/officeDocument/2006/relationships/notesMaster" Target="/ppt/notesMasters/notesMaster1.xml" Id="R635d27840b01456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2327ada477b42ba" /><Relationship Type="http://schemas.openxmlformats.org/officeDocument/2006/relationships/notesMaster" Target="/ppt/notesMasters/notesMaster1.xml" Id="R1cdcf2d0ba074651"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Introduktion, cirka 1 minut. Berätta vad personen kommer att få veta: om produkterna, affärsmodellen och det konkreta dagliga arbetet. Anpassa presentationens längd efter publiken. Presentationen visar de kroatiska affärsvillkoren och FCC:s funktioner så som de ser ut den 4 oktober 2026.</a:t>
            </a:r>
          </a:p>
          <a:p>
            <a:r>
              <a:t/>
            </a:r>
          </a:p>
          <a:p>
            <a:r>
              <a:t>Källor:</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Presentera dig personligen, cirka 1 minut. Berätta endast om egna erfarenheter som går att verifiera. Den gemensamma delen efter den här introduktionen används av hela teamet.</a:t>
            </a:r>
          </a:p>
          <a:p>
            <a:r>
              <a:t/>
            </a:r>
          </a:p>
          <a:p>
            <a:r>
              <a:t>Källor:</a:t>
            </a:r>
          </a:p>
          <a:p>
            <a:r>
              <a:t>Användarens originalmaterial, inledande fotografier.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 minut. Berätta om ett praktiskt exempel: en person väljer en produkt eller ett webbinarium, pratar med en kontakt och antecknar nästa överenskomna uppföljning. Lova inte resultat eller inkomst.</a:t>
            </a:r>
          </a:p>
          <a:p>
            <a:r>
              <a:t/>
            </a:r>
          </a:p>
          <a:p>
            <a:r>
              <a:t>Källor:</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 minut. Forever grundades 1978. Antalet marknader varierar mellan de officiella regionala webbplatserna, därför anges ingen enhetlig siffra här. FCC är ett separat, oberoende teamsystem.</a:t>
            </a:r>
          </a:p>
          <a:p>
            <a:r>
              <a:t/>
            </a:r>
          </a:p>
          <a:p>
            <a:r>
              <a:t>Källor:</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 minut. Samtalet börjar med personens faktiska behov, vanor och budget. Visa produkten, den lokala innehållsdeklarationen och anvisningarna. Hitta inte på hälsoeffekter. Fotot illustrerar utbudet och är inte en aktuell lokal prislista.</a:t>
            </a:r>
          </a:p>
          <a:p>
            <a:r>
              <a:t/>
            </a:r>
          </a:p>
          <a:p>
            <a:r>
              <a:t>Källor:</a:t>
            </a:r>
          </a:p>
          <a:p>
            <a:r>
              <a:t>https://foreverliving.com/shop/hrv/hr-hr/products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 minut. Fotografierna från den tillhandahållna presentationen visar produktion och distribution. Berätta om företagets ansvar, inte om några utlovade hälsoeffekter.</a:t>
            </a:r>
          </a:p>
          <a:p>
            <a:r>
              <a:t/>
            </a:r>
          </a:p>
          <a:p>
            <a:r>
              <a:t>Källor:</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1,5 minuter. Båda alternativen är rimliga. Att välja affärsinriktningen kräver ett separat beslut och att de lokala villkoren uppfylls. Åtkomst till FCC är kopplad till ett FCC-konto och tillgängliga förmåner, och är inte samma sak som ett Forever-företagskonto.</a:t>
            </a:r>
          </a:p>
          <a:p>
            <a:r>
              <a:t/>
            </a:r>
          </a:p>
          <a:p>
            <a:r>
              <a:t>Källor:</a:t>
            </a:r>
          </a:p>
          <a:p>
            <a:r>
              <a:t>https://cdn.foreverliving.com/content/MarketingConfigurableContent/HRV/Poslovna%20politika/Poslovna%20politika.pdf</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1,5 minuter. Kroatisk affärspolicy, utgåvan som gäller från den 1 juli 2026. CC är produktens beräkningspoäng. Efter 2 CC under två månader i följd får du 30 % rabatt på efterföljande beställningar och möjlighet att separat välja att gå med i affärsverksamheten. Kontrollera pris, paketets innehåll och när rabatten börjar gälla i den officiella lokala webbutiken. Rekommendera inte köp för att samla poäng om det inte finns ett verkligt behov.</a:t>
            </a:r>
          </a:p>
          <a:p>
            <a:r>
              <a:t/>
            </a:r>
          </a:p>
          <a:p>
            <a:r>
              <a:t>Källor:</a:t>
            </a:r>
          </a:p>
          <a:p>
            <a:r>
              <a:t>https://cdn.foreverliving.com/content/MarketingConfigurableContent/HRV/Poslovna%20politika/Poslovna%20politika.pdf</a:t>
            </a:r>
          </a:p>
          <a:p>
            <a:r>
              <a:t>https://cdn.foreverliving.com/content/MarketingConfigurableContent/HRV/Preuzimanja/Novi_start_paketi_2025.pdf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2 minuter. I Kroatien är 30 % efter kvalificering inte detsamma som en personlig bonus eller nettointäkt. Upp till 48 % av det justerade priset enligt SRP är en term i policyn, inte en garanterad provision på varje beställning. Beräkningsunderlag och tillämpning beror på typen av försäljning och policyn.</a:t>
            </a:r>
          </a:p>
          <a:p>
            <a:r>
              <a:t/>
            </a:r>
          </a:p>
          <a:p>
            <a:r>
              <a:t>Källor:</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2 minuter. Det här är en förklaring av potentiella inkomstkällor, inte en inkomstprognos. Satser och beräkningsunderlag kontrolleras i den lokala policyn. Registrering i sig skapar ingen inkomst. Detaljerade satser finns i bilagan.</a:t>
            </a:r>
          </a:p>
          <a:p>
            <a:r>
              <a:t/>
            </a:r>
          </a:p>
          <a:p>
            <a:r>
              <a:t>Källor:</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1,5 minuter. Enligt den kroatiska policyn 4.01 har Supervisor en gräns på 10 CC från icke-chefer, men tidsfristen är motsägelsefull i 4.01(b) och 4.01(g) i samma policy och anges därför inte här. Förklara CC som försäljningsvolym, aldrig som antal registrerade personer. En nivå garanterar inte en månadsbonus.</a:t>
            </a:r>
          </a:p>
          <a:p>
            <a:r>
              <a:t/>
            </a:r>
          </a:p>
          <a:p>
            <a:r>
              <a:t>Källor:</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1,5 minuter. Enligt den kroatiska policyn har en aktiv FBO 4 CC, varav minst 1 personligt köpt. Uppnådd nivå och rätt till bonus är två skilda saker. Det här är inte universella globala regler. Köp inte produkter för att kvalificera dig om det saknas efterfrågan. CC-talet i FCC från FLP360 är ett aggregat, inte ett bevis på en beställning från en viss kund.</a:t>
            </a:r>
          </a:p>
          <a:p>
            <a:r>
              <a:t/>
            </a:r>
          </a:p>
          <a:p>
            <a:r>
              <a:t>Källor:</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 minut. Incitamentsprogram har ytterligare kvalificeringskrav, krav på att villkoren upprätthålls och lokala villkor. Beskriv dem inte som en gratis bil eller en garanterad resa. Bilagan innehåller en sammanfattning och policyn innehåller de fullständiga villkoren.</a:t>
            </a:r>
          </a:p>
          <a:p>
            <a:r>
              <a:t/>
            </a:r>
          </a:p>
          <a:p>
            <a:r>
              <a:t>Källor:</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 minut. Var tydlig med att FCC är oberoende. FCC tillverkar eller levererar inte produkter och betalar inte ut Forever-bonusar. FCC hjälper till att organisera arbetet, utbildning, personliga rekommendationer och stöd.</a:t>
            </a:r>
          </a:p>
          <a:p>
            <a:r>
              <a:t/>
            </a:r>
          </a:p>
          <a:p>
            <a:r>
              <a:t>Källor:</a:t>
            </a:r>
          </a:p>
          <a:p>
            <a:r>
              <a:t>https://forevercard.club/partner</a:t>
            </a:r>
          </a:p>
          <a:p>
            <a:r>
              <a:t>https://foreverliving.com/hrv/hr-hr/about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 minut. Kortet samlar kontaktuppgifter, innehåll och Forever Web shop på ett ställe. Det nya huvudblocket använder Forever ID från kontot och den befintliga resolver-funktionen. Besökaren kan kontrollera marknaden. Produkttillgänglighet och köpvillkor hanteras av den lokala Forever-butiken.</a:t>
            </a:r>
          </a:p>
          <a:p>
            <a:r>
              <a:t/>
            </a:r>
          </a:p>
          <a:p>
            <a:r>
              <a:t>Källor:</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1,5 minuter. En vy från den faktiska produktionsmiljön, inspelad den 4 oktober 2026. Exemplet gäller Fiber Fusion. När WhatsApp öppnas förbereds bara ett meddelande. Användaren granskar det och skickar det själv. Artikeln och den officiella butiken är olika saker. Klicka inte på skicka under demonstrationen om du inte verkligen tänker skicka meddelandet.</a:t>
            </a:r>
          </a:p>
          <a:p>
            <a:r>
              <a:t/>
            </a:r>
          </a:p>
          <a:p>
            <a:r>
              <a:t>Källor:</a:t>
            </a:r>
          </a:p>
          <a:p>
            <a:r>
              <a:t>https://forevercard.club/partner/share</a:t>
            </a:r>
          </a:p>
          <a:p>
            <a:r>
              <a:t>https://forevercard.club/blog/forever-fiber-fusion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 minut. En rekommendation om affärssamarbete och Start Your Journey går via den befintliga resolver-funktionen till den officiella lokala Forever-processen med samarbetspartnerns rekommendation. Priser, tillgänglighet och lokala villkor skiljer sig mellan länder. Gästen granskar och bekräftar själv beställningen och registreringen.</a:t>
            </a:r>
          </a:p>
          <a:p>
            <a:r>
              <a:t/>
            </a:r>
          </a:p>
          <a:p>
            <a:r>
              <a:t>Källor:</a:t>
            </a:r>
          </a:p>
          <a:p>
            <a:r>
              <a:t>https://forevercard.club/partner-marketing</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1,5 minuter. Kontakter och påminnelser finns i Free-paketet. En webinarieanmälan kan kopplas till en befintlig kontakt. Namnet och exemplet här är påhittade, inte personuppgifter om verkliga medlemmar. Ett förberett eller kopierat meddelande har inte skickats. Skickandet bekräftas separat.</a:t>
            </a:r>
          </a:p>
          <a:p>
            <a:r>
              <a:t/>
            </a:r>
          </a:p>
          <a:p>
            <a:r>
              <a:t>Källor:</a:t>
            </a:r>
          </a:p>
          <a:p>
            <a:r>
              <a:t>https://forevercard.club/partner/contacts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1,5 minuter. Personlig PRO Coach hjälper till med meddelanden, uppgifter och reflektion utifrån en känd kontext. Den skickar inte meddelanden åt användaren och bekräftar inte att ett köp har genomförts. Frågeexemplet är påhittat. Visa inte verkliga privata konversationer under ett offentligt webbinarium.</a:t>
            </a:r>
          </a:p>
          <a:p>
            <a:r>
              <a:t/>
            </a:r>
          </a:p>
          <a:p>
            <a:r>
              <a:t>Källor:</a:t>
            </a:r>
          </a:p>
          <a:p>
            <a:r>
              <a:t>https://forevercard.club/partner?view=coach</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1,5 minuter. Det aktuella programmet omfattar 90 steg. Tillgången beror på konto- och programvillkor. Ett oavslutat steg ligger kvar tills du bekräftar att det är klart. Nästa ordinarie uppgift visas när dagens uppgift har slutförts, enligt programmets regler.</a:t>
            </a:r>
          </a:p>
          <a:p>
            <a:r>
              <a:t/>
            </a:r>
          </a:p>
          <a:p>
            <a:r>
              <a:t>Källor:</a:t>
            </a:r>
          </a:p>
          <a:p>
            <a:r>
              <a:t>https://forevercard.club/partner</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 minut. Utbildningen innehåller sex videolektioner och ämnen att ta upp med din sponsor eller ditt team. Visa ett exempel på en fråga och hur den används i ett samtal. FCC-systemvyn är från den 4 oktober 2026.</a:t>
            </a:r>
          </a:p>
          <a:p>
            <a:r>
              <a:t/>
            </a:r>
          </a:p>
          <a:p>
            <a:r>
              <a:t>Källor:</a:t>
            </a:r>
          </a:p>
          <a:p>
            <a:r>
              <a:t>https://forevercard.club/partner?view=materials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1,5 minuter. Så här såg produktionen ut den 4 oktober 2026. Tiden i demonstrationen är ett exempel, inte ett fast schema. Varje samarbetspartner använder sin personliga inbjudan. Video och personlig introduktion ingår i PRO-paketet. Att WhatsApp öppnas bevisar inte att meddelandet har skickats. Du kan anpassa inbjudan och dela den själv.</a:t>
            </a:r>
          </a:p>
          <a:p>
            <a:r>
              <a:t/>
            </a:r>
          </a:p>
          <a:p>
            <a:r>
              <a:t>Källor:</a:t>
            </a:r>
          </a:p>
          <a:p>
            <a:r>
              <a:t>https://forevercard.club/partner/share?type=webinar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2 minuter. Marko är ett fiktivt exempel. Anmälan är skild från deltagandet, och deltagande i Zoom registreras inte automatiskt. Gästen får en bekräftelse och tillgängliga påminnelser enligt samtycken och e-postbekräftelse. En ny anmälan till en annan tid registreras separat som deltagande och kopplas till samma identifierade kontakt, med kontroll när identiteten inte är entydig.</a:t>
            </a:r>
          </a:p>
          <a:p>
            <a:r>
              <a:t/>
            </a:r>
          </a:p>
          <a:p>
            <a:r>
              <a:t>Källor:</a:t>
            </a:r>
          </a:p>
          <a:p>
            <a:r>
              <a:t>https://forevercard.club/partner-webinar?view=activity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1,5 minuter. En arrangör med PRO-paketet väljer ett tillfälle eller ett veckovis tillfälle, språk och om webbinariet ska vara synligt endast för arrangörens inbjudna eller för hela det bekräftade FCC-teamet. Medlemmar i arrangörens team kan bjuda in med sina egna länkar och får sina egna kontakter. Arrangören ser det sammanlagda antalet, inte andras privata CRM. Händelsens språk och kontots språk är separata.</a:t>
            </a:r>
          </a:p>
          <a:p>
            <a:r>
              <a:t/>
            </a:r>
          </a:p>
          <a:p>
            <a:r>
              <a:t>Källor:</a:t>
            </a:r>
          </a:p>
          <a:p>
            <a:r>
              <a:t>https://forevercard.club/partner-webinar?view=manage</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 minut. PRO visar den bekräftade FCC-strukturen, sammanställda CC-uppgifter och framsteg. En förändring av CC är inte ett bevis på att en viss kontakt har köpt en viss produkt. Personlig kontakt omfattar ett utkast, bekräftelse på att meddelandet har skickats och en påminnelse. Visa inte privata medlemmar och uppgifter under en offentlig demonstration.</a:t>
            </a:r>
          </a:p>
          <a:p>
            <a:r>
              <a:t/>
            </a:r>
          </a:p>
          <a:p>
            <a:r>
              <a:t>Källor:</a:t>
            </a:r>
          </a:p>
          <a:p>
            <a:r>
              <a:t>https://forevercard.club/partner/team</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2 minuter eller en kort demonstration. Ana är ett fiktivt exempel. Visa en uppgift och ett förberett meddelande utan att faktiskt skicka det. Visa sedan var överenskommelsen antecknas. Öppna inte privata CRM-uppgifter inför publiken.</a:t>
            </a:r>
          </a:p>
          <a:p>
            <a:r>
              <a:t/>
            </a:r>
          </a:p>
          <a:p>
            <a:r>
              <a:t>Källor:</a:t>
            </a:r>
          </a:p>
          <a:p>
            <a:r>
              <a:t>https://forevercard.club/partner</a:t>
            </a:r>
          </a:p>
          <a:p>
            <a:r>
              <a:t>https://forevercard.club/partner/contacts</a:t>
            </a:r>
          </a:p>
          <a:p>
            <a:r>
              <a:t>https://forevercard.club/partner/share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 minut. Den föreslagna rytmen är ett exempel på planering, inte ett officiellt krav i programmet. Välj en tid från det aktuella schemat. Utgå inte från att alla team träffas på onsdagar eller söndagar eller vid samma tid.</a:t>
            </a:r>
          </a:p>
          <a:p>
            <a:r>
              <a:t/>
            </a:r>
          </a:p>
          <a:p>
            <a:r>
              <a:t>Källor:</a:t>
            </a:r>
          </a:p>
          <a:p>
            <a:r>
              <a:t>https://forevercard.club/partner/share?type=webinar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1,5 minuter. Det här är ett exempel på en introduktion med en sponsor, inte en ersättning för de specifika kriterierna i programmet Min väg. Kontoaktivering och tillgång till programmet har egna villkor. Anpassa tempot efter personens tid och kunskap.</a:t>
            </a:r>
          </a:p>
          <a:p>
            <a:r>
              <a:t/>
            </a:r>
          </a:p>
          <a:p>
            <a:r>
              <a:t>Källor:</a:t>
            </a:r>
          </a:p>
          <a:p>
            <a:r>
              <a:t>https://forevercard.club/partner</a:t>
            </a:r>
          </a:p>
          <a:p>
            <a:r>
              <a:t>https://forevercard.club/partner/cards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 minut. De faktiska förmånerna kontrollerades i produktionen den 4 oktober 2026. Priser och exakta gränser kan ändras, så de visas i FCC. Utbildning är tillgänglig enligt villkoren för det befintliga programmet. PRO-abonnemanget är inte en Forever-kvalificering och garanterar ingen inkomst.</a:t>
            </a:r>
          </a:p>
          <a:p>
            <a:r>
              <a:t/>
            </a:r>
          </a:p>
          <a:p>
            <a:r>
              <a:t>Källor:</a:t>
            </a:r>
          </a:p>
          <a:p>
            <a:r>
              <a:t>https://forevercard.club/account-plan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2 minuter. Uppmuntra gästen att ställa riktiga frågor. Svara utifrån situationen och lokala regler. Om du inte vet svaret, anteckna frågan och kontrollera en officiell källa eller kontakta supporten. Ge inga inkomstprognoser.</a:t>
            </a:r>
          </a:p>
          <a:p>
            <a:r>
              <a:t/>
            </a:r>
          </a:p>
          <a:p>
            <a:r>
              <a:t>Källor:</a:t>
            </a:r>
          </a:p>
          <a:p>
            <a:r>
              <a:t>https://cdn.foreverliving.com/content/MarketingConfigurableContent/HRV/Poslovna%20politika/Poslovna%20politika.pdf</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Cirka 1 minut. Boka ett samtal med personen som bjöd in gästen, vid behov tillsammans med en sponsor eller manager. Gästen behöver inte fatta ett beslut om verksamheten direkt. Använd inte en gemensam kontakt i stället för den personliga inbjudaren.</a:t>
            </a:r>
          </a:p>
          <a:p>
            <a:r>
              <a:t/>
            </a:r>
          </a:p>
          <a:p>
            <a:r>
              <a:t>Källor:</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Avsluta huvuddelen. Svara på frågor och påminn om det personliga samtalet. De extra bilderna är till för detaljerade frågor om marknadsplanen och behöver inte tas med i varje webbinarium.</a:t>
            </a:r>
          </a:p>
          <a:p>
            <a:r>
              <a:t/>
            </a:r>
          </a:p>
          <a:p>
            <a:r>
              <a:t>Källor:</a:t>
            </a:r>
          </a:p>
          <a:p>
            <a:r>
              <a:t>https://forevercard.club/partner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Vid behov. Den kroatiska affärspolicyn kopplar den personliga bonusen till försäljningsnivå, aktivitet och föreskriven beräkningsgrund. Uttrycket om ett anpassat pris på upp till 48 % har en separat betydelse i policyn. Det innebär inte en garanterad kontantprovision på varje beställning. Lägg inte ihop grundrabatt och bonusar som en säker nettoinkomst.</a:t>
            </a:r>
          </a:p>
          <a:p>
            <a:r>
              <a:t/>
            </a:r>
          </a:p>
          <a:p>
            <a:r>
              <a:t>Källor:</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Vid behov. Kroatisk policy, avsnitt 10. Programmet är avsett för en aktiv, erkänd Manager och omfattas av ytterligare villkor som måste fortsätta vara uppfyllda. Kvalificeringen pågår i tre månader i följd. Incitamentet kan betalas i upp till 36 månader. De maximala beloppen anges i USD i policyn. Kontrollera den lokala beräkningen och utbetalningsvillkoren i euro för din egen plan.</a:t>
            </a:r>
          </a:p>
          <a:p>
            <a:r>
              <a:t/>
            </a:r>
          </a:p>
          <a:p>
            <a:r>
              <a:t>Källor:</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Vid behov. Det här är grundläggande tröskelvärden, och de fullständiga reglerna fastställs i den aktuella lokala policyn. Eagle Manager omfattar 720 CC totalt, 100 nya CC, tre nya linjer på Supervisor nivå och ytterligare villkor. Global Rally omfattar 1 500 CC totalt och 50 nya CC. Nya CC avser försäljningsvolym från nya linjer. Chairman’s Bonus har avancerade kvalificeringsvillkor, och utbetalningsbeloppet är inte fast.</a:t>
            </a:r>
          </a:p>
          <a:p>
            <a:r>
              <a:t/>
            </a:r>
          </a:p>
          <a:p>
            <a:r>
              <a:t>Källor:</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Vid behov. Den kroatiska policyn anger att bonusar betalas den 15:e i följande månad. Onlineintäkter överförs till Global Pay efter den 10:e, den 20:e och månadens sista dag. Beräkningen och när pengarna kommer in på bankkontot kan ha olika tidsramar. Inkomst, skatter och företagsregistrering beror på de faktiska omständigheterna. Vänd dig till en kvalificerad rådgivare och officiell support om du har frågor som rör din personliga situation.</a:t>
            </a:r>
          </a:p>
          <a:p>
            <a:r>
              <a:t/>
            </a:r>
          </a:p>
          <a:p>
            <a:r>
              <a:t>Källor:</a:t>
            </a:r>
          </a:p>
          <a:p>
            <a:r>
              <a:t>https://cdn.foreverliving.com/content/MarketingConfigurableContent/HRV/Poslovna%20politika/Poslovna%20politika.pdf</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64707d873445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03b1c9a62540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91a54b21bb4a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8e0804b00442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e8e4d02edd4d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1cdb0906e742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F74769-3CBD-4239-A818-D9166EFEF5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042203-E90D-4177-99CB-E5E2C73419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E2FCF2E-2D72-496B-8F60-FE46E13BE07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775AFD-5424-4228-AFD5-4BC8664224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3975AA1-4E8D-49F3-B4BE-05D474ECD0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FCF18A8-1252-41C0-8CBF-B3940F037E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7E68A17-6C5D-4A77-8C64-27A74687D29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BD60F0C-4409-4658-8236-F7B45BD1BD7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5FBD3C-3E2D-4E80-8CD4-5B20E1124F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0E3664-B48C-4CCF-A458-5AD8D6B31A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b32fd4c33147ec" /><Relationship Type="http://schemas.openxmlformats.org/officeDocument/2006/relationships/slideLayout" Target="/ppt/slideLayouts/slideLayout1.xml" Id="R222ce6330a5b4ca8" /><Relationship Type="http://schemas.openxmlformats.org/officeDocument/2006/relationships/slideLayout" Target="/ppt/slideLayouts/slideLayout2.xml" Id="R6b5e57ad54854d85" /><Relationship Type="http://schemas.openxmlformats.org/officeDocument/2006/relationships/slideLayout" Target="/ppt/slideLayouts/slideLayout3.xml" Id="Rab436a0ab7cb4f40" /><Relationship Type="http://schemas.openxmlformats.org/officeDocument/2006/relationships/slideLayout" Target="/ppt/slideLayouts/slideLayout4.xml" Id="R918e832eccb44b54" /><Relationship Type="http://schemas.openxmlformats.org/officeDocument/2006/relationships/slideLayout" Target="/ppt/slideLayouts/slideLayout5.xml" Id="Rf01cc88d49c044cf" /><Relationship Type="http://schemas.openxmlformats.org/officeDocument/2006/relationships/slideLayout" Target="/ppt/slideLayouts/slideLayout6.xml" Id="Rbb2fac1f08344b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2ce6330a5b4ca8"/>
    <p:sldLayoutId xmlns:r="http://schemas.openxmlformats.org/officeDocument/2006/relationships" id="2147483650" r:id="R6b5e57ad54854d85"/>
    <p:sldLayoutId xmlns:r="http://schemas.openxmlformats.org/officeDocument/2006/relationships" id="2147483651" r:id="Rab436a0ab7cb4f40"/>
    <p:sldLayoutId xmlns:r="http://schemas.openxmlformats.org/officeDocument/2006/relationships" id="2147483652" r:id="R918e832eccb44b54"/>
    <p:sldLayoutId xmlns:r="http://schemas.openxmlformats.org/officeDocument/2006/relationships" id="2147483653" r:id="Rf01cc88d49c044cf"/>
    <p:sldLayoutId xmlns:r="http://schemas.openxmlformats.org/officeDocument/2006/relationships" id="2147483654" r:id="Rbb2fac1f08344b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e8b876870b4bd3" /><Relationship Type="http://schemas.openxmlformats.org/officeDocument/2006/relationships/image" Target="/ppt/media/image.jpeg" Id="R034c0eeccf4948c0" /><Relationship Type="http://schemas.openxmlformats.org/officeDocument/2006/relationships/image" Target="/ppt/media/image.png" Id="R2b8d2ff69cca4c51" /><Relationship Type="http://schemas.openxmlformats.org/officeDocument/2006/relationships/notesSlide" Target="/ppt/notesSlides/notesSlide1.xml" Id="R81b9f33499044c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036672317249bc" /><Relationship Type="http://schemas.openxmlformats.org/officeDocument/2006/relationships/image" Target="/ppt/media/image2.png" Id="R83eae1d8ff684ca8" /><Relationship Type="http://schemas.openxmlformats.org/officeDocument/2006/relationships/image" Target="/ppt/media/image2.jpeg" Id="R7d26e2f4bdc14ea7" /><Relationship Type="http://schemas.openxmlformats.org/officeDocument/2006/relationships/notesSlide" Target="/ppt/notesSlides/notesSlide2.xml" Id="Rb7545ed1f51d4e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c735092e2049a9" /><Relationship Type="http://schemas.openxmlformats.org/officeDocument/2006/relationships/image" Target="/ppt/media/image3.png" Id="R242c0c3a74d44c3e" /><Relationship Type="http://schemas.openxmlformats.org/officeDocument/2006/relationships/notesSlide" Target="/ppt/notesSlides/notesSlide3.xml" Id="Rf304fb9e41e44f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a17a4223055445a" /><Relationship Type="http://schemas.openxmlformats.org/officeDocument/2006/relationships/image" Target="/ppt/media/image4.png" Id="Rdae54c54c13e41c1" /><Relationship Type="http://schemas.openxmlformats.org/officeDocument/2006/relationships/image" Target="/ppt/media/image3.jpeg" Id="Ra3daa3908981400c" /><Relationship Type="http://schemas.openxmlformats.org/officeDocument/2006/relationships/notesSlide" Target="/ppt/notesSlides/notesSlide4.xml" Id="R0285fcbda83549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21b2435988947ea" /><Relationship Type="http://schemas.openxmlformats.org/officeDocument/2006/relationships/image" Target="/ppt/media/image5.png" Id="Rba10fc9d1268426c" /><Relationship Type="http://schemas.openxmlformats.org/officeDocument/2006/relationships/image" Target="/ppt/media/image6.png" Id="R5eebdc2fa42747ce" /><Relationship Type="http://schemas.openxmlformats.org/officeDocument/2006/relationships/notesSlide" Target="/ppt/notesSlides/notesSlide5.xml" Id="Rfecf98df9a1a4e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d898239d1c4bc7" /><Relationship Type="http://schemas.openxmlformats.org/officeDocument/2006/relationships/image" Target="/ppt/media/image7.png" Id="Rc418f7fc157f4c3e" /><Relationship Type="http://schemas.openxmlformats.org/officeDocument/2006/relationships/image" Target="/ppt/media/image4.jpeg" Id="R760ec06578814d61" /><Relationship Type="http://schemas.openxmlformats.org/officeDocument/2006/relationships/image" Target="/ppt/media/image5.jpeg" Id="R67e74f1e1fe24f58" /><Relationship Type="http://schemas.openxmlformats.org/officeDocument/2006/relationships/notesSlide" Target="/ppt/notesSlides/notesSlide6.xml" Id="Rfe88255fd57641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9b6062e5e124a0a" /><Relationship Type="http://schemas.openxmlformats.org/officeDocument/2006/relationships/image" Target="/ppt/media/image8.png" Id="R9d24496200b841ee" /><Relationship Type="http://schemas.openxmlformats.org/officeDocument/2006/relationships/notesSlide" Target="/ppt/notesSlides/notesSlide7.xml" Id="R299db23e058f4f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d1c24b5618406a" /><Relationship Type="http://schemas.openxmlformats.org/officeDocument/2006/relationships/image" Target="/ppt/media/image9.png" Id="R051be96e5b284a3e" /><Relationship Type="http://schemas.openxmlformats.org/officeDocument/2006/relationships/notesSlide" Target="/ppt/notesSlides/notesSlide8.xml" Id="R0e3bd16dd9f740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0e6f8c9f284a17" /><Relationship Type="http://schemas.openxmlformats.org/officeDocument/2006/relationships/image" Target="/ppt/media/image10.png" Id="Rf661f195b5314748" /><Relationship Type="http://schemas.openxmlformats.org/officeDocument/2006/relationships/notesSlide" Target="/ppt/notesSlides/notesSlide9.xml" Id="Re8ee2aa0c2d745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2528d2b8f874644" /><Relationship Type="http://schemas.openxmlformats.org/officeDocument/2006/relationships/image" Target="/ppt/media/image11.png" Id="Redb93a4280434ff1" /><Relationship Type="http://schemas.openxmlformats.org/officeDocument/2006/relationships/notesSlide" Target="/ppt/notesSlides/notesSlide10.xml" Id="R6cb81f1d52bb48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b9ab9d061bb401c" /><Relationship Type="http://schemas.openxmlformats.org/officeDocument/2006/relationships/image" Target="/ppt/media/image12.png" Id="R5bc897ca9a314817" /><Relationship Type="http://schemas.openxmlformats.org/officeDocument/2006/relationships/notesSlide" Target="/ppt/notesSlides/notesSlide11.xml" Id="R21c3170dc7f34b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5fc977a777745a7" /><Relationship Type="http://schemas.openxmlformats.org/officeDocument/2006/relationships/image" Target="/ppt/media/image13.png" Id="Rc8567ceef5234c8d" /><Relationship Type="http://schemas.openxmlformats.org/officeDocument/2006/relationships/notesSlide" Target="/ppt/notesSlides/notesSlide12.xml" Id="R8a3483c1ab694d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32506bf467547bd" /><Relationship Type="http://schemas.openxmlformats.org/officeDocument/2006/relationships/image" Target="/ppt/media/image14.png" Id="Rf83108d97d584295" /><Relationship Type="http://schemas.openxmlformats.org/officeDocument/2006/relationships/notesSlide" Target="/ppt/notesSlides/notesSlide13.xml" Id="Rb81f8c0116bd4fe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c6c16df8f9b4a2d" /><Relationship Type="http://schemas.openxmlformats.org/officeDocument/2006/relationships/notesSlide" Target="/ppt/notesSlides/notesSlide14.xml" Id="R744adfba47b348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d62801bc3f64cec" /><Relationship Type="http://schemas.openxmlformats.org/officeDocument/2006/relationships/image" Target="/ppt/media/image15.png" Id="R96ec4f327d4d4f96" /><Relationship Type="http://schemas.openxmlformats.org/officeDocument/2006/relationships/notesSlide" Target="/ppt/notesSlides/notesSlide15.xml" Id="R28a7cd00d350454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480e1010a4749a2" /><Relationship Type="http://schemas.openxmlformats.org/officeDocument/2006/relationships/image" Target="/ppt/media/image16.png" Id="Rc17e468844c54e84" /><Relationship Type="http://schemas.openxmlformats.org/officeDocument/2006/relationships/image" Target="/ppt/media/image6.jpeg" Id="R94ff2c7901084e46" /><Relationship Type="http://schemas.openxmlformats.org/officeDocument/2006/relationships/notesSlide" Target="/ppt/notesSlides/notesSlide16.xml" Id="Ree7c05797a5148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da9fcec88d4440c" /><Relationship Type="http://schemas.openxmlformats.org/officeDocument/2006/relationships/image" Target="/ppt/media/image17.png" Id="R595a642bf0454749" /><Relationship Type="http://schemas.openxmlformats.org/officeDocument/2006/relationships/notesSlide" Target="/ppt/notesSlides/notesSlide17.xml" Id="R989c80c1ab7649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537c883443c4227" /><Relationship Type="http://schemas.openxmlformats.org/officeDocument/2006/relationships/image" Target="/ppt/media/image18.png" Id="Rcc997d641f674b2e" /><Relationship Type="http://schemas.openxmlformats.org/officeDocument/2006/relationships/notesSlide" Target="/ppt/notesSlides/notesSlide18.xml" Id="R8d03a8edfbe44b2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51ab6cc4d054267" /><Relationship Type="http://schemas.openxmlformats.org/officeDocument/2006/relationships/image" Target="/ppt/media/image19.png" Id="R64b74fa4d54445c9" /><Relationship Type="http://schemas.openxmlformats.org/officeDocument/2006/relationships/notesSlide" Target="/ppt/notesSlides/notesSlide19.xml" Id="R73252235dda1420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04f72282a1f43c7" /><Relationship Type="http://schemas.openxmlformats.org/officeDocument/2006/relationships/image" Target="/ppt/media/image20.png" Id="R5343d6ff4c174578" /><Relationship Type="http://schemas.openxmlformats.org/officeDocument/2006/relationships/notesSlide" Target="/ppt/notesSlides/notesSlide20.xml" Id="R1ae34887bf6b469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ed28d195f35443d" /><Relationship Type="http://schemas.openxmlformats.org/officeDocument/2006/relationships/image" Target="/ppt/media/image21.png" Id="Rd2520270cdcb44be" /><Relationship Type="http://schemas.openxmlformats.org/officeDocument/2006/relationships/image" Target="/ppt/media/image7.jpeg" Id="Rc24afb3e1b784e7e" /><Relationship Type="http://schemas.openxmlformats.org/officeDocument/2006/relationships/notesSlide" Target="/ppt/notesSlides/notesSlide21.xml" Id="Rbc0de2a1637e4a5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e16aecb56c245ae" /><Relationship Type="http://schemas.openxmlformats.org/officeDocument/2006/relationships/image" Target="/ppt/media/image22.png" Id="R9e74150305fa4111" /><Relationship Type="http://schemas.openxmlformats.org/officeDocument/2006/relationships/image" Target="/ppt/media/image8.jpeg" Id="R1e50648732a948d2" /><Relationship Type="http://schemas.openxmlformats.org/officeDocument/2006/relationships/notesSlide" Target="/ppt/notesSlides/notesSlide22.xml" Id="R30e134802af844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7e27ec12d1a473a" /><Relationship Type="http://schemas.openxmlformats.org/officeDocument/2006/relationships/image" Target="/ppt/media/image23.png" Id="R767dfad8865d4072" /><Relationship Type="http://schemas.openxmlformats.org/officeDocument/2006/relationships/notesSlide" Target="/ppt/notesSlides/notesSlide23.xml" Id="Rcdffd40f7fb54e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f4213f8477847af" /><Relationship Type="http://schemas.openxmlformats.org/officeDocument/2006/relationships/image" Target="/ppt/media/image24.png" Id="R91a2746f4c374b45" /><Relationship Type="http://schemas.openxmlformats.org/officeDocument/2006/relationships/notesSlide" Target="/ppt/notesSlides/notesSlide24.xml" Id="Re08558424ab042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31ef9866f844b13" /><Relationship Type="http://schemas.openxmlformats.org/officeDocument/2006/relationships/image" Target="/ppt/media/image25.png" Id="R59ec47a19bc2488c" /><Relationship Type="http://schemas.openxmlformats.org/officeDocument/2006/relationships/notesSlide" Target="/ppt/notesSlides/notesSlide25.xml" Id="Rfe051ce0ad3743a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04e216661cb46d8" /><Relationship Type="http://schemas.openxmlformats.org/officeDocument/2006/relationships/notesSlide" Target="/ppt/notesSlides/notesSlide26.xml" Id="Rd955d76780a0445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31edf40b97d430e" /><Relationship Type="http://schemas.openxmlformats.org/officeDocument/2006/relationships/image" Target="/ppt/media/image26.png" Id="R5fc007ce49884a48" /><Relationship Type="http://schemas.openxmlformats.org/officeDocument/2006/relationships/notesSlide" Target="/ppt/notesSlides/notesSlide27.xml" Id="R6e2c3395d089417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820138f73cd44f4" /><Relationship Type="http://schemas.openxmlformats.org/officeDocument/2006/relationships/image" Target="/ppt/media/image27.png" Id="R2ce76662dc9b4623" /><Relationship Type="http://schemas.openxmlformats.org/officeDocument/2006/relationships/notesSlide" Target="/ppt/notesSlides/notesSlide28.xml" Id="R26fc3c5b9f414fd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d9355eb3c3e4fc5" /><Relationship Type="http://schemas.openxmlformats.org/officeDocument/2006/relationships/image" Target="/ppt/media/image28.png" Id="R5e6a51b14994433f" /><Relationship Type="http://schemas.openxmlformats.org/officeDocument/2006/relationships/notesSlide" Target="/ppt/notesSlides/notesSlide29.xml" Id="Rc99cf4ce3b1f4ee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04d39c204f04178" /><Relationship Type="http://schemas.openxmlformats.org/officeDocument/2006/relationships/image" Target="/ppt/media/image29.png" Id="R90f9cc35fcf0450c" /><Relationship Type="http://schemas.openxmlformats.org/officeDocument/2006/relationships/notesSlide" Target="/ppt/notesSlides/notesSlide30.xml" Id="R84d2f32132a4487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2187c0cea7e4553" /><Relationship Type="http://schemas.openxmlformats.org/officeDocument/2006/relationships/image" Target="/ppt/media/image30.png" Id="R83eb3923d8184bad" /><Relationship Type="http://schemas.openxmlformats.org/officeDocument/2006/relationships/notesSlide" Target="/ppt/notesSlides/notesSlide31.xml" Id="R041eb70f80e446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0ab2bf6fa284ec2" /><Relationship Type="http://schemas.openxmlformats.org/officeDocument/2006/relationships/notesSlide" Target="/ppt/notesSlides/notesSlide32.xml" Id="Rfba93b99e45c4dc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2ee66e90d034c10" /><Relationship Type="http://schemas.openxmlformats.org/officeDocument/2006/relationships/image" Target="/ppt/media/image31.png" Id="R36ae438961544b63" /><Relationship Type="http://schemas.openxmlformats.org/officeDocument/2006/relationships/notesSlide" Target="/ppt/notesSlides/notesSlide33.xml" Id="R5a1843e749774ba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b2c9e6ee3d842b0" /><Relationship Type="http://schemas.openxmlformats.org/officeDocument/2006/relationships/image" Target="/ppt/media/image32.png" Id="R9c5ed023181f4870" /><Relationship Type="http://schemas.openxmlformats.org/officeDocument/2006/relationships/notesSlide" Target="/ppt/notesSlides/notesSlide34.xml" Id="R0496a57b86264bb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9a51a4052a9476f" /><Relationship Type="http://schemas.openxmlformats.org/officeDocument/2006/relationships/image" Target="/ppt/media/image33.png" Id="R58ce5c4bc3ef4c8b" /><Relationship Type="http://schemas.openxmlformats.org/officeDocument/2006/relationships/notesSlide" Target="/ppt/notesSlides/notesSlide35.xml" Id="R2fc1dca00dc3471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a83230092d6b4ea4" /><Relationship Type="http://schemas.openxmlformats.org/officeDocument/2006/relationships/image" Target="/ppt/media/image34.png" Id="R94ed22d42f074bff" /><Relationship Type="http://schemas.openxmlformats.org/officeDocument/2006/relationships/notesSlide" Target="/ppt/notesSlides/notesSlide36.xml" Id="R31e5ae07ec8642d3" /></Relationships>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sp>
        <p:nvSpPr>
          <p:cNvPr id="7" name="">
            <a:extLst>
              <a:ext uri="{FF2B5EF4-FFF2-40B4-BE49-F238E27FC236}">
                <ns2:creationId id="{A7AC97BE-995D-43C8-B710-19D4F10EEBAB}"/>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01</a:t>
            </a:r>
          </a:p>
        </p:txBody>
      </p:sp>
      <p:pic>
        <p:nvPicPr>
          <p:cNvPr id="2" name="">
            <a:extLst>
              <a:ext uri="{FF2B5EF4-FFF2-40B4-BE49-F238E27FC236}">
                <ns2:creationId id="{256D1567-1E22-4203-8C6B-FAC7BC7E5857}"/>
              </a:ext>
            </a:extLst>
          </p:cNvPr>
          <p:cNvPicPr>
            <a:picLocks noChangeAspect="1"/>
          </p:cNvPicPr>
          <p:nvPr/>
        </p:nvPicPr>
        <p:blipFill>
          <a:blip r:embed="R034c0eeccf4948c0"/>
          <a:srcRect l="24610" t="0" r="24610" b="0"/>
          <a:stretch>
            <a:fillRect l="0" t="0" r="0" b="0"/>
          </a:stretch>
        </p:blipFill>
        <p:spPr>
          <a:xfrm>
            <a:off x="6810375" y="0"/>
            <a:ext cx="5381625" cy="6858000"/>
          </a:xfrm>
          <a:prstGeom prst="rect">
            <a:avLst/>
          </a:prstGeom>
        </p:spPr>
      </p:pic>
      <p:pic>
        <p:nvPicPr>
          <p:cNvPr id="3" name="">
            <a:extLst>
              <a:ext uri="{FF2B5EF4-FFF2-40B4-BE49-F238E27FC236}">
                <ns2:creationId id="{95EA2546-934B-459A-AC59-934CC0E1E9C1}"/>
              </a:ext>
            </a:extLst>
          </p:cNvPr>
          <p:cNvPicPr>
            <a:picLocks noChangeAspect="1"/>
          </p:cNvPicPr>
          <p:nvPr/>
        </p:nvPicPr>
        <p:blipFill>
          <a:blip r:embed="R2b8d2ff69cca4c51"/>
          <a:stretch/>
        </p:blipFill>
        <p:spPr>
          <a:xfrm>
            <a:off x="609600" y="463276"/>
            <a:ext cx="2457450" cy="635547"/>
          </a:xfrm>
          <a:prstGeom prst="rect">
            <a:avLst/>
          </a:prstGeom>
        </p:spPr>
      </p:pic>
      <p:sp>
        <p:nvSpPr>
          <p:cNvPr id="4" name="">
            <a:extLst>
              <a:ext uri="{FF2B5EF4-FFF2-40B4-BE49-F238E27FC236}">
                <ns2:creationId id="{7A84D4CA-7994-4015-BA7A-862B8C85D61A}"/>
              </a:ext>
            </a:extLst>
          </p:cNvPr>
          <p:cNvSpPr>
            <a:spLocks noGrp="1"/>
          </p:cNvSpPr>
          <p:nvPr/>
        </p:nvSpPr>
        <p:spPr>
          <a:xfrm>
            <a:off x="609600" y="1943100"/>
            <a:ext cx="6191250" cy="790575"/>
          </a:xfrm>
          <a:prstGeom prst="rect">
            <a:avLst/>
          </a:prstGeom>
          <a:noFill/>
          <a:ln w="0">
            <a:noFill/>
          </a:ln>
        </p:spPr>
        <p:txBody>
          <a:bodyPr wrap="square" lIns="0" tIns="0" rIns="0" bIns="0" anchor="t">
            <a:noAutofit/>
          </a:bodyPr>
          <a:lstStyle>
            <a:defPPr>
              <a:defRPr sz="4950" b="1">
                <a:solidFill>
                  <a:srgbClr val="153F36"/>
                </a:solidFill>
                <a:latin typeface="Arial"/>
                <a:ea typeface="Arial"/>
                <a:cs typeface="Arial"/>
              </a:defRPr>
            </a:defPPr>
          </a:lstStyle>
          <a:p>
            <a:pPr>
              <a:defRPr sz="4950" b="1">
                <a:solidFill>
                  <a:srgbClr val="153F36"/>
                </a:solidFill>
                <a:latin typeface="Arial"/>
                <a:ea typeface="Arial"/>
                <a:cs typeface="Arial"/>
              </a:defRPr>
            </a:pPr>
            <a:r>
              <a:rPr sz="4950" b="1" lang="sv-SE">
                <a:solidFill>
                  <a:srgbClr val="153F36"/>
                </a:solidFill>
                <a:latin typeface="Arial"/>
                <a:ea typeface="Arial"/>
                <a:cs typeface="Arial"/>
              </a:rPr>
              <a:t>Forever och FCC</a:t>
            </a:r>
          </a:p>
        </p:txBody>
      </p:sp>
      <p:sp>
        <p:nvSpPr>
          <p:cNvPr id="5" name="">
            <a:extLst>
              <a:ext uri="{FF2B5EF4-FFF2-40B4-BE49-F238E27FC236}">
                <ns2:creationId id="{FC0596C7-1725-4D0C-95AB-F7C38913635E}"/>
              </a:ext>
            </a:extLst>
          </p:cNvPr>
          <p:cNvSpPr>
            <a:spLocks noGrp="1"/>
          </p:cNvSpPr>
          <p:nvPr/>
        </p:nvSpPr>
        <p:spPr>
          <a:xfrm>
            <a:off x="609600" y="2857500"/>
            <a:ext cx="6115050" cy="1676400"/>
          </a:xfrm>
          <a:prstGeom prst="rect">
            <a:avLst/>
          </a:prstGeom>
          <a:noFill/>
          <a:ln w="0">
            <a:noFill/>
          </a:ln>
        </p:spPr>
        <p:txBody>
          <a:bodyPr wrap="square" lIns="0" tIns="0" rIns="0" bIns="0" anchor="t">
            <a:noAutofit/>
          </a:bodyPr>
          <a:lstStyle>
            <a:defPPr>
              <a:defRPr sz="5250" b="1">
                <a:solidFill>
                  <a:srgbClr val="153F36"/>
                </a:solidFill>
                <a:latin typeface="Arial"/>
                <a:ea typeface="Arial"/>
                <a:cs typeface="Arial"/>
              </a:defRPr>
            </a:defPPr>
          </a:lstStyle>
          <a:p>
            <a:pPr>
              <a:defRPr sz="5250" b="1">
                <a:solidFill>
                  <a:srgbClr val="153F36"/>
                </a:solidFill>
                <a:latin typeface="Arial"/>
                <a:ea typeface="Arial"/>
                <a:cs typeface="Arial"/>
              </a:defRPr>
            </a:pPr>
            <a:r>
              <a:rPr sz="5250" b="1" lang="sv-SE">
                <a:solidFill>
                  <a:srgbClr val="153F36"/>
                </a:solidFill>
                <a:latin typeface="Arial"/>
                <a:ea typeface="Arial"/>
                <a:cs typeface="Arial"/>
              </a:rPr>
              <a:t>Affärsmöjlighet</a:t>
            </a:r>
          </a:p>
          <a:p>
            <a:pPr>
              <a:defRPr sz="5250" b="1">
                <a:solidFill>
                  <a:srgbClr val="153F36"/>
                </a:solidFill>
                <a:latin typeface="Arial"/>
                <a:ea typeface="Arial"/>
                <a:cs typeface="Arial"/>
              </a:defRPr>
            </a:pPr>
            <a:r>
              <a:rPr sz="5250" b="1" lang="sv-SE">
                <a:solidFill>
                  <a:srgbClr val="153F36"/>
                </a:solidFill>
                <a:latin typeface="Arial"/>
                <a:ea typeface="Arial"/>
                <a:cs typeface="Arial"/>
              </a:rPr>
              <a:t>i praktiken</a:t>
            </a:r>
          </a:p>
        </p:txBody>
      </p:sp>
      <p:sp>
        <p:nvSpPr>
          <p:cNvPr id="6" name="">
            <a:extLst>
              <a:ext uri="{FF2B5EF4-FFF2-40B4-BE49-F238E27FC236}">
                <ns2:creationId id="{1753A05F-C655-42C5-8499-56D405EA3424}"/>
              </a:ext>
            </a:extLst>
          </p:cNvPr>
          <p:cNvSpPr>
            <a:spLocks noGrp="1"/>
          </p:cNvSpPr>
          <p:nvPr/>
        </p:nvSpPr>
        <p:spPr>
          <a:xfrm>
            <a:off x="609600" y="5067300"/>
            <a:ext cx="5772150" cy="990600"/>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v-SE">
                <a:solidFill>
                  <a:srgbClr val="526B63"/>
                </a:solidFill>
                <a:latin typeface="Arial"/>
                <a:ea typeface="Arial"/>
                <a:cs typeface="Arial"/>
              </a:rPr>
              <a:t>Produkter, samarbete och det dagliga arbetet med digitalt stöd.</a:t>
            </a:r>
          </a:p>
        </p:txBody>
      </p:sp>
    </p:spTree>
    <p:extLst>
      <p:ext uri="{BB962C8B-B14F-4D97-AF65-F5344CB8AC3E}">
        <ns4:creationId val="1491815882"/>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744F585C-B6A5-433C-8BE0-CC464C4C779F}"/>
              </a:ext>
            </a:extLst>
          </p:cNvPr>
          <p:cNvPicPr>
            <a:picLocks noChangeAspect="1"/>
          </p:cNvPicPr>
          <p:nvPr/>
        </p:nvPicPr>
        <p:blipFill>
          <a:blip r:embed="R83eae1d8ff684ca8"/>
          <a:stretch/>
        </p:blipFill>
        <p:spPr>
          <a:xfrm>
            <a:off x="9867900" y="276061"/>
            <a:ext cx="1695450" cy="438478"/>
          </a:xfrm>
          <a:prstGeom prst="rect">
            <a:avLst/>
          </a:prstGeom>
        </p:spPr>
      </p:pic>
      <p:sp>
        <p:nvSpPr>
          <p:cNvPr id="2" name="">
            <a:extLst>
              <a:ext uri="{FF2B5EF4-FFF2-40B4-BE49-F238E27FC236}">
                <ns2:creationId id="{A68AD40D-226F-4ECC-A3CD-2A2C9C7D53B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02</a:t>
            </a:r>
          </a:p>
        </p:txBody>
      </p:sp>
      <p:sp>
        <p:nvSpPr>
          <p:cNvPr id="3" name="Naslov">
            <a:extLst>
              <a:ext uri="{FF2B5EF4-FFF2-40B4-BE49-F238E27FC236}">
                <ns2:creationId id="{1176B0B2-066B-4212-A51F-514684F66C8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Dina värdar</a:t>
            </a:r>
          </a:p>
        </p:txBody>
      </p:sp>
      <p:sp>
        <p:nvSpPr>
          <p:cNvPr id="4" name="Predavač, ime">
            <a:extLst>
              <a:ext uri="{FF2B5EF4-FFF2-40B4-BE49-F238E27FC236}">
                <ns2:creationId id="{8C10299F-EDB2-4E7F-B49E-4F214720F8FE}"/>
              </a:ext>
            </a:extLst>
          </p:cNvPr>
          <p:cNvSpPr>
            <a:spLocks noGrp="1"/>
          </p:cNvSpPr>
          <p:nvPr/>
        </p:nvSpPr>
        <p:spPr>
          <a:xfrm>
            <a:off x="609600" y="2181225"/>
            <a:ext cx="5381625" cy="1314450"/>
          </a:xfrm>
          <a:prstGeom prst="rect">
            <a:avLst/>
          </a:prstGeom>
          <a:noFill/>
          <a:ln w="0">
            <a:noFill/>
          </a:ln>
        </p:spPr>
        <p:txBody>
          <a:bodyPr wrap="square" lIns="0" tIns="0" rIns="0" bIns="0" anchor="t">
            <a:noAutofit/>
          </a:bodyPr>
          <a:lstStyle>
            <a:defPPr>
              <a:defRPr sz="3975" b="1">
                <a:solidFill>
                  <a:srgbClr val="153F36"/>
                </a:solidFill>
                <a:latin typeface="Arial"/>
                <a:ea typeface="Arial"/>
                <a:cs typeface="Arial"/>
              </a:defRPr>
            </a:defPPr>
          </a:lstStyle>
          <a:p>
            <a:pPr>
              <a:defRPr sz="3975" b="1">
                <a:solidFill>
                  <a:srgbClr val="153F36"/>
                </a:solidFill>
                <a:latin typeface="Arial"/>
                <a:ea typeface="Arial"/>
                <a:cs typeface="Arial"/>
              </a:defRPr>
            </a:pPr>
            <a:r>
              <a:rPr sz="3975" b="1" lang="sv-SE">
                <a:solidFill>
                  <a:srgbClr val="153F36"/>
                </a:solidFill>
                <a:latin typeface="Arial"/>
                <a:ea typeface="Arial"/>
                <a:cs typeface="Arial"/>
              </a:rPr>
              <a:t>Stjepan och</a:t>
            </a:r>
          </a:p>
          <a:p>
            <a:pPr>
              <a:defRPr sz="3975" b="1">
                <a:solidFill>
                  <a:srgbClr val="153F36"/>
                </a:solidFill>
                <a:latin typeface="Arial"/>
                <a:ea typeface="Arial"/>
                <a:cs typeface="Arial"/>
              </a:defRPr>
            </a:pPr>
            <a:r>
              <a:rPr sz="3975" b="1" lang="sv-SE">
                <a:solidFill>
                  <a:srgbClr val="153F36"/>
                </a:solidFill>
                <a:latin typeface="Arial"/>
                <a:ea typeface="Arial"/>
                <a:cs typeface="Arial"/>
              </a:rPr>
              <a:t>Snježana Beloša</a:t>
            </a:r>
          </a:p>
        </p:txBody>
      </p:sp>
      <p:sp>
        <p:nvSpPr>
          <p:cNvPr id="5" name="Predavač, opis">
            <a:extLst>
              <a:ext uri="{FF2B5EF4-FFF2-40B4-BE49-F238E27FC236}">
                <ns2:creationId id="{C8BD6CD1-D5ED-485E-A612-0D7A42166A3E}"/>
              </a:ext>
            </a:extLst>
          </p:cNvPr>
          <p:cNvSpPr>
            <a:spLocks noGrp="1"/>
          </p:cNvSpPr>
          <p:nvPr/>
        </p:nvSpPr>
        <p:spPr>
          <a:xfrm>
            <a:off x="609600" y="3810000"/>
            <a:ext cx="5076825" cy="990600"/>
          </a:xfrm>
          <a:prstGeom prst="rect">
            <a:avLst/>
          </a:prstGeom>
          <a:noFill/>
          <a:ln w="0">
            <a:noFill/>
          </a:ln>
        </p:spPr>
        <p:txBody>
          <a:bodyPr wrap="square" lIns="0" tIns="0" rIns="0" bIns="0" anchor="t">
            <a:noAutofit/>
          </a:bodyPr>
          <a:lstStyle>
            <a:defPPr>
              <a:defRPr sz="2250" b="0">
                <a:solidFill>
                  <a:srgbClr val="526B63"/>
                </a:solidFill>
                <a:latin typeface="Arial"/>
                <a:ea typeface="Arial"/>
                <a:cs typeface="Arial"/>
              </a:defRPr>
            </a:defPPr>
          </a:lstStyle>
          <a:p>
            <a:pPr>
              <a:defRPr sz="2250" b="0">
                <a:solidFill>
                  <a:srgbClr val="526B63"/>
                </a:solidFill>
                <a:latin typeface="Arial"/>
                <a:ea typeface="Arial"/>
                <a:cs typeface="Arial"/>
              </a:defRPr>
            </a:pPr>
            <a:r>
              <a:rPr sz="2250" b="0" lang="sv-SE">
                <a:solidFill>
                  <a:srgbClr val="526B63"/>
                </a:solidFill>
                <a:latin typeface="Arial"/>
                <a:ea typeface="Arial"/>
                <a:cs typeface="Arial"/>
              </a:rPr>
              <a:t>skaparna av Forever Card Club</a:t>
            </a:r>
          </a:p>
          <a:p>
            <a:pPr>
              <a:defRPr sz="2250" b="0">
                <a:solidFill>
                  <a:srgbClr val="526B63"/>
                </a:solidFill>
                <a:latin typeface="Arial"/>
                <a:ea typeface="Arial"/>
                <a:cs typeface="Arial"/>
              </a:defRPr>
            </a:pPr>
            <a:r>
              <a:rPr sz="2250" b="0" lang="sv-SE">
                <a:solidFill>
                  <a:srgbClr val="526B63"/>
                </a:solidFill>
                <a:latin typeface="Arial"/>
                <a:ea typeface="Arial"/>
                <a:cs typeface="Arial"/>
              </a:rPr>
              <a:t>och mentorer för vårt team.</a:t>
            </a:r>
          </a:p>
        </p:txBody>
      </p:sp>
      <p:sp>
        <p:nvSpPr>
          <p:cNvPr id="6" name="Predavač, osobna poruka">
            <a:extLst>
              <a:ext uri="{FF2B5EF4-FFF2-40B4-BE49-F238E27FC236}">
                <ns2:creationId id="{C7EB62E8-86BA-442F-820A-95F8E087C2C6}"/>
              </a:ext>
            </a:extLst>
          </p:cNvPr>
          <p:cNvSpPr>
            <a:spLocks noGrp="1"/>
          </p:cNvSpPr>
          <p:nvPr/>
        </p:nvSpPr>
        <p:spPr>
          <a:xfrm>
            <a:off x="609600" y="5124450"/>
            <a:ext cx="5076825" cy="857250"/>
          </a:xfrm>
          <a:prstGeom prst="rect">
            <a:avLst/>
          </a:prstGeom>
          <a:noFill/>
          <a:ln w="0">
            <a:noFill/>
          </a:ln>
        </p:spPr>
        <p:txBody>
          <a:bodyPr wrap="square" lIns="0" tIns="0" rIns="0" bIns="0" anchor="t">
            <a:noAutofit/>
          </a:bodyPr>
          <a:lstStyle>
            <a:defPPr>
              <a:defRPr sz="2100" b="0">
                <a:solidFill>
                  <a:srgbClr val="153F36"/>
                </a:solidFill>
                <a:latin typeface="Arial"/>
                <a:ea typeface="Arial"/>
                <a:cs typeface="Arial"/>
              </a:defRPr>
            </a:defPPr>
          </a:lstStyle>
          <a:p>
            <a:pPr>
              <a:defRPr sz="2100" b="0">
                <a:solidFill>
                  <a:srgbClr val="153F36"/>
                </a:solidFill>
                <a:latin typeface="Arial"/>
                <a:ea typeface="Arial"/>
                <a:cs typeface="Arial"/>
              </a:defRPr>
            </a:pPr>
            <a:r>
              <a:rPr sz="2100" b="0" lang="sv-SE">
                <a:solidFill>
                  <a:srgbClr val="153F36"/>
                </a:solidFill>
                <a:latin typeface="Arial"/>
                <a:ea typeface="Arial"/>
                <a:cs typeface="Arial"/>
              </a:rPr>
              <a:t>Vi hjälper dig att förstå möjligheterna och välja en genomförbar start.</a:t>
            </a:r>
          </a:p>
        </p:txBody>
      </p:sp>
      <p:pic>
        <p:nvPicPr>
          <p:cNvPr id="7" name="">
            <a:extLst>
              <a:ext uri="{FF2B5EF4-FFF2-40B4-BE49-F238E27FC236}">
                <ns2:creationId id="{1CC6FBA4-AAA8-41D9-9116-49E85FDFC736}"/>
              </a:ext>
            </a:extLst>
          </p:cNvPr>
          <p:cNvPicPr>
            <a:picLocks noChangeAspect="1"/>
          </p:cNvPicPr>
          <p:nvPr/>
        </p:nvPicPr>
        <p:blipFill>
          <a:blip r:embed="R7d26e2f4bdc14ea7"/>
          <a:srcRect l="0" t="63" r="0" b="63"/>
          <a:stretch>
            <a:fillRect l="0" t="0" r="0" b="0"/>
          </a:stretch>
        </p:blipFill>
        <p:spPr>
          <a:xfrm>
            <a:off x="6572250" y="1952625"/>
            <a:ext cx="5010150" cy="3752850"/>
          </a:xfrm>
          <a:prstGeom prst="rect">
            <a:avLst/>
          </a:prstGeom>
        </p:spPr>
      </p:pic>
    </p:spTree>
    <p:extLst>
      <p:ext uri="{BB962C8B-B14F-4D97-AF65-F5344CB8AC3E}">
        <ns4:creationId val="1588096114"/>
      </p:ext>
    </p:extLst>
  </p:cSld>
</p:sld>
</file>

<file path=ppt/slides/slide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5E6FCE42-34ED-49DB-917B-885BF7A07AF1}"/>
              </a:ext>
            </a:extLst>
          </p:cNvPr>
          <p:cNvPicPr>
            <a:picLocks noChangeAspect="1"/>
          </p:cNvPicPr>
          <p:nvPr/>
        </p:nvPicPr>
        <p:blipFill>
          <a:blip r:embed="R242c0c3a74d44c3e"/>
          <a:stretch/>
        </p:blipFill>
        <p:spPr>
          <a:xfrm>
            <a:off x="9867900" y="276061"/>
            <a:ext cx="1695450" cy="438478"/>
          </a:xfrm>
          <a:prstGeom prst="rect">
            <a:avLst/>
          </a:prstGeom>
        </p:spPr>
      </p:pic>
      <p:sp>
        <p:nvSpPr>
          <p:cNvPr id="2" name="">
            <a:extLst>
              <a:ext uri="{FF2B5EF4-FFF2-40B4-BE49-F238E27FC236}">
                <ns2:creationId id="{1B1032C0-79B5-4738-8E25-D6937A3C85A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03</a:t>
            </a:r>
          </a:p>
        </p:txBody>
      </p:sp>
      <p:sp>
        <p:nvSpPr>
          <p:cNvPr id="3" name="Naslov">
            <a:extLst>
              <a:ext uri="{FF2B5EF4-FFF2-40B4-BE49-F238E27FC236}">
                <ns2:creationId id="{0C2BCB8F-C404-42C6-BD3A-B39A251103DF}"/>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Det här får du veta i dag</a:t>
            </a:r>
          </a:p>
        </p:txBody>
      </p:sp>
      <p:sp>
        <p:nvSpPr>
          <p:cNvPr id="4" name="">
            <a:extLst>
              <a:ext uri="{FF2B5EF4-FFF2-40B4-BE49-F238E27FC236}">
                <ns2:creationId id="{7090349B-17CB-4069-9021-E9AC8929150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1.</a:t>
            </a:r>
          </a:p>
        </p:txBody>
      </p:sp>
      <p:sp>
        <p:nvSpPr>
          <p:cNvPr id="5" name="">
            <a:extLst>
              <a:ext uri="{FF2B5EF4-FFF2-40B4-BE49-F238E27FC236}">
                <ns2:creationId id="{B790FCFE-A2F7-46DA-9AAA-E3D158B44E5E}"/>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Forever</a:t>
            </a:r>
          </a:p>
        </p:txBody>
      </p:sp>
      <p:sp>
        <p:nvSpPr>
          <p:cNvPr id="6" name="">
            <a:extLst>
              <a:ext uri="{FF2B5EF4-FFF2-40B4-BE49-F238E27FC236}">
                <ns2:creationId id="{62CF0980-2434-4AA9-A846-7ADF450EF6D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Produkter, officiella beställningar och affärsregler.</a:t>
            </a:r>
          </a:p>
        </p:txBody>
      </p:sp>
      <p:sp>
        <p:nvSpPr>
          <p:cNvPr id="7" name="">
            <a:extLst>
              <a:ext uri="{FF2B5EF4-FFF2-40B4-BE49-F238E27FC236}">
                <ns2:creationId id="{8096E1E2-CF39-4546-9C54-85736B904FB3}"/>
              </a:ext>
            </a:extLst>
          </p:cNvPr>
          <p:cNvSpPr>
            <a:spLocks noGrp="1"/>
          </p:cNvSpPr>
          <p:nvPr/>
        </p:nvSpPr>
        <p:spPr>
          <a:xfrm>
            <a:off x="609600" y="28384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2.</a:t>
            </a:r>
          </a:p>
        </p:txBody>
      </p:sp>
      <p:sp>
        <p:nvSpPr>
          <p:cNvPr id="8" name="">
            <a:extLst>
              <a:ext uri="{FF2B5EF4-FFF2-40B4-BE49-F238E27FC236}">
                <ns2:creationId id="{D93BAFA1-E082-42C0-AF07-8A3F5D4A51BF}"/>
              </a:ext>
            </a:extLst>
          </p:cNvPr>
          <p:cNvSpPr>
            <a:spLocks noGrp="1"/>
          </p:cNvSpPr>
          <p:nvPr/>
        </p:nvSpPr>
        <p:spPr>
          <a:xfrm>
            <a:off x="1257300" y="28384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Ditt val</a:t>
            </a:r>
          </a:p>
        </p:txBody>
      </p:sp>
      <p:sp>
        <p:nvSpPr>
          <p:cNvPr id="9" name="">
            <a:extLst>
              <a:ext uri="{FF2B5EF4-FFF2-40B4-BE49-F238E27FC236}">
                <ns2:creationId id="{DC87F678-8ACE-44B6-8B16-8B5A0F8B7F0C}"/>
              </a:ext>
            </a:extLst>
          </p:cNvPr>
          <p:cNvSpPr>
            <a:spLocks noGrp="1"/>
          </p:cNvSpPr>
          <p:nvPr/>
        </p:nvSpPr>
        <p:spPr>
          <a:xfrm>
            <a:off x="1257300" y="32480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Använda produkter eller utveckla en egen verksamhet.</a:t>
            </a:r>
          </a:p>
        </p:txBody>
      </p:sp>
      <p:sp>
        <p:nvSpPr>
          <p:cNvPr id="10" name="">
            <a:extLst>
              <a:ext uri="{FF2B5EF4-FFF2-40B4-BE49-F238E27FC236}">
                <ns2:creationId id="{3860522A-792D-4373-A4F3-28F5656DBD92}"/>
              </a:ext>
            </a:extLst>
          </p:cNvPr>
          <p:cNvSpPr>
            <a:spLocks noGrp="1"/>
          </p:cNvSpPr>
          <p:nvPr/>
        </p:nvSpPr>
        <p:spPr>
          <a:xfrm>
            <a:off x="609600" y="37147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3.</a:t>
            </a:r>
          </a:p>
        </p:txBody>
      </p:sp>
      <p:sp>
        <p:nvSpPr>
          <p:cNvPr id="11" name="">
            <a:extLst>
              <a:ext uri="{FF2B5EF4-FFF2-40B4-BE49-F238E27FC236}">
                <ns2:creationId id="{34D75F7B-C2E5-44A0-9838-83056B206B41}"/>
              </a:ext>
            </a:extLst>
          </p:cNvPr>
          <p:cNvSpPr>
            <a:spLocks noGrp="1"/>
          </p:cNvSpPr>
          <p:nvPr/>
        </p:nvSpPr>
        <p:spPr>
          <a:xfrm>
            <a:off x="1257300" y="37147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FCC i praktiken</a:t>
            </a:r>
          </a:p>
        </p:txBody>
      </p:sp>
      <p:sp>
        <p:nvSpPr>
          <p:cNvPr id="12" name="">
            <a:extLst>
              <a:ext uri="{FF2B5EF4-FFF2-40B4-BE49-F238E27FC236}">
                <ns2:creationId id="{C9D45EDC-05EA-4018-BAB4-F46975DFEACA}"/>
              </a:ext>
            </a:extLst>
          </p:cNvPr>
          <p:cNvSpPr>
            <a:spLocks noGrp="1"/>
          </p:cNvSpPr>
          <p:nvPr/>
        </p:nvSpPr>
        <p:spPr>
          <a:xfrm>
            <a:off x="1257300" y="41243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Personliga rekommendationer, kontakter, webbinarier och support.</a:t>
            </a:r>
          </a:p>
        </p:txBody>
      </p:sp>
      <p:sp>
        <p:nvSpPr>
          <p:cNvPr id="13" name="">
            <a:extLst>
              <a:ext uri="{FF2B5EF4-FFF2-40B4-BE49-F238E27FC236}">
                <ns2:creationId id="{2E7A5D7F-6A19-4AFA-BB4D-57AF548C10AF}"/>
              </a:ext>
            </a:extLst>
          </p:cNvPr>
          <p:cNvSpPr>
            <a:spLocks noGrp="1"/>
          </p:cNvSpPr>
          <p:nvPr/>
        </p:nvSpPr>
        <p:spPr>
          <a:xfrm>
            <a:off x="609600" y="45910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4.</a:t>
            </a:r>
          </a:p>
        </p:txBody>
      </p:sp>
      <p:sp>
        <p:nvSpPr>
          <p:cNvPr id="14" name="">
            <a:extLst>
              <a:ext uri="{FF2B5EF4-FFF2-40B4-BE49-F238E27FC236}">
                <ns2:creationId id="{E46D0B6C-8B28-440C-9B75-E7B279A7BD4E}"/>
              </a:ext>
            </a:extLst>
          </p:cNvPr>
          <p:cNvSpPr>
            <a:spLocks noGrp="1"/>
          </p:cNvSpPr>
          <p:nvPr/>
        </p:nvSpPr>
        <p:spPr>
          <a:xfrm>
            <a:off x="1257300" y="45910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Första veckan</a:t>
            </a:r>
          </a:p>
        </p:txBody>
      </p:sp>
      <p:sp>
        <p:nvSpPr>
          <p:cNvPr id="15" name="">
            <a:extLst>
              <a:ext uri="{FF2B5EF4-FFF2-40B4-BE49-F238E27FC236}">
                <ns2:creationId id="{6829D74A-201C-438E-A0A9-426869F09F1D}"/>
              </a:ext>
            </a:extLst>
          </p:cNvPr>
          <p:cNvSpPr>
            <a:spLocks noGrp="1"/>
          </p:cNvSpPr>
          <p:nvPr/>
        </p:nvSpPr>
        <p:spPr>
          <a:xfrm>
            <a:off x="1257300" y="50006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En konkret start med personen som bjöd in dig.</a:t>
            </a:r>
          </a:p>
        </p:txBody>
      </p:sp>
    </p:spTree>
    <p:extLst>
      <p:ext uri="{BB962C8B-B14F-4D97-AF65-F5344CB8AC3E}">
        <ns4:creationId val="15104013"/>
      </p:ext>
    </p:extLst>
  </p:cSld>
</p:sld>
</file>

<file path=ppt/slides/slide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031F2DBE-3CEF-4AB1-808D-82DFD8D39AE4}"/>
              </a:ext>
            </a:extLst>
          </p:cNvPr>
          <p:cNvPicPr>
            <a:picLocks noChangeAspect="1"/>
          </p:cNvPicPr>
          <p:nvPr/>
        </p:nvPicPr>
        <p:blipFill>
          <a:blip r:embed="Rdae54c54c13e41c1"/>
          <a:stretch/>
        </p:blipFill>
        <p:spPr>
          <a:xfrm>
            <a:off x="9867900" y="276061"/>
            <a:ext cx="1695450" cy="438478"/>
          </a:xfrm>
          <a:prstGeom prst="rect">
            <a:avLst/>
          </a:prstGeom>
        </p:spPr>
      </p:pic>
      <p:sp>
        <p:nvSpPr>
          <p:cNvPr id="2" name="">
            <a:extLst>
              <a:ext uri="{FF2B5EF4-FFF2-40B4-BE49-F238E27FC236}">
                <ns2:creationId id="{A8A277E5-B6B2-4E06-B214-ACC2911CBCFB}"/>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04</a:t>
            </a:r>
          </a:p>
        </p:txBody>
      </p:sp>
      <p:sp>
        <p:nvSpPr>
          <p:cNvPr id="3" name="Naslov">
            <a:extLst>
              <a:ext uri="{FF2B5EF4-FFF2-40B4-BE49-F238E27FC236}">
                <ns2:creationId id="{B03E3510-0DEE-482B-A50E-CCFBC65CBF8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Forever Living Products</a:t>
            </a:r>
          </a:p>
        </p:txBody>
      </p:sp>
      <p:sp>
        <p:nvSpPr>
          <p:cNvPr id="4" name="">
            <a:extLst>
              <a:ext uri="{FF2B5EF4-FFF2-40B4-BE49-F238E27FC236}">
                <ns2:creationId id="{D1A63BA3-11AF-41C5-A0DB-F238BF1FED1D}"/>
              </a:ext>
            </a:extLst>
          </p:cNvPr>
          <p:cNvSpPr>
            <a:spLocks noGrp="1"/>
          </p:cNvSpPr>
          <p:nvPr/>
        </p:nvSpPr>
        <p:spPr>
          <a:xfrm>
            <a:off x="609600" y="2133600"/>
            <a:ext cx="5353050" cy="1495425"/>
          </a:xfrm>
          <a:prstGeom prst="rect">
            <a:avLst/>
          </a:prstGeom>
          <a:noFill/>
          <a:ln w="0">
            <a:noFill/>
          </a:ln>
        </p:spPr>
        <p:txBody>
          <a:bodyPr wrap="square" lIns="0" tIns="0" rIns="0" bIns="0" anchor="t">
            <a:noAutofit/>
          </a:bodyPr>
          <a:lstStyle>
            <a:defPPr>
              <a:defRPr sz="8100" b="1">
                <a:solidFill>
                  <a:srgbClr val="153F36"/>
                </a:solidFill>
                <a:latin typeface="Arial"/>
                <a:ea typeface="Arial"/>
                <a:cs typeface="Arial"/>
              </a:defRPr>
            </a:defPPr>
          </a:lstStyle>
          <a:p>
            <a:pPr>
              <a:defRPr sz="8100" b="1">
                <a:solidFill>
                  <a:srgbClr val="153F36"/>
                </a:solidFill>
                <a:latin typeface="Arial"/>
                <a:ea typeface="Arial"/>
                <a:cs typeface="Arial"/>
              </a:defRPr>
            </a:pPr>
            <a:r>
              <a:rPr sz="8100" b="1" lang="sv-SE">
                <a:solidFill>
                  <a:srgbClr val="153F36"/>
                </a:solidFill>
                <a:latin typeface="Arial"/>
                <a:ea typeface="Arial"/>
                <a:cs typeface="Arial"/>
              </a:rPr>
              <a:t>1978.</a:t>
            </a:r>
          </a:p>
        </p:txBody>
      </p:sp>
      <p:sp>
        <p:nvSpPr>
          <p:cNvPr id="5" name="">
            <a:extLst>
              <a:ext uri="{FF2B5EF4-FFF2-40B4-BE49-F238E27FC236}">
                <ns2:creationId id="{3E7CC058-7669-4F2A-8739-E7D03E723F65}"/>
              </a:ext>
            </a:extLst>
          </p:cNvPr>
          <p:cNvSpPr>
            <a:spLocks noGrp="1"/>
          </p:cNvSpPr>
          <p:nvPr/>
        </p:nvSpPr>
        <p:spPr>
          <a:xfrm>
            <a:off x="647700" y="3609975"/>
            <a:ext cx="4953000" cy="542925"/>
          </a:xfrm>
          <a:prstGeom prst="rect">
            <a:avLst/>
          </a:prstGeom>
          <a:noFill/>
          <a:ln w="0">
            <a:noFill/>
          </a:ln>
        </p:spPr>
        <p:txBody>
          <a:bodyPr wrap="square" lIns="0" tIns="0" rIns="0" bIns="0" anchor="t">
            <a:noAutofit/>
          </a:bodyPr>
          <a:lstStyle>
            <a:defPPr>
              <a:defRPr sz="2475" b="1">
                <a:solidFill>
                  <a:srgbClr val="153F36"/>
                </a:solidFill>
                <a:latin typeface="Arial"/>
                <a:ea typeface="Arial"/>
                <a:cs typeface="Arial"/>
              </a:defRPr>
            </a:defPPr>
          </a:lstStyle>
          <a:p>
            <a:pPr>
              <a:defRPr sz="2475" b="1">
                <a:solidFill>
                  <a:srgbClr val="153F36"/>
                </a:solidFill>
                <a:latin typeface="Arial"/>
                <a:ea typeface="Arial"/>
                <a:cs typeface="Arial"/>
              </a:defRPr>
            </a:pPr>
            <a:r>
              <a:rPr sz="2475" b="1" lang="sv-SE">
                <a:solidFill>
                  <a:srgbClr val="153F36"/>
                </a:solidFill>
                <a:latin typeface="Arial"/>
                <a:ea typeface="Arial"/>
                <a:cs typeface="Arial"/>
              </a:rPr>
              <a:t>Grundades</a:t>
            </a:r>
          </a:p>
        </p:txBody>
      </p:sp>
      <p:sp>
        <p:nvSpPr>
          <p:cNvPr id="6" name="">
            <a:extLst>
              <a:ext uri="{FF2B5EF4-FFF2-40B4-BE49-F238E27FC236}">
                <ns2:creationId id="{9F9A23A7-5EC9-47CD-A30C-C9479DD7485A}"/>
              </a:ext>
            </a:extLst>
          </p:cNvPr>
          <p:cNvSpPr>
            <a:spLocks noGrp="1"/>
          </p:cNvSpPr>
          <p:nvPr/>
        </p:nvSpPr>
        <p:spPr>
          <a:xfrm>
            <a:off x="609600" y="4457700"/>
            <a:ext cx="5248275" cy="1428750"/>
          </a:xfrm>
          <a:prstGeom prst="rect">
            <a:avLst/>
          </a:prstGeom>
          <a:noFill/>
          <a:ln w="0">
            <a:noFill/>
          </a:ln>
        </p:spPr>
        <p:txBody>
          <a:bodyPr wrap="square" lIns="0" tIns="0" rIns="0" bIns="0" anchor="t">
            <a:noAutofit/>
          </a:bodyPr>
          <a:lstStyle>
            <a:defPPr>
              <a:defRPr sz="2250" b="0">
                <a:solidFill>
                  <a:srgbClr val="526B63"/>
                </a:solidFill>
                <a:latin typeface="Arial"/>
                <a:ea typeface="Arial"/>
                <a:cs typeface="Arial"/>
              </a:defRPr>
            </a:defPPr>
          </a:lstStyle>
          <a:p>
            <a:pPr>
              <a:defRPr sz="2250" b="0">
                <a:solidFill>
                  <a:srgbClr val="526B63"/>
                </a:solidFill>
                <a:latin typeface="Arial"/>
                <a:ea typeface="Arial"/>
                <a:cs typeface="Arial"/>
              </a:defRPr>
            </a:pPr>
            <a:r>
              <a:rPr sz="2250" b="0" lang="sv-SE">
                <a:solidFill>
                  <a:srgbClr val="526B63"/>
                </a:solidFill>
                <a:latin typeface="Arial"/>
                <a:ea typeface="Arial"/>
                <a:cs typeface="Arial"/>
              </a:rPr>
              <a:t>Ett globalt företag med produkter, ett försäljningsnätverk och officiella affärsregler.</a:t>
            </a:r>
          </a:p>
        </p:txBody>
      </p:sp>
      <p:pic>
        <p:nvPicPr>
          <p:cNvPr id="7" name="">
            <a:extLst>
              <a:ext uri="{FF2B5EF4-FFF2-40B4-BE49-F238E27FC236}">
                <ns2:creationId id="{0B1CC924-CD88-4010-9FE5-A5B82838F629}"/>
              </a:ext>
            </a:extLst>
          </p:cNvPr>
          <p:cNvPicPr>
            <a:picLocks noChangeAspect="1"/>
          </p:cNvPicPr>
          <p:nvPr/>
        </p:nvPicPr>
        <p:blipFill>
          <a:blip r:embed="Ra3daa3908981400c"/>
          <a:srcRect l="2187" t="0" r="2187" b="0"/>
          <a:stretch>
            <a:fillRect l="0" t="0" r="0" b="0"/>
          </a:stretch>
        </p:blipFill>
        <p:spPr>
          <a:xfrm>
            <a:off x="6438900" y="2057400"/>
            <a:ext cx="5143500" cy="3429000"/>
          </a:xfrm>
          <a:prstGeom prst="rect">
            <a:avLst/>
          </a:prstGeom>
        </p:spPr>
      </p:pic>
    </p:spTree>
    <p:extLst>
      <p:ext uri="{BB962C8B-B14F-4D97-AF65-F5344CB8AC3E}">
        <ns4:creationId val="708542696"/>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8C8D58AB-6E9E-4036-91B3-2CE93502D8AF}"/>
              </a:ext>
            </a:extLst>
          </p:cNvPr>
          <p:cNvPicPr>
            <a:picLocks noChangeAspect="1"/>
          </p:cNvPicPr>
          <p:nvPr/>
        </p:nvPicPr>
        <p:blipFill>
          <a:blip r:embed="Rba10fc9d1268426c"/>
          <a:stretch/>
        </p:blipFill>
        <p:spPr>
          <a:xfrm>
            <a:off x="9867900" y="276061"/>
            <a:ext cx="1695450" cy="438478"/>
          </a:xfrm>
          <a:prstGeom prst="rect">
            <a:avLst/>
          </a:prstGeom>
        </p:spPr>
      </p:pic>
      <p:sp>
        <p:nvSpPr>
          <p:cNvPr id="2" name="">
            <a:extLst>
              <a:ext uri="{FF2B5EF4-FFF2-40B4-BE49-F238E27FC236}">
                <ns2:creationId id="{E6F95587-9DD7-454A-A7A0-50CA5576146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05</a:t>
            </a:r>
          </a:p>
        </p:txBody>
      </p:sp>
      <p:sp>
        <p:nvSpPr>
          <p:cNvPr id="3" name="Naslov">
            <a:extLst>
              <a:ext uri="{FF2B5EF4-FFF2-40B4-BE49-F238E27FC236}">
                <ns2:creationId id="{3F971641-B408-403C-9558-0637FE54DB8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Produkter i vardagen</a:t>
            </a:r>
          </a:p>
        </p:txBody>
      </p:sp>
      <p:sp>
        <p:nvSpPr>
          <p:cNvPr id="4" name="">
            <a:extLst>
              <a:ext uri="{FF2B5EF4-FFF2-40B4-BE49-F238E27FC236}">
                <ns2:creationId id="{BA40F1F6-713C-4513-869A-F89CBDFF95A4}"/>
              </a:ext>
            </a:extLst>
          </p:cNvPr>
          <p:cNvSpPr>
            <a:spLocks noGrp="1"/>
          </p:cNvSpPr>
          <p:nvPr/>
        </p:nvSpPr>
        <p:spPr>
          <a:xfrm>
            <a:off x="609600" y="2047875"/>
            <a:ext cx="5438775" cy="1981200"/>
          </a:xfrm>
          <a:prstGeom prst="rect">
            <a:avLst/>
          </a:prstGeom>
          <a:noFill/>
          <a:ln w="0">
            <a:noFill/>
          </a:ln>
        </p:spPr>
        <p:txBody>
          <a:bodyPr wrap="square" lIns="0" tIns="0" rIns="0" bIns="0" anchor="t">
            <a:noAutofit/>
          </a:bodyPr>
          <a:lstStyle>
            <a:defPPr>
              <a:defRPr sz="2925" b="1">
                <a:solidFill>
                  <a:srgbClr val="153F36"/>
                </a:solidFill>
                <a:latin typeface="Arial"/>
                <a:ea typeface="Arial"/>
                <a:cs typeface="Arial"/>
              </a:defRPr>
            </a:defPPr>
          </a:lstStyle>
          <a:p>
            <a:pPr>
              <a:defRPr sz="2925" b="1">
                <a:solidFill>
                  <a:srgbClr val="153F36"/>
                </a:solidFill>
                <a:latin typeface="Arial"/>
                <a:ea typeface="Arial"/>
                <a:cs typeface="Arial"/>
              </a:defRPr>
            </a:pPr>
            <a:r>
              <a:rPr sz="2925" b="1" lang="sv-SE">
                <a:solidFill>
                  <a:srgbClr val="153F36"/>
                </a:solidFill>
                <a:latin typeface="Arial"/>
                <a:ea typeface="Arial"/>
                <a:cs typeface="Arial"/>
              </a:rPr>
              <a:t>Personlig vård</a:t>
            </a:r>
          </a:p>
          <a:p>
            <a:pPr>
              <a:defRPr sz="2925" b="1">
                <a:solidFill>
                  <a:srgbClr val="153F36"/>
                </a:solidFill>
                <a:latin typeface="Arial"/>
                <a:ea typeface="Arial"/>
                <a:cs typeface="Arial"/>
              </a:defRPr>
            </a:pPr>
            <a:r>
              <a:rPr sz="2925" b="1" lang="sv-SE">
                <a:solidFill>
                  <a:srgbClr val="153F36"/>
                </a:solidFill>
                <a:latin typeface="Arial"/>
                <a:ea typeface="Arial"/>
                <a:cs typeface="Arial"/>
              </a:rPr>
              <a:t>Drycker</a:t>
            </a:r>
          </a:p>
          <a:p>
            <a:pPr>
              <a:defRPr sz="2925" b="1">
                <a:solidFill>
                  <a:srgbClr val="153F36"/>
                </a:solidFill>
                <a:latin typeface="Arial"/>
                <a:ea typeface="Arial"/>
                <a:cs typeface="Arial"/>
              </a:defRPr>
            </a:pPr>
            <a:r>
              <a:rPr sz="2925" b="1" lang="sv-SE">
                <a:solidFill>
                  <a:srgbClr val="153F36"/>
                </a:solidFill>
                <a:latin typeface="Arial"/>
                <a:ea typeface="Arial"/>
                <a:cs typeface="Arial"/>
              </a:rPr>
              <a:t>Kosttillskott</a:t>
            </a:r>
          </a:p>
        </p:txBody>
      </p:sp>
      <p:sp>
        <p:nvSpPr>
          <p:cNvPr id="5" name="">
            <a:extLst>
              <a:ext uri="{FF2B5EF4-FFF2-40B4-BE49-F238E27FC236}">
                <ns2:creationId id="{1D9888A3-65A4-4BA0-A252-BAFF4B247E14}"/>
              </a:ext>
            </a:extLst>
          </p:cNvPr>
          <p:cNvSpPr>
            <a:spLocks noGrp="1"/>
          </p:cNvSpPr>
          <p:nvPr/>
        </p:nvSpPr>
        <p:spPr>
          <a:xfrm>
            <a:off x="609600" y="4314825"/>
            <a:ext cx="5410200" cy="1114425"/>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v-SE">
                <a:solidFill>
                  <a:srgbClr val="526B63"/>
                </a:solidFill>
                <a:latin typeface="Arial"/>
                <a:ea typeface="Arial"/>
                <a:cs typeface="Arial"/>
              </a:rPr>
              <a:t>En rekommendation är meningsfull när produkten passar personen och hens rutiner.</a:t>
            </a:r>
          </a:p>
        </p:txBody>
      </p:sp>
      <p:pic>
        <p:nvPicPr>
          <p:cNvPr id="6" name="">
            <a:extLst>
              <a:ext uri="{FF2B5EF4-FFF2-40B4-BE49-F238E27FC236}">
                <ns2:creationId id="{FBA35493-A3D8-4CDD-B285-CEAA1756B8A5}"/>
              </a:ext>
            </a:extLst>
          </p:cNvPr>
          <p:cNvPicPr>
            <a:picLocks noChangeAspect="1"/>
          </p:cNvPicPr>
          <p:nvPr/>
        </p:nvPicPr>
        <p:blipFill>
          <a:blip r:embed="R5eebdc2fa42747ce"/>
          <a:srcRect l="0" t="449" r="0" b="449"/>
          <a:stretch>
            <a:fillRect l="0" t="0" r="0" b="0"/>
          </a:stretch>
        </p:blipFill>
        <p:spPr>
          <a:xfrm>
            <a:off x="7286625" y="1914525"/>
            <a:ext cx="3714750" cy="3876675"/>
          </a:xfrm>
          <a:prstGeom prst="rect">
            <a:avLst/>
          </a:prstGeom>
        </p:spPr>
      </p:pic>
    </p:spTree>
    <p:extLst>
      <p:ext uri="{BB962C8B-B14F-4D97-AF65-F5344CB8AC3E}">
        <ns4:creationId val="1185823960"/>
      </p:ext>
    </p:extLst>
  </p:cSld>
</p:sld>
</file>

<file path=ppt/slides/slide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C46B7334-D258-4863-BDBC-0EC0B34D3EC6}"/>
              </a:ext>
            </a:extLst>
          </p:cNvPr>
          <p:cNvPicPr>
            <a:picLocks noChangeAspect="1"/>
          </p:cNvPicPr>
          <p:nvPr/>
        </p:nvPicPr>
        <p:blipFill>
          <a:blip r:embed="Rc418f7fc157f4c3e"/>
          <a:stretch/>
        </p:blipFill>
        <p:spPr>
          <a:xfrm>
            <a:off x="9867900" y="276061"/>
            <a:ext cx="1695450" cy="438478"/>
          </a:xfrm>
          <a:prstGeom prst="rect">
            <a:avLst/>
          </a:prstGeom>
        </p:spPr>
      </p:pic>
      <p:sp>
        <p:nvSpPr>
          <p:cNvPr id="2" name="">
            <a:extLst>
              <a:ext uri="{FF2B5EF4-FFF2-40B4-BE49-F238E27FC236}">
                <ns2:creationId id="{5DB4D99C-680C-4273-AA73-EE7C5D30111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06</a:t>
            </a:r>
          </a:p>
        </p:txBody>
      </p:sp>
      <p:sp>
        <p:nvSpPr>
          <p:cNvPr id="3" name="Naslov">
            <a:extLst>
              <a:ext uri="{FF2B5EF4-FFF2-40B4-BE49-F238E27FC236}">
                <ns2:creationId id="{6D53AC0C-2BDA-402D-9E9D-A573631BA1C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Från odling till officiell beställning</a:t>
            </a:r>
          </a:p>
        </p:txBody>
      </p:sp>
      <p:pic>
        <p:nvPicPr>
          <p:cNvPr id="4" name="">
            <a:extLst>
              <a:ext uri="{FF2B5EF4-FFF2-40B4-BE49-F238E27FC236}">
                <ns2:creationId id="{5D0A6E93-1A12-423D-9899-8ABB22E67C8D}"/>
              </a:ext>
            </a:extLst>
          </p:cNvPr>
          <p:cNvPicPr>
            <a:picLocks noChangeAspect="1"/>
          </p:cNvPicPr>
          <p:nvPr/>
        </p:nvPicPr>
        <p:blipFill>
          <a:blip r:embed="R760ec06578814d61"/>
          <a:srcRect l="0" t="11760" r="0" b="11760"/>
          <a:stretch>
            <a:fillRect l="0" t="0" r="0" b="0"/>
          </a:stretch>
        </p:blipFill>
        <p:spPr>
          <a:xfrm>
            <a:off x="609600" y="1981200"/>
            <a:ext cx="5257800" cy="2600325"/>
          </a:xfrm>
          <a:prstGeom prst="rect">
            <a:avLst/>
          </a:prstGeom>
        </p:spPr>
      </p:pic>
      <p:pic>
        <p:nvPicPr>
          <p:cNvPr id="5" name="">
            <a:extLst>
              <a:ext uri="{FF2B5EF4-FFF2-40B4-BE49-F238E27FC236}">
                <ns2:creationId id="{B207C59F-8F2C-47BF-BC54-ADB1CA9C1458}"/>
              </a:ext>
            </a:extLst>
          </p:cNvPr>
          <p:cNvPicPr>
            <a:picLocks noChangeAspect="1"/>
          </p:cNvPicPr>
          <p:nvPr/>
        </p:nvPicPr>
        <p:blipFill>
          <a:blip r:embed="R67e74f1e1fe24f58"/>
          <a:srcRect l="0" t="17029" r="0" b="17029"/>
          <a:stretch>
            <a:fillRect l="0" t="0" r="0" b="0"/>
          </a:stretch>
        </p:blipFill>
        <p:spPr>
          <a:xfrm>
            <a:off x="6324600" y="1981200"/>
            <a:ext cx="5257800" cy="2600325"/>
          </a:xfrm>
          <a:prstGeom prst="rect">
            <a:avLst/>
          </a:prstGeom>
        </p:spPr>
      </p:pic>
      <p:sp>
        <p:nvSpPr>
          <p:cNvPr id="6" name="">
            <a:extLst>
              <a:ext uri="{FF2B5EF4-FFF2-40B4-BE49-F238E27FC236}">
                <ns2:creationId id="{043BAD13-5883-4683-B52C-68D2B5637D91}"/>
              </a:ext>
            </a:extLst>
          </p:cNvPr>
          <p:cNvSpPr>
            <a:spLocks noGrp="1"/>
          </p:cNvSpPr>
          <p:nvPr/>
        </p:nvSpPr>
        <p:spPr>
          <a:xfrm>
            <a:off x="609600" y="4953000"/>
            <a:ext cx="10382250" cy="62865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v-SE">
                <a:solidFill>
                  <a:srgbClr val="153F36"/>
                </a:solidFill>
                <a:latin typeface="Arial"/>
                <a:ea typeface="Arial"/>
                <a:cs typeface="Arial"/>
              </a:rPr>
              <a:t>Forever ansvarar för produktion, beställningar och leverans.</a:t>
            </a:r>
          </a:p>
        </p:txBody>
      </p:sp>
      <p:sp>
        <p:nvSpPr>
          <p:cNvPr id="7" name="">
            <a:extLst>
              <a:ext uri="{FF2B5EF4-FFF2-40B4-BE49-F238E27FC236}">
                <ns2:creationId id="{E65AD224-944D-41B6-800D-07B566B65B36}"/>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En samarbetspartner hjälper personen att välja en produkt och använda den officiella köpkanalen.</a:t>
            </a:r>
          </a:p>
        </p:txBody>
      </p:sp>
    </p:spTree>
    <p:extLst>
      <p:ext uri="{BB962C8B-B14F-4D97-AF65-F5344CB8AC3E}">
        <ns4:creationId val="206011841"/>
      </p:ext>
    </p:extLst>
  </p:cSld>
</p:sld>
</file>

<file path=ppt/slides/slide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2E54AF73-E036-4720-891A-5121EB809BF9}"/>
              </a:ext>
            </a:extLst>
          </p:cNvPr>
          <p:cNvPicPr>
            <a:picLocks noChangeAspect="1"/>
          </p:cNvPicPr>
          <p:nvPr/>
        </p:nvPicPr>
        <p:blipFill>
          <a:blip r:embed="R9d24496200b841ee"/>
          <a:stretch/>
        </p:blipFill>
        <p:spPr>
          <a:xfrm>
            <a:off x="9867900" y="276061"/>
            <a:ext cx="1695450" cy="438478"/>
          </a:xfrm>
          <a:prstGeom prst="rect">
            <a:avLst/>
          </a:prstGeom>
        </p:spPr>
      </p:pic>
      <p:sp>
        <p:nvSpPr>
          <p:cNvPr id="2" name="">
            <a:extLst>
              <a:ext uri="{FF2B5EF4-FFF2-40B4-BE49-F238E27FC236}">
                <ns2:creationId id="{67E37213-3D26-4825-BBB6-2E564E93A55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07</a:t>
            </a:r>
          </a:p>
        </p:txBody>
      </p:sp>
      <p:sp>
        <p:nvSpPr>
          <p:cNvPr id="3" name="Naslov">
            <a:extLst>
              <a:ext uri="{FF2B5EF4-FFF2-40B4-BE49-F238E27FC236}">
                <ns2:creationId id="{1383C903-881D-4840-A4D5-5DDD9FAFC1F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Produktanvändare eller affärspartner</a:t>
            </a:r>
          </a:p>
        </p:txBody>
      </p:sp>
      <p:sp>
        <p:nvSpPr>
          <p:cNvPr id="4" name="">
            <a:extLst>
              <a:ext uri="{FF2B5EF4-FFF2-40B4-BE49-F238E27FC236}">
                <ns2:creationId id="{2E14BC8A-29A8-4C50-9C5C-973F016EBCBF}"/>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v-SE">
                <a:solidFill>
                  <a:srgbClr val="153F36"/>
                </a:solidFill>
                <a:latin typeface="Arial"/>
                <a:ea typeface="Arial"/>
                <a:cs typeface="Arial"/>
              </a:rPr>
              <a:t>Produktanvändare</a:t>
            </a:r>
          </a:p>
        </p:txBody>
      </p:sp>
      <p:sp>
        <p:nvSpPr>
          <p:cNvPr id="5" name="">
            <a:extLst>
              <a:ext uri="{FF2B5EF4-FFF2-40B4-BE49-F238E27FC236}">
                <ns2:creationId id="{44DDA104-5A1E-4779-A60F-E3CEA86C4451}"/>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v-SE">
                <a:solidFill>
                  <a:srgbClr val="526B63"/>
                </a:solidFill>
                <a:latin typeface="Arial"/>
                <a:ea typeface="Arial"/>
                <a:cs typeface="Arial"/>
              </a:rPr>
              <a:t>Väljer produkter för eget bruk.</a:t>
            </a:r>
          </a:p>
          <a:p>
            <a:r>
              <a:t/>
            </a:r>
          </a:p>
          <a:p>
            <a:pPr>
              <a:defRPr sz="2175" b="0">
                <a:solidFill>
                  <a:srgbClr val="526B63"/>
                </a:solidFill>
                <a:latin typeface="Arial"/>
                <a:ea typeface="Arial"/>
                <a:cs typeface="Arial"/>
              </a:defRPr>
            </a:pPr>
            <a:r>
              <a:rPr sz="2175" b="0" lang="sv-SE">
                <a:solidFill>
                  <a:srgbClr val="526B63"/>
                </a:solidFill>
                <a:latin typeface="Arial"/>
                <a:ea typeface="Arial"/>
                <a:cs typeface="Arial"/>
              </a:rPr>
              <a:t>Kontrollerar rabatten och villkoren på sin marknad.</a:t>
            </a:r>
          </a:p>
        </p:txBody>
      </p:sp>
      <p:sp>
        <p:nvSpPr>
          <p:cNvPr id="6" name="">
            <a:extLst>
              <a:ext uri="{FF2B5EF4-FFF2-40B4-BE49-F238E27FC236}">
                <ns2:creationId id="{CB3AEC29-C6AB-4B40-B4A4-BBBBB4FC86ED}"/>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v-SE">
                <a:solidFill>
                  <a:srgbClr val="153F36"/>
                </a:solidFill>
                <a:latin typeface="Arial"/>
                <a:ea typeface="Arial"/>
                <a:cs typeface="Arial"/>
              </a:rPr>
              <a:t>Affärspartner</a:t>
            </a:r>
          </a:p>
        </p:txBody>
      </p:sp>
      <p:sp>
        <p:nvSpPr>
          <p:cNvPr id="7" name="">
            <a:extLst>
              <a:ext uri="{FF2B5EF4-FFF2-40B4-BE49-F238E27FC236}">
                <ns2:creationId id="{3D3E645E-563B-44E3-A32F-90226B46A13C}"/>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v-SE">
                <a:solidFill>
                  <a:srgbClr val="526B63"/>
                </a:solidFill>
                <a:latin typeface="Arial"/>
                <a:ea typeface="Arial"/>
                <a:cs typeface="Arial"/>
              </a:rPr>
              <a:t>Lär sig att rekommendera produkter och arbeta med kunder.</a:t>
            </a:r>
          </a:p>
          <a:p>
            <a:r>
              <a:t/>
            </a:r>
          </a:p>
          <a:p>
            <a:pPr>
              <a:defRPr sz="2175" b="0">
                <a:solidFill>
                  <a:srgbClr val="526B63"/>
                </a:solidFill>
                <a:latin typeface="Arial"/>
                <a:ea typeface="Arial"/>
                <a:cs typeface="Arial"/>
              </a:defRPr>
            </a:pPr>
            <a:r>
              <a:rPr sz="2175" b="0" lang="sv-SE">
                <a:solidFill>
                  <a:srgbClr val="526B63"/>
                </a:solidFill>
                <a:latin typeface="Arial"/>
                <a:ea typeface="Arial"/>
                <a:cs typeface="Arial"/>
              </a:rPr>
              <a:t>Kan utveckla ett team enligt den officiella planen.</a:t>
            </a:r>
          </a:p>
        </p:txBody>
      </p:sp>
      <p:sp>
        <p:nvSpPr>
          <p:cNvPr id="8" name="">
            <a:extLst>
              <a:ext uri="{FF2B5EF4-FFF2-40B4-BE49-F238E27FC236}">
                <ns2:creationId id="{0E0D066F-E836-4495-B6BA-02C6081856E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Det första samtalet hjälper personen att välja en inriktning som passar hen.</a:t>
            </a:r>
          </a:p>
        </p:txBody>
      </p:sp>
    </p:spTree>
    <p:extLst>
      <p:ext uri="{BB962C8B-B14F-4D97-AF65-F5344CB8AC3E}">
        <ns4:creationId val="72070813"/>
      </p:ext>
    </p:extLst>
  </p:cSld>
</p:sld>
</file>

<file path=ppt/slides/slide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452BAE09-4A28-4FDF-B4F1-D84AE45B9CCE}"/>
              </a:ext>
            </a:extLst>
          </p:cNvPr>
          <p:cNvPicPr>
            <a:picLocks noChangeAspect="1"/>
          </p:cNvPicPr>
          <p:nvPr/>
        </p:nvPicPr>
        <p:blipFill>
          <a:blip r:embed="R051be96e5b284a3e"/>
          <a:stretch/>
        </p:blipFill>
        <p:spPr>
          <a:xfrm>
            <a:off x="9867900" y="276061"/>
            <a:ext cx="1695450" cy="438478"/>
          </a:xfrm>
          <a:prstGeom prst="rect">
            <a:avLst/>
          </a:prstGeom>
        </p:spPr>
      </p:pic>
      <p:sp>
        <p:nvSpPr>
          <p:cNvPr id="2" name="">
            <a:extLst>
              <a:ext uri="{FF2B5EF4-FFF2-40B4-BE49-F238E27FC236}">
                <ns2:creationId id="{7AF10F6B-11A4-4082-8474-F8BB8D3A628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08</a:t>
            </a:r>
          </a:p>
        </p:txBody>
      </p:sp>
      <p:sp>
        <p:nvSpPr>
          <p:cNvPr id="3" name="Naslov">
            <a:extLst>
              <a:ext uri="{FF2B5EF4-FFF2-40B4-BE49-F238E27FC236}">
                <ns2:creationId id="{FFD17B86-6F5B-4AC9-A45D-61B841C5305A}"/>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Inledande kvalificering: 2 CC</a:t>
            </a:r>
          </a:p>
        </p:txBody>
      </p:sp>
      <p:sp>
        <p:nvSpPr>
          <p:cNvPr id="4" name="">
            <a:extLst>
              <a:ext uri="{FF2B5EF4-FFF2-40B4-BE49-F238E27FC236}">
                <ns2:creationId id="{1305E928-94E3-4B55-A605-33368A8BE1FE}"/>
              </a:ext>
            </a:extLst>
          </p:cNvPr>
          <p:cNvSpPr>
            <a:spLocks noGrp="1"/>
          </p:cNvSpPr>
          <p:nvPr/>
        </p:nvSpPr>
        <p:spPr>
          <a:xfrm>
            <a:off x="609600" y="2095500"/>
            <a:ext cx="4810125" cy="1285875"/>
          </a:xfrm>
          <a:prstGeom prst="rect">
            <a:avLst/>
          </a:prstGeom>
          <a:noFill/>
          <a:ln w="0">
            <a:noFill/>
          </a:ln>
        </p:spPr>
        <p:txBody>
          <a:bodyPr wrap="square" lIns="0" tIns="0" rIns="0" bIns="0" anchor="t">
            <a:noAutofit/>
          </a:bodyPr>
          <a:lstStyle>
            <a:defPPr>
              <a:defRPr sz="7650" b="1">
                <a:solidFill>
                  <a:srgbClr val="153F36"/>
                </a:solidFill>
                <a:latin typeface="Arial"/>
                <a:ea typeface="Arial"/>
                <a:cs typeface="Arial"/>
              </a:defRPr>
            </a:defPPr>
          </a:lstStyle>
          <a:p>
            <a:pPr>
              <a:defRPr sz="7650" b="1">
                <a:solidFill>
                  <a:srgbClr val="153F36"/>
                </a:solidFill>
                <a:latin typeface="Arial"/>
                <a:ea typeface="Arial"/>
                <a:cs typeface="Arial"/>
              </a:defRPr>
            </a:pPr>
            <a:r>
              <a:rPr sz="7650" b="1" lang="sv-SE">
                <a:solidFill>
                  <a:srgbClr val="153F36"/>
                </a:solidFill>
                <a:latin typeface="Arial"/>
                <a:ea typeface="Arial"/>
                <a:cs typeface="Arial"/>
              </a:rPr>
              <a:t>2 CC</a:t>
            </a:r>
          </a:p>
        </p:txBody>
      </p:sp>
      <p:sp>
        <p:nvSpPr>
          <p:cNvPr id="5" name="">
            <a:extLst>
              <a:ext uri="{FF2B5EF4-FFF2-40B4-BE49-F238E27FC236}">
                <ns2:creationId id="{8E600297-3522-4464-94CB-5C48591DB8FF}"/>
              </a:ext>
            </a:extLst>
          </p:cNvPr>
          <p:cNvSpPr>
            <a:spLocks noGrp="1"/>
          </p:cNvSpPr>
          <p:nvPr/>
        </p:nvSpPr>
        <p:spPr>
          <a:xfrm>
            <a:off x="4572000" y="2333625"/>
            <a:ext cx="6715125" cy="1104900"/>
          </a:xfrm>
          <a:prstGeom prst="rect">
            <a:avLst/>
          </a:prstGeom>
          <a:noFill/>
          <a:ln w="0">
            <a:noFill/>
          </a:ln>
        </p:spPr>
        <p:txBody>
          <a:bodyPr wrap="square" lIns="0" tIns="0" rIns="0" bIns="0" anchor="t">
            <a:noAutofit/>
          </a:bodyPr>
          <a:lstStyle>
            <a:defPPr>
              <a:defRPr sz="2700" b="1">
                <a:solidFill>
                  <a:srgbClr val="153F36"/>
                </a:solidFill>
                <a:latin typeface="Arial"/>
                <a:ea typeface="Arial"/>
                <a:cs typeface="Arial"/>
              </a:defRPr>
            </a:defPPr>
          </a:lstStyle>
          <a:p>
            <a:pPr>
              <a:defRPr sz="2700" b="1">
                <a:solidFill>
                  <a:srgbClr val="153F36"/>
                </a:solidFill>
                <a:latin typeface="Arial"/>
                <a:ea typeface="Arial"/>
                <a:cs typeface="Arial"/>
              </a:defRPr>
            </a:pPr>
            <a:r>
              <a:rPr sz="2700" b="1" lang="sv-SE">
                <a:solidFill>
                  <a:srgbClr val="153F36"/>
                </a:solidFill>
                <a:latin typeface="Arial"/>
                <a:ea typeface="Arial"/>
                <a:cs typeface="Arial"/>
              </a:rPr>
              <a:t>CC är produktens</a:t>
            </a:r>
          </a:p>
          <a:p>
            <a:pPr>
              <a:defRPr sz="2700" b="1">
                <a:solidFill>
                  <a:srgbClr val="153F36"/>
                </a:solidFill>
                <a:latin typeface="Arial"/>
                <a:ea typeface="Arial"/>
                <a:cs typeface="Arial"/>
              </a:defRPr>
            </a:pPr>
            <a:r>
              <a:rPr sz="2700" b="1" lang="sv-SE">
                <a:solidFill>
                  <a:srgbClr val="153F36"/>
                </a:solidFill>
                <a:latin typeface="Arial"/>
                <a:ea typeface="Arial"/>
                <a:cs typeface="Arial"/>
              </a:rPr>
              <a:t>beräkningspoäng.</a:t>
            </a:r>
          </a:p>
        </p:txBody>
      </p:sp>
      <p:sp>
        <p:nvSpPr>
          <p:cNvPr id="6" name="">
            <a:extLst>
              <a:ext uri="{FF2B5EF4-FFF2-40B4-BE49-F238E27FC236}">
                <ns2:creationId id="{0D2CE9B8-81CE-4B05-9A88-8AA42B134161}"/>
              </a:ext>
            </a:extLst>
          </p:cNvPr>
          <p:cNvSpPr>
            <a:spLocks noGrp="1"/>
          </p:cNvSpPr>
          <p:nvPr/>
        </p:nvSpPr>
        <p:spPr>
          <a:xfrm>
            <a:off x="609600" y="3486150"/>
            <a:ext cx="9753600" cy="6858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v-SE">
                <a:solidFill>
                  <a:srgbClr val="153F36"/>
                </a:solidFill>
                <a:latin typeface="Arial"/>
                <a:ea typeface="Arial"/>
                <a:cs typeface="Arial"/>
              </a:rPr>
              <a:t>Under två månader i följd</a:t>
            </a:r>
          </a:p>
        </p:txBody>
      </p:sp>
      <p:sp>
        <p:nvSpPr>
          <p:cNvPr id="7" name="">
            <a:extLst>
              <a:ext uri="{FF2B5EF4-FFF2-40B4-BE49-F238E27FC236}">
                <ns2:creationId id="{F38A0995-25A3-4169-84D9-35E62D33DC4A}"/>
              </a:ext>
            </a:extLst>
          </p:cNvPr>
          <p:cNvSpPr>
            <a:spLocks noGrp="1"/>
          </p:cNvSpPr>
          <p:nvPr/>
        </p:nvSpPr>
        <p:spPr>
          <a:xfrm>
            <a:off x="609600" y="4495800"/>
            <a:ext cx="9525000" cy="933450"/>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v-SE">
                <a:solidFill>
                  <a:srgbClr val="526B63"/>
                </a:solidFill>
                <a:latin typeface="Arial"/>
                <a:ea typeface="Arial"/>
                <a:cs typeface="Arial"/>
              </a:rPr>
              <a:t>Ett kvalificerande startpaket eller en produktkombination enligt de aktuella villkoren.</a:t>
            </a:r>
          </a:p>
        </p:txBody>
      </p:sp>
      <p:sp>
        <p:nvSpPr>
          <p:cNvPr id="8" name="">
            <a:extLst>
              <a:ext uri="{FF2B5EF4-FFF2-40B4-BE49-F238E27FC236}">
                <ns2:creationId id="{77AFF33C-FD64-4E61-B81A-785DDD31156C}"/>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Villkor för den kroatiska marknaden. Kontrollera pris och tillgänglighet i den officiella webbutiken.</a:t>
            </a:r>
          </a:p>
        </p:txBody>
      </p:sp>
    </p:spTree>
    <p:extLst>
      <p:ext uri="{BB962C8B-B14F-4D97-AF65-F5344CB8AC3E}">
        <ns4:creationId val="302156339"/>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54B81B2D-1CCA-483A-BFD7-E57A9B46F8C8}"/>
              </a:ext>
            </a:extLst>
          </p:cNvPr>
          <p:cNvPicPr>
            <a:picLocks noChangeAspect="1"/>
          </p:cNvPicPr>
          <p:nvPr/>
        </p:nvPicPr>
        <p:blipFill>
          <a:blip r:embed="Rf661f195b5314748"/>
          <a:stretch/>
        </p:blipFill>
        <p:spPr>
          <a:xfrm>
            <a:off x="9867900" y="276061"/>
            <a:ext cx="1695450" cy="438478"/>
          </a:xfrm>
          <a:prstGeom prst="rect">
            <a:avLst/>
          </a:prstGeom>
        </p:spPr>
      </p:pic>
      <p:sp>
        <p:nvSpPr>
          <p:cNvPr id="2" name="">
            <a:extLst>
              <a:ext uri="{FF2B5EF4-FFF2-40B4-BE49-F238E27FC236}">
                <ns2:creationId id="{54A71095-8359-4EA0-A4C1-36D0120F2536}"/>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09</a:t>
            </a:r>
          </a:p>
        </p:txBody>
      </p:sp>
      <p:sp>
        <p:nvSpPr>
          <p:cNvPr id="3" name="Naslov">
            <a:extLst>
              <a:ext uri="{FF2B5EF4-FFF2-40B4-BE49-F238E27FC236}">
                <ns2:creationId id="{616FFF80-E49E-4FEC-A237-32EC6915272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Rabatt, försäljningsvinst och bonus</a:t>
            </a:r>
          </a:p>
        </p:txBody>
      </p:sp>
      <p:sp>
        <p:nvSpPr>
          <p:cNvPr id="4" name="">
            <a:extLst>
              <a:ext uri="{FF2B5EF4-FFF2-40B4-BE49-F238E27FC236}">
                <ns2:creationId id="{BDDED255-1812-4E04-914B-6B332C90B5B4}"/>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v-SE">
                <a:solidFill>
                  <a:srgbClr val="148977"/>
                </a:solidFill>
                <a:latin typeface="Arial"/>
                <a:ea typeface="Arial"/>
                <a:cs typeface="Arial"/>
              </a:rPr>
              <a:t>1.</a:t>
            </a:r>
          </a:p>
        </p:txBody>
      </p:sp>
      <p:sp>
        <p:nvSpPr>
          <p:cNvPr id="5" name="">
            <a:extLst>
              <a:ext uri="{FF2B5EF4-FFF2-40B4-BE49-F238E27FC236}">
                <ns2:creationId id="{FD37A62D-3C45-4D0E-A38A-9915FE68876C}"/>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v-SE">
                <a:solidFill>
                  <a:srgbClr val="153F36"/>
                </a:solidFill>
                <a:latin typeface="Arial"/>
                <a:ea typeface="Arial"/>
                <a:cs typeface="Arial"/>
              </a:rPr>
              <a:t>30 % efter den inledande kvalificeringen</a:t>
            </a:r>
          </a:p>
        </p:txBody>
      </p:sp>
      <p:sp>
        <p:nvSpPr>
          <p:cNvPr id="6" name="">
            <a:extLst>
              <a:ext uri="{FF2B5EF4-FFF2-40B4-BE49-F238E27FC236}">
                <ns2:creationId id="{0AEF7DBB-93FC-4643-9868-0D9C3B4364E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Rabatt på efterföljande beställningar enligt villkoren på den kroatiska marknaden.</a:t>
            </a:r>
          </a:p>
        </p:txBody>
      </p:sp>
      <p:sp>
        <p:nvSpPr>
          <p:cNvPr id="7" name="">
            <a:extLst>
              <a:ext uri="{FF2B5EF4-FFF2-40B4-BE49-F238E27FC236}">
                <ns2:creationId id="{7B9CB7F3-4139-4611-87F8-435F9FF741FD}"/>
              </a:ext>
            </a:extLst>
          </p:cNvPr>
          <p:cNvSpPr>
            <a:spLocks noGrp="1"/>
          </p:cNvSpPr>
          <p:nvPr/>
        </p:nvSpPr>
        <p:spPr>
          <a:xfrm>
            <a:off x="609600" y="31242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v-SE">
                <a:solidFill>
                  <a:srgbClr val="148977"/>
                </a:solidFill>
                <a:latin typeface="Arial"/>
                <a:ea typeface="Arial"/>
                <a:cs typeface="Arial"/>
              </a:rPr>
              <a:t>2.</a:t>
            </a:r>
          </a:p>
        </p:txBody>
      </p:sp>
      <p:sp>
        <p:nvSpPr>
          <p:cNvPr id="8" name="">
            <a:extLst>
              <a:ext uri="{FF2B5EF4-FFF2-40B4-BE49-F238E27FC236}">
                <ns2:creationId id="{9C21A969-5A0A-4363-B933-89E397B75B42}"/>
              </a:ext>
            </a:extLst>
          </p:cNvPr>
          <p:cNvSpPr>
            <a:spLocks noGrp="1"/>
          </p:cNvSpPr>
          <p:nvPr/>
        </p:nvSpPr>
        <p:spPr>
          <a:xfrm>
            <a:off x="1257300" y="31242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v-SE">
                <a:solidFill>
                  <a:srgbClr val="153F36"/>
                </a:solidFill>
                <a:latin typeface="Arial"/>
                <a:ea typeface="Arial"/>
                <a:cs typeface="Arial"/>
              </a:rPr>
              <a:t>Försäljningsvinst</a:t>
            </a:r>
          </a:p>
        </p:txBody>
      </p:sp>
      <p:sp>
        <p:nvSpPr>
          <p:cNvPr id="9" name="">
            <a:extLst>
              <a:ext uri="{FF2B5EF4-FFF2-40B4-BE49-F238E27FC236}">
                <ns2:creationId id="{A037074A-E68A-4282-99A4-49DED4CAE7F8}"/>
              </a:ext>
            </a:extLst>
          </p:cNvPr>
          <p:cNvSpPr>
            <a:spLocks noGrp="1"/>
          </p:cNvSpPr>
          <p:nvPr/>
        </p:nvSpPr>
        <p:spPr>
          <a:xfrm>
            <a:off x="1257300" y="3533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Beror på det faktiska försäljningspriset och inköpspriset.</a:t>
            </a:r>
          </a:p>
        </p:txBody>
      </p:sp>
      <p:sp>
        <p:nvSpPr>
          <p:cNvPr id="10" name="">
            <a:extLst>
              <a:ext uri="{FF2B5EF4-FFF2-40B4-BE49-F238E27FC236}">
                <ns2:creationId id="{3D570E6E-8B24-4330-A562-3E522F970A4D}"/>
              </a:ext>
            </a:extLst>
          </p:cNvPr>
          <p:cNvSpPr>
            <a:spLocks noGrp="1"/>
          </p:cNvSpPr>
          <p:nvPr/>
        </p:nvSpPr>
        <p:spPr>
          <a:xfrm>
            <a:off x="609600" y="42862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v-SE">
                <a:solidFill>
                  <a:srgbClr val="148977"/>
                </a:solidFill>
                <a:latin typeface="Arial"/>
                <a:ea typeface="Arial"/>
                <a:cs typeface="Arial"/>
              </a:rPr>
              <a:t>3.</a:t>
            </a:r>
          </a:p>
        </p:txBody>
      </p:sp>
      <p:sp>
        <p:nvSpPr>
          <p:cNvPr id="11" name="">
            <a:extLst>
              <a:ext uri="{FF2B5EF4-FFF2-40B4-BE49-F238E27FC236}">
                <ns2:creationId id="{141569BD-0969-41EC-B9D6-1548A3721055}"/>
              </a:ext>
            </a:extLst>
          </p:cNvPr>
          <p:cNvSpPr>
            <a:spLocks noGrp="1"/>
          </p:cNvSpPr>
          <p:nvPr/>
        </p:nvSpPr>
        <p:spPr>
          <a:xfrm>
            <a:off x="1257300" y="42862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v-SE">
                <a:solidFill>
                  <a:srgbClr val="153F36"/>
                </a:solidFill>
                <a:latin typeface="Arial"/>
                <a:ea typeface="Arial"/>
                <a:cs typeface="Arial"/>
              </a:rPr>
              <a:t>Bonus</a:t>
            </a:r>
          </a:p>
        </p:txBody>
      </p:sp>
      <p:sp>
        <p:nvSpPr>
          <p:cNvPr id="12" name="">
            <a:extLst>
              <a:ext uri="{FF2B5EF4-FFF2-40B4-BE49-F238E27FC236}">
                <ns2:creationId id="{44D69AAF-0CFB-4734-B419-43D03A1B0923}"/>
              </a:ext>
            </a:extLst>
          </p:cNvPr>
          <p:cNvSpPr>
            <a:spLocks noGrp="1"/>
          </p:cNvSpPr>
          <p:nvPr/>
        </p:nvSpPr>
        <p:spPr>
          <a:xfrm>
            <a:off x="1257300" y="46958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Beräknas på godkänd försäljning när angivna villkor är uppfyllda.</a:t>
            </a:r>
          </a:p>
        </p:txBody>
      </p:sp>
      <p:sp>
        <p:nvSpPr>
          <p:cNvPr id="13" name="">
            <a:extLst>
              <a:ext uri="{FF2B5EF4-FFF2-40B4-BE49-F238E27FC236}">
                <ns2:creationId id="{BD566267-66F1-4515-8129-B602138DC9B1}"/>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Nettointäkten beror också på kostnader, returer och skatter.</a:t>
            </a:r>
          </a:p>
        </p:txBody>
      </p:sp>
    </p:spTree>
    <p:extLst>
      <p:ext uri="{BB962C8B-B14F-4D97-AF65-F5344CB8AC3E}">
        <ns4:creationId val="402010883"/>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840DF7EE-0EBF-4A51-BCCA-50E40AAC8CD9}"/>
              </a:ext>
            </a:extLst>
          </p:cNvPr>
          <p:cNvPicPr>
            <a:picLocks noChangeAspect="1"/>
          </p:cNvPicPr>
          <p:nvPr/>
        </p:nvPicPr>
        <p:blipFill>
          <a:blip r:embed="Redb93a4280434ff1"/>
          <a:stretch/>
        </p:blipFill>
        <p:spPr>
          <a:xfrm>
            <a:off x="9867900" y="276061"/>
            <a:ext cx="1695450" cy="438478"/>
          </a:xfrm>
          <a:prstGeom prst="rect">
            <a:avLst/>
          </a:prstGeom>
        </p:spPr>
      </p:pic>
      <p:sp>
        <p:nvSpPr>
          <p:cNvPr id="2" name="">
            <a:extLst>
              <a:ext uri="{FF2B5EF4-FFF2-40B4-BE49-F238E27FC236}">
                <ns2:creationId id="{F88BD6BA-C85F-4ABA-8F08-31047BB24EE0}"/>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10</a:t>
            </a:r>
          </a:p>
        </p:txBody>
      </p:sp>
      <p:sp>
        <p:nvSpPr>
          <p:cNvPr id="3" name="Naslov">
            <a:extLst>
              <a:ext uri="{FF2B5EF4-FFF2-40B4-BE49-F238E27FC236}">
                <ns2:creationId id="{3292CFF6-A88B-4EB8-9D76-22FE6259927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Sätt att tjäna pengar</a:t>
            </a:r>
          </a:p>
        </p:txBody>
      </p:sp>
      <p:sp>
        <p:nvSpPr>
          <p:cNvPr id="4" name="">
            <a:extLst>
              <a:ext uri="{FF2B5EF4-FFF2-40B4-BE49-F238E27FC236}">
                <ns2:creationId id="{E4F37C57-BB38-4268-A186-D1B747EFAAB6}"/>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1.</a:t>
            </a:r>
          </a:p>
        </p:txBody>
      </p:sp>
      <p:sp>
        <p:nvSpPr>
          <p:cNvPr id="5" name="">
            <a:extLst>
              <a:ext uri="{FF2B5EF4-FFF2-40B4-BE49-F238E27FC236}">
                <ns2:creationId id="{961A0C47-68F2-4FC3-AC65-BF70D8BE9435}"/>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Detaljhandel och onlineförsäljning</a:t>
            </a:r>
          </a:p>
        </p:txBody>
      </p:sp>
      <p:sp>
        <p:nvSpPr>
          <p:cNvPr id="6" name="">
            <a:extLst>
              <a:ext uri="{FF2B5EF4-FFF2-40B4-BE49-F238E27FC236}">
                <ns2:creationId id="{63F83357-877E-4FF3-915F-C3938DABCDED}"/>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Vinst kopplad till ett faktiskt produktköp.</a:t>
            </a:r>
          </a:p>
        </p:txBody>
      </p:sp>
      <p:sp>
        <p:nvSpPr>
          <p:cNvPr id="7" name="">
            <a:extLst>
              <a:ext uri="{FF2B5EF4-FFF2-40B4-BE49-F238E27FC236}">
                <ns2:creationId id="{DADDE4B6-6F20-47E2-A08D-2141BD840EEE}"/>
              </a:ext>
            </a:extLst>
          </p:cNvPr>
          <p:cNvSpPr>
            <a:spLocks noGrp="1"/>
          </p:cNvSpPr>
          <p:nvPr/>
        </p:nvSpPr>
        <p:spPr>
          <a:xfrm>
            <a:off x="609600" y="28575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2.</a:t>
            </a:r>
          </a:p>
        </p:txBody>
      </p:sp>
      <p:sp>
        <p:nvSpPr>
          <p:cNvPr id="8" name="">
            <a:extLst>
              <a:ext uri="{FF2B5EF4-FFF2-40B4-BE49-F238E27FC236}">
                <ns2:creationId id="{67D8978D-38A0-4FC8-BFC8-BC13A9976728}"/>
              </a:ext>
            </a:extLst>
          </p:cNvPr>
          <p:cNvSpPr>
            <a:spLocks noGrp="1"/>
          </p:cNvSpPr>
          <p:nvPr/>
        </p:nvSpPr>
        <p:spPr>
          <a:xfrm>
            <a:off x="1257300" y="28575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Personlig bonus och Preferred Customer-bonus</a:t>
            </a:r>
          </a:p>
        </p:txBody>
      </p:sp>
      <p:sp>
        <p:nvSpPr>
          <p:cNvPr id="9" name="">
            <a:extLst>
              <a:ext uri="{FF2B5EF4-FFF2-40B4-BE49-F238E27FC236}">
                <ns2:creationId id="{C231494E-33FE-4508-9785-F00A2151446B}"/>
              </a:ext>
            </a:extLst>
          </p:cNvPr>
          <p:cNvSpPr>
            <a:spLocks noGrp="1"/>
          </p:cNvSpPr>
          <p:nvPr/>
        </p:nvSpPr>
        <p:spPr>
          <a:xfrm>
            <a:off x="1257300" y="32670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Beräknas enligt försäljningsnivå och villkor.</a:t>
            </a:r>
          </a:p>
        </p:txBody>
      </p:sp>
      <p:sp>
        <p:nvSpPr>
          <p:cNvPr id="10" name="">
            <a:extLst>
              <a:ext uri="{FF2B5EF4-FFF2-40B4-BE49-F238E27FC236}">
                <ns2:creationId id="{6C5B4166-CAE5-400B-9E51-0F8ECA7D451A}"/>
              </a:ext>
            </a:extLst>
          </p:cNvPr>
          <p:cNvSpPr>
            <a:spLocks noGrp="1"/>
          </p:cNvSpPr>
          <p:nvPr/>
        </p:nvSpPr>
        <p:spPr>
          <a:xfrm>
            <a:off x="609600" y="37528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3.</a:t>
            </a:r>
          </a:p>
        </p:txBody>
      </p:sp>
      <p:sp>
        <p:nvSpPr>
          <p:cNvPr id="11" name="">
            <a:extLst>
              <a:ext uri="{FF2B5EF4-FFF2-40B4-BE49-F238E27FC236}">
                <ns2:creationId id="{50834E28-49CA-44B2-B93E-18D9D4627CA3}"/>
              </a:ext>
            </a:extLst>
          </p:cNvPr>
          <p:cNvSpPr>
            <a:spLocks noGrp="1"/>
          </p:cNvSpPr>
          <p:nvPr/>
        </p:nvSpPr>
        <p:spPr>
          <a:xfrm>
            <a:off x="1257300" y="37528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Volymbonus</a:t>
            </a:r>
          </a:p>
        </p:txBody>
      </p:sp>
      <p:sp>
        <p:nvSpPr>
          <p:cNvPr id="12" name="">
            <a:extLst>
              <a:ext uri="{FF2B5EF4-FFF2-40B4-BE49-F238E27FC236}">
                <ns2:creationId id="{5407DF9D-985F-4E8D-8C98-F0B86ED67E9E}"/>
              </a:ext>
            </a:extLst>
          </p:cNvPr>
          <p:cNvSpPr>
            <a:spLocks noGrp="1"/>
          </p:cNvSpPr>
          <p:nvPr/>
        </p:nvSpPr>
        <p:spPr>
          <a:xfrm>
            <a:off x="1257300" y="41624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Kvalificerad försäljning från lägre nivåer i organisationen.</a:t>
            </a:r>
          </a:p>
        </p:txBody>
      </p:sp>
      <p:sp>
        <p:nvSpPr>
          <p:cNvPr id="13" name="">
            <a:extLst>
              <a:ext uri="{FF2B5EF4-FFF2-40B4-BE49-F238E27FC236}">
                <ns2:creationId id="{E9580FA4-DD30-4C4A-BAB0-1DC98066621F}"/>
              </a:ext>
            </a:extLst>
          </p:cNvPr>
          <p:cNvSpPr>
            <a:spLocks noGrp="1"/>
          </p:cNvSpPr>
          <p:nvPr/>
        </p:nvSpPr>
        <p:spPr>
          <a:xfrm>
            <a:off x="609600" y="46482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4.</a:t>
            </a:r>
          </a:p>
        </p:txBody>
      </p:sp>
      <p:sp>
        <p:nvSpPr>
          <p:cNvPr id="14" name="">
            <a:extLst>
              <a:ext uri="{FF2B5EF4-FFF2-40B4-BE49-F238E27FC236}">
                <ns2:creationId id="{E50EC679-BBB4-46B2-81C9-AC16645DB86B}"/>
              </a:ext>
            </a:extLst>
          </p:cNvPr>
          <p:cNvSpPr>
            <a:spLocks noGrp="1"/>
          </p:cNvSpPr>
          <p:nvPr/>
        </p:nvSpPr>
        <p:spPr>
          <a:xfrm>
            <a:off x="1257300" y="46482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Leadership-bonus</a:t>
            </a:r>
          </a:p>
        </p:txBody>
      </p:sp>
      <p:sp>
        <p:nvSpPr>
          <p:cNvPr id="15" name="">
            <a:extLst>
              <a:ext uri="{FF2B5EF4-FFF2-40B4-BE49-F238E27FC236}">
                <ns2:creationId id="{A8964C4B-0C42-4F0F-9058-0454BA2D8106}"/>
              </a:ext>
            </a:extLst>
          </p:cNvPr>
          <p:cNvSpPr>
            <a:spLocks noGrp="1"/>
          </p:cNvSpPr>
          <p:nvPr/>
        </p:nvSpPr>
        <p:spPr>
          <a:xfrm>
            <a:off x="1257300" y="5057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Kvalificerade Manager-generationer och planvillkor.</a:t>
            </a:r>
          </a:p>
        </p:txBody>
      </p:sp>
    </p:spTree>
    <p:extLst>
      <p:ext uri="{BB962C8B-B14F-4D97-AF65-F5344CB8AC3E}">
        <ns4:creationId val="992325245"/>
      </p:ext>
    </p:extLst>
  </p:cSld>
</p:sld>
</file>

<file path=ppt/slides/slide1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A9AB977B-9D5E-4F10-952B-A0122802EBF9}"/>
              </a:ext>
            </a:extLst>
          </p:cNvPr>
          <p:cNvPicPr>
            <a:picLocks noChangeAspect="1"/>
          </p:cNvPicPr>
          <p:nvPr/>
        </p:nvPicPr>
        <p:blipFill>
          <a:blip r:embed="R5bc897ca9a314817"/>
          <a:stretch/>
        </p:blipFill>
        <p:spPr>
          <a:xfrm>
            <a:off x="9867900" y="276061"/>
            <a:ext cx="1695450" cy="438478"/>
          </a:xfrm>
          <a:prstGeom prst="rect">
            <a:avLst/>
          </a:prstGeom>
        </p:spPr>
      </p:pic>
      <p:sp>
        <p:nvSpPr>
          <p:cNvPr id="2" name="">
            <a:extLst>
              <a:ext uri="{FF2B5EF4-FFF2-40B4-BE49-F238E27FC236}">
                <ns2:creationId id="{E1206217-E73A-4CEB-9B09-737F10EA58F5}"/>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11</a:t>
            </a:r>
          </a:p>
        </p:txBody>
      </p:sp>
      <p:sp>
        <p:nvSpPr>
          <p:cNvPr id="3" name="Naslov">
            <a:extLst>
              <a:ext uri="{FF2B5EF4-FFF2-40B4-BE49-F238E27FC236}">
                <ns2:creationId id="{F97FCDE6-31DA-49CD-A3B9-7E9B8A32A524}"/>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Försäljningsnivåer</a:t>
            </a:r>
          </a:p>
        </p:txBody>
      </p:sp>
      <p:graphicFrame>
        <p:nvGraphicFramePr>
          <p:cNvPr id="4" name="">
            <a:extLst>
              <a:ext uri="{FF2B5EF4-FFF2-40B4-BE49-F238E27FC236}">
                <ns2:creationId id="{BC47871F-1D3A-4769-8DAA-F613396509F8}"/>
              </a:ext>
            </a:extLst>
          </p:cNvPr>
          <p:cNvGraphicFramePr/>
          <p:nvPr/>
        </p:nvGraphicFramePr>
        <p:xfrm>
          <a:off x="609600" y="2114550"/>
          <a:ext cx="10953750" cy="3171825"/>
        </p:xfrm>
        <a:graphic>
          <a:graphicData uri="http://schemas.openxmlformats.org/drawingml/2006/table">
            <a:tbl>
              <a:tblPr/>
              <a:tblGrid>
                <a:gridCol w="3981450"/>
                <a:gridCol w="6972300"/>
              </a:tblGrid>
              <a:tr h="634365">
                <a:tc>
                  <a:txBody>
                    <a:bodyPr lIns="152400" tIns="133350" rIns="152400" bIns="114300">
                      <a:noAutofit/>
                    </a:bodyPr>
                    <a:lstStyle/>
                    <a:p>
                      <a:r>
                        <a:rPr sz="2025" b="1" lang="sv-SE">
                          <a:solidFill>
                            <a:srgbClr val="FFFFFF"/>
                          </a:solidFill>
                          <a:latin typeface="Arial"/>
                          <a:ea typeface="Arial"/>
                          <a:cs typeface="Arial"/>
                        </a:rPr>
                        <a:t>Nivå</a:t>
                      </a:r>
                    </a:p>
                  </a:txBody>
                  <a:tcPr marL="91440" marR="91440" marT="45720" marB="45720">
                    <a:solidFill>
                      <a:srgbClr val="153F36"/>
                    </a:solidFill>
                  </a:tcPr>
                </a:tc>
                <a:tc>
                  <a:txBody>
                    <a:bodyPr lIns="152400" tIns="133350" rIns="152400" bIns="114300">
                      <a:noAutofit/>
                    </a:bodyPr>
                    <a:lstStyle/>
                    <a:p>
                      <a:r>
                        <a:rPr sz="2025" b="1" lang="sv-SE">
                          <a:solidFill>
                            <a:srgbClr val="FFFFFF"/>
                          </a:solidFill>
                          <a:latin typeface="Arial"/>
                          <a:ea typeface="Arial"/>
                          <a:cs typeface="Arial"/>
                        </a:rPr>
                        <a:t>Kvalificeringsvolym</a:t>
                      </a:r>
                    </a:p>
                  </a:txBody>
                  <a:tcPr marL="91440" marR="91440" marT="45720" marB="45720">
                    <a:solidFill>
                      <a:srgbClr val="153F36"/>
                    </a:solidFill>
                  </a:tcPr>
                </a:tc>
              </a:tr>
              <a:tr h="634365">
                <a:tc>
                  <a:txBody>
                    <a:bodyPr lIns="152400" tIns="133350" rIns="152400" bIns="114300">
                      <a:noAutofit/>
                    </a:bodyPr>
                    <a:lstStyle/>
                    <a:p>
                      <a:r>
                        <a:rPr sz="2025" b="0" lang="sv-SE">
                          <a:solidFill>
                            <a:srgbClr val="153F36"/>
                          </a:solidFill>
                          <a:latin typeface="Arial"/>
                          <a:ea typeface="Arial"/>
                          <a:cs typeface="Arial"/>
                        </a:rPr>
                        <a:t>Assistant Supervisor</a:t>
                      </a:r>
                    </a:p>
                  </a:txBody>
                  <a:tcPr marL="91440" marR="91440" marT="45720" marB="45720">
                    <a:solidFill>
                      <a:srgbClr val="FFFFFF"/>
                    </a:solidFill>
                  </a:tcPr>
                </a:tc>
                <a:tc>
                  <a:txBody>
                    <a:bodyPr lIns="152400" tIns="133350" rIns="152400" bIns="114300">
                      <a:noAutofit/>
                    </a:bodyPr>
                    <a:lstStyle/>
                    <a:p>
                      <a:r>
                        <a:rPr sz="2025" b="0" lang="sv-SE">
                          <a:solidFill>
                            <a:srgbClr val="153F36"/>
                          </a:solidFill>
                          <a:latin typeface="Arial"/>
                          <a:ea typeface="Arial"/>
                          <a:cs typeface="Arial"/>
                        </a:rPr>
                        <a:t>2 CC under två månader i följd</a:t>
                      </a:r>
                    </a:p>
                  </a:txBody>
                  <a:tcPr marL="91440" marR="91440" marT="45720" marB="45720">
                    <a:solidFill>
                      <a:srgbClr val="FFFFFF"/>
                    </a:solidFill>
                  </a:tcPr>
                </a:tc>
              </a:tr>
              <a:tr h="634365">
                <a:tc>
                  <a:txBody>
                    <a:bodyPr lIns="152400" tIns="133350" rIns="152400" bIns="114300">
                      <a:noAutofit/>
                    </a:bodyPr>
                    <a:lstStyle/>
                    <a:p>
                      <a:r>
                        <a:rPr sz="2025" b="0" lang="sv-SE">
                          <a:solidFill>
                            <a:srgbClr val="153F36"/>
                          </a:solidFill>
                          <a:latin typeface="Arial"/>
                          <a:ea typeface="Arial"/>
                          <a:cs typeface="Arial"/>
                        </a:rPr>
                        <a:t>Supervisor</a:t>
                      </a:r>
                    </a:p>
                  </a:txBody>
                  <a:tcPr marL="91440" marR="91440" marT="45720" marB="45720">
                    <a:solidFill>
                      <a:srgbClr val="F3F7F2"/>
                    </a:solidFill>
                  </a:tcPr>
                </a:tc>
                <a:tc>
                  <a:txBody>
                    <a:bodyPr lIns="152400" tIns="133350" rIns="152400" bIns="114300">
                      <a:noAutofit/>
                    </a:bodyPr>
                    <a:lstStyle/>
                    <a:p>
                      <a:r>
                        <a:rPr sz="2025" b="0" lang="sv-SE">
                          <a:solidFill>
                            <a:srgbClr val="153F36"/>
                          </a:solidFill>
                          <a:latin typeface="Arial"/>
                          <a:ea typeface="Arial"/>
                          <a:cs typeface="Arial"/>
                        </a:rPr>
                        <a:t>10 CC, kontrollera tidsfristen lokalt</a:t>
                      </a:r>
                    </a:p>
                  </a:txBody>
                  <a:tcPr marL="91440" marR="91440" marT="45720" marB="45720">
                    <a:solidFill>
                      <a:srgbClr val="F3F7F2"/>
                    </a:solidFill>
                  </a:tcPr>
                </a:tc>
              </a:tr>
              <a:tr h="634365">
                <a:tc>
                  <a:txBody>
                    <a:bodyPr lIns="152400" tIns="133350" rIns="152400" bIns="114300">
                      <a:noAutofit/>
                    </a:bodyPr>
                    <a:lstStyle/>
                    <a:p>
                      <a:r>
                        <a:rPr sz="2025" b="0" lang="sv-SE">
                          <a:solidFill>
                            <a:srgbClr val="153F36"/>
                          </a:solidFill>
                          <a:latin typeface="Arial"/>
                          <a:ea typeface="Arial"/>
                          <a:cs typeface="Arial"/>
                        </a:rPr>
                        <a:t>Assistant Manager</a:t>
                      </a:r>
                    </a:p>
                  </a:txBody>
                  <a:tcPr marL="91440" marR="91440" marT="45720" marB="45720">
                    <a:solidFill>
                      <a:srgbClr val="FFFFFF"/>
                    </a:solidFill>
                  </a:tcPr>
                </a:tc>
                <a:tc>
                  <a:txBody>
                    <a:bodyPr lIns="152400" tIns="133350" rIns="152400" bIns="114300">
                      <a:noAutofit/>
                    </a:bodyPr>
                    <a:lstStyle/>
                    <a:p>
                      <a:r>
                        <a:rPr sz="2025" b="0" lang="sv-SE">
                          <a:solidFill>
                            <a:srgbClr val="153F36"/>
                          </a:solidFill>
                          <a:latin typeface="Arial"/>
                          <a:ea typeface="Arial"/>
                          <a:cs typeface="Arial"/>
                        </a:rPr>
                        <a:t>60 CC under två månader i följd</a:t>
                      </a:r>
                    </a:p>
                  </a:txBody>
                  <a:tcPr marL="91440" marR="91440" marT="45720" marB="45720">
                    <a:solidFill>
                      <a:srgbClr val="FFFFFF"/>
                    </a:solidFill>
                  </a:tcPr>
                </a:tc>
              </a:tr>
              <a:tr h="634365">
                <a:tc>
                  <a:txBody>
                    <a:bodyPr lIns="152400" tIns="133350" rIns="152400" bIns="114300">
                      <a:noAutofit/>
                    </a:bodyPr>
                    <a:lstStyle/>
                    <a:p>
                      <a:r>
                        <a:rPr sz="2025" b="0" lang="sv-SE">
                          <a:solidFill>
                            <a:srgbClr val="153F36"/>
                          </a:solidFill>
                          <a:latin typeface="Arial"/>
                          <a:ea typeface="Arial"/>
                          <a:cs typeface="Arial"/>
                        </a:rPr>
                        <a:t>Manager</a:t>
                      </a:r>
                    </a:p>
                  </a:txBody>
                  <a:tcPr marL="91440" marR="91440" marT="45720" marB="45720">
                    <a:solidFill>
                      <a:srgbClr val="F3F7F2"/>
                    </a:solidFill>
                  </a:tcPr>
                </a:tc>
                <a:tc>
                  <a:txBody>
                    <a:bodyPr lIns="152400" tIns="133350" rIns="152400" bIns="114300">
                      <a:noAutofit/>
                    </a:bodyPr>
                    <a:lstStyle/>
                    <a:p>
                      <a:r>
                        <a:rPr sz="2025" b="0" lang="sv-SE">
                          <a:solidFill>
                            <a:srgbClr val="153F36"/>
                          </a:solidFill>
                          <a:latin typeface="Arial"/>
                          <a:ea typeface="Arial"/>
                          <a:cs typeface="Arial"/>
                        </a:rPr>
                        <a:t>120 CC på 1 eller 2 månader, eller 150 CC på 3 eller 4 månader</a:t>
                      </a:r>
                    </a:p>
                  </a:txBody>
                  <a:tcPr marL="91440" marR="91440" marT="45720" marB="45720">
                    <a:solidFill>
                      <a:srgbClr val="F3F7F2"/>
                    </a:solidFill>
                  </a:tcPr>
                </a:tc>
              </a:tr>
            </a:tbl>
          </a:graphicData>
        </a:graphic>
      </p:graphicFrame>
      <p:sp>
        <p:nvSpPr>
          <p:cNvPr id="5" name="">
            <a:extLst>
              <a:ext uri="{FF2B5EF4-FFF2-40B4-BE49-F238E27FC236}">
                <ns2:creationId id="{9DFB2BCF-6AA8-4740-A837-9F538AEBF00A}"/>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Kroatiska villkor. Befordran följer godkänd produktförsäljning.</a:t>
            </a:r>
          </a:p>
        </p:txBody>
      </p:sp>
    </p:spTree>
    <p:extLst>
      <p:ext uri="{BB962C8B-B14F-4D97-AF65-F5344CB8AC3E}">
        <ns4:creationId val="1649879452"/>
      </p:ext>
    </p:extLst>
  </p:cSld>
</p:sld>
</file>

<file path=ppt/slides/slide1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E97F2449-B0C8-45FF-9BA5-1467F6340A5D}"/>
              </a:ext>
            </a:extLst>
          </p:cNvPr>
          <p:cNvPicPr>
            <a:picLocks noChangeAspect="1"/>
          </p:cNvPicPr>
          <p:nvPr/>
        </p:nvPicPr>
        <p:blipFill>
          <a:blip r:embed="Rc8567ceef5234c8d"/>
          <a:stretch/>
        </p:blipFill>
        <p:spPr>
          <a:xfrm>
            <a:off x="9867900" y="276061"/>
            <a:ext cx="1695450" cy="438478"/>
          </a:xfrm>
          <a:prstGeom prst="rect">
            <a:avLst/>
          </a:prstGeom>
        </p:spPr>
      </p:pic>
      <p:sp>
        <p:nvSpPr>
          <p:cNvPr id="2" name="">
            <a:extLst>
              <a:ext uri="{FF2B5EF4-FFF2-40B4-BE49-F238E27FC236}">
                <ns2:creationId id="{B9FFE9D7-C589-4DAD-A5DC-C4584AC8344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12</a:t>
            </a:r>
          </a:p>
        </p:txBody>
      </p:sp>
      <p:sp>
        <p:nvSpPr>
          <p:cNvPr id="3" name="Naslov">
            <a:extLst>
              <a:ext uri="{FF2B5EF4-FFF2-40B4-BE49-F238E27FC236}">
                <ns2:creationId id="{F91E5C4C-3C31-4F72-9B91-81AAABDBF56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Nivå och månadsaktivitet</a:t>
            </a:r>
          </a:p>
        </p:txBody>
      </p:sp>
      <p:sp>
        <p:nvSpPr>
          <p:cNvPr id="4" name="">
            <a:extLst>
              <a:ext uri="{FF2B5EF4-FFF2-40B4-BE49-F238E27FC236}">
                <ns2:creationId id="{703903BE-E1EA-4755-AF0E-DDC0FD0D2C54}"/>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v-SE">
                <a:solidFill>
                  <a:srgbClr val="153F36"/>
                </a:solidFill>
                <a:latin typeface="Arial"/>
                <a:ea typeface="Arial"/>
                <a:cs typeface="Arial"/>
              </a:rPr>
              <a:t>Uppnådd nivå</a:t>
            </a:r>
          </a:p>
        </p:txBody>
      </p:sp>
      <p:sp>
        <p:nvSpPr>
          <p:cNvPr id="5" name="">
            <a:extLst>
              <a:ext uri="{FF2B5EF4-FFF2-40B4-BE49-F238E27FC236}">
                <ns2:creationId id="{9A996385-7B48-4296-A854-5EB0CE2EE565}"/>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v-SE">
                <a:solidFill>
                  <a:srgbClr val="526B63"/>
                </a:solidFill>
                <a:latin typeface="Arial"/>
                <a:ea typeface="Arial"/>
                <a:cs typeface="Arial"/>
              </a:rPr>
              <a:t>Visar uppnådd försäljningskvalificering.</a:t>
            </a:r>
          </a:p>
          <a:p>
            <a:r>
              <a:t/>
            </a:r>
          </a:p>
          <a:p>
            <a:pPr>
              <a:defRPr sz="2175" b="0">
                <a:solidFill>
                  <a:srgbClr val="526B63"/>
                </a:solidFill>
                <a:latin typeface="Arial"/>
                <a:ea typeface="Arial"/>
                <a:cs typeface="Arial"/>
              </a:defRPr>
            </a:pPr>
            <a:r>
              <a:rPr sz="2175" b="0" lang="sv-SE">
                <a:solidFill>
                  <a:srgbClr val="526B63"/>
                </a:solidFill>
                <a:latin typeface="Arial"/>
                <a:ea typeface="Arial"/>
                <a:cs typeface="Arial"/>
              </a:rPr>
              <a:t>Vissa utbetalningar har fortfarande månadsvillkor.</a:t>
            </a:r>
          </a:p>
        </p:txBody>
      </p:sp>
      <p:sp>
        <p:nvSpPr>
          <p:cNvPr id="6" name="">
            <a:extLst>
              <a:ext uri="{FF2B5EF4-FFF2-40B4-BE49-F238E27FC236}">
                <ns2:creationId id="{77D1FAA2-01AE-4439-AF68-AFF32BA013D3}"/>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v-SE">
                <a:solidFill>
                  <a:srgbClr val="153F36"/>
                </a:solidFill>
                <a:latin typeface="Arial"/>
                <a:ea typeface="Arial"/>
                <a:cs typeface="Arial"/>
              </a:rPr>
              <a:t>Aktivitet i Kroatien</a:t>
            </a:r>
          </a:p>
        </p:txBody>
      </p:sp>
      <p:sp>
        <p:nvSpPr>
          <p:cNvPr id="7" name="">
            <a:extLst>
              <a:ext uri="{FF2B5EF4-FFF2-40B4-BE49-F238E27FC236}">
                <ns2:creationId id="{DE9F55C7-C377-46B3-ABD2-90B1875D63BE}"/>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v-SE">
                <a:solidFill>
                  <a:srgbClr val="526B63"/>
                </a:solidFill>
                <a:latin typeface="Arial"/>
                <a:ea typeface="Arial"/>
                <a:cs typeface="Arial"/>
              </a:rPr>
              <a:t>4 CC under månaden, varav minst 1 personligt köpt CC.</a:t>
            </a:r>
          </a:p>
          <a:p>
            <a:r>
              <a:t/>
            </a:r>
          </a:p>
          <a:p>
            <a:pPr>
              <a:defRPr sz="2175" b="0">
                <a:solidFill>
                  <a:srgbClr val="526B63"/>
                </a:solidFill>
                <a:latin typeface="Arial"/>
                <a:ea typeface="Arial"/>
                <a:cs typeface="Arial"/>
              </a:defRPr>
            </a:pPr>
            <a:r>
              <a:rPr sz="2175" b="0" lang="sv-SE">
                <a:solidFill>
                  <a:srgbClr val="526B63"/>
                </a:solidFill>
                <a:latin typeface="Arial"/>
                <a:ea typeface="Arial"/>
                <a:cs typeface="Arial"/>
              </a:rPr>
              <a:t>Gäller vissa bonusar och kvalificeringar.</a:t>
            </a:r>
          </a:p>
        </p:txBody>
      </p:sp>
      <p:sp>
        <p:nvSpPr>
          <p:cNvPr id="8" name="">
            <a:extLst>
              <a:ext uri="{FF2B5EF4-FFF2-40B4-BE49-F238E27FC236}">
                <ns2:creationId id="{FD9B8A60-55C5-4285-811D-8CC7872E0136}"/>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Gå igenom reglerna för din marknad och försäljningsplanen med din sponsor eller manager.</a:t>
            </a:r>
          </a:p>
        </p:txBody>
      </p:sp>
    </p:spTree>
    <p:extLst>
      <p:ext uri="{BB962C8B-B14F-4D97-AF65-F5344CB8AC3E}">
        <ns4:creationId val="1437305113"/>
      </p:ext>
    </p:extLst>
  </p:cSld>
</p:sld>
</file>

<file path=ppt/slides/slide1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7CE17F46-7524-406F-87EF-22855383B637}"/>
              </a:ext>
            </a:extLst>
          </p:cNvPr>
          <p:cNvPicPr>
            <a:picLocks noChangeAspect="1"/>
          </p:cNvPicPr>
          <p:nvPr/>
        </p:nvPicPr>
        <p:blipFill>
          <a:blip r:embed="Rf83108d97d584295"/>
          <a:stretch/>
        </p:blipFill>
        <p:spPr>
          <a:xfrm>
            <a:off x="9867900" y="276061"/>
            <a:ext cx="1695450" cy="438478"/>
          </a:xfrm>
          <a:prstGeom prst="rect">
            <a:avLst/>
          </a:prstGeom>
        </p:spPr>
      </p:pic>
      <p:sp>
        <p:nvSpPr>
          <p:cNvPr id="2" name="">
            <a:extLst>
              <a:ext uri="{FF2B5EF4-FFF2-40B4-BE49-F238E27FC236}">
                <ns2:creationId id="{40911F3A-0291-4E27-930B-9F7571F7C8F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13</a:t>
            </a:r>
          </a:p>
        </p:txBody>
      </p:sp>
      <p:sp>
        <p:nvSpPr>
          <p:cNvPr id="3" name="Naslov">
            <a:extLst>
              <a:ext uri="{FF2B5EF4-FFF2-40B4-BE49-F238E27FC236}">
                <ns2:creationId id="{EC120288-5F29-45BC-8AC5-7E6A97B0B8D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Möjligheter till fortsatt utveckling</a:t>
            </a:r>
          </a:p>
        </p:txBody>
      </p:sp>
      <p:sp>
        <p:nvSpPr>
          <p:cNvPr id="4" name="">
            <a:extLst>
              <a:ext uri="{FF2B5EF4-FFF2-40B4-BE49-F238E27FC236}">
                <ns2:creationId id="{941C9B93-C75E-4126-A8E8-C4081A9BAE11}"/>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1.</a:t>
            </a:r>
          </a:p>
        </p:txBody>
      </p:sp>
      <p:sp>
        <p:nvSpPr>
          <p:cNvPr id="5" name="">
            <a:extLst>
              <a:ext uri="{FF2B5EF4-FFF2-40B4-BE49-F238E27FC236}">
                <ns2:creationId id="{73D521F0-969B-4577-8CDA-78D20D152E22}"/>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Forever2Drive</a:t>
            </a:r>
          </a:p>
        </p:txBody>
      </p:sp>
      <p:sp>
        <p:nvSpPr>
          <p:cNvPr id="6" name="">
            <a:extLst>
              <a:ext uri="{FF2B5EF4-FFF2-40B4-BE49-F238E27FC236}">
                <ns2:creationId id="{ACF17F9F-E8A8-40BE-883F-DDC4827BF5EB}"/>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Incitament när du kvalificerar dig och uppfyller villkoren över tid.</a:t>
            </a:r>
          </a:p>
        </p:txBody>
      </p:sp>
      <p:sp>
        <p:nvSpPr>
          <p:cNvPr id="7" name="">
            <a:extLst>
              <a:ext uri="{FF2B5EF4-FFF2-40B4-BE49-F238E27FC236}">
                <ns2:creationId id="{359B9063-6C13-4CE2-BCD9-9BD3727E9FED}"/>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2.</a:t>
            </a:r>
          </a:p>
        </p:txBody>
      </p:sp>
      <p:sp>
        <p:nvSpPr>
          <p:cNvPr id="8" name="">
            <a:extLst>
              <a:ext uri="{FF2B5EF4-FFF2-40B4-BE49-F238E27FC236}">
                <ns2:creationId id="{75478720-3A7B-4E47-9017-69248B3E4C2D}"/>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Eagle Manager</a:t>
            </a:r>
          </a:p>
        </p:txBody>
      </p:sp>
      <p:sp>
        <p:nvSpPr>
          <p:cNvPr id="9" name="">
            <a:extLst>
              <a:ext uri="{FF2B5EF4-FFF2-40B4-BE49-F238E27FC236}">
                <ns2:creationId id="{57C824BA-1407-4003-AE3E-95F40257C3D7}"/>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Utveckling av människor, försäljningsorganisationen och kvalificering.</a:t>
            </a:r>
          </a:p>
        </p:txBody>
      </p:sp>
      <p:sp>
        <p:nvSpPr>
          <p:cNvPr id="10" name="">
            <a:extLst>
              <a:ext uri="{FF2B5EF4-FFF2-40B4-BE49-F238E27FC236}">
                <ns2:creationId id="{C7DEDA4A-108F-4739-BF5B-CB0EC39ED372}"/>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3.</a:t>
            </a:r>
          </a:p>
        </p:txBody>
      </p:sp>
      <p:sp>
        <p:nvSpPr>
          <p:cNvPr id="11" name="">
            <a:extLst>
              <a:ext uri="{FF2B5EF4-FFF2-40B4-BE49-F238E27FC236}">
                <ns2:creationId id="{FC77939D-3BE0-48FF-BD9E-9E2DA6EB9D4D}"/>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Global Rally</a:t>
            </a:r>
          </a:p>
        </p:txBody>
      </p:sp>
      <p:sp>
        <p:nvSpPr>
          <p:cNvPr id="12" name="">
            <a:extLst>
              <a:ext uri="{FF2B5EF4-FFF2-40B4-BE49-F238E27FC236}">
                <ns2:creationId id="{9D0D43DD-DCED-4D9D-A8DF-DF03C8EDE1E3}"/>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Årlig kvalificering enligt godkända CC.</a:t>
            </a:r>
          </a:p>
        </p:txBody>
      </p:sp>
      <p:sp>
        <p:nvSpPr>
          <p:cNvPr id="13" name="">
            <a:extLst>
              <a:ext uri="{FF2B5EF4-FFF2-40B4-BE49-F238E27FC236}">
                <ns2:creationId id="{0DE06633-3104-4D5D-AFC2-6DD58A379127}"/>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4.</a:t>
            </a:r>
          </a:p>
        </p:txBody>
      </p:sp>
      <p:sp>
        <p:nvSpPr>
          <p:cNvPr id="14" name="">
            <a:extLst>
              <a:ext uri="{FF2B5EF4-FFF2-40B4-BE49-F238E27FC236}">
                <ns2:creationId id="{7181DCFD-1327-4AEA-A125-DB42B98E41DD}"/>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Chairman’s Bonus</a:t>
            </a:r>
          </a:p>
        </p:txBody>
      </p:sp>
      <p:sp>
        <p:nvSpPr>
          <p:cNvPr id="15" name="">
            <a:extLst>
              <a:ext uri="{FF2B5EF4-FFF2-40B4-BE49-F238E27FC236}">
                <ns2:creationId id="{0FC1322E-D4F3-4F90-B54D-8742B0118D65}"/>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Avancerad kvalificering och andelar i bonuspotten.</a:t>
            </a:r>
          </a:p>
        </p:txBody>
      </p:sp>
    </p:spTree>
    <p:extLst>
      <p:ext uri="{BB962C8B-B14F-4D97-AF65-F5344CB8AC3E}">
        <ns4:creationId val="237719923"/>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8" name="">
            <a:extLst>
              <a:ext uri="{FF2B5EF4-FFF2-40B4-BE49-F238E27FC236}">
                <ns2:creationId id="{F113DD45-36D4-4DA6-8B79-68B74FBB84D7}"/>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sv-SE">
                <a:solidFill>
                  <a:srgbClr val="D4E8DD"/>
                </a:solidFill>
                <a:latin typeface="Arial"/>
                <a:ea typeface="Arial"/>
                <a:cs typeface="Arial"/>
              </a:rPr>
              <a:t>14</a:t>
            </a:r>
          </a:p>
        </p:txBody>
      </p:sp>
      <p:sp>
        <p:nvSpPr>
          <p:cNvPr id="2" name="Naslov">
            <a:extLst>
              <a:ext uri="{FF2B5EF4-FFF2-40B4-BE49-F238E27FC236}">
                <ns2:creationId id="{CAA3B91D-F917-4DA2-B226-01A327BB4928}"/>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lang="sv-SE">
                <a:solidFill>
                  <a:srgbClr val="FFFFFF"/>
                </a:solidFill>
                <a:latin typeface="Arial"/>
                <a:ea typeface="Arial"/>
                <a:cs typeface="Arial"/>
              </a:rPr>
              <a:t>Forever och FCC: olika roller</a:t>
            </a:r>
          </a:p>
        </p:txBody>
      </p:sp>
      <p:sp>
        <p:nvSpPr>
          <p:cNvPr id="3" name="">
            <a:extLst>
              <a:ext uri="{FF2B5EF4-FFF2-40B4-BE49-F238E27FC236}">
                <ns2:creationId id="{87010EBA-D139-47AC-B90D-AEF1B6E02C00}"/>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FFFFFF"/>
                </a:solidFill>
                <a:latin typeface="Arial"/>
                <a:ea typeface="Arial"/>
                <a:cs typeface="Arial"/>
              </a:defRPr>
            </a:defPPr>
          </a:lstStyle>
          <a:p>
            <a:pPr>
              <a:defRPr sz="2625" b="1">
                <a:solidFill>
                  <a:srgbClr val="FFFFFF"/>
                </a:solidFill>
                <a:latin typeface="Arial"/>
                <a:ea typeface="Arial"/>
                <a:cs typeface="Arial"/>
              </a:defRPr>
            </a:pPr>
            <a:r>
              <a:rPr sz="2625" b="1" lang="sv-SE">
                <a:solidFill>
                  <a:srgbClr val="FFFFFF"/>
                </a:solidFill>
                <a:latin typeface="Arial"/>
                <a:ea typeface="Arial"/>
                <a:cs typeface="Arial"/>
              </a:rPr>
              <a:t>Forever</a:t>
            </a:r>
          </a:p>
        </p:txBody>
      </p:sp>
      <p:sp>
        <p:nvSpPr>
          <p:cNvPr id="4" name="">
            <a:extLst>
              <a:ext uri="{FF2B5EF4-FFF2-40B4-BE49-F238E27FC236}">
                <ns2:creationId id="{5D9D1F61-7188-45FC-9FBB-33255E60669E}"/>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D4E8DD"/>
                </a:solidFill>
                <a:latin typeface="Arial"/>
                <a:ea typeface="Arial"/>
                <a:cs typeface="Arial"/>
              </a:defRPr>
            </a:defPPr>
          </a:lstStyle>
          <a:p>
            <a:pPr>
              <a:defRPr sz="2175" b="0">
                <a:solidFill>
                  <a:srgbClr val="D4E8DD"/>
                </a:solidFill>
                <a:latin typeface="Arial"/>
                <a:ea typeface="Arial"/>
                <a:cs typeface="Arial"/>
              </a:defRPr>
            </a:pPr>
            <a:r>
              <a:rPr sz="2175" b="0" lang="sv-SE">
                <a:solidFill>
                  <a:srgbClr val="D4E8DD"/>
                </a:solidFill>
                <a:latin typeface="Arial"/>
                <a:ea typeface="Arial"/>
                <a:cs typeface="Arial"/>
              </a:rPr>
              <a:t>Produkter, officiella köp, försäljningspolicy och beräkningar.</a:t>
            </a:r>
          </a:p>
        </p:txBody>
      </p:sp>
      <p:sp>
        <p:nvSpPr>
          <p:cNvPr id="5" name="">
            <a:extLst>
              <a:ext uri="{FF2B5EF4-FFF2-40B4-BE49-F238E27FC236}">
                <ns2:creationId id="{F68DF54D-E5BD-4144-BF02-CF641CC1EC3A}"/>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FFFFFF"/>
                </a:solidFill>
                <a:latin typeface="Arial"/>
                <a:ea typeface="Arial"/>
                <a:cs typeface="Arial"/>
              </a:defRPr>
            </a:defPPr>
          </a:lstStyle>
          <a:p>
            <a:pPr>
              <a:defRPr sz="2625" b="1">
                <a:solidFill>
                  <a:srgbClr val="FFFFFF"/>
                </a:solidFill>
                <a:latin typeface="Arial"/>
                <a:ea typeface="Arial"/>
                <a:cs typeface="Arial"/>
              </a:defRPr>
            </a:pPr>
            <a:r>
              <a:rPr sz="2625" b="1" lang="sv-SE">
                <a:solidFill>
                  <a:srgbClr val="FFFFFF"/>
                </a:solidFill>
                <a:latin typeface="Arial"/>
                <a:ea typeface="Arial"/>
                <a:cs typeface="Arial"/>
              </a:rPr>
              <a:t>Forever Card Club</a:t>
            </a:r>
          </a:p>
        </p:txBody>
      </p:sp>
      <p:sp>
        <p:nvSpPr>
          <p:cNvPr id="6" name="">
            <a:extLst>
              <a:ext uri="{FF2B5EF4-FFF2-40B4-BE49-F238E27FC236}">
                <ns2:creationId id="{FBAF949A-07D7-451F-B687-7E2C03D536B3}"/>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D4E8DD"/>
                </a:solidFill>
                <a:latin typeface="Arial"/>
                <a:ea typeface="Arial"/>
                <a:cs typeface="Arial"/>
              </a:defRPr>
            </a:defPPr>
          </a:lstStyle>
          <a:p>
            <a:pPr>
              <a:defRPr sz="2175" b="0">
                <a:solidFill>
                  <a:srgbClr val="D4E8DD"/>
                </a:solidFill>
                <a:latin typeface="Arial"/>
                <a:ea typeface="Arial"/>
                <a:cs typeface="Arial"/>
              </a:defRPr>
            </a:pPr>
            <a:r>
              <a:rPr sz="2175" b="0" lang="sv-SE">
                <a:solidFill>
                  <a:srgbClr val="D4E8DD"/>
                </a:solidFill>
                <a:latin typeface="Arial"/>
                <a:ea typeface="Arial"/>
                <a:cs typeface="Arial"/>
              </a:rPr>
              <a:t>Din arbetsyta för rekommendationer, kontakter, utbildning och stöd.</a:t>
            </a:r>
          </a:p>
        </p:txBody>
      </p:sp>
      <p:sp>
        <p:nvSpPr>
          <p:cNvPr id="7" name="">
            <a:extLst>
              <a:ext uri="{FF2B5EF4-FFF2-40B4-BE49-F238E27FC236}">
                <ns2:creationId id="{E0555F00-9647-448C-9424-76B402954AD8}"/>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D4E8DD"/>
                </a:solidFill>
                <a:latin typeface="Arial"/>
                <a:ea typeface="Arial"/>
                <a:cs typeface="Arial"/>
              </a:defRPr>
            </a:defPPr>
          </a:lstStyle>
          <a:p>
            <a:pPr>
              <a:defRPr sz="1650" b="0">
                <a:solidFill>
                  <a:srgbClr val="D4E8DD"/>
                </a:solidFill>
                <a:latin typeface="Arial"/>
                <a:ea typeface="Arial"/>
                <a:cs typeface="Arial"/>
              </a:defRPr>
            </a:pPr>
            <a:r>
              <a:rPr sz="1650" b="0" lang="sv-SE">
                <a:solidFill>
                  <a:srgbClr val="D4E8DD"/>
                </a:solidFill>
                <a:latin typeface="Arial"/>
                <a:ea typeface="Arial"/>
                <a:cs typeface="Arial"/>
              </a:rPr>
              <a:t>FCC är ett oberoende system för vårt team, inte en officiell Forever-app.</a:t>
            </a:r>
          </a:p>
        </p:txBody>
      </p:sp>
    </p:spTree>
    <p:extLst>
      <p:ext uri="{BB962C8B-B14F-4D97-AF65-F5344CB8AC3E}">
        <ns3:creationId val="126074295"/>
      </p:ext>
    </p:extLst>
  </p:cSld>
</p:sld>
</file>

<file path=ppt/slides/slide1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101BC16A-314B-4D63-87BE-75099EBE651E}"/>
              </a:ext>
            </a:extLst>
          </p:cNvPr>
          <p:cNvPicPr>
            <a:picLocks noChangeAspect="1"/>
          </p:cNvPicPr>
          <p:nvPr/>
        </p:nvPicPr>
        <p:blipFill>
          <a:blip r:embed="R96ec4f327d4d4f96"/>
          <a:stretch/>
        </p:blipFill>
        <p:spPr>
          <a:xfrm>
            <a:off x="9867900" y="276061"/>
            <a:ext cx="1695450" cy="438478"/>
          </a:xfrm>
          <a:prstGeom prst="rect">
            <a:avLst/>
          </a:prstGeom>
        </p:spPr>
      </p:pic>
      <p:sp>
        <p:nvSpPr>
          <p:cNvPr id="2" name="">
            <a:extLst>
              <a:ext uri="{FF2B5EF4-FFF2-40B4-BE49-F238E27FC236}">
                <ns2:creationId id="{96C0FEC2-0597-4F16-BB30-8FE640BEF54C}"/>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15</a:t>
            </a:r>
          </a:p>
        </p:txBody>
      </p:sp>
      <p:sp>
        <p:nvSpPr>
          <p:cNvPr id="3" name="Naslov">
            <a:extLst>
              <a:ext uri="{FF2B5EF4-FFF2-40B4-BE49-F238E27FC236}">
                <ns2:creationId id="{C4C47A17-4BAE-477D-A7D2-C5494BB1831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Ditt digitala kort</a:t>
            </a:r>
          </a:p>
        </p:txBody>
      </p:sp>
      <p:sp>
        <p:nvSpPr>
          <p:cNvPr id="4" name="">
            <a:extLst>
              <a:ext uri="{FF2B5EF4-FFF2-40B4-BE49-F238E27FC236}">
                <ns2:creationId id="{DE9E9B70-73E3-471A-B7FE-01385382147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v-SE">
                <a:solidFill>
                  <a:srgbClr val="148977"/>
                </a:solidFill>
                <a:latin typeface="Arial"/>
                <a:ea typeface="Arial"/>
                <a:cs typeface="Arial"/>
              </a:rPr>
              <a:t>1.</a:t>
            </a:r>
          </a:p>
        </p:txBody>
      </p:sp>
      <p:sp>
        <p:nvSpPr>
          <p:cNvPr id="5" name="">
            <a:extLst>
              <a:ext uri="{FF2B5EF4-FFF2-40B4-BE49-F238E27FC236}">
                <ns2:creationId id="{EA5D95E4-3717-4599-8D18-236CE754C736}"/>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v-SE">
                <a:solidFill>
                  <a:srgbClr val="153F36"/>
                </a:solidFill>
                <a:latin typeface="Arial"/>
                <a:ea typeface="Arial"/>
                <a:cs typeface="Arial"/>
              </a:rPr>
              <a:t>Personlig kontakt</a:t>
            </a:r>
          </a:p>
        </p:txBody>
      </p:sp>
      <p:sp>
        <p:nvSpPr>
          <p:cNvPr id="6" name="">
            <a:extLst>
              <a:ext uri="{FF2B5EF4-FFF2-40B4-BE49-F238E27FC236}">
                <ns2:creationId id="{3C52910B-BE23-448E-BCE0-7FCB4EBEA6D6}"/>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Namn, foto och ett sätt för personen att kontakta dig.</a:t>
            </a:r>
          </a:p>
        </p:txBody>
      </p:sp>
      <p:sp>
        <p:nvSpPr>
          <p:cNvPr id="7" name="">
            <a:extLst>
              <a:ext uri="{FF2B5EF4-FFF2-40B4-BE49-F238E27FC236}">
                <ns2:creationId id="{87157C25-E8A9-4655-80D1-71405D608FB7}"/>
              </a:ext>
            </a:extLst>
          </p:cNvPr>
          <p:cNvSpPr>
            <a:spLocks noGrp="1"/>
          </p:cNvSpPr>
          <p:nvPr/>
        </p:nvSpPr>
        <p:spPr>
          <a:xfrm>
            <a:off x="609600" y="309562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v-SE">
                <a:solidFill>
                  <a:srgbClr val="148977"/>
                </a:solidFill>
                <a:latin typeface="Arial"/>
                <a:ea typeface="Arial"/>
                <a:cs typeface="Arial"/>
              </a:rPr>
              <a:t>2.</a:t>
            </a:r>
          </a:p>
        </p:txBody>
      </p:sp>
      <p:sp>
        <p:nvSpPr>
          <p:cNvPr id="8" name="">
            <a:extLst>
              <a:ext uri="{FF2B5EF4-FFF2-40B4-BE49-F238E27FC236}">
                <ns2:creationId id="{09DDF819-9E51-4A20-8401-B97FBA911693}"/>
              </a:ext>
            </a:extLst>
          </p:cNvPr>
          <p:cNvSpPr>
            <a:spLocks noGrp="1"/>
          </p:cNvSpPr>
          <p:nvPr/>
        </p:nvSpPr>
        <p:spPr>
          <a:xfrm>
            <a:off x="1257300" y="309562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v-SE">
                <a:solidFill>
                  <a:srgbClr val="153F36"/>
                </a:solidFill>
                <a:latin typeface="Arial"/>
                <a:ea typeface="Arial"/>
                <a:cs typeface="Arial"/>
              </a:rPr>
              <a:t>Användbart innehåll</a:t>
            </a:r>
          </a:p>
        </p:txBody>
      </p:sp>
      <p:sp>
        <p:nvSpPr>
          <p:cNvPr id="9" name="">
            <a:extLst>
              <a:ext uri="{FF2B5EF4-FFF2-40B4-BE49-F238E27FC236}">
                <ns2:creationId id="{BD50225C-D510-4BFD-809A-B44813DEDCE5}"/>
              </a:ext>
            </a:extLst>
          </p:cNvPr>
          <p:cNvSpPr>
            <a:spLocks noGrp="1"/>
          </p:cNvSpPr>
          <p:nvPr/>
        </p:nvSpPr>
        <p:spPr>
          <a:xfrm>
            <a:off x="1257300" y="3505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Produkt- och företagsinformation som du vill dela.</a:t>
            </a:r>
          </a:p>
        </p:txBody>
      </p:sp>
      <p:sp>
        <p:nvSpPr>
          <p:cNvPr id="10" name="">
            <a:extLst>
              <a:ext uri="{FF2B5EF4-FFF2-40B4-BE49-F238E27FC236}">
                <ns2:creationId id="{9E10415B-E2F5-4078-8A2C-FD1B2869469C}"/>
              </a:ext>
            </a:extLst>
          </p:cNvPr>
          <p:cNvSpPr>
            <a:spLocks noGrp="1"/>
          </p:cNvSpPr>
          <p:nvPr/>
        </p:nvSpPr>
        <p:spPr>
          <a:xfrm>
            <a:off x="609600" y="42291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v-SE">
                <a:solidFill>
                  <a:srgbClr val="148977"/>
                </a:solidFill>
                <a:latin typeface="Arial"/>
                <a:ea typeface="Arial"/>
                <a:cs typeface="Arial"/>
              </a:rPr>
              <a:t>3.</a:t>
            </a:r>
          </a:p>
        </p:txBody>
      </p:sp>
      <p:sp>
        <p:nvSpPr>
          <p:cNvPr id="11" name="">
            <a:extLst>
              <a:ext uri="{FF2B5EF4-FFF2-40B4-BE49-F238E27FC236}">
                <ns2:creationId id="{01B69A65-A2D9-4BED-93F5-6FE4434AFD3B}"/>
              </a:ext>
            </a:extLst>
          </p:cNvPr>
          <p:cNvSpPr>
            <a:spLocks noGrp="1"/>
          </p:cNvSpPr>
          <p:nvPr/>
        </p:nvSpPr>
        <p:spPr>
          <a:xfrm>
            <a:off x="1257300" y="42291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v-SE">
                <a:solidFill>
                  <a:srgbClr val="153F36"/>
                </a:solidFill>
                <a:latin typeface="Arial"/>
                <a:ea typeface="Arial"/>
                <a:cs typeface="Arial"/>
              </a:rPr>
              <a:t>Forever Web shop</a:t>
            </a:r>
          </a:p>
        </p:txBody>
      </p:sp>
      <p:sp>
        <p:nvSpPr>
          <p:cNvPr id="12" name="">
            <a:extLst>
              <a:ext uri="{FF2B5EF4-FFF2-40B4-BE49-F238E27FC236}">
                <ns2:creationId id="{D2CB6E9D-15B6-4BE1-97AF-B7FD2905CACC}"/>
              </a:ext>
            </a:extLst>
          </p:cNvPr>
          <p:cNvSpPr>
            <a:spLocks noGrp="1"/>
          </p:cNvSpPr>
          <p:nvPr/>
        </p:nvSpPr>
        <p:spPr>
          <a:xfrm>
            <a:off x="1257300" y="46386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En rekommendation kopplad till ditt Forever ID-nummer.</a:t>
            </a:r>
          </a:p>
        </p:txBody>
      </p:sp>
      <p:sp>
        <p:nvSpPr>
          <p:cNvPr id="13" name="">
            <a:extLst>
              <a:ext uri="{FF2B5EF4-FFF2-40B4-BE49-F238E27FC236}">
                <ns2:creationId id="{A0B246FC-D94D-416D-BD28-5AF3DCBEB6D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Redigera kortet under Mitt kort och dela det med din personliga länk.</a:t>
            </a:r>
          </a:p>
        </p:txBody>
      </p:sp>
    </p:spTree>
    <p:extLst>
      <p:ext uri="{BB962C8B-B14F-4D97-AF65-F5344CB8AC3E}">
        <ns4:creationId val="476486187"/>
      </p:ext>
    </p:extLst>
  </p:cSld>
</p:sld>
</file>

<file path=ppt/slides/slide1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3AC82866-4F1A-473C-B145-078052CC4BB7}"/>
              </a:ext>
            </a:extLst>
          </p:cNvPr>
          <p:cNvPicPr>
            <a:picLocks noChangeAspect="1"/>
          </p:cNvPicPr>
          <p:nvPr/>
        </p:nvPicPr>
        <p:blipFill>
          <a:blip r:embed="Rc17e468844c54e84"/>
          <a:stretch/>
        </p:blipFill>
        <p:spPr>
          <a:xfrm>
            <a:off x="9867900" y="276061"/>
            <a:ext cx="1695450" cy="438478"/>
          </a:xfrm>
          <a:prstGeom prst="rect">
            <a:avLst/>
          </a:prstGeom>
        </p:spPr>
      </p:pic>
      <p:sp>
        <p:nvSpPr>
          <p:cNvPr id="2" name="">
            <a:extLst>
              <a:ext uri="{FF2B5EF4-FFF2-40B4-BE49-F238E27FC236}">
                <ns2:creationId id="{70619AB1-E169-480F-B897-BB94CF101CC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16</a:t>
            </a:r>
          </a:p>
        </p:txBody>
      </p:sp>
      <p:sp>
        <p:nvSpPr>
          <p:cNvPr id="3" name="Naslov">
            <a:extLst>
              <a:ext uri="{FF2B5EF4-FFF2-40B4-BE49-F238E27FC236}">
                <ns2:creationId id="{2F32543F-6D32-4352-8392-5F2ECBEDC6A8}"/>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Produktrekommendation</a:t>
            </a:r>
          </a:p>
        </p:txBody>
      </p:sp>
      <p:sp>
        <p:nvSpPr>
          <p:cNvPr id="4" name="">
            <a:extLst>
              <a:ext uri="{FF2B5EF4-FFF2-40B4-BE49-F238E27FC236}">
                <ns2:creationId id="{0F8C843F-A45D-45FF-AF7C-9289C1804CAF}"/>
              </a:ext>
            </a:extLst>
          </p:cNvPr>
          <p:cNvSpPr>
            <a:spLocks noGrp="1"/>
          </p:cNvSpPr>
          <p:nvPr/>
        </p:nvSpPr>
        <p:spPr>
          <a:xfrm>
            <a:off x="609600" y="2152650"/>
            <a:ext cx="5810250" cy="2543175"/>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sv-SE">
                <a:solidFill>
                  <a:srgbClr val="153F36"/>
                </a:solidFill>
                <a:latin typeface="Arial"/>
                <a:ea typeface="Arial"/>
                <a:cs typeface="Arial"/>
              </a:rPr>
              <a:t>Välj en produkt.</a:t>
            </a:r>
          </a:p>
          <a:p>
            <a:pPr>
              <a:defRPr sz="3150" b="1">
                <a:solidFill>
                  <a:srgbClr val="153F36"/>
                </a:solidFill>
                <a:latin typeface="Arial"/>
                <a:ea typeface="Arial"/>
                <a:cs typeface="Arial"/>
              </a:defRPr>
            </a:pPr>
            <a:r>
              <a:rPr sz="3150" b="1" lang="sv-SE">
                <a:solidFill>
                  <a:srgbClr val="153F36"/>
                </a:solidFill>
                <a:latin typeface="Arial"/>
                <a:ea typeface="Arial"/>
                <a:cs typeface="Arial"/>
              </a:rPr>
              <a:t>Anpassa meddelandet.</a:t>
            </a:r>
          </a:p>
          <a:p>
            <a:pPr>
              <a:defRPr sz="3150" b="1">
                <a:solidFill>
                  <a:srgbClr val="153F36"/>
                </a:solidFill>
                <a:latin typeface="Arial"/>
                <a:ea typeface="Arial"/>
                <a:cs typeface="Arial"/>
              </a:defRPr>
            </a:pPr>
            <a:r>
              <a:rPr sz="3150" b="1" lang="sv-SE">
                <a:solidFill>
                  <a:srgbClr val="153F36"/>
                </a:solidFill>
                <a:latin typeface="Arial"/>
                <a:ea typeface="Arial"/>
                <a:cs typeface="Arial"/>
              </a:rPr>
              <a:t>Dela din</a:t>
            </a:r>
          </a:p>
          <a:p>
            <a:pPr>
              <a:defRPr sz="3150" b="1">
                <a:solidFill>
                  <a:srgbClr val="153F36"/>
                </a:solidFill>
                <a:latin typeface="Arial"/>
                <a:ea typeface="Arial"/>
                <a:cs typeface="Arial"/>
              </a:defRPr>
            </a:pPr>
            <a:r>
              <a:rPr sz="3150" b="1" lang="sv-SE">
                <a:solidFill>
                  <a:srgbClr val="153F36"/>
                </a:solidFill>
                <a:latin typeface="Arial"/>
                <a:ea typeface="Arial"/>
                <a:cs typeface="Arial"/>
              </a:rPr>
              <a:t>rekommendation.</a:t>
            </a:r>
          </a:p>
        </p:txBody>
      </p:sp>
      <p:sp>
        <p:nvSpPr>
          <p:cNvPr id="5" name="">
            <a:extLst>
              <a:ext uri="{FF2B5EF4-FFF2-40B4-BE49-F238E27FC236}">
                <ns2:creationId id="{9618F7B4-8815-4E7A-9AA5-F7752A962CA8}"/>
              </a:ext>
            </a:extLst>
          </p:cNvPr>
          <p:cNvSpPr>
            <a:spLocks noGrp="1"/>
          </p:cNvSpPr>
          <p:nvPr/>
        </p:nvSpPr>
        <p:spPr>
          <a:xfrm>
            <a:off x="609600" y="4962525"/>
            <a:ext cx="5505450" cy="1104900"/>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v-SE">
                <a:solidFill>
                  <a:srgbClr val="526B63"/>
                </a:solidFill>
                <a:latin typeface="Arial"/>
                <a:ea typeface="Arial"/>
                <a:cs typeface="Arial"/>
              </a:rPr>
              <a:t>Köpet slutförs i den officiella butiken för den valda marknaden.</a:t>
            </a:r>
          </a:p>
        </p:txBody>
      </p:sp>
      <p:pic>
        <p:nvPicPr>
          <p:cNvPr id="6" name="">
            <a:extLst>
              <a:ext uri="{FF2B5EF4-FFF2-40B4-BE49-F238E27FC236}">
                <ns2:creationId id="{39976A63-FB8D-4AF1-9CE1-E346A83FF05D}"/>
              </a:ext>
            </a:extLst>
          </p:cNvPr>
          <p:cNvPicPr>
            <a:picLocks noChangeAspect="1"/>
          </p:cNvPicPr>
          <p:nvPr/>
        </p:nvPicPr>
        <p:blipFill>
          <a:blip r:embed="R94ff2c7901084e46"/>
          <a:stretch/>
        </p:blipFill>
        <p:spPr>
          <a:xfrm>
            <a:off x="7296150" y="1695450"/>
            <a:ext cx="3695700" cy="5124450"/>
          </a:xfrm>
          <a:prstGeom prst="rect">
            <a:avLst/>
          </a:prstGeom>
        </p:spPr>
      </p:pic>
      <p:sp>
        <p:nvSpPr>
          <p:cNvPr id="8" name="Interface example"/>
          <p:cNvSpPr>
            <a:spLocks noGrp="1"/>
          </p:cNvSpPr>
          <p:nvPr/>
        </p:nvSpPr>
        <p:spPr>
          <a:xfrm>
            <a:off x="609600" y="6238875"/>
            <a:ext cx="619125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sv-SE" dirty="0">
                <a:solidFill>
                  <a:srgbClr val="526B63"/>
                </a:solidFill>
                <a:latin typeface="Arial"/>
              </a:rPr>
              <a:t>Exempel på FCC:s gränssnitt på svenska.</a:t>
            </a:r>
          </a:p>
        </p:txBody>
      </p:sp>
    </p:spTree>
    <p:extLst>
      <p:ext uri="{BB962C8B-B14F-4D97-AF65-F5344CB8AC3E}">
        <ns4:creationId val="881719525"/>
      </p:ext>
    </p:extLst>
  </p:cSld>
</p:sld>
</file>

<file path=ppt/slides/slide1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F86D17C0-D7F3-45EA-967D-967E55EE8F83}"/>
              </a:ext>
            </a:extLst>
          </p:cNvPr>
          <p:cNvPicPr>
            <a:picLocks noChangeAspect="1"/>
          </p:cNvPicPr>
          <p:nvPr/>
        </p:nvPicPr>
        <p:blipFill>
          <a:blip r:embed="R595a642bf0454749"/>
          <a:stretch/>
        </p:blipFill>
        <p:spPr>
          <a:xfrm>
            <a:off x="9867900" y="276061"/>
            <a:ext cx="1695450" cy="438478"/>
          </a:xfrm>
          <a:prstGeom prst="rect">
            <a:avLst/>
          </a:prstGeom>
        </p:spPr>
      </p:pic>
      <p:sp>
        <p:nvSpPr>
          <p:cNvPr id="2" name="">
            <a:extLst>
              <a:ext uri="{FF2B5EF4-FFF2-40B4-BE49-F238E27FC236}">
                <ns2:creationId id="{4CEB6670-C2AA-4467-91EC-97E39F1D73FA}"/>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17</a:t>
            </a:r>
          </a:p>
        </p:txBody>
      </p:sp>
      <p:sp>
        <p:nvSpPr>
          <p:cNvPr id="3" name="Naslov">
            <a:extLst>
              <a:ext uri="{FF2B5EF4-FFF2-40B4-BE49-F238E27FC236}">
                <ns2:creationId id="{40317049-7FB1-4A36-BA93-DFB89F66E1F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Affärssamarbete och startpaket</a:t>
            </a:r>
          </a:p>
        </p:txBody>
      </p:sp>
      <p:sp>
        <p:nvSpPr>
          <p:cNvPr id="4" name="">
            <a:extLst>
              <a:ext uri="{FF2B5EF4-FFF2-40B4-BE49-F238E27FC236}">
                <ns2:creationId id="{423E083F-38C2-4E49-88D7-BD3CEBE4AA0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v-SE">
                <a:solidFill>
                  <a:srgbClr val="148977"/>
                </a:solidFill>
                <a:latin typeface="Arial"/>
                <a:ea typeface="Arial"/>
                <a:cs typeface="Arial"/>
              </a:rPr>
              <a:t>1.</a:t>
            </a:r>
          </a:p>
        </p:txBody>
      </p:sp>
      <p:sp>
        <p:nvSpPr>
          <p:cNvPr id="5" name="">
            <a:extLst>
              <a:ext uri="{FF2B5EF4-FFF2-40B4-BE49-F238E27FC236}">
                <ns2:creationId id="{B7C7534D-288A-42A5-83E7-F29F37899079}"/>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v-SE">
                <a:solidFill>
                  <a:srgbClr val="153F36"/>
                </a:solidFill>
                <a:latin typeface="Arial"/>
                <a:ea typeface="Arial"/>
                <a:cs typeface="Arial"/>
              </a:rPr>
              <a:t>Affärsinformation</a:t>
            </a:r>
          </a:p>
        </p:txBody>
      </p:sp>
      <p:sp>
        <p:nvSpPr>
          <p:cNvPr id="6" name="">
            <a:extLst>
              <a:ext uri="{FF2B5EF4-FFF2-40B4-BE49-F238E27FC236}">
                <ns2:creationId id="{AD6CE61F-E3C0-4E6E-8FEE-073F384D663E}"/>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Ger personen en överblick över möjligheten innan hen fattar ett beslut.</a:t>
            </a:r>
          </a:p>
        </p:txBody>
      </p:sp>
      <p:sp>
        <p:nvSpPr>
          <p:cNvPr id="7" name="">
            <a:extLst>
              <a:ext uri="{FF2B5EF4-FFF2-40B4-BE49-F238E27FC236}">
                <ns2:creationId id="{7123A8D0-039A-4339-9BAB-CFD9A4CDFA90}"/>
              </a:ext>
            </a:extLst>
          </p:cNvPr>
          <p:cNvSpPr>
            <a:spLocks noGrp="1"/>
          </p:cNvSpPr>
          <p:nvPr/>
        </p:nvSpPr>
        <p:spPr>
          <a:xfrm>
            <a:off x="609600" y="311467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v-SE">
                <a:solidFill>
                  <a:srgbClr val="148977"/>
                </a:solidFill>
                <a:latin typeface="Arial"/>
                <a:ea typeface="Arial"/>
                <a:cs typeface="Arial"/>
              </a:rPr>
              <a:t>2.</a:t>
            </a:r>
          </a:p>
        </p:txBody>
      </p:sp>
      <p:sp>
        <p:nvSpPr>
          <p:cNvPr id="8" name="">
            <a:extLst>
              <a:ext uri="{FF2B5EF4-FFF2-40B4-BE49-F238E27FC236}">
                <ns2:creationId id="{0846DCA2-8253-49B5-A450-922F0FC34097}"/>
              </a:ext>
            </a:extLst>
          </p:cNvPr>
          <p:cNvSpPr>
            <a:spLocks noGrp="1"/>
          </p:cNvSpPr>
          <p:nvPr/>
        </p:nvSpPr>
        <p:spPr>
          <a:xfrm>
            <a:off x="1257300" y="311467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v-SE">
                <a:solidFill>
                  <a:srgbClr val="153F36"/>
                </a:solidFill>
                <a:latin typeface="Arial"/>
                <a:ea typeface="Arial"/>
                <a:cs typeface="Arial"/>
              </a:rPr>
              <a:t>Startpaket</a:t>
            </a:r>
          </a:p>
        </p:txBody>
      </p:sp>
      <p:sp>
        <p:nvSpPr>
          <p:cNvPr id="9" name="">
            <a:extLst>
              <a:ext uri="{FF2B5EF4-FFF2-40B4-BE49-F238E27FC236}">
                <ns2:creationId id="{23B5AF94-FCC0-4FD5-97DB-CA7ECAF7E006}"/>
              </a:ext>
            </a:extLst>
          </p:cNvPr>
          <p:cNvSpPr>
            <a:spLocks noGrp="1"/>
          </p:cNvSpPr>
          <p:nvPr/>
        </p:nvSpPr>
        <p:spPr>
          <a:xfrm>
            <a:off x="1257300" y="35242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Länk till den officiella lokala processen.</a:t>
            </a:r>
          </a:p>
        </p:txBody>
      </p:sp>
      <p:sp>
        <p:nvSpPr>
          <p:cNvPr id="10" name="">
            <a:extLst>
              <a:ext uri="{FF2B5EF4-FFF2-40B4-BE49-F238E27FC236}">
                <ns2:creationId id="{44091B20-92BD-4F96-81CB-4C2569DDA57E}"/>
              </a:ext>
            </a:extLst>
          </p:cNvPr>
          <p:cNvSpPr>
            <a:spLocks noGrp="1"/>
          </p:cNvSpPr>
          <p:nvPr/>
        </p:nvSpPr>
        <p:spPr>
          <a:xfrm>
            <a:off x="609600" y="42672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v-SE">
                <a:solidFill>
                  <a:srgbClr val="148977"/>
                </a:solidFill>
                <a:latin typeface="Arial"/>
                <a:ea typeface="Arial"/>
                <a:cs typeface="Arial"/>
              </a:rPr>
              <a:t>3.</a:t>
            </a:r>
          </a:p>
        </p:txBody>
      </p:sp>
      <p:sp>
        <p:nvSpPr>
          <p:cNvPr id="11" name="">
            <a:extLst>
              <a:ext uri="{FF2B5EF4-FFF2-40B4-BE49-F238E27FC236}">
                <ns2:creationId id="{FB3A53A3-847D-42D5-BE6A-327E911D5457}"/>
              </a:ext>
            </a:extLst>
          </p:cNvPr>
          <p:cNvSpPr>
            <a:spLocks noGrp="1"/>
          </p:cNvSpPr>
          <p:nvPr/>
        </p:nvSpPr>
        <p:spPr>
          <a:xfrm>
            <a:off x="1257300" y="42672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v-SE">
                <a:solidFill>
                  <a:srgbClr val="153F36"/>
                </a:solidFill>
                <a:latin typeface="Arial"/>
                <a:ea typeface="Arial"/>
                <a:cs typeface="Arial"/>
              </a:rPr>
              <a:t>Din rekommendation</a:t>
            </a:r>
          </a:p>
        </p:txBody>
      </p:sp>
      <p:sp>
        <p:nvSpPr>
          <p:cNvPr id="12" name="">
            <a:extLst>
              <a:ext uri="{FF2B5EF4-FFF2-40B4-BE49-F238E27FC236}">
                <ns2:creationId id="{CD6900A3-9105-4B4A-8204-3F1851783DA4}"/>
              </a:ext>
            </a:extLst>
          </p:cNvPr>
          <p:cNvSpPr>
            <a:spLocks noGrp="1"/>
          </p:cNvSpPr>
          <p:nvPr/>
        </p:nvSpPr>
        <p:spPr>
          <a:xfrm>
            <a:off x="1257300" y="4676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Kopplad till Forever ID-numret enligt marknadens regler.</a:t>
            </a:r>
          </a:p>
        </p:txBody>
      </p:sp>
      <p:sp>
        <p:nvSpPr>
          <p:cNvPr id="13" name="">
            <a:extLst>
              <a:ext uri="{FF2B5EF4-FFF2-40B4-BE49-F238E27FC236}">
                <ns2:creationId id="{86D648FA-AB6C-449A-89C6-E053C9F302EA}"/>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Gå tillsammans igenom paketets innehåll, pris och affärsvillkor innan beslutet fattas.</a:t>
            </a:r>
          </a:p>
        </p:txBody>
      </p:sp>
    </p:spTree>
    <p:extLst>
      <p:ext uri="{BB962C8B-B14F-4D97-AF65-F5344CB8AC3E}">
        <ns4:creationId val="1985799901"/>
      </p:ext>
    </p:extLst>
  </p:cSld>
</p:sld>
</file>

<file path=ppt/slides/slide1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36D3208E-D467-45B6-B84F-993282DA2C05}"/>
              </a:ext>
            </a:extLst>
          </p:cNvPr>
          <p:cNvPicPr>
            <a:picLocks noChangeAspect="1"/>
          </p:cNvPicPr>
          <p:nvPr/>
        </p:nvPicPr>
        <p:blipFill>
          <a:blip r:embed="Rcc997d641f674b2e"/>
          <a:stretch/>
        </p:blipFill>
        <p:spPr>
          <a:xfrm>
            <a:off x="9867900" y="276061"/>
            <a:ext cx="1695450" cy="438478"/>
          </a:xfrm>
          <a:prstGeom prst="rect">
            <a:avLst/>
          </a:prstGeom>
        </p:spPr>
      </p:pic>
      <p:sp>
        <p:nvSpPr>
          <p:cNvPr id="2" name="">
            <a:extLst>
              <a:ext uri="{FF2B5EF4-FFF2-40B4-BE49-F238E27FC236}">
                <ns2:creationId id="{350745C5-7885-44C5-A038-D3DF1BE3084D}"/>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18</a:t>
            </a:r>
          </a:p>
        </p:txBody>
      </p:sp>
      <p:sp>
        <p:nvSpPr>
          <p:cNvPr id="3" name="Naslov">
            <a:extLst>
              <a:ext uri="{FF2B5EF4-FFF2-40B4-BE49-F238E27FC236}">
                <ns2:creationId id="{716B21D9-4588-41FE-B7DE-88EE1983E4B0}"/>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Kontakter och överenskomna uppföljningar</a:t>
            </a:r>
          </a:p>
        </p:txBody>
      </p:sp>
      <p:sp>
        <p:nvSpPr>
          <p:cNvPr id="4" name="">
            <a:extLst>
              <a:ext uri="{FF2B5EF4-FFF2-40B4-BE49-F238E27FC236}">
                <ns2:creationId id="{35A73B73-CF45-46EB-A7C8-ADD62F54412B}"/>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v-SE">
                <a:solidFill>
                  <a:srgbClr val="148977"/>
                </a:solidFill>
                <a:latin typeface="Arial"/>
                <a:ea typeface="Arial"/>
                <a:cs typeface="Arial"/>
              </a:rPr>
              <a:t>1.</a:t>
            </a:r>
          </a:p>
        </p:txBody>
      </p:sp>
      <p:sp>
        <p:nvSpPr>
          <p:cNvPr id="5" name="">
            <a:extLst>
              <a:ext uri="{FF2B5EF4-FFF2-40B4-BE49-F238E27FC236}">
                <ns2:creationId id="{2EA067BA-7EDF-4565-9395-E5B2E840046D}"/>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v-SE">
                <a:solidFill>
                  <a:srgbClr val="153F36"/>
                </a:solidFill>
                <a:latin typeface="Arial"/>
                <a:ea typeface="Arial"/>
                <a:cs typeface="Arial"/>
              </a:rPr>
              <a:t>Anteckna personens intresse</a:t>
            </a:r>
          </a:p>
        </p:txBody>
      </p:sp>
      <p:sp>
        <p:nvSpPr>
          <p:cNvPr id="6" name="">
            <a:extLst>
              <a:ext uri="{FF2B5EF4-FFF2-40B4-BE49-F238E27FC236}">
                <ns2:creationId id="{174972BC-F64E-4F59-881A-3ADD61DB6C4F}"/>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En produkt, en affärsmöjlighet eller ett valt webbinarium.</a:t>
            </a:r>
          </a:p>
        </p:txBody>
      </p:sp>
      <p:sp>
        <p:nvSpPr>
          <p:cNvPr id="7" name="">
            <a:extLst>
              <a:ext uri="{FF2B5EF4-FFF2-40B4-BE49-F238E27FC236}">
                <ns2:creationId id="{A980A2D7-D029-4CA9-98EA-E1E24BDC96E8}"/>
              </a:ext>
            </a:extLst>
          </p:cNvPr>
          <p:cNvSpPr>
            <a:spLocks noGrp="1"/>
          </p:cNvSpPr>
          <p:nvPr/>
        </p:nvSpPr>
        <p:spPr>
          <a:xfrm>
            <a:off x="609600" y="3133725"/>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v-SE">
                <a:solidFill>
                  <a:srgbClr val="148977"/>
                </a:solidFill>
                <a:latin typeface="Arial"/>
                <a:ea typeface="Arial"/>
                <a:cs typeface="Arial"/>
              </a:rPr>
              <a:t>2.</a:t>
            </a:r>
          </a:p>
        </p:txBody>
      </p:sp>
      <p:sp>
        <p:nvSpPr>
          <p:cNvPr id="8" name="">
            <a:extLst>
              <a:ext uri="{FF2B5EF4-FFF2-40B4-BE49-F238E27FC236}">
                <ns2:creationId id="{21F348C9-ADAE-4A31-9086-7382091A7469}"/>
              </a:ext>
            </a:extLst>
          </p:cNvPr>
          <p:cNvSpPr>
            <a:spLocks noGrp="1"/>
          </p:cNvSpPr>
          <p:nvPr/>
        </p:nvSpPr>
        <p:spPr>
          <a:xfrm>
            <a:off x="1257300" y="3133725"/>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v-SE">
                <a:solidFill>
                  <a:srgbClr val="153F36"/>
                </a:solidFill>
                <a:latin typeface="Arial"/>
                <a:ea typeface="Arial"/>
                <a:cs typeface="Arial"/>
              </a:rPr>
              <a:t>Spara vad ni kom överens om</a:t>
            </a:r>
          </a:p>
        </p:txBody>
      </p:sp>
      <p:sp>
        <p:nvSpPr>
          <p:cNvPr id="9" name="">
            <a:extLst>
              <a:ext uri="{FF2B5EF4-FFF2-40B4-BE49-F238E27FC236}">
                <ns2:creationId id="{1939F4C9-7AC8-4E57-95EE-A8ED90B8F700}"/>
              </a:ext>
            </a:extLst>
          </p:cNvPr>
          <p:cNvSpPr>
            <a:spLocks noGrp="1"/>
          </p:cNvSpPr>
          <p:nvPr/>
        </p:nvSpPr>
        <p:spPr>
          <a:xfrm>
            <a:off x="1257300" y="35433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Vad ni pratade om och när du ska höra av dig igen.</a:t>
            </a:r>
          </a:p>
        </p:txBody>
      </p:sp>
      <p:sp>
        <p:nvSpPr>
          <p:cNvPr id="10" name="">
            <a:extLst>
              <a:ext uri="{FF2B5EF4-FFF2-40B4-BE49-F238E27FC236}">
                <ns2:creationId id="{1FB78878-179B-4961-98D8-1E538F979850}"/>
              </a:ext>
            </a:extLst>
          </p:cNvPr>
          <p:cNvSpPr>
            <a:spLocks noGrp="1"/>
          </p:cNvSpPr>
          <p:nvPr/>
        </p:nvSpPr>
        <p:spPr>
          <a:xfrm>
            <a:off x="609600" y="430530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v-SE">
                <a:solidFill>
                  <a:srgbClr val="148977"/>
                </a:solidFill>
                <a:latin typeface="Arial"/>
                <a:ea typeface="Arial"/>
                <a:cs typeface="Arial"/>
              </a:rPr>
              <a:t>3.</a:t>
            </a:r>
          </a:p>
        </p:txBody>
      </p:sp>
      <p:sp>
        <p:nvSpPr>
          <p:cNvPr id="11" name="">
            <a:extLst>
              <a:ext uri="{FF2B5EF4-FFF2-40B4-BE49-F238E27FC236}">
                <ns2:creationId id="{069C8E17-B1D6-4228-B6CE-91556722565C}"/>
              </a:ext>
            </a:extLst>
          </p:cNvPr>
          <p:cNvSpPr>
            <a:spLocks noGrp="1"/>
          </p:cNvSpPr>
          <p:nvPr/>
        </p:nvSpPr>
        <p:spPr>
          <a:xfrm>
            <a:off x="1257300" y="430530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v-SE">
                <a:solidFill>
                  <a:srgbClr val="153F36"/>
                </a:solidFill>
                <a:latin typeface="Arial"/>
                <a:ea typeface="Arial"/>
                <a:cs typeface="Arial"/>
              </a:rPr>
              <a:t>Bekräfta vad som faktiskt har gjorts</a:t>
            </a:r>
          </a:p>
        </p:txBody>
      </p:sp>
      <p:sp>
        <p:nvSpPr>
          <p:cNvPr id="12" name="">
            <a:extLst>
              <a:ext uri="{FF2B5EF4-FFF2-40B4-BE49-F238E27FC236}">
                <ns2:creationId id="{1A8CF46B-3238-4DDE-9E94-1ABCB125750F}"/>
              </a:ext>
            </a:extLst>
          </p:cNvPr>
          <p:cNvSpPr>
            <a:spLocks noGrp="1"/>
          </p:cNvSpPr>
          <p:nvPr/>
        </p:nvSpPr>
        <p:spPr>
          <a:xfrm>
            <a:off x="1257300" y="47148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Ett utkast och ett faktiskt skickat meddelande har olika status.</a:t>
            </a:r>
          </a:p>
        </p:txBody>
      </p:sp>
      <p:sp>
        <p:nvSpPr>
          <p:cNvPr id="13" name="">
            <a:extLst>
              <a:ext uri="{FF2B5EF4-FFF2-40B4-BE49-F238E27FC236}">
                <ns2:creationId id="{2F5FF45C-FE0C-45D2-9A2F-99DE8DEC9997}"/>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Exempel: Ana vill ha mer information om en produkt. Ni har kommit överens om att prata på torsdag.</a:t>
            </a:r>
          </a:p>
        </p:txBody>
      </p:sp>
    </p:spTree>
    <p:extLst>
      <p:ext uri="{BB962C8B-B14F-4D97-AF65-F5344CB8AC3E}">
        <ns4:creationId val="449993391"/>
      </p:ext>
    </p:extLst>
  </p:cSld>
</p:sld>
</file>

<file path=ppt/slides/slide1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5ADCFCC7-A789-4960-978D-09BFFD23F46C}"/>
              </a:ext>
            </a:extLst>
          </p:cNvPr>
          <p:cNvPicPr>
            <a:picLocks noChangeAspect="1"/>
          </p:cNvPicPr>
          <p:nvPr/>
        </p:nvPicPr>
        <p:blipFill>
          <a:blip r:embed="R64b74fa4d54445c9"/>
          <a:stretch/>
        </p:blipFill>
        <p:spPr>
          <a:xfrm>
            <a:off x="9867900" y="276061"/>
            <a:ext cx="1695450" cy="438478"/>
          </a:xfrm>
          <a:prstGeom prst="rect">
            <a:avLst/>
          </a:prstGeom>
        </p:spPr>
      </p:pic>
      <p:sp>
        <p:nvSpPr>
          <p:cNvPr id="2" name="">
            <a:extLst>
              <a:ext uri="{FF2B5EF4-FFF2-40B4-BE49-F238E27FC236}">
                <ns2:creationId id="{FAC00C27-9DC4-4087-B955-2DAE7D6A8F6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19</a:t>
            </a:r>
          </a:p>
        </p:txBody>
      </p:sp>
      <p:sp>
        <p:nvSpPr>
          <p:cNvPr id="3" name="Naslov">
            <a:extLst>
              <a:ext uri="{FF2B5EF4-FFF2-40B4-BE49-F238E27FC236}">
                <ns2:creationId id="{DF82E299-944A-4628-8F4C-EE73BB76D6E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AI Coach för ditt konkreta nästa steg</a:t>
            </a:r>
          </a:p>
        </p:txBody>
      </p:sp>
      <p:sp>
        <p:nvSpPr>
          <p:cNvPr id="4" name="">
            <a:extLst>
              <a:ext uri="{FF2B5EF4-FFF2-40B4-BE49-F238E27FC236}">
                <ns2:creationId id="{4618C986-4CF7-4F17-A8A6-90697A6FBD9C}"/>
              </a:ext>
            </a:extLst>
          </p:cNvPr>
          <p:cNvSpPr>
            <a:spLocks noGrp="1"/>
          </p:cNvSpPr>
          <p:nvPr/>
        </p:nvSpPr>
        <p:spPr>
          <a:xfrm>
            <a:off x="609600" y="2171700"/>
            <a:ext cx="10620375" cy="1905000"/>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sv-SE">
                <a:solidFill>
                  <a:srgbClr val="153F36"/>
                </a:solidFill>
                <a:latin typeface="Arial"/>
                <a:ea typeface="Arial"/>
                <a:cs typeface="Arial"/>
              </a:rPr>
              <a:t>”Ana vill veta mer om produkten.</a:t>
            </a:r>
          </a:p>
          <a:p>
            <a:pPr>
              <a:defRPr sz="3150" b="1">
                <a:solidFill>
                  <a:srgbClr val="153F36"/>
                </a:solidFill>
                <a:latin typeface="Arial"/>
                <a:ea typeface="Arial"/>
                <a:cs typeface="Arial"/>
              </a:defRPr>
            </a:pPr>
            <a:r>
              <a:rPr sz="3150" b="1" lang="sv-SE">
                <a:solidFill>
                  <a:srgbClr val="153F36"/>
                </a:solidFill>
                <a:latin typeface="Arial"/>
                <a:ea typeface="Arial"/>
                <a:cs typeface="Arial"/>
              </a:rPr>
              <a:t>Hjälp mig att skriva ett kort meddelande</a:t>
            </a:r>
          </a:p>
          <a:p>
            <a:pPr>
              <a:defRPr sz="3150" b="1">
                <a:solidFill>
                  <a:srgbClr val="153F36"/>
                </a:solidFill>
                <a:latin typeface="Arial"/>
                <a:ea typeface="Arial"/>
                <a:cs typeface="Arial"/>
              </a:defRPr>
            </a:pPr>
            <a:r>
              <a:rPr sz="3150" b="1" lang="sv-SE">
                <a:solidFill>
                  <a:srgbClr val="153F36"/>
                </a:solidFill>
                <a:latin typeface="Arial"/>
                <a:ea typeface="Arial"/>
                <a:cs typeface="Arial"/>
              </a:rPr>
              <a:t>och föreslå ett nästa samtal.”</a:t>
            </a:r>
          </a:p>
        </p:txBody>
      </p:sp>
      <p:sp>
        <p:nvSpPr>
          <p:cNvPr id="5" name="">
            <a:extLst>
              <a:ext uri="{FF2B5EF4-FFF2-40B4-BE49-F238E27FC236}">
                <ns2:creationId id="{7A79F3E1-BCA2-4DD5-8614-AB0D88B13E50}"/>
              </a:ext>
            </a:extLst>
          </p:cNvPr>
          <p:cNvSpPr>
            <a:spLocks noGrp="1"/>
          </p:cNvSpPr>
          <p:nvPr/>
        </p:nvSpPr>
        <p:spPr>
          <a:xfrm>
            <a:off x="609600" y="4429125"/>
            <a:ext cx="9810750" cy="952500"/>
          </a:xfrm>
          <a:prstGeom prst="rect">
            <a:avLst/>
          </a:prstGeom>
          <a:noFill/>
          <a:ln w="0">
            <a:noFill/>
          </a:ln>
        </p:spPr>
        <p:txBody>
          <a:bodyPr wrap="square" lIns="0" tIns="0" rIns="0" bIns="0" anchor="t">
            <a:noAutofit/>
          </a:bodyPr>
          <a:lstStyle>
            <a:defPPr>
              <a:defRPr sz="2400" b="0">
                <a:solidFill>
                  <a:srgbClr val="526B63"/>
                </a:solidFill>
                <a:latin typeface="Arial"/>
                <a:ea typeface="Arial"/>
                <a:cs typeface="Arial"/>
              </a:defRPr>
            </a:defPPr>
          </a:lstStyle>
          <a:p>
            <a:pPr>
              <a:defRPr sz="2400" b="0">
                <a:solidFill>
                  <a:srgbClr val="526B63"/>
                </a:solidFill>
                <a:latin typeface="Arial"/>
                <a:ea typeface="Arial"/>
                <a:cs typeface="Arial"/>
              </a:defRPr>
            </a:pPr>
            <a:r>
              <a:rPr sz="2400" b="0" lang="sv-SE">
                <a:solidFill>
                  <a:srgbClr val="526B63"/>
                </a:solidFill>
                <a:latin typeface="Arial"/>
                <a:ea typeface="Arial"/>
                <a:cs typeface="Arial"/>
              </a:rPr>
              <a:t>Du granskar texten som skapas och anpassar den till ditt sätt att uttrycka dig.</a:t>
            </a:r>
          </a:p>
        </p:txBody>
      </p:sp>
      <p:sp>
        <p:nvSpPr>
          <p:cNvPr id="6" name="">
            <a:extLst>
              <a:ext uri="{FF2B5EF4-FFF2-40B4-BE49-F238E27FC236}">
                <ns2:creationId id="{22416B2D-1F11-433C-BBC2-0F785465E81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PRO-funktion. Du bestämmer vad du skickar och bekräftar att meddelandet faktiskt skickas.</a:t>
            </a:r>
          </a:p>
        </p:txBody>
      </p:sp>
    </p:spTree>
    <p:extLst>
      <p:ext uri="{BB962C8B-B14F-4D97-AF65-F5344CB8AC3E}">
        <ns4:creationId val="1346486136"/>
      </p:ext>
    </p:extLst>
  </p:cSld>
</p:sld>
</file>

<file path=ppt/slides/slide2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8" name="">
            <a:extLst>
              <a:ext uri="{FF2B5EF4-FFF2-40B4-BE49-F238E27FC236}">
                <ns2:creationId id="{FF8A0D6A-54B6-4B2D-9DB0-C5BDDF808E3D}"/>
              </a:ext>
            </a:extLst>
          </p:cNvPr>
          <p:cNvPicPr>
            <a:picLocks noChangeAspect="1"/>
          </p:cNvPicPr>
          <p:nvPr/>
        </p:nvPicPr>
        <p:blipFill>
          <a:blip r:embed="R5343d6ff4c174578"/>
          <a:stretch/>
        </p:blipFill>
        <p:spPr>
          <a:xfrm>
            <a:off x="9867900" y="276061"/>
            <a:ext cx="1695450" cy="438478"/>
          </a:xfrm>
          <a:prstGeom prst="rect">
            <a:avLst/>
          </a:prstGeom>
        </p:spPr>
      </p:pic>
      <p:sp>
        <p:nvSpPr>
          <p:cNvPr id="2" name="">
            <a:extLst>
              <a:ext uri="{FF2B5EF4-FFF2-40B4-BE49-F238E27FC236}">
                <ns2:creationId id="{E6769AB0-AB42-4284-BB52-4656C71D4B1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20</a:t>
            </a:r>
          </a:p>
        </p:txBody>
      </p:sp>
      <p:sp>
        <p:nvSpPr>
          <p:cNvPr id="3" name="Naslov">
            <a:extLst>
              <a:ext uri="{FF2B5EF4-FFF2-40B4-BE49-F238E27FC236}">
                <ns2:creationId id="{90491E5F-0446-4BAA-B6BE-4190663616A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Min väg: vägledd vardaglig aktivitet</a:t>
            </a:r>
          </a:p>
        </p:txBody>
      </p:sp>
      <p:sp>
        <p:nvSpPr>
          <p:cNvPr id="4" name="">
            <a:extLst>
              <a:ext uri="{FF2B5EF4-FFF2-40B4-BE49-F238E27FC236}">
                <ns2:creationId id="{92687A41-C742-4378-AD11-49975B1C34BB}"/>
              </a:ext>
            </a:extLst>
          </p:cNvPr>
          <p:cNvSpPr>
            <a:spLocks noGrp="1"/>
          </p:cNvSpPr>
          <p:nvPr/>
        </p:nvSpPr>
        <p:spPr>
          <a:xfrm>
            <a:off x="609600" y="2076450"/>
            <a:ext cx="3333750" cy="1428750"/>
          </a:xfrm>
          <a:prstGeom prst="rect">
            <a:avLst/>
          </a:prstGeom>
          <a:noFill/>
          <a:ln w="0">
            <a:noFill/>
          </a:ln>
        </p:spPr>
        <p:txBody>
          <a:bodyPr wrap="square" lIns="0" tIns="0" rIns="0" bIns="0" anchor="t">
            <a:noAutofit/>
          </a:bodyPr>
          <a:lstStyle>
            <a:defPPr>
              <a:defRPr sz="8400" b="1">
                <a:solidFill>
                  <a:srgbClr val="153F36"/>
                </a:solidFill>
                <a:latin typeface="Arial"/>
                <a:ea typeface="Arial"/>
                <a:cs typeface="Arial"/>
              </a:defRPr>
            </a:defPPr>
          </a:lstStyle>
          <a:p>
            <a:pPr>
              <a:defRPr sz="8400" b="1">
                <a:solidFill>
                  <a:srgbClr val="153F36"/>
                </a:solidFill>
                <a:latin typeface="Arial"/>
                <a:ea typeface="Arial"/>
                <a:cs typeface="Arial"/>
              </a:defRPr>
            </a:pPr>
            <a:r>
              <a:rPr sz="8400" b="1" lang="sv-SE">
                <a:solidFill>
                  <a:srgbClr val="153F36"/>
                </a:solidFill>
                <a:latin typeface="Arial"/>
                <a:ea typeface="Arial"/>
                <a:cs typeface="Arial"/>
              </a:rPr>
              <a:t>90</a:t>
            </a:r>
          </a:p>
        </p:txBody>
      </p:sp>
      <p:sp>
        <p:nvSpPr>
          <p:cNvPr id="5" name="">
            <a:extLst>
              <a:ext uri="{FF2B5EF4-FFF2-40B4-BE49-F238E27FC236}">
                <ns2:creationId id="{ADADDF67-C3F1-4410-80F0-92B1ADC7D175}"/>
              </a:ext>
            </a:extLst>
          </p:cNvPr>
          <p:cNvSpPr>
            <a:spLocks noGrp="1"/>
          </p:cNvSpPr>
          <p:nvPr/>
        </p:nvSpPr>
        <p:spPr>
          <a:xfrm>
            <a:off x="4038600" y="2343150"/>
            <a:ext cx="7010400" cy="1066800"/>
          </a:xfrm>
          <a:prstGeom prst="rect">
            <a:avLst/>
          </a:prstGeom>
          <a:noFill/>
          <a:ln w="0">
            <a:noFill/>
          </a:ln>
        </p:spPr>
        <p:txBody>
          <a:bodyPr wrap="square" lIns="0" tIns="0" rIns="0" bIns="0" anchor="t">
            <a:noAutofit/>
          </a:bodyPr>
          <a:lstStyle>
            <a:defPPr>
              <a:defRPr sz="3225" b="1">
                <a:solidFill>
                  <a:srgbClr val="153F36"/>
                </a:solidFill>
                <a:latin typeface="Arial"/>
                <a:ea typeface="Arial"/>
                <a:cs typeface="Arial"/>
              </a:defRPr>
            </a:defPPr>
          </a:lstStyle>
          <a:p>
            <a:pPr>
              <a:defRPr sz="3225" b="1">
                <a:solidFill>
                  <a:srgbClr val="153F36"/>
                </a:solidFill>
                <a:latin typeface="Arial"/>
                <a:ea typeface="Arial"/>
                <a:cs typeface="Arial"/>
              </a:defRPr>
            </a:pPr>
            <a:r>
              <a:rPr sz="3225" b="1" lang="sv-SE">
                <a:solidFill>
                  <a:srgbClr val="153F36"/>
                </a:solidFill>
                <a:latin typeface="Arial"/>
                <a:ea typeface="Arial"/>
                <a:cs typeface="Arial"/>
              </a:rPr>
              <a:t>steg för att lära dig genom konkreta aktiviteter</a:t>
            </a:r>
          </a:p>
        </p:txBody>
      </p:sp>
      <p:sp>
        <p:nvSpPr>
          <p:cNvPr id="6" name="">
            <a:extLst>
              <a:ext uri="{FF2B5EF4-FFF2-40B4-BE49-F238E27FC236}">
                <ns2:creationId id="{7C5AB490-C659-4C9B-B69E-DD904A82A66E}"/>
              </a:ext>
            </a:extLst>
          </p:cNvPr>
          <p:cNvSpPr>
            <a:spLocks noGrp="1"/>
          </p:cNvSpPr>
          <p:nvPr/>
        </p:nvSpPr>
        <p:spPr>
          <a:xfrm>
            <a:off x="609600" y="4105275"/>
            <a:ext cx="10382250" cy="857250"/>
          </a:xfrm>
          <a:prstGeom prst="rect">
            <a:avLst/>
          </a:prstGeom>
          <a:noFill/>
          <a:ln w="0">
            <a:noFill/>
          </a:ln>
        </p:spPr>
        <p:txBody>
          <a:bodyPr wrap="square" lIns="0" tIns="0" rIns="0" bIns="0" anchor="t">
            <a:noAutofit/>
          </a:bodyPr>
          <a:lstStyle>
            <a:defPPr>
              <a:defRPr sz="2475" b="0">
                <a:solidFill>
                  <a:srgbClr val="526B63"/>
                </a:solidFill>
                <a:latin typeface="Arial"/>
                <a:ea typeface="Arial"/>
                <a:cs typeface="Arial"/>
              </a:defRPr>
            </a:defPPr>
          </a:lstStyle>
          <a:p>
            <a:pPr>
              <a:defRPr sz="2475" b="0">
                <a:solidFill>
                  <a:srgbClr val="526B63"/>
                </a:solidFill>
                <a:latin typeface="Arial"/>
                <a:ea typeface="Arial"/>
                <a:cs typeface="Arial"/>
              </a:defRPr>
            </a:pPr>
            <a:r>
              <a:rPr sz="2475" b="0" lang="sv-SE">
                <a:solidFill>
                  <a:srgbClr val="526B63"/>
                </a:solidFill>
                <a:latin typeface="Arial"/>
                <a:ea typeface="Arial"/>
                <a:cs typeface="Arial"/>
              </a:rPr>
              <a:t>Dagens uppgift innehåller en konkret aktivitet, hjälp och ett kriterium för när den är klar.</a:t>
            </a:r>
          </a:p>
        </p:txBody>
      </p:sp>
      <p:sp>
        <p:nvSpPr>
          <p:cNvPr id="7" name="">
            <a:extLst>
              <a:ext uri="{FF2B5EF4-FFF2-40B4-BE49-F238E27FC236}">
                <ns2:creationId id="{0E5742C4-2A4A-4AB4-9CFF-680A82FB8898}"/>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4 Core: Rekrytering, Kundvård, Produktivitet och Utveckling. Tillgång enligt programmets villkor.</a:t>
            </a:r>
          </a:p>
        </p:txBody>
      </p:sp>
    </p:spTree>
    <p:extLst>
      <p:ext uri="{BB962C8B-B14F-4D97-AF65-F5344CB8AC3E}">
        <ns4:creationId val="779428553"/>
      </p:ext>
    </p:extLst>
  </p:cSld>
</p:sld>
</file>

<file path=ppt/slides/slide2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755CBF8A-CF99-4296-B52A-929A5B188D96}"/>
              </a:ext>
            </a:extLst>
          </p:cNvPr>
          <p:cNvPicPr>
            <a:picLocks noChangeAspect="1"/>
          </p:cNvPicPr>
          <p:nvPr/>
        </p:nvPicPr>
        <p:blipFill>
          <a:blip r:embed="Rd2520270cdcb44be"/>
          <a:stretch/>
        </p:blipFill>
        <p:spPr>
          <a:xfrm>
            <a:off x="9867900" y="276061"/>
            <a:ext cx="1695450" cy="438478"/>
          </a:xfrm>
          <a:prstGeom prst="rect">
            <a:avLst/>
          </a:prstGeom>
        </p:spPr>
      </p:pic>
      <p:sp>
        <p:nvSpPr>
          <p:cNvPr id="2" name="">
            <a:extLst>
              <a:ext uri="{FF2B5EF4-FFF2-40B4-BE49-F238E27FC236}">
                <ns2:creationId id="{D632DCC3-6502-4FE5-A452-5728A3FF9CB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21</a:t>
            </a:r>
          </a:p>
        </p:txBody>
      </p:sp>
      <p:sp>
        <p:nvSpPr>
          <p:cNvPr id="3" name="Naslov">
            <a:extLst>
              <a:ext uri="{FF2B5EF4-FFF2-40B4-BE49-F238E27FC236}">
                <ns2:creationId id="{9CA21175-6AB5-4D8F-B8A5-DF0C57ACDEB4}"/>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Utbildning kopplad till praktisk tillämpning</a:t>
            </a:r>
          </a:p>
        </p:txBody>
      </p:sp>
      <p:sp>
        <p:nvSpPr>
          <p:cNvPr id="4" name="">
            <a:extLst>
              <a:ext uri="{FF2B5EF4-FFF2-40B4-BE49-F238E27FC236}">
                <ns2:creationId id="{5601D9A2-9AD3-4AD3-8BED-F082627DE474}"/>
              </a:ext>
            </a:extLst>
          </p:cNvPr>
          <p:cNvSpPr>
            <a:spLocks noGrp="1"/>
          </p:cNvSpPr>
          <p:nvPr/>
        </p:nvSpPr>
        <p:spPr>
          <a:xfrm>
            <a:off x="609600" y="1819275"/>
            <a:ext cx="10477500" cy="59055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v-SE">
                <a:solidFill>
                  <a:srgbClr val="153F36"/>
                </a:solidFill>
                <a:latin typeface="Arial"/>
                <a:ea typeface="Arial"/>
                <a:cs typeface="Arial"/>
              </a:rPr>
              <a:t>Omsätt direkt ämnet i ett givande samtal.</a:t>
            </a:r>
          </a:p>
        </p:txBody>
      </p:sp>
      <p:pic>
        <p:nvPicPr>
          <p:cNvPr id="5" name="">
            <a:extLst>
              <a:ext uri="{FF2B5EF4-FFF2-40B4-BE49-F238E27FC236}">
                <ns2:creationId id="{A42EF5A1-048A-40A7-8EB7-D73F3B145432}"/>
              </a:ext>
            </a:extLst>
          </p:cNvPr>
          <p:cNvPicPr>
            <a:picLocks noChangeAspect="1"/>
          </p:cNvPicPr>
          <p:nvPr/>
        </p:nvPicPr>
        <p:blipFill>
          <a:blip r:embed="Rc24afb3e1b784e7e"/>
          <a:stretch/>
        </p:blipFill>
        <p:spPr>
          <a:xfrm>
            <a:off x="609600" y="2895600"/>
            <a:ext cx="10953750" cy="3048000"/>
          </a:xfrm>
          <a:prstGeom prst="rect">
            <a:avLst/>
          </a:prstGeom>
        </p:spPr>
      </p:pic>
      <p:sp>
        <p:nvSpPr>
          <p:cNvPr id="7" name="Interface example"/>
          <p:cNvSpPr>
            <a:spLocks noGrp="1"/>
          </p:cNvSpPr>
          <p:nvPr/>
        </p:nvSpPr>
        <p:spPr>
          <a:xfrm>
            <a:off x="609600" y="6362700"/>
            <a:ext cx="1047750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sv-SE" dirty="0">
                <a:solidFill>
                  <a:srgbClr val="526B63"/>
                </a:solidFill>
                <a:latin typeface="Arial"/>
              </a:rPr>
              <a:t>Exempel på FCC:s gränssnitt på svenska.</a:t>
            </a:r>
          </a:p>
        </p:txBody>
      </p:sp>
    </p:spTree>
    <p:extLst>
      <p:ext uri="{BB962C8B-B14F-4D97-AF65-F5344CB8AC3E}">
        <ns4:creationId val="872864147"/>
      </p:ext>
    </p:extLst>
  </p:cSld>
</p:sld>
</file>

<file path=ppt/slides/slide2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429D5618-D6D1-4709-9032-CCBDE1794EC0}"/>
              </a:ext>
            </a:extLst>
          </p:cNvPr>
          <p:cNvPicPr>
            <a:picLocks noChangeAspect="1"/>
          </p:cNvPicPr>
          <p:nvPr/>
        </p:nvPicPr>
        <p:blipFill>
          <a:blip r:embed="R9e74150305fa4111"/>
          <a:stretch/>
        </p:blipFill>
        <p:spPr>
          <a:xfrm>
            <a:off x="9867900" y="276061"/>
            <a:ext cx="1695450" cy="438478"/>
          </a:xfrm>
          <a:prstGeom prst="rect">
            <a:avLst/>
          </a:prstGeom>
        </p:spPr>
      </p:pic>
      <p:sp>
        <p:nvSpPr>
          <p:cNvPr id="2" name="">
            <a:extLst>
              <a:ext uri="{FF2B5EF4-FFF2-40B4-BE49-F238E27FC236}">
                <ns2:creationId id="{6D26F613-9E2D-4BC5-A70E-316C062077E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22</a:t>
            </a:r>
          </a:p>
        </p:txBody>
      </p:sp>
      <p:sp>
        <p:nvSpPr>
          <p:cNvPr id="3" name="Naslov">
            <a:extLst>
              <a:ext uri="{FF2B5EF4-FFF2-40B4-BE49-F238E27FC236}">
                <ns2:creationId id="{3DBF11A3-4EDF-4D18-977F-B4AACE2BE63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Inbjudan till valt webbinarium</a:t>
            </a:r>
          </a:p>
        </p:txBody>
      </p:sp>
      <p:sp>
        <p:nvSpPr>
          <p:cNvPr id="4" name="">
            <a:extLst>
              <a:ext uri="{FF2B5EF4-FFF2-40B4-BE49-F238E27FC236}">
                <ns2:creationId id="{64A80DF6-83D6-420D-B270-58B477A61493}"/>
              </a:ext>
            </a:extLst>
          </p:cNvPr>
          <p:cNvSpPr>
            <a:spLocks noGrp="1"/>
          </p:cNvSpPr>
          <p:nvPr/>
        </p:nvSpPr>
        <p:spPr>
          <a:xfrm>
            <a:off x="609600" y="2152650"/>
            <a:ext cx="3333750" cy="2657475"/>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v-SE">
                <a:solidFill>
                  <a:srgbClr val="153F36"/>
                </a:solidFill>
                <a:latin typeface="Arial"/>
                <a:ea typeface="Arial"/>
                <a:cs typeface="Arial"/>
              </a:rPr>
              <a:t>Välj en tid.</a:t>
            </a:r>
          </a:p>
          <a:p>
            <a:pPr>
              <a:defRPr sz="2625" b="1">
                <a:solidFill>
                  <a:srgbClr val="153F36"/>
                </a:solidFill>
                <a:latin typeface="Arial"/>
                <a:ea typeface="Arial"/>
                <a:cs typeface="Arial"/>
              </a:defRPr>
            </a:pPr>
            <a:r>
              <a:rPr sz="2625" b="1" lang="sv-SE">
                <a:solidFill>
                  <a:srgbClr val="153F36"/>
                </a:solidFill>
                <a:latin typeface="Arial"/>
                <a:ea typeface="Arial"/>
                <a:cs typeface="Arial"/>
              </a:rPr>
              <a:t>Lägg till en personlig</a:t>
            </a:r>
          </a:p>
          <a:p>
            <a:pPr>
              <a:defRPr sz="2625" b="1">
                <a:solidFill>
                  <a:srgbClr val="153F36"/>
                </a:solidFill>
                <a:latin typeface="Arial"/>
                <a:ea typeface="Arial"/>
                <a:cs typeface="Arial"/>
              </a:defRPr>
            </a:pPr>
            <a:r>
              <a:rPr sz="2625" b="1" lang="sv-SE">
                <a:solidFill>
                  <a:srgbClr val="153F36"/>
                </a:solidFill>
                <a:latin typeface="Arial"/>
                <a:ea typeface="Arial"/>
                <a:cs typeface="Arial"/>
              </a:rPr>
              <a:t>anledning till samtalet.</a:t>
            </a:r>
          </a:p>
          <a:p>
            <a:pPr>
              <a:defRPr sz="2625" b="1">
                <a:solidFill>
                  <a:srgbClr val="153F36"/>
                </a:solidFill>
                <a:latin typeface="Arial"/>
                <a:ea typeface="Arial"/>
                <a:cs typeface="Arial"/>
              </a:defRPr>
            </a:pPr>
            <a:r>
              <a:rPr sz="2625" b="1" lang="sv-SE">
                <a:solidFill>
                  <a:srgbClr val="153F36"/>
                </a:solidFill>
                <a:latin typeface="Arial"/>
                <a:ea typeface="Arial"/>
                <a:cs typeface="Arial"/>
              </a:rPr>
              <a:t>Skicka din länk.</a:t>
            </a:r>
          </a:p>
        </p:txBody>
      </p:sp>
      <p:sp>
        <p:nvSpPr>
          <p:cNvPr id="5" name="">
            <a:extLst>
              <a:ext uri="{FF2B5EF4-FFF2-40B4-BE49-F238E27FC236}">
                <ns2:creationId id="{958B8E7C-0CB5-4427-A2CD-626ACD27829B}"/>
              </a:ext>
            </a:extLst>
          </p:cNvPr>
          <p:cNvSpPr>
            <a:spLocks noGrp="1"/>
          </p:cNvSpPr>
          <p:nvPr/>
        </p:nvSpPr>
        <p:spPr>
          <a:xfrm>
            <a:off x="609600" y="4972050"/>
            <a:ext cx="3333750" cy="1123950"/>
          </a:xfrm>
          <a:prstGeom prst="rect">
            <a:avLst/>
          </a:prstGeom>
          <a:noFill/>
          <a:ln w="0">
            <a:noFill/>
          </a:ln>
        </p:spPr>
        <p:txBody>
          <a:bodyPr wrap="square" lIns="0" tIns="0" rIns="0" bIns="0" anchor="t">
            <a:noAutofit/>
          </a:bodyPr>
          <a:lstStyle>
            <a:defPPr>
              <a:defRPr sz="2025" b="0">
                <a:solidFill>
                  <a:srgbClr val="526B63"/>
                </a:solidFill>
                <a:latin typeface="Arial"/>
                <a:ea typeface="Arial"/>
                <a:cs typeface="Arial"/>
              </a:defRPr>
            </a:defPPr>
          </a:lstStyle>
          <a:p>
            <a:pPr>
              <a:defRPr sz="2025" b="0">
                <a:solidFill>
                  <a:srgbClr val="526B63"/>
                </a:solidFill>
                <a:latin typeface="Arial"/>
                <a:ea typeface="Arial"/>
                <a:cs typeface="Arial"/>
              </a:defRPr>
            </a:pPr>
            <a:r>
              <a:rPr sz="2025" b="0" lang="sv-SE">
                <a:solidFill>
                  <a:srgbClr val="526B63"/>
                </a:solidFill>
                <a:latin typeface="Arial"/>
                <a:ea typeface="Arial"/>
                <a:cs typeface="Arial"/>
              </a:rPr>
              <a:t>Gästen anmäler sig till ett specifikt möte via din inbjudan.</a:t>
            </a:r>
          </a:p>
        </p:txBody>
      </p:sp>
      <p:pic>
        <p:nvPicPr>
          <p:cNvPr id="6" name="">
            <a:extLst>
              <a:ext uri="{FF2B5EF4-FFF2-40B4-BE49-F238E27FC236}">
                <ns2:creationId id="{3390DCC8-0B52-4314-8F10-D4E2C4601566}"/>
              </a:ext>
            </a:extLst>
          </p:cNvPr>
          <p:cNvPicPr>
            <a:picLocks noChangeAspect="1"/>
          </p:cNvPicPr>
          <p:nvPr/>
        </p:nvPicPr>
        <p:blipFill>
          <a:blip r:embed="R1e50648732a948d2"/>
          <a:stretch/>
        </p:blipFill>
        <p:spPr>
          <a:xfrm>
            <a:off x="5667375" y="2343773"/>
            <a:ext cx="5524500" cy="3418229"/>
          </a:xfrm>
          <a:prstGeom prst="rect">
            <a:avLst/>
          </a:prstGeom>
        </p:spPr>
      </p:pic>
      <p:sp>
        <p:nvSpPr>
          <p:cNvPr id="8" name="Interface example"/>
          <p:cNvSpPr>
            <a:spLocks noGrp="1"/>
          </p:cNvSpPr>
          <p:nvPr/>
        </p:nvSpPr>
        <p:spPr>
          <a:xfrm>
            <a:off x="609600" y="6238875"/>
            <a:ext cx="6191250" cy="28575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lgn="l"/>
            <a:r>
              <a:rPr sz="1400" b="0" lang="sv-SE" dirty="0">
                <a:solidFill>
                  <a:srgbClr val="526B63"/>
                </a:solidFill>
                <a:latin typeface="Arial"/>
              </a:rPr>
              <a:t>Exempel på FCC:s gränssnitt på svenska.</a:t>
            </a:r>
          </a:p>
        </p:txBody>
      </p:sp>
    </p:spTree>
    <p:extLst>
      <p:ext uri="{BB962C8B-B14F-4D97-AF65-F5344CB8AC3E}">
        <ns4:creationId val="700804711"/>
      </p:ext>
    </p:extLst>
  </p:cSld>
</p:sld>
</file>

<file path=ppt/slides/slide2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D5E12F88-80BE-4ED3-9045-0929104BF85E}"/>
              </a:ext>
            </a:extLst>
          </p:cNvPr>
          <p:cNvPicPr>
            <a:picLocks noChangeAspect="1"/>
          </p:cNvPicPr>
          <p:nvPr/>
        </p:nvPicPr>
        <p:blipFill>
          <a:blip r:embed="R767dfad8865d4072"/>
          <a:stretch/>
        </p:blipFill>
        <p:spPr>
          <a:xfrm>
            <a:off x="9867900" y="276061"/>
            <a:ext cx="1695450" cy="438478"/>
          </a:xfrm>
          <a:prstGeom prst="rect">
            <a:avLst/>
          </a:prstGeom>
        </p:spPr>
      </p:pic>
      <p:sp>
        <p:nvSpPr>
          <p:cNvPr id="2" name="">
            <a:extLst>
              <a:ext uri="{FF2B5EF4-FFF2-40B4-BE49-F238E27FC236}">
                <ns2:creationId id="{6C95CCE3-AAC8-46D2-A89D-918660909B14}"/>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23</a:t>
            </a:r>
          </a:p>
        </p:txBody>
      </p:sp>
      <p:sp>
        <p:nvSpPr>
          <p:cNvPr id="3" name="Naslov">
            <a:extLst>
              <a:ext uri="{FF2B5EF4-FFF2-40B4-BE49-F238E27FC236}">
                <ns2:creationId id="{86A969A1-FE90-4CAE-9E4D-B1F25AAE345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Marko har anmält sig. Vad händer nu?</a:t>
            </a:r>
          </a:p>
        </p:txBody>
      </p:sp>
      <p:sp>
        <p:nvSpPr>
          <p:cNvPr id="4" name="">
            <a:extLst>
              <a:ext uri="{FF2B5EF4-FFF2-40B4-BE49-F238E27FC236}">
                <ns2:creationId id="{E5F1DAFA-2528-492F-B2BE-F6718195409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1.</a:t>
            </a:r>
          </a:p>
        </p:txBody>
      </p:sp>
      <p:sp>
        <p:nvSpPr>
          <p:cNvPr id="5" name="">
            <a:extLst>
              <a:ext uri="{FF2B5EF4-FFF2-40B4-BE49-F238E27FC236}">
                <ns2:creationId id="{4DB35653-FBDF-4BEC-83F0-6FBB39603769}"/>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Anmälan till en viss tid</a:t>
            </a:r>
          </a:p>
        </p:txBody>
      </p:sp>
      <p:sp>
        <p:nvSpPr>
          <p:cNvPr id="6" name="">
            <a:extLst>
              <a:ext uri="{FF2B5EF4-FFF2-40B4-BE49-F238E27FC236}">
                <ns2:creationId id="{CB2364BB-A3BB-4784-8D31-FC7726F1C590}"/>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Kontakten och anmälan förblir kopplade till den som skickade inbjudan.</a:t>
            </a:r>
          </a:p>
        </p:txBody>
      </p:sp>
      <p:sp>
        <p:nvSpPr>
          <p:cNvPr id="7" name="">
            <a:extLst>
              <a:ext uri="{FF2B5EF4-FFF2-40B4-BE49-F238E27FC236}">
                <ns2:creationId id="{AD290595-7437-4728-8D3A-3E8B1D2B748F}"/>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2.</a:t>
            </a:r>
          </a:p>
        </p:txBody>
      </p:sp>
      <p:sp>
        <p:nvSpPr>
          <p:cNvPr id="8" name="">
            <a:extLst>
              <a:ext uri="{FF2B5EF4-FFF2-40B4-BE49-F238E27FC236}">
                <ns2:creationId id="{46695ECA-CB8D-4B9F-A2E8-B65C37B9556C}"/>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Före webbinariet</a:t>
            </a:r>
          </a:p>
        </p:txBody>
      </p:sp>
      <p:sp>
        <p:nvSpPr>
          <p:cNvPr id="9" name="">
            <a:extLst>
              <a:ext uri="{FF2B5EF4-FFF2-40B4-BE49-F238E27FC236}">
                <ns2:creationId id="{62BE4D3F-BC4E-41C9-B048-D3D0AD57E314}"/>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Bekräftelsen och valda påminnelser hjälper gästen att delta.</a:t>
            </a:r>
          </a:p>
        </p:txBody>
      </p:sp>
      <p:sp>
        <p:nvSpPr>
          <p:cNvPr id="10" name="">
            <a:extLst>
              <a:ext uri="{FF2B5EF4-FFF2-40B4-BE49-F238E27FC236}">
                <ns2:creationId id="{8ECC572D-40C3-4866-9005-CFF07D7DA9C3}"/>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3.</a:t>
            </a:r>
          </a:p>
        </p:txBody>
      </p:sp>
      <p:sp>
        <p:nvSpPr>
          <p:cNvPr id="11" name="">
            <a:extLst>
              <a:ext uri="{FF2B5EF4-FFF2-40B4-BE49-F238E27FC236}">
                <ns2:creationId id="{9B07424D-9E40-46F4-B29D-C0C5CD66F25E}"/>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Efter webbinariet</a:t>
            </a:r>
          </a:p>
        </p:txBody>
      </p:sp>
      <p:sp>
        <p:nvSpPr>
          <p:cNvPr id="12" name="">
            <a:extLst>
              <a:ext uri="{FF2B5EF4-FFF2-40B4-BE49-F238E27FC236}">
                <ns2:creationId id="{CC04F91B-0460-4471-969A-A7A5BB25A43D}"/>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Samarbetspartnern bekräftar deltagandet och bokar ett samtal.</a:t>
            </a:r>
          </a:p>
        </p:txBody>
      </p:sp>
      <p:sp>
        <p:nvSpPr>
          <p:cNvPr id="13" name="">
            <a:extLst>
              <a:ext uri="{FF2B5EF4-FFF2-40B4-BE49-F238E27FC236}">
                <ns2:creationId id="{1996C6A4-A7E3-4F17-8120-05460EF79D98}"/>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4.</a:t>
            </a:r>
          </a:p>
        </p:txBody>
      </p:sp>
      <p:sp>
        <p:nvSpPr>
          <p:cNvPr id="14" name="">
            <a:extLst>
              <a:ext uri="{FF2B5EF4-FFF2-40B4-BE49-F238E27FC236}">
                <ns2:creationId id="{0015C3FA-BB82-4048-81E2-1B20DA03DFA6}"/>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Om gästen inte deltog</a:t>
            </a:r>
          </a:p>
        </p:txBody>
      </p:sp>
      <p:sp>
        <p:nvSpPr>
          <p:cNvPr id="15" name="">
            <a:extLst>
              <a:ext uri="{FF2B5EF4-FFF2-40B4-BE49-F238E27FC236}">
                <ns2:creationId id="{67891E00-CB5A-48F8-9822-D3F7DBF396CA}"/>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Personligt samtal och en ny inbjudan till en ny tid.</a:t>
            </a:r>
          </a:p>
        </p:txBody>
      </p:sp>
    </p:spTree>
    <p:extLst>
      <p:ext uri="{BB962C8B-B14F-4D97-AF65-F5344CB8AC3E}">
        <ns4:creationId val="2122822085"/>
      </p:ext>
    </p:extLst>
  </p:cSld>
</p:sld>
</file>

<file path=ppt/slides/slide2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B9472236-3934-486C-A23A-6370DE23E664}"/>
              </a:ext>
            </a:extLst>
          </p:cNvPr>
          <p:cNvPicPr>
            <a:picLocks noChangeAspect="1"/>
          </p:cNvPicPr>
          <p:nvPr/>
        </p:nvPicPr>
        <p:blipFill>
          <a:blip r:embed="R91a2746f4c374b45"/>
          <a:stretch/>
        </p:blipFill>
        <p:spPr>
          <a:xfrm>
            <a:off x="9867900" y="276061"/>
            <a:ext cx="1695450" cy="438478"/>
          </a:xfrm>
          <a:prstGeom prst="rect">
            <a:avLst/>
          </a:prstGeom>
        </p:spPr>
      </p:pic>
      <p:sp>
        <p:nvSpPr>
          <p:cNvPr id="2" name="">
            <a:extLst>
              <a:ext uri="{FF2B5EF4-FFF2-40B4-BE49-F238E27FC236}">
                <ns2:creationId id="{68B0361B-9635-4166-AE62-4CF793B4F1A3}"/>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24</a:t>
            </a:r>
          </a:p>
        </p:txBody>
      </p:sp>
      <p:sp>
        <p:nvSpPr>
          <p:cNvPr id="3" name="Naslov">
            <a:extLst>
              <a:ext uri="{FF2B5EF4-FFF2-40B4-BE49-F238E27FC236}">
                <ns2:creationId id="{A3F07F94-2F35-418F-817F-9743B462CB62}"/>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Personliga webbinarier och teamwebbinarier</a:t>
            </a:r>
          </a:p>
        </p:txBody>
      </p:sp>
      <p:sp>
        <p:nvSpPr>
          <p:cNvPr id="4" name="">
            <a:extLst>
              <a:ext uri="{FF2B5EF4-FFF2-40B4-BE49-F238E27FC236}">
                <ns2:creationId id="{15C68868-CAC3-4747-A74E-8D8DCC287173}"/>
              </a:ext>
            </a:extLst>
          </p:cNvPr>
          <p:cNvSpPr>
            <a:spLocks noGrp="1"/>
          </p:cNvSpPr>
          <p:nvPr/>
        </p:nvSpPr>
        <p:spPr>
          <a:xfrm>
            <a:off x="609600" y="2181225"/>
            <a:ext cx="10591800" cy="2190750"/>
          </a:xfrm>
          <a:prstGeom prst="rect">
            <a:avLst/>
          </a:prstGeom>
          <a:noFill/>
          <a:ln w="0">
            <a:noFill/>
          </a:ln>
        </p:spPr>
        <p:txBody>
          <a:bodyPr wrap="square" lIns="0" tIns="0" rIns="0" bIns="0" anchor="t">
            <a:noAutofit/>
          </a:bodyPr>
          <a:lstStyle>
            <a:defPPr>
              <a:defRPr sz="3150" b="1">
                <a:solidFill>
                  <a:srgbClr val="153F36"/>
                </a:solidFill>
                <a:latin typeface="Arial"/>
                <a:ea typeface="Arial"/>
                <a:cs typeface="Arial"/>
              </a:defRPr>
            </a:defPPr>
          </a:lstStyle>
          <a:p>
            <a:pPr>
              <a:defRPr sz="3150" b="1">
                <a:solidFill>
                  <a:srgbClr val="153F36"/>
                </a:solidFill>
                <a:latin typeface="Arial"/>
                <a:ea typeface="Arial"/>
                <a:cs typeface="Arial"/>
              </a:defRPr>
            </a:pPr>
            <a:r>
              <a:rPr sz="3150" b="1" lang="sv-SE">
                <a:solidFill>
                  <a:srgbClr val="153F36"/>
                </a:solidFill>
                <a:latin typeface="Arial"/>
                <a:ea typeface="Arial"/>
                <a:cs typeface="Arial"/>
              </a:rPr>
              <a:t>Ett tillfälle eller ett återkommande möte.</a:t>
            </a:r>
          </a:p>
          <a:p>
            <a:pPr>
              <a:defRPr sz="3150" b="1">
                <a:solidFill>
                  <a:srgbClr val="153F36"/>
                </a:solidFill>
                <a:latin typeface="Arial"/>
                <a:ea typeface="Arial"/>
                <a:cs typeface="Arial"/>
              </a:defRPr>
            </a:pPr>
            <a:r>
              <a:rPr sz="3150" b="1" lang="sv-SE">
                <a:solidFill>
                  <a:srgbClr val="153F36"/>
                </a:solidFill>
                <a:latin typeface="Arial"/>
                <a:ea typeface="Arial"/>
                <a:cs typeface="Arial"/>
              </a:rPr>
              <a:t>På det språk du väljer.</a:t>
            </a:r>
          </a:p>
          <a:p>
            <a:pPr>
              <a:defRPr sz="3150" b="1">
                <a:solidFill>
                  <a:srgbClr val="153F36"/>
                </a:solidFill>
                <a:latin typeface="Arial"/>
                <a:ea typeface="Arial"/>
                <a:cs typeface="Arial"/>
              </a:defRPr>
            </a:pPr>
            <a:r>
              <a:rPr sz="3150" b="1" lang="sv-SE">
                <a:solidFill>
                  <a:srgbClr val="153F36"/>
                </a:solidFill>
                <a:latin typeface="Arial"/>
                <a:ea typeface="Arial"/>
                <a:cs typeface="Arial"/>
              </a:rPr>
              <a:t>För egna inbjudningar eller ditt FCC-team.</a:t>
            </a:r>
          </a:p>
        </p:txBody>
      </p:sp>
      <p:sp>
        <p:nvSpPr>
          <p:cNvPr id="5" name="">
            <a:extLst>
              <a:ext uri="{FF2B5EF4-FFF2-40B4-BE49-F238E27FC236}">
                <ns2:creationId id="{CA141C86-D453-47CD-8181-922C077B11D4}"/>
              </a:ext>
            </a:extLst>
          </p:cNvPr>
          <p:cNvSpPr>
            <a:spLocks noGrp="1"/>
          </p:cNvSpPr>
          <p:nvPr/>
        </p:nvSpPr>
        <p:spPr>
          <a:xfrm>
            <a:off x="609600" y="4733925"/>
            <a:ext cx="10448925" cy="866775"/>
          </a:xfrm>
          <a:prstGeom prst="rect">
            <a:avLst/>
          </a:prstGeom>
          <a:noFill/>
          <a:ln w="0">
            <a:noFill/>
          </a:ln>
        </p:spPr>
        <p:txBody>
          <a:bodyPr wrap="square" lIns="0" tIns="0" rIns="0" bIns="0" anchor="t">
            <a:noAutofit/>
          </a:bodyPr>
          <a:lstStyle>
            <a:defPPr>
              <a:defRPr sz="2325" b="0">
                <a:solidFill>
                  <a:srgbClr val="526B63"/>
                </a:solidFill>
                <a:latin typeface="Arial"/>
                <a:ea typeface="Arial"/>
                <a:cs typeface="Arial"/>
              </a:defRPr>
            </a:defPPr>
          </a:lstStyle>
          <a:p>
            <a:pPr>
              <a:defRPr sz="2325" b="0">
                <a:solidFill>
                  <a:srgbClr val="526B63"/>
                </a:solidFill>
                <a:latin typeface="Arial"/>
                <a:ea typeface="Arial"/>
                <a:cs typeface="Arial"/>
              </a:defRPr>
            </a:pPr>
            <a:r>
              <a:rPr sz="2325" b="0" lang="sv-SE">
                <a:solidFill>
                  <a:srgbClr val="526B63"/>
                </a:solidFill>
                <a:latin typeface="Arial"/>
                <a:ea typeface="Arial"/>
                <a:cs typeface="Arial"/>
              </a:rPr>
              <a:t>Varje medlem bjuder in via sin egen länk och behåller sina kontakter.</a:t>
            </a:r>
          </a:p>
        </p:txBody>
      </p:sp>
      <p:sp>
        <p:nvSpPr>
          <p:cNvPr id="6" name="">
            <a:extLst>
              <a:ext uri="{FF2B5EF4-FFF2-40B4-BE49-F238E27FC236}">
                <ns2:creationId id="{330A4E96-5E13-4241-96CF-B5C8186A91E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Det går att skapa egna webbinarier med PRO-paketet.</a:t>
            </a:r>
          </a:p>
        </p:txBody>
      </p:sp>
    </p:spTree>
    <p:extLst>
      <p:ext uri="{BB962C8B-B14F-4D97-AF65-F5344CB8AC3E}">
        <ns4:creationId val="1264850231"/>
      </p:ext>
    </p:extLst>
  </p:cSld>
</p:sld>
</file>

<file path=ppt/slides/slide2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5E86031B-74C2-4608-8EC0-F7A06E16AB36}"/>
              </a:ext>
            </a:extLst>
          </p:cNvPr>
          <p:cNvPicPr>
            <a:picLocks noChangeAspect="1"/>
          </p:cNvPicPr>
          <p:nvPr/>
        </p:nvPicPr>
        <p:blipFill>
          <a:blip r:embed="R59ec47a19bc2488c"/>
          <a:stretch/>
        </p:blipFill>
        <p:spPr>
          <a:xfrm>
            <a:off x="9867900" y="276061"/>
            <a:ext cx="1695450" cy="438478"/>
          </a:xfrm>
          <a:prstGeom prst="rect">
            <a:avLst/>
          </a:prstGeom>
        </p:spPr>
      </p:pic>
      <p:sp>
        <p:nvSpPr>
          <p:cNvPr id="2" name="">
            <a:extLst>
              <a:ext uri="{FF2B5EF4-FFF2-40B4-BE49-F238E27FC236}">
                <ns2:creationId id="{93698D6B-5742-4E5B-834D-CB8A1A514169}"/>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25</a:t>
            </a:r>
          </a:p>
        </p:txBody>
      </p:sp>
      <p:sp>
        <p:nvSpPr>
          <p:cNvPr id="3" name="Naslov">
            <a:extLst>
              <a:ext uri="{FF2B5EF4-FFF2-40B4-BE49-F238E27FC236}">
                <ns2:creationId id="{E8A14DF5-11A1-4D9F-9B08-F9C64AB2045B}"/>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Stöd till samarbetspartner i Mitt team</a:t>
            </a:r>
          </a:p>
        </p:txBody>
      </p:sp>
      <p:sp>
        <p:nvSpPr>
          <p:cNvPr id="4" name="">
            <a:extLst>
              <a:ext uri="{FF2B5EF4-FFF2-40B4-BE49-F238E27FC236}">
                <ns2:creationId id="{5C794550-AB76-4651-9D65-FCC54402C9D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v-SE">
                <a:solidFill>
                  <a:srgbClr val="148977"/>
                </a:solidFill>
                <a:latin typeface="Arial"/>
                <a:ea typeface="Arial"/>
                <a:cs typeface="Arial"/>
              </a:rPr>
              <a:t>1.</a:t>
            </a:r>
          </a:p>
        </p:txBody>
      </p:sp>
      <p:sp>
        <p:nvSpPr>
          <p:cNvPr id="5" name="">
            <a:extLst>
              <a:ext uri="{FF2B5EF4-FFF2-40B4-BE49-F238E27FC236}">
                <ns2:creationId id="{0D790686-2438-4A73-8815-5D8A40D9C276}"/>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v-SE">
                <a:solidFill>
                  <a:srgbClr val="153F36"/>
                </a:solidFill>
                <a:latin typeface="Arial"/>
                <a:ea typeface="Arial"/>
                <a:cs typeface="Arial"/>
              </a:rPr>
              <a:t>Översikt över personer och framsteg</a:t>
            </a:r>
          </a:p>
        </p:txBody>
      </p:sp>
      <p:sp>
        <p:nvSpPr>
          <p:cNvPr id="6" name="">
            <a:extLst>
              <a:ext uri="{FF2B5EF4-FFF2-40B4-BE49-F238E27FC236}">
                <ns2:creationId id="{57A656BD-9E7D-4723-A3EB-C0005AB55657}"/>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Du ser lättare var det är meningsfullt att prata och ge stöd.</a:t>
            </a:r>
          </a:p>
        </p:txBody>
      </p:sp>
      <p:sp>
        <p:nvSpPr>
          <p:cNvPr id="7" name="">
            <a:extLst>
              <a:ext uri="{FF2B5EF4-FFF2-40B4-BE49-F238E27FC236}">
                <ns2:creationId id="{967AC6C6-2AA2-4DBF-B458-584184EDCB24}"/>
              </a:ext>
            </a:extLst>
          </p:cNvPr>
          <p:cNvSpPr>
            <a:spLocks noGrp="1"/>
          </p:cNvSpPr>
          <p:nvPr/>
        </p:nvSpPr>
        <p:spPr>
          <a:xfrm>
            <a:off x="609600" y="3105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v-SE">
                <a:solidFill>
                  <a:srgbClr val="148977"/>
                </a:solidFill>
                <a:latin typeface="Arial"/>
                <a:ea typeface="Arial"/>
                <a:cs typeface="Arial"/>
              </a:rPr>
              <a:t>2.</a:t>
            </a:r>
          </a:p>
        </p:txBody>
      </p:sp>
      <p:sp>
        <p:nvSpPr>
          <p:cNvPr id="8" name="">
            <a:extLst>
              <a:ext uri="{FF2B5EF4-FFF2-40B4-BE49-F238E27FC236}">
                <ns2:creationId id="{56B851E9-6FC5-431B-859B-AF028D6FEB8F}"/>
              </a:ext>
            </a:extLst>
          </p:cNvPr>
          <p:cNvSpPr>
            <a:spLocks noGrp="1"/>
          </p:cNvSpPr>
          <p:nvPr/>
        </p:nvSpPr>
        <p:spPr>
          <a:xfrm>
            <a:off x="1257300" y="3105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v-SE">
                <a:solidFill>
                  <a:srgbClr val="153F36"/>
                </a:solidFill>
                <a:latin typeface="Arial"/>
                <a:ea typeface="Arial"/>
                <a:cs typeface="Arial"/>
              </a:rPr>
              <a:t>Personlig kontakt</a:t>
            </a:r>
          </a:p>
        </p:txBody>
      </p:sp>
      <p:sp>
        <p:nvSpPr>
          <p:cNvPr id="9" name="">
            <a:extLst>
              <a:ext uri="{FF2B5EF4-FFF2-40B4-BE49-F238E27FC236}">
                <ns2:creationId id="{818F0784-40F3-44C9-9582-B7A15C5FB7EE}"/>
              </a:ext>
            </a:extLst>
          </p:cNvPr>
          <p:cNvSpPr>
            <a:spLocks noGrp="1"/>
          </p:cNvSpPr>
          <p:nvPr/>
        </p:nvSpPr>
        <p:spPr>
          <a:xfrm>
            <a:off x="1257300" y="3514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Förbered meddelandet och bekräfta att det faktiskt har skickats.</a:t>
            </a:r>
          </a:p>
        </p:txBody>
      </p:sp>
      <p:sp>
        <p:nvSpPr>
          <p:cNvPr id="10" name="">
            <a:extLst>
              <a:ext uri="{FF2B5EF4-FFF2-40B4-BE49-F238E27FC236}">
                <ns2:creationId id="{B9F0BD01-52B3-41AC-98C0-040405407F1A}"/>
              </a:ext>
            </a:extLst>
          </p:cNvPr>
          <p:cNvSpPr>
            <a:spLocks noGrp="1"/>
          </p:cNvSpPr>
          <p:nvPr/>
        </p:nvSpPr>
        <p:spPr>
          <a:xfrm>
            <a:off x="609600" y="4248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v-SE">
                <a:solidFill>
                  <a:srgbClr val="148977"/>
                </a:solidFill>
                <a:latin typeface="Arial"/>
                <a:ea typeface="Arial"/>
                <a:cs typeface="Arial"/>
              </a:rPr>
              <a:t>3.</a:t>
            </a:r>
          </a:p>
        </p:txBody>
      </p:sp>
      <p:sp>
        <p:nvSpPr>
          <p:cNvPr id="11" name="">
            <a:extLst>
              <a:ext uri="{FF2B5EF4-FFF2-40B4-BE49-F238E27FC236}">
                <ns2:creationId id="{481DB09C-DD2D-4344-86DC-1D4C290AFDE8}"/>
              </a:ext>
            </a:extLst>
          </p:cNvPr>
          <p:cNvSpPr>
            <a:spLocks noGrp="1"/>
          </p:cNvSpPr>
          <p:nvPr/>
        </p:nvSpPr>
        <p:spPr>
          <a:xfrm>
            <a:off x="1257300" y="4248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v-SE">
                <a:solidFill>
                  <a:srgbClr val="153F36"/>
                </a:solidFill>
                <a:latin typeface="Arial"/>
                <a:ea typeface="Arial"/>
                <a:cs typeface="Arial"/>
              </a:rPr>
              <a:t>Nästa överenskomna steg</a:t>
            </a:r>
          </a:p>
        </p:txBody>
      </p:sp>
      <p:sp>
        <p:nvSpPr>
          <p:cNvPr id="12" name="">
            <a:extLst>
              <a:ext uri="{FF2B5EF4-FFF2-40B4-BE49-F238E27FC236}">
                <ns2:creationId id="{FA5462F9-CF88-452C-9CD7-60E7B954693D}"/>
              </a:ext>
            </a:extLst>
          </p:cNvPr>
          <p:cNvSpPr>
            <a:spLocks noGrp="1"/>
          </p:cNvSpPr>
          <p:nvPr/>
        </p:nvSpPr>
        <p:spPr>
          <a:xfrm>
            <a:off x="1257300" y="4657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Påminnelse om samtal och fortsatt stöd.</a:t>
            </a:r>
          </a:p>
        </p:txBody>
      </p:sp>
      <p:sp>
        <p:nvSpPr>
          <p:cNvPr id="13" name="">
            <a:extLst>
              <a:ext uri="{FF2B5EF4-FFF2-40B4-BE49-F238E27FC236}">
                <ns2:creationId id="{EA4F5EE5-D9B7-490A-8B9A-397E2C50127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PRO-funktion. Siffrorna underlättar samtalet, men ersätter det inte.</a:t>
            </a:r>
          </a:p>
        </p:txBody>
      </p:sp>
    </p:spTree>
    <p:extLst>
      <p:ext uri="{BB962C8B-B14F-4D97-AF65-F5344CB8AC3E}">
        <ns4:creationId val="743576115"/>
      </p:ext>
    </p:extLst>
  </p:cSld>
</p:sld>
</file>

<file path=ppt/slides/slide2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15" name="">
            <a:extLst>
              <a:ext uri="{FF2B5EF4-FFF2-40B4-BE49-F238E27FC236}">
                <ns2:creationId id="{8FD54B42-D5D9-4C8E-A795-D8C9DC824F7E}"/>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sv-SE">
                <a:solidFill>
                  <a:srgbClr val="D4E8DD"/>
                </a:solidFill>
                <a:latin typeface="Arial"/>
                <a:ea typeface="Arial"/>
                <a:cs typeface="Arial"/>
              </a:rPr>
              <a:t>26</a:t>
            </a:r>
          </a:p>
        </p:txBody>
      </p:sp>
      <p:sp>
        <p:nvSpPr>
          <p:cNvPr id="2" name="Naslov">
            <a:extLst>
              <a:ext uri="{FF2B5EF4-FFF2-40B4-BE49-F238E27FC236}">
                <ns2:creationId id="{0A8A4CAC-4231-4F7F-ACB0-D9A1910CA919}"/>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FFFFFF"/>
                </a:solidFill>
                <a:latin typeface="Arial"/>
                <a:ea typeface="Arial"/>
                <a:cs typeface="Arial"/>
              </a:defRPr>
            </a:defPPr>
          </a:lstStyle>
          <a:p>
            <a:pPr>
              <a:defRPr sz="3600" b="1">
                <a:solidFill>
                  <a:srgbClr val="FFFFFF"/>
                </a:solidFill>
                <a:latin typeface="Arial"/>
                <a:ea typeface="Arial"/>
                <a:cs typeface="Arial"/>
              </a:defRPr>
            </a:pPr>
            <a:r>
              <a:rPr sz="3600" b="1" lang="sv-SE">
                <a:solidFill>
                  <a:srgbClr val="FFFFFF"/>
                </a:solidFill>
                <a:latin typeface="Arial"/>
                <a:ea typeface="Arial"/>
                <a:cs typeface="Arial"/>
              </a:rPr>
              <a:t>Ett exempel från vardagen</a:t>
            </a:r>
          </a:p>
        </p:txBody>
      </p:sp>
      <p:sp>
        <p:nvSpPr>
          <p:cNvPr id="3" name="">
            <a:extLst>
              <a:ext uri="{FF2B5EF4-FFF2-40B4-BE49-F238E27FC236}">
                <ns2:creationId id="{95AA7EBA-6878-4508-B7DD-388E8A06A72D}"/>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v-SE">
                <a:solidFill>
                  <a:srgbClr val="D4E8DD"/>
                </a:solidFill>
                <a:latin typeface="Arial"/>
                <a:ea typeface="Arial"/>
                <a:cs typeface="Arial"/>
              </a:rPr>
              <a:t>1.</a:t>
            </a:r>
          </a:p>
        </p:txBody>
      </p:sp>
      <p:sp>
        <p:nvSpPr>
          <p:cNvPr id="4" name="">
            <a:extLst>
              <a:ext uri="{FF2B5EF4-FFF2-40B4-BE49-F238E27FC236}">
                <ns2:creationId id="{03646A3A-C104-4F37-B92F-BB2EAE187254}"/>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v-SE">
                <a:solidFill>
                  <a:srgbClr val="FFFFFF"/>
                </a:solidFill>
                <a:latin typeface="Arial"/>
                <a:ea typeface="Arial"/>
                <a:cs typeface="Arial"/>
              </a:rPr>
              <a:t>Dagens steg</a:t>
            </a:r>
          </a:p>
        </p:txBody>
      </p:sp>
      <p:sp>
        <p:nvSpPr>
          <p:cNvPr id="5" name="">
            <a:extLst>
              <a:ext uri="{FF2B5EF4-FFF2-40B4-BE49-F238E27FC236}">
                <ns2:creationId id="{FE393999-B9B5-4679-B5D3-6DB274700D3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v-SE">
                <a:solidFill>
                  <a:srgbClr val="D4E8DD"/>
                </a:solidFill>
                <a:latin typeface="Arial"/>
                <a:ea typeface="Arial"/>
                <a:cs typeface="Arial"/>
              </a:rPr>
              <a:t>Jag öppnar en uppgift och förstår vad jag ska göra.</a:t>
            </a:r>
          </a:p>
        </p:txBody>
      </p:sp>
      <p:sp>
        <p:nvSpPr>
          <p:cNvPr id="6" name="">
            <a:extLst>
              <a:ext uri="{FF2B5EF4-FFF2-40B4-BE49-F238E27FC236}">
                <ns2:creationId id="{91FEC0DE-5CB4-4CA9-AAEC-3F72A813B357}"/>
              </a:ext>
            </a:extLst>
          </p:cNvPr>
          <p:cNvSpPr>
            <a:spLocks noGrp="1"/>
          </p:cNvSpPr>
          <p:nvPr/>
        </p:nvSpPr>
        <p:spPr>
          <a:xfrm>
            <a:off x="609600" y="28765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v-SE">
                <a:solidFill>
                  <a:srgbClr val="D4E8DD"/>
                </a:solidFill>
                <a:latin typeface="Arial"/>
                <a:ea typeface="Arial"/>
                <a:cs typeface="Arial"/>
              </a:rPr>
              <a:t>2.</a:t>
            </a:r>
          </a:p>
        </p:txBody>
      </p:sp>
      <p:sp>
        <p:nvSpPr>
          <p:cNvPr id="7" name="">
            <a:extLst>
              <a:ext uri="{FF2B5EF4-FFF2-40B4-BE49-F238E27FC236}">
                <ns2:creationId id="{DAD20ADD-6670-452E-AC38-4568348090F2}"/>
              </a:ext>
            </a:extLst>
          </p:cNvPr>
          <p:cNvSpPr>
            <a:spLocks noGrp="1"/>
          </p:cNvSpPr>
          <p:nvPr/>
        </p:nvSpPr>
        <p:spPr>
          <a:xfrm>
            <a:off x="1257300" y="28765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v-SE">
                <a:solidFill>
                  <a:srgbClr val="FFFFFF"/>
                </a:solidFill>
                <a:latin typeface="Arial"/>
                <a:ea typeface="Arial"/>
                <a:cs typeface="Arial"/>
              </a:rPr>
              <a:t>Ana och hennes intresse</a:t>
            </a:r>
          </a:p>
        </p:txBody>
      </p:sp>
      <p:sp>
        <p:nvSpPr>
          <p:cNvPr id="8" name="">
            <a:extLst>
              <a:ext uri="{FF2B5EF4-FFF2-40B4-BE49-F238E27FC236}">
                <ns2:creationId id="{65D3A541-A07B-40D6-996F-497837E3F221}"/>
              </a:ext>
            </a:extLst>
          </p:cNvPr>
          <p:cNvSpPr>
            <a:spLocks noGrp="1"/>
          </p:cNvSpPr>
          <p:nvPr/>
        </p:nvSpPr>
        <p:spPr>
          <a:xfrm>
            <a:off x="1257300" y="32861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v-SE">
                <a:solidFill>
                  <a:srgbClr val="D4E8DD"/>
                </a:solidFill>
                <a:latin typeface="Arial"/>
                <a:ea typeface="Arial"/>
                <a:cs typeface="Arial"/>
              </a:rPr>
              <a:t>Jag förbereder ett användbart meddelande utifrån samtalet.</a:t>
            </a:r>
          </a:p>
        </p:txBody>
      </p:sp>
      <p:sp>
        <p:nvSpPr>
          <p:cNvPr id="9" name="">
            <a:extLst>
              <a:ext uri="{FF2B5EF4-FFF2-40B4-BE49-F238E27FC236}">
                <ns2:creationId id="{B0B45942-1C82-4F2E-A57D-A14033966DFD}"/>
              </a:ext>
            </a:extLst>
          </p:cNvPr>
          <p:cNvSpPr>
            <a:spLocks noGrp="1"/>
          </p:cNvSpPr>
          <p:nvPr/>
        </p:nvSpPr>
        <p:spPr>
          <a:xfrm>
            <a:off x="609600" y="37909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v-SE">
                <a:solidFill>
                  <a:srgbClr val="D4E8DD"/>
                </a:solidFill>
                <a:latin typeface="Arial"/>
                <a:ea typeface="Arial"/>
                <a:cs typeface="Arial"/>
              </a:rPr>
              <a:t>3.</a:t>
            </a:r>
          </a:p>
        </p:txBody>
      </p:sp>
      <p:sp>
        <p:nvSpPr>
          <p:cNvPr id="10" name="">
            <a:extLst>
              <a:ext uri="{FF2B5EF4-FFF2-40B4-BE49-F238E27FC236}">
                <ns2:creationId id="{60121B05-21D8-491D-8733-458B22AA21A7}"/>
              </a:ext>
            </a:extLst>
          </p:cNvPr>
          <p:cNvSpPr>
            <a:spLocks noGrp="1"/>
          </p:cNvSpPr>
          <p:nvPr/>
        </p:nvSpPr>
        <p:spPr>
          <a:xfrm>
            <a:off x="1257300" y="37909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v-SE">
                <a:solidFill>
                  <a:srgbClr val="FFFFFF"/>
                </a:solidFill>
                <a:latin typeface="Arial"/>
                <a:ea typeface="Arial"/>
                <a:cs typeface="Arial"/>
              </a:rPr>
              <a:t>Min rekommendation</a:t>
            </a:r>
          </a:p>
        </p:txBody>
      </p:sp>
      <p:sp>
        <p:nvSpPr>
          <p:cNvPr id="11" name="">
            <a:extLst>
              <a:ext uri="{FF2B5EF4-FFF2-40B4-BE49-F238E27FC236}">
                <ns2:creationId id="{F6AE71F9-B8CE-4986-8A1F-59474B627BB0}"/>
              </a:ext>
            </a:extLst>
          </p:cNvPr>
          <p:cNvSpPr>
            <a:spLocks noGrp="1"/>
          </p:cNvSpPr>
          <p:nvPr/>
        </p:nvSpPr>
        <p:spPr>
          <a:xfrm>
            <a:off x="1257300" y="42005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v-SE">
                <a:solidFill>
                  <a:srgbClr val="D4E8DD"/>
                </a:solidFill>
                <a:latin typeface="Arial"/>
                <a:ea typeface="Arial"/>
                <a:cs typeface="Arial"/>
              </a:rPr>
              <a:t>Jag delar en produkt eller en inbjudan till ett valt tillfälle.</a:t>
            </a:r>
          </a:p>
        </p:txBody>
      </p:sp>
      <p:sp>
        <p:nvSpPr>
          <p:cNvPr id="12" name="">
            <a:extLst>
              <a:ext uri="{FF2B5EF4-FFF2-40B4-BE49-F238E27FC236}">
                <ns2:creationId id="{F4A4571D-FA77-422B-9D76-F3ACB7D696EF}"/>
              </a:ext>
            </a:extLst>
          </p:cNvPr>
          <p:cNvSpPr>
            <a:spLocks noGrp="1"/>
          </p:cNvSpPr>
          <p:nvPr/>
        </p:nvSpPr>
        <p:spPr>
          <a:xfrm>
            <a:off x="609600" y="4705350"/>
            <a:ext cx="523875" cy="495300"/>
          </a:xfrm>
          <a:prstGeom prst="rect">
            <a:avLst/>
          </a:prstGeom>
          <a:noFill/>
          <a:ln w="0">
            <a:noFill/>
          </a:ln>
        </p:spPr>
        <p:txBody>
          <a:bodyPr wrap="square" lIns="0" tIns="0" rIns="0" bIns="0" anchor="t">
            <a:noAutofit/>
          </a:bodyPr>
          <a:lstStyle>
            <a:defPPr>
              <a:defRPr sz="2250" b="1">
                <a:solidFill>
                  <a:srgbClr val="D4E8DD"/>
                </a:solidFill>
                <a:latin typeface="Arial"/>
                <a:ea typeface="Arial"/>
                <a:cs typeface="Arial"/>
              </a:defRPr>
            </a:defPPr>
          </a:lstStyle>
          <a:p>
            <a:pPr>
              <a:defRPr sz="2250" b="1">
                <a:solidFill>
                  <a:srgbClr val="D4E8DD"/>
                </a:solidFill>
                <a:latin typeface="Arial"/>
                <a:ea typeface="Arial"/>
                <a:cs typeface="Arial"/>
              </a:defRPr>
            </a:pPr>
            <a:r>
              <a:rPr sz="2250" b="1" lang="sv-SE">
                <a:solidFill>
                  <a:srgbClr val="D4E8DD"/>
                </a:solidFill>
                <a:latin typeface="Arial"/>
                <a:ea typeface="Arial"/>
                <a:cs typeface="Arial"/>
              </a:rPr>
              <a:t>4.</a:t>
            </a:r>
          </a:p>
        </p:txBody>
      </p:sp>
      <p:sp>
        <p:nvSpPr>
          <p:cNvPr id="13" name="">
            <a:extLst>
              <a:ext uri="{FF2B5EF4-FFF2-40B4-BE49-F238E27FC236}">
                <ns2:creationId id="{7F97F9DF-E177-4FFC-BEA3-E8607C5F908E}"/>
              </a:ext>
            </a:extLst>
          </p:cNvPr>
          <p:cNvSpPr>
            <a:spLocks noGrp="1"/>
          </p:cNvSpPr>
          <p:nvPr/>
        </p:nvSpPr>
        <p:spPr>
          <a:xfrm>
            <a:off x="1257300" y="4705350"/>
            <a:ext cx="9925050" cy="457200"/>
          </a:xfrm>
          <a:prstGeom prst="rect">
            <a:avLst/>
          </a:prstGeom>
          <a:noFill/>
          <a:ln w="0">
            <a:noFill/>
          </a:ln>
        </p:spPr>
        <p:txBody>
          <a:bodyPr wrap="square" lIns="0" tIns="0" rIns="0" bIns="0" anchor="t">
            <a:noAutofit/>
          </a:bodyPr>
          <a:lstStyle>
            <a:defPPr>
              <a:defRPr sz="2250" b="1">
                <a:solidFill>
                  <a:srgbClr val="FFFFFF"/>
                </a:solidFill>
                <a:latin typeface="Arial"/>
                <a:ea typeface="Arial"/>
                <a:cs typeface="Arial"/>
              </a:defRPr>
            </a:defPPr>
          </a:lstStyle>
          <a:p>
            <a:pPr>
              <a:defRPr sz="2250" b="1">
                <a:solidFill>
                  <a:srgbClr val="FFFFFF"/>
                </a:solidFill>
                <a:latin typeface="Arial"/>
                <a:ea typeface="Arial"/>
                <a:cs typeface="Arial"/>
              </a:defRPr>
            </a:pPr>
            <a:r>
              <a:rPr sz="2250" b="1" lang="sv-SE">
                <a:solidFill>
                  <a:srgbClr val="FFFFFF"/>
                </a:solidFill>
                <a:latin typeface="Arial"/>
                <a:ea typeface="Arial"/>
                <a:cs typeface="Arial"/>
              </a:rPr>
              <a:t>Nästa överenskomna steg</a:t>
            </a:r>
          </a:p>
        </p:txBody>
      </p:sp>
      <p:sp>
        <p:nvSpPr>
          <p:cNvPr id="14" name="">
            <a:extLst>
              <a:ext uri="{FF2B5EF4-FFF2-40B4-BE49-F238E27FC236}">
                <ns2:creationId id="{AE76C082-5565-4973-AD5C-698FD8AAAAA8}"/>
              </a:ext>
            </a:extLst>
          </p:cNvPr>
          <p:cNvSpPr>
            <a:spLocks noGrp="1"/>
          </p:cNvSpPr>
          <p:nvPr/>
        </p:nvSpPr>
        <p:spPr>
          <a:xfrm>
            <a:off x="1257300" y="5114925"/>
            <a:ext cx="9925050" cy="552450"/>
          </a:xfrm>
          <a:prstGeom prst="rect">
            <a:avLst/>
          </a:prstGeom>
          <a:noFill/>
          <a:ln w="0">
            <a:noFill/>
          </a:ln>
        </p:spPr>
        <p:txBody>
          <a:bodyPr wrap="square" lIns="0" tIns="0" rIns="0" bIns="0" anchor="t">
            <a:noAutofit/>
          </a:bodyPr>
          <a:lstStyle>
            <a:defPPr>
              <a:defRPr sz="1875" b="0">
                <a:solidFill>
                  <a:srgbClr val="D4E8DD"/>
                </a:solidFill>
                <a:latin typeface="Arial"/>
                <a:ea typeface="Arial"/>
                <a:cs typeface="Arial"/>
              </a:defRPr>
            </a:defPPr>
          </a:lstStyle>
          <a:p>
            <a:pPr>
              <a:defRPr sz="1875" b="0">
                <a:solidFill>
                  <a:srgbClr val="D4E8DD"/>
                </a:solidFill>
                <a:latin typeface="Arial"/>
                <a:ea typeface="Arial"/>
                <a:cs typeface="Arial"/>
              </a:defRPr>
            </a:pPr>
            <a:r>
              <a:rPr sz="1875" b="0" lang="sv-SE">
                <a:solidFill>
                  <a:srgbClr val="D4E8DD"/>
                </a:solidFill>
                <a:latin typeface="Arial"/>
                <a:ea typeface="Arial"/>
                <a:cs typeface="Arial"/>
              </a:rPr>
              <a:t>Jag antecknar åtgärden och datumet för nästa kontakt.</a:t>
            </a:r>
          </a:p>
        </p:txBody>
      </p:sp>
    </p:spTree>
    <p:extLst>
      <p:ext uri="{BB962C8B-B14F-4D97-AF65-F5344CB8AC3E}">
        <ns3:creationId val="1769184539"/>
      </p:ext>
    </p:extLst>
  </p:cSld>
</p:sld>
</file>

<file path=ppt/slides/slide27.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AD69F793-5AC2-4B61-8E08-807EA3E82C93}"/>
              </a:ext>
            </a:extLst>
          </p:cNvPr>
          <p:cNvPicPr>
            <a:picLocks noChangeAspect="1"/>
          </p:cNvPicPr>
          <p:nvPr/>
        </p:nvPicPr>
        <p:blipFill>
          <a:blip r:embed="R5fc007ce49884a48"/>
          <a:stretch/>
        </p:blipFill>
        <p:spPr>
          <a:xfrm>
            <a:off x="9867900" y="276061"/>
            <a:ext cx="1695450" cy="438478"/>
          </a:xfrm>
          <a:prstGeom prst="rect">
            <a:avLst/>
          </a:prstGeom>
        </p:spPr>
      </p:pic>
      <p:sp>
        <p:nvSpPr>
          <p:cNvPr id="2" name="">
            <a:extLst>
              <a:ext uri="{FF2B5EF4-FFF2-40B4-BE49-F238E27FC236}">
                <ns2:creationId id="{D599A719-1E57-4637-B8AE-2EADBB60B92A}"/>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27</a:t>
            </a:r>
          </a:p>
        </p:txBody>
      </p:sp>
      <p:sp>
        <p:nvSpPr>
          <p:cNvPr id="3" name="Naslov">
            <a:extLst>
              <a:ext uri="{FF2B5EF4-FFF2-40B4-BE49-F238E27FC236}">
                <ns2:creationId id="{8BB1BE9D-040A-44D0-AEAF-D2C3ACE9FBD0}"/>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Veckan kring ditt webbinarium</a:t>
            </a:r>
          </a:p>
        </p:txBody>
      </p:sp>
      <p:sp>
        <p:nvSpPr>
          <p:cNvPr id="4" name="">
            <a:extLst>
              <a:ext uri="{FF2B5EF4-FFF2-40B4-BE49-F238E27FC236}">
                <ns2:creationId id="{0F5BB3E7-43FB-4F91-B6E5-6557057A7B6C}"/>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v-SE">
                <a:solidFill>
                  <a:srgbClr val="148977"/>
                </a:solidFill>
                <a:latin typeface="Arial"/>
                <a:ea typeface="Arial"/>
                <a:cs typeface="Arial"/>
              </a:rPr>
              <a:t>1.</a:t>
            </a:r>
          </a:p>
        </p:txBody>
      </p:sp>
      <p:sp>
        <p:nvSpPr>
          <p:cNvPr id="5" name="">
            <a:extLst>
              <a:ext uri="{FF2B5EF4-FFF2-40B4-BE49-F238E27FC236}">
                <ns2:creationId id="{82D731A5-172B-48C5-9CD0-E353F39BF95A}"/>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v-SE">
                <a:solidFill>
                  <a:srgbClr val="153F36"/>
                </a:solidFill>
                <a:latin typeface="Arial"/>
                <a:ea typeface="Arial"/>
                <a:cs typeface="Arial"/>
              </a:rPr>
              <a:t>Före tillfället</a:t>
            </a:r>
          </a:p>
        </p:txBody>
      </p:sp>
      <p:sp>
        <p:nvSpPr>
          <p:cNvPr id="6" name="">
            <a:extLst>
              <a:ext uri="{FF2B5EF4-FFF2-40B4-BE49-F238E27FC236}">
                <ns2:creationId id="{DE5EA19D-E7B5-44A8-9292-5670686D93E3}"/>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Bjud in personer som är intresserade av ämnet och följ anmälningarna.</a:t>
            </a:r>
          </a:p>
        </p:txBody>
      </p:sp>
      <p:sp>
        <p:nvSpPr>
          <p:cNvPr id="7" name="">
            <a:extLst>
              <a:ext uri="{FF2B5EF4-FFF2-40B4-BE49-F238E27FC236}">
                <ns2:creationId id="{3563B572-16E0-4754-AEA8-67452D850777}"/>
              </a:ext>
            </a:extLst>
          </p:cNvPr>
          <p:cNvSpPr>
            <a:spLocks noGrp="1"/>
          </p:cNvSpPr>
          <p:nvPr/>
        </p:nvSpPr>
        <p:spPr>
          <a:xfrm>
            <a:off x="609600" y="3133725"/>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v-SE">
                <a:solidFill>
                  <a:srgbClr val="148977"/>
                </a:solidFill>
                <a:latin typeface="Arial"/>
                <a:ea typeface="Arial"/>
                <a:cs typeface="Arial"/>
              </a:rPr>
              <a:t>2.</a:t>
            </a:r>
          </a:p>
        </p:txBody>
      </p:sp>
      <p:sp>
        <p:nvSpPr>
          <p:cNvPr id="8" name="">
            <a:extLst>
              <a:ext uri="{FF2B5EF4-FFF2-40B4-BE49-F238E27FC236}">
                <ns2:creationId id="{8ADC08C2-B626-42AB-8FE0-A6E440453B26}"/>
              </a:ext>
            </a:extLst>
          </p:cNvPr>
          <p:cNvSpPr>
            <a:spLocks noGrp="1"/>
          </p:cNvSpPr>
          <p:nvPr/>
        </p:nvSpPr>
        <p:spPr>
          <a:xfrm>
            <a:off x="1257300" y="3133725"/>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v-SE">
                <a:solidFill>
                  <a:srgbClr val="153F36"/>
                </a:solidFill>
                <a:latin typeface="Arial"/>
                <a:ea typeface="Arial"/>
                <a:cs typeface="Arial"/>
              </a:rPr>
              <a:t>På webbinariedagen</a:t>
            </a:r>
          </a:p>
        </p:txBody>
      </p:sp>
      <p:sp>
        <p:nvSpPr>
          <p:cNvPr id="9" name="">
            <a:extLst>
              <a:ext uri="{FF2B5EF4-FFF2-40B4-BE49-F238E27FC236}">
                <ns2:creationId id="{DADD1F90-51F6-4480-B898-7B0301DA703B}"/>
              </a:ext>
            </a:extLst>
          </p:cNvPr>
          <p:cNvSpPr>
            <a:spLocks noGrp="1"/>
          </p:cNvSpPr>
          <p:nvPr/>
        </p:nvSpPr>
        <p:spPr>
          <a:xfrm>
            <a:off x="1257300" y="35433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Stäm av överenskommelser med gästerna och länken för att delta.</a:t>
            </a:r>
          </a:p>
        </p:txBody>
      </p:sp>
      <p:sp>
        <p:nvSpPr>
          <p:cNvPr id="10" name="">
            <a:extLst>
              <a:ext uri="{FF2B5EF4-FFF2-40B4-BE49-F238E27FC236}">
                <ns2:creationId id="{484C3046-0C6A-4B03-8AD2-29A084085E35}"/>
              </a:ext>
            </a:extLst>
          </p:cNvPr>
          <p:cNvSpPr>
            <a:spLocks noGrp="1"/>
          </p:cNvSpPr>
          <p:nvPr/>
        </p:nvSpPr>
        <p:spPr>
          <a:xfrm>
            <a:off x="609600" y="430530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v-SE">
                <a:solidFill>
                  <a:srgbClr val="148977"/>
                </a:solidFill>
                <a:latin typeface="Arial"/>
                <a:ea typeface="Arial"/>
                <a:cs typeface="Arial"/>
              </a:rPr>
              <a:t>3.</a:t>
            </a:r>
          </a:p>
        </p:txBody>
      </p:sp>
      <p:sp>
        <p:nvSpPr>
          <p:cNvPr id="11" name="">
            <a:extLst>
              <a:ext uri="{FF2B5EF4-FFF2-40B4-BE49-F238E27FC236}">
                <ns2:creationId id="{9A55AF0B-C2C8-4E43-9E8D-6C7703D217C1}"/>
              </a:ext>
            </a:extLst>
          </p:cNvPr>
          <p:cNvSpPr>
            <a:spLocks noGrp="1"/>
          </p:cNvSpPr>
          <p:nvPr/>
        </p:nvSpPr>
        <p:spPr>
          <a:xfrm>
            <a:off x="1257300" y="430530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v-SE">
                <a:solidFill>
                  <a:srgbClr val="153F36"/>
                </a:solidFill>
                <a:latin typeface="Arial"/>
                <a:ea typeface="Arial"/>
                <a:cs typeface="Arial"/>
              </a:rPr>
              <a:t>Efter mötet</a:t>
            </a:r>
          </a:p>
        </p:txBody>
      </p:sp>
      <p:sp>
        <p:nvSpPr>
          <p:cNvPr id="12" name="">
            <a:extLst>
              <a:ext uri="{FF2B5EF4-FFF2-40B4-BE49-F238E27FC236}">
                <ns2:creationId id="{DB263AC0-53C8-4704-9C0D-1FE463EBD2D5}"/>
              </a:ext>
            </a:extLst>
          </p:cNvPr>
          <p:cNvSpPr>
            <a:spLocks noGrp="1"/>
          </p:cNvSpPr>
          <p:nvPr/>
        </p:nvSpPr>
        <p:spPr>
          <a:xfrm>
            <a:off x="1257300" y="47148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Prata om intresset och kom överens om nästa steg.</a:t>
            </a:r>
          </a:p>
        </p:txBody>
      </p:sp>
      <p:sp>
        <p:nvSpPr>
          <p:cNvPr id="13" name="">
            <a:extLst>
              <a:ext uri="{FF2B5EF4-FFF2-40B4-BE49-F238E27FC236}">
                <ns2:creationId id="{75B3B4AC-FE57-4B6D-896B-D75217171EA0}"/>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Mellan mötena arbetar du med kunderna och fortsätter med de tillgängliga stegen i programmet Min väg.</a:t>
            </a:r>
          </a:p>
        </p:txBody>
      </p:sp>
    </p:spTree>
    <p:extLst>
      <p:ext uri="{BB962C8B-B14F-4D97-AF65-F5344CB8AC3E}">
        <ns4:creationId val="1050284790"/>
      </p:ext>
    </p:extLst>
  </p:cSld>
</p:sld>
</file>

<file path=ppt/slides/slide28.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90AF6069-FCC7-4456-B755-1C11B7C5D272}"/>
              </a:ext>
            </a:extLst>
          </p:cNvPr>
          <p:cNvPicPr>
            <a:picLocks noChangeAspect="1"/>
          </p:cNvPicPr>
          <p:nvPr/>
        </p:nvPicPr>
        <p:blipFill>
          <a:blip r:embed="R2ce76662dc9b4623"/>
          <a:stretch/>
        </p:blipFill>
        <p:spPr>
          <a:xfrm>
            <a:off x="9867900" y="276061"/>
            <a:ext cx="1695450" cy="438478"/>
          </a:xfrm>
          <a:prstGeom prst="rect">
            <a:avLst/>
          </a:prstGeom>
        </p:spPr>
      </p:pic>
      <p:sp>
        <p:nvSpPr>
          <p:cNvPr id="2" name="">
            <a:extLst>
              <a:ext uri="{FF2B5EF4-FFF2-40B4-BE49-F238E27FC236}">
                <ns2:creationId id="{C23F1E39-5BF0-44A4-A298-3D226CF4DBA5}"/>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28</a:t>
            </a:r>
          </a:p>
        </p:txBody>
      </p:sp>
      <p:sp>
        <p:nvSpPr>
          <p:cNvPr id="3" name="Naslov">
            <a:extLst>
              <a:ext uri="{FF2B5EF4-FFF2-40B4-BE49-F238E27FC236}">
                <ns2:creationId id="{AB0951CD-823B-4F14-9076-B1C104C88A1D}"/>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Exempel på första veckan</a:t>
            </a:r>
          </a:p>
        </p:txBody>
      </p:sp>
      <p:sp>
        <p:nvSpPr>
          <p:cNvPr id="4" name="">
            <a:extLst>
              <a:ext uri="{FF2B5EF4-FFF2-40B4-BE49-F238E27FC236}">
                <ns2:creationId id="{E4E16D70-7C22-4173-AEA3-D57D27D08849}"/>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1.</a:t>
            </a:r>
          </a:p>
        </p:txBody>
      </p:sp>
      <p:sp>
        <p:nvSpPr>
          <p:cNvPr id="5" name="">
            <a:extLst>
              <a:ext uri="{FF2B5EF4-FFF2-40B4-BE49-F238E27FC236}">
                <ns2:creationId id="{89CAEC09-35AD-4098-B8D6-9F7812181948}"/>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Introduktion</a:t>
            </a:r>
          </a:p>
        </p:txBody>
      </p:sp>
      <p:sp>
        <p:nvSpPr>
          <p:cNvPr id="6" name="">
            <a:extLst>
              <a:ext uri="{FF2B5EF4-FFF2-40B4-BE49-F238E27FC236}">
                <ns2:creationId id="{0D5006A6-5EE1-48F3-BADE-BF53FCED4EB5}"/>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Konto, kort och samtal med sponsorn.</a:t>
            </a:r>
          </a:p>
        </p:txBody>
      </p:sp>
      <p:sp>
        <p:nvSpPr>
          <p:cNvPr id="7" name="">
            <a:extLst>
              <a:ext uri="{FF2B5EF4-FFF2-40B4-BE49-F238E27FC236}">
                <ns2:creationId id="{7303B055-FEE5-47B6-8053-4DA925ABC5E7}"/>
              </a:ext>
            </a:extLst>
          </p:cNvPr>
          <p:cNvSpPr>
            <a:spLocks noGrp="1"/>
          </p:cNvSpPr>
          <p:nvPr/>
        </p:nvSpPr>
        <p:spPr>
          <a:xfrm>
            <a:off x="609600" y="28575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2.</a:t>
            </a:r>
          </a:p>
        </p:txBody>
      </p:sp>
      <p:sp>
        <p:nvSpPr>
          <p:cNvPr id="8" name="">
            <a:extLst>
              <a:ext uri="{FF2B5EF4-FFF2-40B4-BE49-F238E27FC236}">
                <ns2:creationId id="{9F217234-F93D-4B66-BF0E-A719F5C8D308}"/>
              </a:ext>
            </a:extLst>
          </p:cNvPr>
          <p:cNvSpPr>
            <a:spLocks noGrp="1"/>
          </p:cNvSpPr>
          <p:nvPr/>
        </p:nvSpPr>
        <p:spPr>
          <a:xfrm>
            <a:off x="1257300" y="28575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En användbar rekommendation</a:t>
            </a:r>
          </a:p>
        </p:txBody>
      </p:sp>
      <p:sp>
        <p:nvSpPr>
          <p:cNvPr id="9" name="">
            <a:extLst>
              <a:ext uri="{FF2B5EF4-FFF2-40B4-BE49-F238E27FC236}">
                <ns2:creationId id="{CC951A8C-6108-4925-B9E2-E88BC497C0F5}"/>
              </a:ext>
            </a:extLst>
          </p:cNvPr>
          <p:cNvSpPr>
            <a:spLocks noGrp="1"/>
          </p:cNvSpPr>
          <p:nvPr/>
        </p:nvSpPr>
        <p:spPr>
          <a:xfrm>
            <a:off x="1257300" y="32670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Val av produkt och ett naturligt, personligt meddelande.</a:t>
            </a:r>
          </a:p>
        </p:txBody>
      </p:sp>
      <p:sp>
        <p:nvSpPr>
          <p:cNvPr id="10" name="">
            <a:extLst>
              <a:ext uri="{FF2B5EF4-FFF2-40B4-BE49-F238E27FC236}">
                <ns2:creationId id="{9D38A44F-AE96-4E0B-9981-4DAFF3425B47}"/>
              </a:ext>
            </a:extLst>
          </p:cNvPr>
          <p:cNvSpPr>
            <a:spLocks noGrp="1"/>
          </p:cNvSpPr>
          <p:nvPr/>
        </p:nvSpPr>
        <p:spPr>
          <a:xfrm>
            <a:off x="609600" y="37528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3.</a:t>
            </a:r>
          </a:p>
        </p:txBody>
      </p:sp>
      <p:sp>
        <p:nvSpPr>
          <p:cNvPr id="11" name="">
            <a:extLst>
              <a:ext uri="{FF2B5EF4-FFF2-40B4-BE49-F238E27FC236}">
                <ns2:creationId id="{8E9E14C2-91E9-4D7C-AAE4-F4F0E9B5CF6F}"/>
              </a:ext>
            </a:extLst>
          </p:cNvPr>
          <p:cNvSpPr>
            <a:spLocks noGrp="1"/>
          </p:cNvSpPr>
          <p:nvPr/>
        </p:nvSpPr>
        <p:spPr>
          <a:xfrm>
            <a:off x="1257300" y="37528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En inbjudan</a:t>
            </a:r>
          </a:p>
        </p:txBody>
      </p:sp>
      <p:sp>
        <p:nvSpPr>
          <p:cNvPr id="12" name="">
            <a:extLst>
              <a:ext uri="{FF2B5EF4-FFF2-40B4-BE49-F238E27FC236}">
                <ns2:creationId id="{D22D0B3A-262A-432C-81FD-50F65D84DE52}"/>
              </a:ext>
            </a:extLst>
          </p:cNvPr>
          <p:cNvSpPr>
            <a:spLocks noGrp="1"/>
          </p:cNvSpPr>
          <p:nvPr/>
        </p:nvSpPr>
        <p:spPr>
          <a:xfrm>
            <a:off x="1257300" y="41624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Välj ett aktuellt webbinarium och förbered inbjudan.</a:t>
            </a:r>
          </a:p>
        </p:txBody>
      </p:sp>
      <p:sp>
        <p:nvSpPr>
          <p:cNvPr id="13" name="">
            <a:extLst>
              <a:ext uri="{FF2B5EF4-FFF2-40B4-BE49-F238E27FC236}">
                <ns2:creationId id="{E7B9CBFC-3ADE-4A30-AE7C-A4D42E435278}"/>
              </a:ext>
            </a:extLst>
          </p:cNvPr>
          <p:cNvSpPr>
            <a:spLocks noGrp="1"/>
          </p:cNvSpPr>
          <p:nvPr/>
        </p:nvSpPr>
        <p:spPr>
          <a:xfrm>
            <a:off x="609600" y="46482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4.</a:t>
            </a:r>
          </a:p>
        </p:txBody>
      </p:sp>
      <p:sp>
        <p:nvSpPr>
          <p:cNvPr id="14" name="">
            <a:extLst>
              <a:ext uri="{FF2B5EF4-FFF2-40B4-BE49-F238E27FC236}">
                <ns2:creationId id="{08B2CFAD-8690-4998-8924-E7791A9679EB}"/>
              </a:ext>
            </a:extLst>
          </p:cNvPr>
          <p:cNvSpPr>
            <a:spLocks noGrp="1"/>
          </p:cNvSpPr>
          <p:nvPr/>
        </p:nvSpPr>
        <p:spPr>
          <a:xfrm>
            <a:off x="1257300" y="46482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Kort uppföljning</a:t>
            </a:r>
          </a:p>
        </p:txBody>
      </p:sp>
      <p:sp>
        <p:nvSpPr>
          <p:cNvPr id="15" name="">
            <a:extLst>
              <a:ext uri="{FF2B5EF4-FFF2-40B4-BE49-F238E27FC236}">
                <ns2:creationId id="{31F9D09C-3988-4A44-80DE-E4905FDBB713}"/>
              </a:ext>
            </a:extLst>
          </p:cNvPr>
          <p:cNvSpPr>
            <a:spLocks noGrp="1"/>
          </p:cNvSpPr>
          <p:nvPr/>
        </p:nvSpPr>
        <p:spPr>
          <a:xfrm>
            <a:off x="1257300" y="5057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Vad som har gjorts, vad som är oklart och vad nästa steg är.</a:t>
            </a:r>
          </a:p>
        </p:txBody>
      </p:sp>
    </p:spTree>
    <p:extLst>
      <p:ext uri="{BB962C8B-B14F-4D97-AF65-F5344CB8AC3E}">
        <ns4:creationId val="185701561"/>
      </p:ext>
    </p:extLst>
  </p:cSld>
</p:sld>
</file>

<file path=ppt/slides/slide2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9" name="">
            <a:extLst>
              <a:ext uri="{FF2B5EF4-FFF2-40B4-BE49-F238E27FC236}">
                <ns2:creationId id="{6A372F37-AC02-4069-917F-14900D63FA2F}"/>
              </a:ext>
            </a:extLst>
          </p:cNvPr>
          <p:cNvPicPr>
            <a:picLocks noChangeAspect="1"/>
          </p:cNvPicPr>
          <p:nvPr/>
        </p:nvPicPr>
        <p:blipFill>
          <a:blip r:embed="R5e6a51b14994433f"/>
          <a:stretch/>
        </p:blipFill>
        <p:spPr>
          <a:xfrm>
            <a:off x="9867900" y="276061"/>
            <a:ext cx="1695450" cy="438478"/>
          </a:xfrm>
          <a:prstGeom prst="rect">
            <a:avLst/>
          </a:prstGeom>
        </p:spPr>
      </p:pic>
      <p:sp>
        <p:nvSpPr>
          <p:cNvPr id="2" name="">
            <a:extLst>
              <a:ext uri="{FF2B5EF4-FFF2-40B4-BE49-F238E27FC236}">
                <ns2:creationId id="{F59ED990-7C91-47DE-B6FF-FD1484E9EE76}"/>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29</a:t>
            </a:r>
          </a:p>
        </p:txBody>
      </p:sp>
      <p:sp>
        <p:nvSpPr>
          <p:cNvPr id="3" name="Naslov">
            <a:extLst>
              <a:ext uri="{FF2B5EF4-FFF2-40B4-BE49-F238E27FC236}">
                <ns2:creationId id="{26408AEC-A0D6-4A44-A0F9-D0C8BC1357D7}"/>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Free och PRO: välj utifrån behov</a:t>
            </a:r>
          </a:p>
        </p:txBody>
      </p:sp>
      <p:sp>
        <p:nvSpPr>
          <p:cNvPr id="4" name="">
            <a:extLst>
              <a:ext uri="{FF2B5EF4-FFF2-40B4-BE49-F238E27FC236}">
                <ns2:creationId id="{60B55B24-89D6-4E5D-A9E8-E601C38C3855}"/>
              </a:ext>
            </a:extLst>
          </p:cNvPr>
          <p:cNvSpPr>
            <a:spLocks noGrp="1"/>
          </p:cNvSpPr>
          <p:nvPr/>
        </p:nvSpPr>
        <p:spPr>
          <a:xfrm>
            <a:off x="60960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v-SE">
                <a:solidFill>
                  <a:srgbClr val="153F36"/>
                </a:solidFill>
                <a:latin typeface="Arial"/>
                <a:ea typeface="Arial"/>
                <a:cs typeface="Arial"/>
              </a:rPr>
              <a:t>Gratis</a:t>
            </a:r>
          </a:p>
        </p:txBody>
      </p:sp>
      <p:sp>
        <p:nvSpPr>
          <p:cNvPr id="5" name="">
            <a:extLst>
              <a:ext uri="{FF2B5EF4-FFF2-40B4-BE49-F238E27FC236}">
                <ns2:creationId id="{43A95E34-CA37-48CF-8F92-03753AFC8E52}"/>
              </a:ext>
            </a:extLst>
          </p:cNvPr>
          <p:cNvSpPr>
            <a:spLocks noGrp="1"/>
          </p:cNvSpPr>
          <p:nvPr/>
        </p:nvSpPr>
        <p:spPr>
          <a:xfrm>
            <a:off x="60960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v-SE">
                <a:solidFill>
                  <a:srgbClr val="526B63"/>
                </a:solidFill>
                <a:latin typeface="Arial"/>
                <a:ea typeface="Arial"/>
                <a:cs typeface="Arial"/>
              </a:rPr>
              <a:t>Personligt kort och delning av rekommendationer.</a:t>
            </a:r>
          </a:p>
          <a:p>
            <a:r>
              <a:t/>
            </a:r>
          </a:p>
          <a:p>
            <a:pPr>
              <a:defRPr sz="2175" b="0">
                <a:solidFill>
                  <a:srgbClr val="526B63"/>
                </a:solidFill>
                <a:latin typeface="Arial"/>
                <a:ea typeface="Arial"/>
                <a:cs typeface="Arial"/>
              </a:defRPr>
            </a:pPr>
            <a:r>
              <a:rPr sz="2175" b="0" lang="sv-SE">
                <a:solidFill>
                  <a:srgbClr val="526B63"/>
                </a:solidFill>
                <a:latin typeface="Arial"/>
                <a:ea typeface="Arial"/>
                <a:cs typeface="Arial"/>
              </a:rPr>
              <a:t>Kontakter, överenskomna uppföljningar och personliga uppgifter.</a:t>
            </a:r>
          </a:p>
        </p:txBody>
      </p:sp>
      <p:sp>
        <p:nvSpPr>
          <p:cNvPr id="6" name="">
            <a:extLst>
              <a:ext uri="{FF2B5EF4-FFF2-40B4-BE49-F238E27FC236}">
                <ns2:creationId id="{C4E1F5DC-0C3B-4C12-8156-1609B7C6E1B3}"/>
              </a:ext>
            </a:extLst>
          </p:cNvPr>
          <p:cNvSpPr>
            <a:spLocks noGrp="1"/>
          </p:cNvSpPr>
          <p:nvPr/>
        </p:nvSpPr>
        <p:spPr>
          <a:xfrm>
            <a:off x="6419850" y="2105025"/>
            <a:ext cx="4953000" cy="838200"/>
          </a:xfrm>
          <a:prstGeom prst="rect">
            <a:avLst/>
          </a:prstGeom>
          <a:noFill/>
          <a:ln w="0">
            <a:noFill/>
          </a:ln>
        </p:spPr>
        <p:txBody>
          <a:bodyPr wrap="square" lIns="0" tIns="0" rIns="0" bIns="0" anchor="t">
            <a:noAutofit/>
          </a:bodyPr>
          <a:lstStyle>
            <a:defPPr>
              <a:defRPr sz="2625" b="1">
                <a:solidFill>
                  <a:srgbClr val="153F36"/>
                </a:solidFill>
                <a:latin typeface="Arial"/>
                <a:ea typeface="Arial"/>
                <a:cs typeface="Arial"/>
              </a:defRPr>
            </a:defPPr>
          </a:lstStyle>
          <a:p>
            <a:pPr>
              <a:defRPr sz="2625" b="1">
                <a:solidFill>
                  <a:srgbClr val="153F36"/>
                </a:solidFill>
                <a:latin typeface="Arial"/>
                <a:ea typeface="Arial"/>
                <a:cs typeface="Arial"/>
              </a:defRPr>
            </a:pPr>
            <a:r>
              <a:rPr sz="2625" b="1" lang="sv-SE">
                <a:solidFill>
                  <a:srgbClr val="153F36"/>
                </a:solidFill>
                <a:latin typeface="Arial"/>
                <a:ea typeface="Arial"/>
                <a:cs typeface="Arial"/>
              </a:rPr>
              <a:t>PRO</a:t>
            </a:r>
          </a:p>
        </p:txBody>
      </p:sp>
      <p:sp>
        <p:nvSpPr>
          <p:cNvPr id="7" name="">
            <a:extLst>
              <a:ext uri="{FF2B5EF4-FFF2-40B4-BE49-F238E27FC236}">
                <ns2:creationId id="{E86197AF-9652-4CFF-A13A-1751EB92289C}"/>
              </a:ext>
            </a:extLst>
          </p:cNvPr>
          <p:cNvSpPr>
            <a:spLocks noGrp="1"/>
          </p:cNvSpPr>
          <p:nvPr/>
        </p:nvSpPr>
        <p:spPr>
          <a:xfrm>
            <a:off x="6419850" y="3105150"/>
            <a:ext cx="4857750" cy="2524125"/>
          </a:xfrm>
          <a:prstGeom prst="rect">
            <a:avLst/>
          </a:prstGeom>
          <a:noFill/>
          <a:ln w="0">
            <a:noFill/>
          </a:ln>
        </p:spPr>
        <p:txBody>
          <a:bodyPr wrap="square" lIns="0" tIns="0" rIns="0" bIns="0" anchor="t">
            <a:noAutofit/>
          </a:bodyPr>
          <a:lstStyle>
            <a:defPPr>
              <a:defRPr sz="2175" b="0">
                <a:solidFill>
                  <a:srgbClr val="526B63"/>
                </a:solidFill>
                <a:latin typeface="Arial"/>
                <a:ea typeface="Arial"/>
                <a:cs typeface="Arial"/>
              </a:defRPr>
            </a:defPPr>
          </a:lstStyle>
          <a:p>
            <a:pPr>
              <a:defRPr sz="2175" b="0">
                <a:solidFill>
                  <a:srgbClr val="526B63"/>
                </a:solidFill>
                <a:latin typeface="Arial"/>
                <a:ea typeface="Arial"/>
                <a:cs typeface="Arial"/>
              </a:defRPr>
            </a:pPr>
            <a:r>
              <a:rPr sz="2175" b="0" lang="sv-SE">
                <a:solidFill>
                  <a:srgbClr val="526B63"/>
                </a:solidFill>
                <a:latin typeface="Arial"/>
                <a:ea typeface="Arial"/>
                <a:cs typeface="Arial"/>
              </a:rPr>
              <a:t>Personlig coach och teamöversikt.</a:t>
            </a:r>
          </a:p>
          <a:p>
            <a:r>
              <a:t/>
            </a:r>
          </a:p>
          <a:p>
            <a:pPr>
              <a:defRPr sz="2175" b="0">
                <a:solidFill>
                  <a:srgbClr val="526B63"/>
                </a:solidFill>
                <a:latin typeface="Arial"/>
                <a:ea typeface="Arial"/>
                <a:cs typeface="Arial"/>
              </a:defRPr>
            </a:pPr>
            <a:r>
              <a:rPr sz="2175" b="0" lang="sv-SE">
                <a:solidFill>
                  <a:srgbClr val="526B63"/>
                </a:solidFill>
                <a:latin typeface="Arial"/>
                <a:ea typeface="Arial"/>
                <a:cs typeface="Arial"/>
              </a:rPr>
              <a:t>Egna webbinarier, videoinbjudningar och fler verktyg.</a:t>
            </a:r>
          </a:p>
        </p:txBody>
      </p:sp>
      <p:sp>
        <p:nvSpPr>
          <p:cNvPr id="8" name="">
            <a:extLst>
              <a:ext uri="{FF2B5EF4-FFF2-40B4-BE49-F238E27FC236}">
                <ns2:creationId id="{9AC41453-B93F-4081-8A58-8F439FDBAE8E}"/>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PRO är ett betalpaket. Aktuella förmåner och priser visas i FCC.</a:t>
            </a:r>
          </a:p>
        </p:txBody>
      </p:sp>
    </p:spTree>
    <p:extLst>
      <p:ext uri="{BB962C8B-B14F-4D97-AF65-F5344CB8AC3E}">
        <ns4:creationId val="1992491909"/>
      </p:ext>
    </p:extLst>
  </p:cSld>
</p:sld>
</file>

<file path=ppt/slides/slide3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6" name="">
            <a:extLst>
              <a:ext uri="{FF2B5EF4-FFF2-40B4-BE49-F238E27FC236}">
                <ns2:creationId id="{8A847E84-CE4C-4CC0-B070-58B987762D4A}"/>
              </a:ext>
            </a:extLst>
          </p:cNvPr>
          <p:cNvPicPr>
            <a:picLocks noChangeAspect="1"/>
          </p:cNvPicPr>
          <p:nvPr/>
        </p:nvPicPr>
        <p:blipFill>
          <a:blip r:embed="R90f9cc35fcf0450c"/>
          <a:stretch/>
        </p:blipFill>
        <p:spPr>
          <a:xfrm>
            <a:off x="9867900" y="276061"/>
            <a:ext cx="1695450" cy="438478"/>
          </a:xfrm>
          <a:prstGeom prst="rect">
            <a:avLst/>
          </a:prstGeom>
        </p:spPr>
      </p:pic>
      <p:sp>
        <p:nvSpPr>
          <p:cNvPr id="2" name="">
            <a:extLst>
              <a:ext uri="{FF2B5EF4-FFF2-40B4-BE49-F238E27FC236}">
                <ns2:creationId id="{3998E854-20B7-4D4D-825D-9507829847E4}"/>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30</a:t>
            </a:r>
          </a:p>
        </p:txBody>
      </p:sp>
      <p:sp>
        <p:nvSpPr>
          <p:cNvPr id="3" name="Naslov">
            <a:extLst>
              <a:ext uri="{FF2B5EF4-FFF2-40B4-BE49-F238E27FC236}">
                <ns2:creationId id="{D7A61237-BA69-4EAE-BC4F-F276472E1BCE}"/>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Frågor för ett personligt samtal</a:t>
            </a:r>
          </a:p>
        </p:txBody>
      </p:sp>
      <p:sp>
        <p:nvSpPr>
          <p:cNvPr id="4" name="">
            <a:extLst>
              <a:ext uri="{FF2B5EF4-FFF2-40B4-BE49-F238E27FC236}">
                <ns2:creationId id="{2DF79649-6C2F-45FF-8E1E-2C06B3DFCAC7}"/>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1.</a:t>
            </a:r>
          </a:p>
        </p:txBody>
      </p:sp>
      <p:sp>
        <p:nvSpPr>
          <p:cNvPr id="5" name="">
            <a:extLst>
              <a:ext uri="{FF2B5EF4-FFF2-40B4-BE49-F238E27FC236}">
                <ns2:creationId id="{0B6DA76C-B943-432A-B447-BF9D222BC1C7}"/>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Vilken start passar mig?</a:t>
            </a:r>
          </a:p>
        </p:txBody>
      </p:sp>
      <p:sp>
        <p:nvSpPr>
          <p:cNvPr id="6" name="">
            <a:extLst>
              <a:ext uri="{FF2B5EF4-FFF2-40B4-BE49-F238E27FC236}">
                <ns2:creationId id="{980D52DB-06F8-442B-9486-2B3594D0853F}"/>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Använda produkter eller samarbeta i verksamheten.</a:t>
            </a:r>
          </a:p>
        </p:txBody>
      </p:sp>
      <p:sp>
        <p:nvSpPr>
          <p:cNvPr id="7" name="">
            <a:extLst>
              <a:ext uri="{FF2B5EF4-FFF2-40B4-BE49-F238E27FC236}">
                <ns2:creationId id="{756C80F1-00D4-47FA-A748-CF5C89E7CDA3}"/>
              </a:ext>
            </a:extLst>
          </p:cNvPr>
          <p:cNvSpPr>
            <a:spLocks noGrp="1"/>
          </p:cNvSpPr>
          <p:nvPr/>
        </p:nvSpPr>
        <p:spPr>
          <a:xfrm>
            <a:off x="609600" y="284797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2.</a:t>
            </a:r>
          </a:p>
        </p:txBody>
      </p:sp>
      <p:sp>
        <p:nvSpPr>
          <p:cNvPr id="8" name="">
            <a:extLst>
              <a:ext uri="{FF2B5EF4-FFF2-40B4-BE49-F238E27FC236}">
                <ns2:creationId id="{57DE507B-F306-4302-BC81-A9F642343139}"/>
              </a:ext>
            </a:extLst>
          </p:cNvPr>
          <p:cNvSpPr>
            <a:spLocks noGrp="1"/>
          </p:cNvSpPr>
          <p:nvPr/>
        </p:nvSpPr>
        <p:spPr>
          <a:xfrm>
            <a:off x="1257300" y="284797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Hur mycket tid kan jag avsätta?</a:t>
            </a:r>
          </a:p>
        </p:txBody>
      </p:sp>
      <p:sp>
        <p:nvSpPr>
          <p:cNvPr id="9" name="">
            <a:extLst>
              <a:ext uri="{FF2B5EF4-FFF2-40B4-BE49-F238E27FC236}">
                <ns2:creationId id="{F22B9F41-26A8-4FA6-8538-9DB9DA3162CF}"/>
              </a:ext>
            </a:extLst>
          </p:cNvPr>
          <p:cNvSpPr>
            <a:spLocks noGrp="1"/>
          </p:cNvSpPr>
          <p:nvPr/>
        </p:nvSpPr>
        <p:spPr>
          <a:xfrm>
            <a:off x="1257300" y="325755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Kom överens om en realistisk takt och tillgängliga steg.</a:t>
            </a:r>
          </a:p>
        </p:txBody>
      </p:sp>
      <p:sp>
        <p:nvSpPr>
          <p:cNvPr id="10" name="">
            <a:extLst>
              <a:ext uri="{FF2B5EF4-FFF2-40B4-BE49-F238E27FC236}">
                <ns2:creationId id="{3AEF13F9-FCAD-4E39-9580-49296A61F38E}"/>
              </a:ext>
            </a:extLst>
          </p:cNvPr>
          <p:cNvSpPr>
            <a:spLocks noGrp="1"/>
          </p:cNvSpPr>
          <p:nvPr/>
        </p:nvSpPr>
        <p:spPr>
          <a:xfrm>
            <a:off x="609600" y="3733800"/>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3.</a:t>
            </a:r>
          </a:p>
        </p:txBody>
      </p:sp>
      <p:sp>
        <p:nvSpPr>
          <p:cNvPr id="11" name="">
            <a:extLst>
              <a:ext uri="{FF2B5EF4-FFF2-40B4-BE49-F238E27FC236}">
                <ns2:creationId id="{79B1BB93-4440-41B9-A6A6-361B1780F78E}"/>
              </a:ext>
            </a:extLst>
          </p:cNvPr>
          <p:cNvSpPr>
            <a:spLocks noGrp="1"/>
          </p:cNvSpPr>
          <p:nvPr/>
        </p:nvSpPr>
        <p:spPr>
          <a:xfrm>
            <a:off x="1257300" y="3733800"/>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Vilka kostnader behöver jag kontrollera?</a:t>
            </a:r>
          </a:p>
        </p:txBody>
      </p:sp>
      <p:sp>
        <p:nvSpPr>
          <p:cNvPr id="12" name="">
            <a:extLst>
              <a:ext uri="{FF2B5EF4-FFF2-40B4-BE49-F238E27FC236}">
                <ns2:creationId id="{0D214BC7-68F9-4224-B971-EF7B21F274B6}"/>
              </a:ext>
            </a:extLst>
          </p:cNvPr>
          <p:cNvSpPr>
            <a:spLocks noGrp="1"/>
          </p:cNvSpPr>
          <p:nvPr/>
        </p:nvSpPr>
        <p:spPr>
          <a:xfrm>
            <a:off x="1257300" y="41433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Produkter, verksamheten och eventuellt FCC PRO-paketet.</a:t>
            </a:r>
          </a:p>
        </p:txBody>
      </p:sp>
      <p:sp>
        <p:nvSpPr>
          <p:cNvPr id="13" name="">
            <a:extLst>
              <a:ext uri="{FF2B5EF4-FFF2-40B4-BE49-F238E27FC236}">
                <ns2:creationId id="{BAA6452F-3A8A-4DDB-8B39-8563C5F5DEAC}"/>
              </a:ext>
            </a:extLst>
          </p:cNvPr>
          <p:cNvSpPr>
            <a:spLocks noGrp="1"/>
          </p:cNvSpPr>
          <p:nvPr/>
        </p:nvSpPr>
        <p:spPr>
          <a:xfrm>
            <a:off x="609600" y="4619625"/>
            <a:ext cx="523875" cy="495300"/>
          </a:xfrm>
          <a:prstGeom prst="rect">
            <a:avLst/>
          </a:prstGeom>
          <a:noFill/>
          <a:ln w="0">
            <a:noFill/>
          </a:ln>
        </p:spPr>
        <p:txBody>
          <a:bodyPr wrap="square" lIns="0" tIns="0" rIns="0" bIns="0" anchor="t">
            <a:noAutofit/>
          </a:bodyPr>
          <a:lstStyle>
            <a:defPPr>
              <a:defRPr sz="2250" b="1">
                <a:solidFill>
                  <a:srgbClr val="148977"/>
                </a:solidFill>
                <a:latin typeface="Arial"/>
                <a:ea typeface="Arial"/>
                <a:cs typeface="Arial"/>
              </a:defRPr>
            </a:defPPr>
          </a:lstStyle>
          <a:p>
            <a:pPr>
              <a:defRPr sz="2250" b="1">
                <a:solidFill>
                  <a:srgbClr val="148977"/>
                </a:solidFill>
                <a:latin typeface="Arial"/>
                <a:ea typeface="Arial"/>
                <a:cs typeface="Arial"/>
              </a:defRPr>
            </a:pPr>
            <a:r>
              <a:rPr sz="2250" b="1" lang="sv-SE">
                <a:solidFill>
                  <a:srgbClr val="148977"/>
                </a:solidFill>
                <a:latin typeface="Arial"/>
                <a:ea typeface="Arial"/>
                <a:cs typeface="Arial"/>
              </a:rPr>
              <a:t>4.</a:t>
            </a:r>
          </a:p>
        </p:txBody>
      </p:sp>
      <p:sp>
        <p:nvSpPr>
          <p:cNvPr id="14" name="">
            <a:extLst>
              <a:ext uri="{FF2B5EF4-FFF2-40B4-BE49-F238E27FC236}">
                <ns2:creationId id="{771B1C17-3F7C-4F88-85D9-5C27843AEC35}"/>
              </a:ext>
            </a:extLst>
          </p:cNvPr>
          <p:cNvSpPr>
            <a:spLocks noGrp="1"/>
          </p:cNvSpPr>
          <p:nvPr/>
        </p:nvSpPr>
        <p:spPr>
          <a:xfrm>
            <a:off x="1257300" y="4619625"/>
            <a:ext cx="9925050" cy="457200"/>
          </a:xfrm>
          <a:prstGeom prst="rect">
            <a:avLst/>
          </a:prstGeom>
          <a:noFill/>
          <a:ln w="0">
            <a:noFill/>
          </a:ln>
        </p:spPr>
        <p:txBody>
          <a:bodyPr wrap="square" lIns="0" tIns="0" rIns="0" bIns="0" anchor="t">
            <a:noAutofit/>
          </a:bodyPr>
          <a:lstStyle>
            <a:defPPr>
              <a:defRPr sz="2250" b="1">
                <a:solidFill>
                  <a:srgbClr val="153F36"/>
                </a:solidFill>
                <a:latin typeface="Arial"/>
                <a:ea typeface="Arial"/>
                <a:cs typeface="Arial"/>
              </a:defRPr>
            </a:defPPr>
          </a:lstStyle>
          <a:p>
            <a:pPr>
              <a:defRPr sz="2250" b="1">
                <a:solidFill>
                  <a:srgbClr val="153F36"/>
                </a:solidFill>
                <a:latin typeface="Arial"/>
                <a:ea typeface="Arial"/>
                <a:cs typeface="Arial"/>
              </a:defRPr>
            </a:pPr>
            <a:r>
              <a:rPr sz="2250" b="1" lang="sv-SE">
                <a:solidFill>
                  <a:srgbClr val="153F36"/>
                </a:solidFill>
                <a:latin typeface="Arial"/>
                <a:ea typeface="Arial"/>
                <a:cs typeface="Arial"/>
              </a:rPr>
              <a:t>Var får jag hjälp?</a:t>
            </a:r>
          </a:p>
        </p:txBody>
      </p:sp>
      <p:sp>
        <p:nvSpPr>
          <p:cNvPr id="15" name="">
            <a:extLst>
              <a:ext uri="{FF2B5EF4-FFF2-40B4-BE49-F238E27FC236}">
                <ns2:creationId id="{E15C9F73-FB10-4547-9706-D38095AA7206}"/>
              </a:ext>
            </a:extLst>
          </p:cNvPr>
          <p:cNvSpPr>
            <a:spLocks noGrp="1"/>
          </p:cNvSpPr>
          <p:nvPr/>
        </p:nvSpPr>
        <p:spPr>
          <a:xfrm>
            <a:off x="1257300" y="5029200"/>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Sponsorn, teamet, utbildningen och FCC-supporten.</a:t>
            </a:r>
          </a:p>
        </p:txBody>
      </p:sp>
    </p:spTree>
    <p:extLst>
      <p:ext uri="{BB962C8B-B14F-4D97-AF65-F5344CB8AC3E}">
        <ns4:creationId val="65287420"/>
      </p:ext>
    </p:extLst>
  </p:cSld>
</p:sld>
</file>

<file path=ppt/slides/slide3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7" name="">
            <a:extLst>
              <a:ext uri="{FF2B5EF4-FFF2-40B4-BE49-F238E27FC236}">
                <ns2:creationId id="{8F7198C6-2DE8-43DF-B1EF-D88A1974C6C5}"/>
              </a:ext>
            </a:extLst>
          </p:cNvPr>
          <p:cNvPicPr>
            <a:picLocks noChangeAspect="1"/>
          </p:cNvPicPr>
          <p:nvPr/>
        </p:nvPicPr>
        <p:blipFill>
          <a:blip r:embed="R83eb3923d8184bad"/>
          <a:stretch/>
        </p:blipFill>
        <p:spPr>
          <a:xfrm>
            <a:off x="9867900" y="276061"/>
            <a:ext cx="1695450" cy="438478"/>
          </a:xfrm>
          <a:prstGeom prst="rect">
            <a:avLst/>
          </a:prstGeom>
        </p:spPr>
      </p:pic>
      <p:sp>
        <p:nvSpPr>
          <p:cNvPr id="2" name="">
            <a:extLst>
              <a:ext uri="{FF2B5EF4-FFF2-40B4-BE49-F238E27FC236}">
                <ns2:creationId id="{1A09478C-BF47-4F20-BD76-F045C9D915C8}"/>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31</a:t>
            </a:r>
          </a:p>
        </p:txBody>
      </p:sp>
      <p:sp>
        <p:nvSpPr>
          <p:cNvPr id="3" name="Naslov">
            <a:extLst>
              <a:ext uri="{FF2B5EF4-FFF2-40B4-BE49-F238E27FC236}">
                <ns2:creationId id="{7D02396B-C2D6-47CB-AB7E-1597B626F1FE}"/>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Nästa steg efter webbinariet</a:t>
            </a:r>
          </a:p>
        </p:txBody>
      </p:sp>
      <p:sp>
        <p:nvSpPr>
          <p:cNvPr id="4" name="">
            <a:extLst>
              <a:ext uri="{FF2B5EF4-FFF2-40B4-BE49-F238E27FC236}">
                <ns2:creationId id="{10FB5614-1D74-41FB-BD52-AAD704F16FB3}"/>
              </a:ext>
            </a:extLst>
          </p:cNvPr>
          <p:cNvSpPr>
            <a:spLocks noGrp="1"/>
          </p:cNvSpPr>
          <p:nvPr/>
        </p:nvSpPr>
        <p:spPr>
          <a:xfrm>
            <a:off x="609600" y="2171700"/>
            <a:ext cx="10401300" cy="1514475"/>
          </a:xfrm>
          <a:prstGeom prst="rect">
            <a:avLst/>
          </a:prstGeom>
          <a:noFill/>
          <a:ln w="0">
            <a:noFill/>
          </a:ln>
        </p:spPr>
        <p:txBody>
          <a:bodyPr wrap="square" lIns="0" tIns="0" rIns="0" bIns="0" anchor="t">
            <a:noAutofit/>
          </a:bodyPr>
          <a:lstStyle>
            <a:defPPr>
              <a:defRPr sz="4425" b="1">
                <a:solidFill>
                  <a:srgbClr val="153F36"/>
                </a:solidFill>
                <a:latin typeface="Arial"/>
                <a:ea typeface="Arial"/>
                <a:cs typeface="Arial"/>
              </a:defRPr>
            </a:defPPr>
          </a:lstStyle>
          <a:p>
            <a:pPr>
              <a:defRPr sz="4425" b="1">
                <a:solidFill>
                  <a:srgbClr val="153F36"/>
                </a:solidFill>
                <a:latin typeface="Arial"/>
                <a:ea typeface="Arial"/>
                <a:cs typeface="Arial"/>
              </a:defRPr>
            </a:pPr>
            <a:r>
              <a:rPr sz="4425" b="1" lang="sv-SE">
                <a:solidFill>
                  <a:srgbClr val="153F36"/>
                </a:solidFill>
                <a:latin typeface="Arial"/>
                <a:ea typeface="Arial"/>
                <a:cs typeface="Arial"/>
              </a:rPr>
              <a:t>Samtal med personen</a:t>
            </a:r>
          </a:p>
          <a:p>
            <a:pPr>
              <a:defRPr sz="4425" b="1">
                <a:solidFill>
                  <a:srgbClr val="153F36"/>
                </a:solidFill>
                <a:latin typeface="Arial"/>
                <a:ea typeface="Arial"/>
                <a:cs typeface="Arial"/>
              </a:defRPr>
            </a:pPr>
            <a:r>
              <a:rPr sz="4425" b="1" lang="sv-SE">
                <a:solidFill>
                  <a:srgbClr val="153F36"/>
                </a:solidFill>
                <a:latin typeface="Arial"/>
                <a:ea typeface="Arial"/>
                <a:cs typeface="Arial"/>
              </a:rPr>
              <a:t>som bjöd in dig</a:t>
            </a:r>
          </a:p>
        </p:txBody>
      </p:sp>
      <p:sp>
        <p:nvSpPr>
          <p:cNvPr id="5" name="">
            <a:extLst>
              <a:ext uri="{FF2B5EF4-FFF2-40B4-BE49-F238E27FC236}">
                <ns2:creationId id="{138D5422-BFFA-4FC8-B03E-A2E56FC32628}"/>
              </a:ext>
            </a:extLst>
          </p:cNvPr>
          <p:cNvSpPr>
            <a:spLocks noGrp="1"/>
          </p:cNvSpPr>
          <p:nvPr/>
        </p:nvSpPr>
        <p:spPr>
          <a:xfrm>
            <a:off x="609600" y="4181475"/>
            <a:ext cx="9763125" cy="1181100"/>
          </a:xfrm>
          <a:prstGeom prst="rect">
            <a:avLst/>
          </a:prstGeom>
          <a:noFill/>
          <a:ln w="0">
            <a:noFill/>
          </a:ln>
        </p:spPr>
        <p:txBody>
          <a:bodyPr wrap="square" lIns="0" tIns="0" rIns="0" bIns="0" anchor="t">
            <a:noAutofit/>
          </a:bodyPr>
          <a:lstStyle>
            <a:defPPr>
              <a:defRPr sz="2475" b="0">
                <a:solidFill>
                  <a:srgbClr val="526B63"/>
                </a:solidFill>
                <a:latin typeface="Arial"/>
                <a:ea typeface="Arial"/>
                <a:cs typeface="Arial"/>
              </a:defRPr>
            </a:defPPr>
          </a:lstStyle>
          <a:p>
            <a:pPr>
              <a:defRPr sz="2475" b="0">
                <a:solidFill>
                  <a:srgbClr val="526B63"/>
                </a:solidFill>
                <a:latin typeface="Arial"/>
                <a:ea typeface="Arial"/>
                <a:cs typeface="Arial"/>
              </a:defRPr>
            </a:pPr>
            <a:r>
              <a:rPr sz="2475" b="0" lang="sv-SE">
                <a:solidFill>
                  <a:srgbClr val="526B63"/>
                </a:solidFill>
                <a:latin typeface="Arial"/>
                <a:ea typeface="Arial"/>
                <a:cs typeface="Arial"/>
              </a:rPr>
              <a:t>Berätta vad du är intresserad av, vad du vill få förklarat ytterligare och hur mycket tid du vill avsätta.</a:t>
            </a:r>
          </a:p>
        </p:txBody>
      </p:sp>
      <p:sp>
        <p:nvSpPr>
          <p:cNvPr id="6" name="">
            <a:extLst>
              <a:ext uri="{FF2B5EF4-FFF2-40B4-BE49-F238E27FC236}">
                <ns2:creationId id="{7F5EB97C-EEF2-4CDA-AB3D-386B3AC6E2D9}"/>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Kom överens om en konkret åtgärd och en tid för att fortsätta samtalet.</a:t>
            </a:r>
          </a:p>
        </p:txBody>
      </p:sp>
    </p:spTree>
    <p:extLst>
      <p:ext uri="{BB962C8B-B14F-4D97-AF65-F5344CB8AC3E}">
        <ns4:creationId val="1646637869"/>
      </p:ext>
    </p:extLst>
  </p:cSld>
</p:sld>
</file>

<file path=ppt/slides/slide3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53F36"/>
        </a:solidFill>
      </p:bgPr>
    </p:bg>
    <p:spTree>
      <p:nvGrpSpPr>
        <p:cNvPr id="1" name=""/>
        <p:cNvGrpSpPr/>
        <p:nvPr/>
      </p:nvGrpSpPr>
      <p:grpSpPr>
        <a:xfrm/>
      </p:grpSpPr>
      <p:sp>
        <p:nvSpPr>
          <p:cNvPr id="4" name="">
            <a:extLst>
              <a:ext uri="{FF2B5EF4-FFF2-40B4-BE49-F238E27FC236}">
                <ns2:creationId id="{DE1B7833-FA5B-4202-9F43-6A55485BA4CF}"/>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D4E8DD"/>
                </a:solidFill>
                <a:latin typeface="Arial"/>
                <a:ea typeface="Arial"/>
                <a:cs typeface="Arial"/>
              </a:defRPr>
            </a:defPPr>
          </a:lstStyle>
          <a:p>
            <a:pPr>
              <a:defRPr sz="1350" b="0">
                <a:solidFill>
                  <a:srgbClr val="D4E8DD"/>
                </a:solidFill>
                <a:latin typeface="Arial"/>
                <a:ea typeface="Arial"/>
                <a:cs typeface="Arial"/>
              </a:defRPr>
            </a:pPr>
            <a:r>
              <a:rPr sz="1350" b="0" lang="sv-SE">
                <a:solidFill>
                  <a:srgbClr val="D4E8DD"/>
                </a:solidFill>
                <a:latin typeface="Arial"/>
                <a:ea typeface="Arial"/>
                <a:cs typeface="Arial"/>
              </a:rPr>
              <a:t>32</a:t>
            </a:r>
          </a:p>
        </p:txBody>
      </p:sp>
      <p:sp>
        <p:nvSpPr>
          <p:cNvPr id="2" name="">
            <a:extLst>
              <a:ext uri="{FF2B5EF4-FFF2-40B4-BE49-F238E27FC236}">
                <ns2:creationId id="{48673BED-A37E-4BEC-B045-8AE20E7E660B}"/>
              </a:ext>
            </a:extLst>
          </p:cNvPr>
          <p:cNvSpPr>
            <a:spLocks noGrp="1"/>
          </p:cNvSpPr>
          <p:nvPr/>
        </p:nvSpPr>
        <p:spPr>
          <a:xfrm>
            <a:off x="609600" y="1609725"/>
            <a:ext cx="10734675" cy="2047875"/>
          </a:xfrm>
          <a:prstGeom prst="rect">
            <a:avLst/>
          </a:prstGeom>
          <a:noFill/>
          <a:ln w="0">
            <a:noFill/>
          </a:ln>
        </p:spPr>
        <p:txBody>
          <a:bodyPr wrap="square" lIns="0" tIns="0" rIns="0" bIns="0" anchor="t">
            <a:noAutofit/>
          </a:bodyPr>
          <a:lstStyle>
            <a:defPPr>
              <a:defRPr sz="5100" b="1">
                <a:solidFill>
                  <a:srgbClr val="FFFFFF"/>
                </a:solidFill>
                <a:latin typeface="Arial"/>
                <a:ea typeface="Arial"/>
                <a:cs typeface="Arial"/>
              </a:defRPr>
            </a:defPPr>
          </a:lstStyle>
          <a:p>
            <a:pPr>
              <a:defRPr sz="5100" b="1">
                <a:solidFill>
                  <a:srgbClr val="FFFFFF"/>
                </a:solidFill>
                <a:latin typeface="Arial"/>
                <a:ea typeface="Arial"/>
                <a:cs typeface="Arial"/>
              </a:defRPr>
            </a:pPr>
            <a:r>
              <a:rPr sz="5100" b="1" lang="sv-SE">
                <a:solidFill>
                  <a:srgbClr val="FFFFFF"/>
                </a:solidFill>
                <a:latin typeface="Arial"/>
                <a:ea typeface="Arial"/>
                <a:cs typeface="Arial"/>
              </a:rPr>
              <a:t>Din start</a:t>
            </a:r>
          </a:p>
          <a:p>
            <a:pPr>
              <a:defRPr sz="5100" b="1">
                <a:solidFill>
                  <a:srgbClr val="FFFFFF"/>
                </a:solidFill>
                <a:latin typeface="Arial"/>
                <a:ea typeface="Arial"/>
                <a:cs typeface="Arial"/>
              </a:defRPr>
            </a:pPr>
            <a:r>
              <a:rPr sz="5100" b="1" lang="sv-SE">
                <a:solidFill>
                  <a:srgbClr val="FFFFFF"/>
                </a:solidFill>
                <a:latin typeface="Arial"/>
                <a:ea typeface="Arial"/>
                <a:cs typeface="Arial"/>
              </a:rPr>
              <a:t>kan vara enkel</a:t>
            </a:r>
          </a:p>
        </p:txBody>
      </p:sp>
      <p:sp>
        <p:nvSpPr>
          <p:cNvPr id="3" name="">
            <a:extLst>
              <a:ext uri="{FF2B5EF4-FFF2-40B4-BE49-F238E27FC236}">
                <ns2:creationId id="{441CDA0A-7E8B-43A7-86BF-23F4BF9B0BE0}"/>
              </a:ext>
            </a:extLst>
          </p:cNvPr>
          <p:cNvSpPr>
            <a:spLocks noGrp="1"/>
          </p:cNvSpPr>
          <p:nvPr/>
        </p:nvSpPr>
        <p:spPr>
          <a:xfrm>
            <a:off x="609600" y="4210050"/>
            <a:ext cx="9820275" cy="1638300"/>
          </a:xfrm>
          <a:prstGeom prst="rect">
            <a:avLst/>
          </a:prstGeom>
          <a:noFill/>
          <a:ln w="0">
            <a:noFill/>
          </a:ln>
        </p:spPr>
        <p:txBody>
          <a:bodyPr wrap="square" lIns="0" tIns="0" rIns="0" bIns="0" anchor="t">
            <a:noAutofit/>
          </a:bodyPr>
          <a:lstStyle>
            <a:defPPr>
              <a:defRPr sz="2925" b="0">
                <a:solidFill>
                  <a:srgbClr val="D4E8DD"/>
                </a:solidFill>
                <a:latin typeface="Arial"/>
                <a:ea typeface="Arial"/>
                <a:cs typeface="Arial"/>
              </a:defRPr>
            </a:defPPr>
          </a:lstStyle>
          <a:p>
            <a:pPr>
              <a:defRPr sz="2925" b="0">
                <a:solidFill>
                  <a:srgbClr val="D4E8DD"/>
                </a:solidFill>
                <a:latin typeface="Arial"/>
                <a:ea typeface="Arial"/>
                <a:cs typeface="Arial"/>
              </a:defRPr>
            </a:pPr>
            <a:r>
              <a:rPr sz="2925" b="0" lang="sv-SE">
                <a:solidFill>
                  <a:srgbClr val="D4E8DD"/>
                </a:solidFill>
                <a:latin typeface="Arial"/>
                <a:ea typeface="Arial"/>
                <a:cs typeface="Arial"/>
              </a:rPr>
              <a:t>Ett samtal.</a:t>
            </a:r>
          </a:p>
          <a:p>
            <a:pPr>
              <a:defRPr sz="2925" b="0">
                <a:solidFill>
                  <a:srgbClr val="D4E8DD"/>
                </a:solidFill>
                <a:latin typeface="Arial"/>
                <a:ea typeface="Arial"/>
                <a:cs typeface="Arial"/>
              </a:defRPr>
            </a:pPr>
            <a:r>
              <a:rPr sz="2925" b="0" lang="sv-SE">
                <a:solidFill>
                  <a:srgbClr val="D4E8DD"/>
                </a:solidFill>
                <a:latin typeface="Arial"/>
                <a:ea typeface="Arial"/>
                <a:cs typeface="Arial"/>
              </a:rPr>
              <a:t>Ett tydligt beslut.</a:t>
            </a:r>
          </a:p>
          <a:p>
            <a:pPr>
              <a:defRPr sz="2925" b="0">
                <a:solidFill>
                  <a:srgbClr val="D4E8DD"/>
                </a:solidFill>
                <a:latin typeface="Arial"/>
                <a:ea typeface="Arial"/>
                <a:cs typeface="Arial"/>
              </a:defRPr>
            </a:pPr>
            <a:r>
              <a:rPr sz="2925" b="0" lang="sv-SE">
                <a:solidFill>
                  <a:srgbClr val="D4E8DD"/>
                </a:solidFill>
                <a:latin typeface="Arial"/>
                <a:ea typeface="Arial"/>
                <a:cs typeface="Arial"/>
              </a:rPr>
              <a:t>Ett överenskommet nästa steg.</a:t>
            </a:r>
          </a:p>
        </p:txBody>
      </p:sp>
    </p:spTree>
    <p:extLst>
      <p:ext uri="{BB962C8B-B14F-4D97-AF65-F5344CB8AC3E}">
        <ns3:creationId val="2036074544"/>
      </p:ext>
    </p:extLst>
  </p:cSld>
</p:sld>
</file>

<file path=ppt/slides/slide33.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919AC765-DEBD-459C-8A3F-7848B2BF249B}"/>
              </a:ext>
            </a:extLst>
          </p:cNvPr>
          <p:cNvPicPr>
            <a:picLocks noChangeAspect="1"/>
          </p:cNvPicPr>
          <p:nvPr/>
        </p:nvPicPr>
        <p:blipFill>
          <a:blip r:embed="R36ae438961544b63"/>
          <a:stretch/>
        </p:blipFill>
        <p:spPr>
          <a:xfrm>
            <a:off x="9867900" y="276061"/>
            <a:ext cx="1695450" cy="438478"/>
          </a:xfrm>
          <a:prstGeom prst="rect">
            <a:avLst/>
          </a:prstGeom>
        </p:spPr>
      </p:pic>
      <p:sp>
        <p:nvSpPr>
          <p:cNvPr id="2" name="">
            <a:extLst>
              <a:ext uri="{FF2B5EF4-FFF2-40B4-BE49-F238E27FC236}">
                <ns2:creationId id="{C776E80E-1314-42F9-9BAB-2C2CE53DC492}"/>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33</a:t>
            </a:r>
          </a:p>
        </p:txBody>
      </p:sp>
      <p:sp>
        <p:nvSpPr>
          <p:cNvPr id="3" name="Naslov">
            <a:extLst>
              <a:ext uri="{FF2B5EF4-FFF2-40B4-BE49-F238E27FC236}">
                <ns2:creationId id="{FDBD1ABF-94B5-497A-B205-2296ED44BDD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Bilaga: personliga bonusar</a:t>
            </a:r>
          </a:p>
        </p:txBody>
      </p:sp>
      <p:graphicFrame>
        <p:nvGraphicFramePr>
          <p:cNvPr id="4" name="">
            <a:extLst>
              <a:ext uri="{FF2B5EF4-FFF2-40B4-BE49-F238E27FC236}">
                <ns2:creationId id="{1052CBF9-BCC3-48FB-82FB-2DD99DE0DD52}"/>
              </a:ext>
            </a:extLst>
          </p:cNvPr>
          <p:cNvGraphicFramePr/>
          <p:nvPr/>
        </p:nvGraphicFramePr>
        <p:xfrm>
          <a:off x="609600" y="2114550"/>
          <a:ext cx="10953750" cy="3133725"/>
        </p:xfrm>
        <a:graphic>
          <a:graphicData uri="http://schemas.openxmlformats.org/drawingml/2006/table">
            <a:tbl>
              <a:tblPr/>
              <a:tblGrid>
                <a:gridCol w="5905500"/>
                <a:gridCol w="5048250"/>
              </a:tblGrid>
              <a:tr h="626745">
                <a:tc>
                  <a:txBody>
                    <a:bodyPr lIns="152400" tIns="133350" rIns="152400" bIns="114300">
                      <a:noAutofit/>
                    </a:bodyPr>
                    <a:lstStyle/>
                    <a:p>
                      <a:r>
                        <a:rPr sz="2100" b="1" lang="sv-SE">
                          <a:solidFill>
                            <a:srgbClr val="FFFFFF"/>
                          </a:solidFill>
                          <a:latin typeface="Arial"/>
                          <a:ea typeface="Arial"/>
                          <a:cs typeface="Arial"/>
                        </a:rPr>
                        <a:t>Nivå</a:t>
                      </a:r>
                    </a:p>
                  </a:txBody>
                  <a:tcPr marL="91440" marR="91440" marT="45720" marB="45720">
                    <a:solidFill>
                      <a:srgbClr val="153F36"/>
                    </a:solidFill>
                  </a:tcPr>
                </a:tc>
                <a:tc>
                  <a:txBody>
                    <a:bodyPr lIns="152400" tIns="133350" rIns="152400" bIns="114300">
                      <a:noAutofit/>
                    </a:bodyPr>
                    <a:lstStyle/>
                    <a:p>
                      <a:r>
                        <a:rPr sz="2100" b="1" lang="sv-SE">
                          <a:solidFill>
                            <a:srgbClr val="FFFFFF"/>
                          </a:solidFill>
                          <a:latin typeface="Arial"/>
                          <a:ea typeface="Arial"/>
                          <a:cs typeface="Arial"/>
                        </a:rPr>
                        <a:t>Personlig bonus enligt villkoren</a:t>
                      </a:r>
                    </a:p>
                  </a:txBody>
                  <a:tcPr marL="91440" marR="91440" marT="45720" marB="45720">
                    <a:solidFill>
                      <a:srgbClr val="153F36"/>
                    </a:solidFill>
                  </a:tcPr>
                </a:tc>
              </a:tr>
              <a:tr h="626745">
                <a:tc>
                  <a:txBody>
                    <a:bodyPr lIns="152400" tIns="133350" rIns="152400" bIns="114300">
                      <a:noAutofit/>
                    </a:bodyPr>
                    <a:lstStyle/>
                    <a:p>
                      <a:r>
                        <a:rPr sz="2100" b="0" lang="sv-SE">
                          <a:solidFill>
                            <a:srgbClr val="153F36"/>
                          </a:solidFill>
                          <a:latin typeface="Arial"/>
                          <a:ea typeface="Arial"/>
                          <a:cs typeface="Arial"/>
                        </a:rPr>
                        <a:t>Assistant Supervisor</a:t>
                      </a:r>
                    </a:p>
                  </a:txBody>
                  <a:tcPr marL="91440" marR="91440" marT="45720" marB="45720">
                    <a:solidFill>
                      <a:srgbClr val="FFFFFF"/>
                    </a:solidFill>
                  </a:tcPr>
                </a:tc>
                <a:tc>
                  <a:txBody>
                    <a:bodyPr lIns="152400" tIns="133350" rIns="152400" bIns="114300">
                      <a:noAutofit/>
                    </a:bodyPr>
                    <a:lstStyle/>
                    <a:p>
                      <a:r>
                        <a:rPr sz="2100" b="0" lang="sv-SE">
                          <a:solidFill>
                            <a:srgbClr val="153F36"/>
                          </a:solidFill>
                          <a:latin typeface="Arial"/>
                          <a:ea typeface="Arial"/>
                          <a:cs typeface="Arial"/>
                        </a:rPr>
                        <a:t>5%</a:t>
                      </a:r>
                    </a:p>
                  </a:txBody>
                  <a:tcPr marL="91440" marR="91440" marT="45720" marB="45720">
                    <a:solidFill>
                      <a:srgbClr val="FFFFFF"/>
                    </a:solidFill>
                  </a:tcPr>
                </a:tc>
              </a:tr>
              <a:tr h="626745">
                <a:tc>
                  <a:txBody>
                    <a:bodyPr lIns="152400" tIns="133350" rIns="152400" bIns="114300">
                      <a:noAutofit/>
                    </a:bodyPr>
                    <a:lstStyle/>
                    <a:p>
                      <a:r>
                        <a:rPr sz="2100" b="0" lang="sv-SE">
                          <a:solidFill>
                            <a:srgbClr val="153F36"/>
                          </a:solidFill>
                          <a:latin typeface="Arial"/>
                          <a:ea typeface="Arial"/>
                          <a:cs typeface="Arial"/>
                        </a:rPr>
                        <a:t>Supervisor</a:t>
                      </a:r>
                    </a:p>
                  </a:txBody>
                  <a:tcPr marL="91440" marR="91440" marT="45720" marB="45720">
                    <a:solidFill>
                      <a:srgbClr val="F3F7F2"/>
                    </a:solidFill>
                  </a:tcPr>
                </a:tc>
                <a:tc>
                  <a:txBody>
                    <a:bodyPr lIns="152400" tIns="133350" rIns="152400" bIns="114300">
                      <a:noAutofit/>
                    </a:bodyPr>
                    <a:lstStyle/>
                    <a:p>
                      <a:r>
                        <a:rPr sz="2100" b="0" lang="sv-SE">
                          <a:solidFill>
                            <a:srgbClr val="153F36"/>
                          </a:solidFill>
                          <a:latin typeface="Arial"/>
                          <a:ea typeface="Arial"/>
                          <a:cs typeface="Arial"/>
                        </a:rPr>
                        <a:t>8%</a:t>
                      </a:r>
                    </a:p>
                  </a:txBody>
                  <a:tcPr marL="91440" marR="91440" marT="45720" marB="45720">
                    <a:solidFill>
                      <a:srgbClr val="F3F7F2"/>
                    </a:solidFill>
                  </a:tcPr>
                </a:tc>
              </a:tr>
              <a:tr h="626745">
                <a:tc>
                  <a:txBody>
                    <a:bodyPr lIns="152400" tIns="133350" rIns="152400" bIns="114300">
                      <a:noAutofit/>
                    </a:bodyPr>
                    <a:lstStyle/>
                    <a:p>
                      <a:r>
                        <a:rPr sz="2100" b="0" lang="sv-SE">
                          <a:solidFill>
                            <a:srgbClr val="153F36"/>
                          </a:solidFill>
                          <a:latin typeface="Arial"/>
                          <a:ea typeface="Arial"/>
                          <a:cs typeface="Arial"/>
                        </a:rPr>
                        <a:t>Assistant Manager</a:t>
                      </a:r>
                    </a:p>
                  </a:txBody>
                  <a:tcPr marL="91440" marR="91440" marT="45720" marB="45720">
                    <a:solidFill>
                      <a:srgbClr val="FFFFFF"/>
                    </a:solidFill>
                  </a:tcPr>
                </a:tc>
                <a:tc>
                  <a:txBody>
                    <a:bodyPr lIns="152400" tIns="133350" rIns="152400" bIns="114300">
                      <a:noAutofit/>
                    </a:bodyPr>
                    <a:lstStyle/>
                    <a:p>
                      <a:r>
                        <a:rPr sz="2100" b="0" lang="sv-SE">
                          <a:solidFill>
                            <a:srgbClr val="153F36"/>
                          </a:solidFill>
                          <a:latin typeface="Arial"/>
                          <a:ea typeface="Arial"/>
                          <a:cs typeface="Arial"/>
                        </a:rPr>
                        <a:t>13%</a:t>
                      </a:r>
                    </a:p>
                  </a:txBody>
                  <a:tcPr marL="91440" marR="91440" marT="45720" marB="45720">
                    <a:solidFill>
                      <a:srgbClr val="FFFFFF"/>
                    </a:solidFill>
                  </a:tcPr>
                </a:tc>
              </a:tr>
              <a:tr h="626745">
                <a:tc>
                  <a:txBody>
                    <a:bodyPr lIns="152400" tIns="133350" rIns="152400" bIns="114300">
                      <a:noAutofit/>
                    </a:bodyPr>
                    <a:lstStyle/>
                    <a:p>
                      <a:r>
                        <a:rPr sz="2100" b="0" lang="sv-SE">
                          <a:solidFill>
                            <a:srgbClr val="153F36"/>
                          </a:solidFill>
                          <a:latin typeface="Arial"/>
                          <a:ea typeface="Arial"/>
                          <a:cs typeface="Arial"/>
                        </a:rPr>
                        <a:t>Manager</a:t>
                      </a:r>
                    </a:p>
                  </a:txBody>
                  <a:tcPr marL="91440" marR="91440" marT="45720" marB="45720">
                    <a:solidFill>
                      <a:srgbClr val="F3F7F2"/>
                    </a:solidFill>
                  </a:tcPr>
                </a:tc>
                <a:tc>
                  <a:txBody>
                    <a:bodyPr lIns="152400" tIns="133350" rIns="152400" bIns="114300">
                      <a:noAutofit/>
                    </a:bodyPr>
                    <a:lstStyle/>
                    <a:p>
                      <a:r>
                        <a:rPr sz="2100" b="0" lang="sv-SE">
                          <a:solidFill>
                            <a:srgbClr val="153F36"/>
                          </a:solidFill>
                          <a:latin typeface="Arial"/>
                          <a:ea typeface="Arial"/>
                          <a:cs typeface="Arial"/>
                        </a:rPr>
                        <a:t>18%</a:t>
                      </a:r>
                    </a:p>
                  </a:txBody>
                  <a:tcPr marL="91440" marR="91440" marT="45720" marB="45720">
                    <a:solidFill>
                      <a:srgbClr val="F3F7F2"/>
                    </a:solidFill>
                  </a:tcPr>
                </a:tc>
              </a:tr>
            </a:tbl>
          </a:graphicData>
        </a:graphic>
      </p:graphicFrame>
      <p:sp>
        <p:nvSpPr>
          <p:cNvPr id="5" name="">
            <a:extLst>
              <a:ext uri="{FF2B5EF4-FFF2-40B4-BE49-F238E27FC236}">
                <ns2:creationId id="{1E561589-9528-4BA8-A2CF-2393305A4FED}"/>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Volymbonus: 3 % till 13 %. Leadership: 6 %, 3 %, 2 %, med ytterligare villkor.</a:t>
            </a:r>
          </a:p>
        </p:txBody>
      </p:sp>
    </p:spTree>
    <p:extLst>
      <p:ext uri="{BB962C8B-B14F-4D97-AF65-F5344CB8AC3E}">
        <ns4:creationId val="515602699"/>
      </p:ext>
    </p:extLst>
  </p:cSld>
</p:sld>
</file>

<file path=ppt/slides/slide3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6" name="">
            <a:extLst>
              <a:ext uri="{FF2B5EF4-FFF2-40B4-BE49-F238E27FC236}">
                <ns2:creationId id="{281D3A7B-CCA2-4A99-B091-81AFBE2930EC}"/>
              </a:ext>
            </a:extLst>
          </p:cNvPr>
          <p:cNvPicPr>
            <a:picLocks noChangeAspect="1"/>
          </p:cNvPicPr>
          <p:nvPr/>
        </p:nvPicPr>
        <p:blipFill>
          <a:blip r:embed="R9c5ed023181f4870"/>
          <a:stretch/>
        </p:blipFill>
        <p:spPr>
          <a:xfrm>
            <a:off x="9867900" y="276061"/>
            <a:ext cx="1695450" cy="438478"/>
          </a:xfrm>
          <a:prstGeom prst="rect">
            <a:avLst/>
          </a:prstGeom>
        </p:spPr>
      </p:pic>
      <p:sp>
        <p:nvSpPr>
          <p:cNvPr id="2" name="">
            <a:extLst>
              <a:ext uri="{FF2B5EF4-FFF2-40B4-BE49-F238E27FC236}">
                <ns2:creationId id="{FDD79E68-255C-4685-B243-6F1616C2F4F8}"/>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34</a:t>
            </a:r>
          </a:p>
        </p:txBody>
      </p:sp>
      <p:sp>
        <p:nvSpPr>
          <p:cNvPr id="3" name="Naslov">
            <a:extLst>
              <a:ext uri="{FF2B5EF4-FFF2-40B4-BE49-F238E27FC236}">
                <ns2:creationId id="{780CCEFC-9D8C-49DA-9FD7-987C98FE8701}"/>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Bilaga: Forever2Drive</a:t>
            </a:r>
          </a:p>
        </p:txBody>
      </p:sp>
      <p:graphicFrame>
        <p:nvGraphicFramePr>
          <p:cNvPr id="4" name="">
            <a:extLst>
              <a:ext uri="{FF2B5EF4-FFF2-40B4-BE49-F238E27FC236}">
                <ns2:creationId id="{7E2485A5-066A-4AE2-AF1F-F24B4FA08B35}"/>
              </a:ext>
            </a:extLst>
          </p:cNvPr>
          <p:cNvGraphicFramePr/>
          <p:nvPr/>
        </p:nvGraphicFramePr>
        <p:xfrm>
          <a:off x="609600" y="2114550"/>
          <a:ext cx="10953750" cy="2647950"/>
        </p:xfrm>
        <a:graphic>
          <a:graphicData uri="http://schemas.openxmlformats.org/drawingml/2006/table">
            <a:tbl>
              <a:tblPr/>
              <a:tblGrid>
                <a:gridCol w="1238250"/>
                <a:gridCol w="2047875"/>
                <a:gridCol w="2047875"/>
                <a:gridCol w="2047875"/>
                <a:gridCol w="3571875"/>
              </a:tblGrid>
              <a:tr h="661988">
                <a:tc>
                  <a:txBody>
                    <a:bodyPr lIns="152400" tIns="133350" rIns="152400" bIns="114300">
                      <a:noAutofit/>
                    </a:bodyPr>
                    <a:lstStyle/>
                    <a:p>
                      <a:r>
                        <a:rPr sz="2025" b="1" lang="sv-SE">
                          <a:solidFill>
                            <a:srgbClr val="FFFFFF"/>
                          </a:solidFill>
                          <a:latin typeface="Arial"/>
                          <a:ea typeface="Arial"/>
                          <a:cs typeface="Arial"/>
                        </a:rPr>
                        <a:t>Nivå</a:t>
                      </a:r>
                    </a:p>
                  </a:txBody>
                  <a:tcPr marL="91440" marR="91440" marT="45720" marB="45720">
                    <a:solidFill>
                      <a:srgbClr val="153F36"/>
                    </a:solidFill>
                  </a:tcPr>
                </a:tc>
                <a:tc>
                  <a:txBody>
                    <a:bodyPr lIns="152400" tIns="133350" rIns="152400" bIns="114300">
                      <a:noAutofit/>
                    </a:bodyPr>
                    <a:lstStyle/>
                    <a:p>
                      <a:r>
                        <a:rPr sz="2025" b="1" lang="sv-SE">
                          <a:solidFill>
                            <a:srgbClr val="FFFFFF"/>
                          </a:solidFill>
                          <a:latin typeface="Arial"/>
                          <a:ea typeface="Arial"/>
                          <a:cs typeface="Arial"/>
                        </a:rPr>
                        <a:t>Månad 1</a:t>
                      </a:r>
                    </a:p>
                  </a:txBody>
                  <a:tcPr marL="91440" marR="91440" marT="45720" marB="45720">
                    <a:solidFill>
                      <a:srgbClr val="153F36"/>
                    </a:solidFill>
                  </a:tcPr>
                </a:tc>
                <a:tc>
                  <a:txBody>
                    <a:bodyPr lIns="152400" tIns="133350" rIns="152400" bIns="114300">
                      <a:noAutofit/>
                    </a:bodyPr>
                    <a:lstStyle/>
                    <a:p>
                      <a:r>
                        <a:rPr sz="2025" b="1" lang="sv-SE">
                          <a:solidFill>
                            <a:srgbClr val="FFFFFF"/>
                          </a:solidFill>
                          <a:latin typeface="Arial"/>
                          <a:ea typeface="Arial"/>
                          <a:cs typeface="Arial"/>
                        </a:rPr>
                        <a:t>2:a månaden</a:t>
                      </a:r>
                    </a:p>
                  </a:txBody>
                  <a:tcPr marL="91440" marR="91440" marT="45720" marB="45720">
                    <a:solidFill>
                      <a:srgbClr val="153F36"/>
                    </a:solidFill>
                  </a:tcPr>
                </a:tc>
                <a:tc>
                  <a:txBody>
                    <a:bodyPr lIns="152400" tIns="133350" rIns="152400" bIns="114300">
                      <a:noAutofit/>
                    </a:bodyPr>
                    <a:lstStyle/>
                    <a:p>
                      <a:r>
                        <a:rPr sz="2025" b="1" lang="sv-SE">
                          <a:solidFill>
                            <a:srgbClr val="FFFFFF"/>
                          </a:solidFill>
                          <a:latin typeface="Arial"/>
                          <a:ea typeface="Arial"/>
                          <a:cs typeface="Arial"/>
                        </a:rPr>
                        <a:t>Månad 3</a:t>
                      </a:r>
                    </a:p>
                  </a:txBody>
                  <a:tcPr marL="91440" marR="91440" marT="45720" marB="45720">
                    <a:solidFill>
                      <a:srgbClr val="153F36"/>
                    </a:solidFill>
                  </a:tcPr>
                </a:tc>
                <a:tc>
                  <a:txBody>
                    <a:bodyPr lIns="152400" tIns="133350" rIns="152400" bIns="114300">
                      <a:noAutofit/>
                    </a:bodyPr>
                    <a:lstStyle/>
                    <a:p>
                      <a:r>
                        <a:rPr sz="2025" b="1" lang="sv-SE">
                          <a:solidFill>
                            <a:srgbClr val="FFFFFF"/>
                          </a:solidFill>
                          <a:latin typeface="Arial"/>
                          <a:ea typeface="Arial"/>
                          <a:cs typeface="Arial"/>
                        </a:rPr>
                        <a:t>Månadsgräns</a:t>
                      </a:r>
                    </a:p>
                  </a:txBody>
                  <a:tcPr marL="91440" marR="91440" marT="45720" marB="45720">
                    <a:solidFill>
                      <a:srgbClr val="153F36"/>
                    </a:solidFill>
                  </a:tcPr>
                </a:tc>
              </a:tr>
              <a:tr h="661988">
                <a:tc>
                  <a:txBody>
                    <a:bodyPr lIns="152400" tIns="133350" rIns="152400" bIns="114300">
                      <a:noAutofit/>
                    </a:bodyPr>
                    <a:lstStyle/>
                    <a:p>
                      <a:r>
                        <a:rPr sz="2025" b="0" lang="sv-SE">
                          <a:solidFill>
                            <a:srgbClr val="153F36"/>
                          </a:solidFill>
                          <a:latin typeface="Arial"/>
                          <a:ea typeface="Arial"/>
                          <a:cs typeface="Arial"/>
                        </a:rPr>
                        <a:t>1</a:t>
                      </a:r>
                    </a:p>
                  </a:txBody>
                  <a:tcPr marL="91440" marR="91440" marT="45720" marB="45720">
                    <a:solidFill>
                      <a:srgbClr val="FFFFFF"/>
                    </a:solidFill>
                  </a:tcPr>
                </a:tc>
                <a:tc>
                  <a:txBody>
                    <a:bodyPr lIns="152400" tIns="133350" rIns="152400" bIns="114300">
                      <a:noAutofit/>
                    </a:bodyPr>
                    <a:lstStyle/>
                    <a:p>
                      <a:r>
                        <a:rPr sz="2025" b="0" lang="sv-SE">
                          <a:solidFill>
                            <a:srgbClr val="153F36"/>
                          </a:solidFill>
                          <a:latin typeface="Arial"/>
                          <a:ea typeface="Arial"/>
                          <a:cs typeface="Arial"/>
                        </a:rPr>
                        <a:t>50 CC</a:t>
                      </a:r>
                    </a:p>
                  </a:txBody>
                  <a:tcPr marL="91440" marR="91440" marT="45720" marB="45720">
                    <a:solidFill>
                      <a:srgbClr val="FFFFFF"/>
                    </a:solidFill>
                  </a:tcPr>
                </a:tc>
                <a:tc>
                  <a:txBody>
                    <a:bodyPr lIns="152400" tIns="133350" rIns="152400" bIns="114300">
                      <a:noAutofit/>
                    </a:bodyPr>
                    <a:lstStyle/>
                    <a:p>
                      <a:r>
                        <a:rPr sz="2025" b="0" lang="sv-SE">
                          <a:solidFill>
                            <a:srgbClr val="153F36"/>
                          </a:solidFill>
                          <a:latin typeface="Arial"/>
                          <a:ea typeface="Arial"/>
                          <a:cs typeface="Arial"/>
                        </a:rPr>
                        <a:t>100 CC</a:t>
                      </a:r>
                    </a:p>
                  </a:txBody>
                  <a:tcPr marL="91440" marR="91440" marT="45720" marB="45720">
                    <a:solidFill>
                      <a:srgbClr val="FFFFFF"/>
                    </a:solidFill>
                  </a:tcPr>
                </a:tc>
                <a:tc>
                  <a:txBody>
                    <a:bodyPr lIns="152400" tIns="133350" rIns="152400" bIns="114300">
                      <a:noAutofit/>
                    </a:bodyPr>
                    <a:lstStyle/>
                    <a:p>
                      <a:r>
                        <a:rPr sz="2025" b="0" lang="sv-SE">
                          <a:solidFill>
                            <a:srgbClr val="153F36"/>
                          </a:solidFill>
                          <a:latin typeface="Arial"/>
                          <a:ea typeface="Arial"/>
                          <a:cs typeface="Arial"/>
                        </a:rPr>
                        <a:t>150 CC</a:t>
                      </a:r>
                    </a:p>
                  </a:txBody>
                  <a:tcPr marL="91440" marR="91440" marT="45720" marB="45720">
                    <a:solidFill>
                      <a:srgbClr val="FFFFFF"/>
                    </a:solidFill>
                  </a:tcPr>
                </a:tc>
                <a:tc>
                  <a:txBody>
                    <a:bodyPr lIns="152400" tIns="133350" rIns="152400" bIns="114300">
                      <a:noAutofit/>
                    </a:bodyPr>
                    <a:lstStyle/>
                    <a:p>
                      <a:r>
                        <a:rPr sz="2025" b="0" lang="sv-SE">
                          <a:solidFill>
                            <a:srgbClr val="153F36"/>
                          </a:solidFill>
                          <a:latin typeface="Arial"/>
                          <a:ea typeface="Arial"/>
                          <a:cs typeface="Arial"/>
                        </a:rPr>
                        <a:t>400 USD</a:t>
                      </a:r>
                    </a:p>
                  </a:txBody>
                  <a:tcPr marL="91440" marR="91440" marT="45720" marB="45720">
                    <a:solidFill>
                      <a:srgbClr val="FFFFFF"/>
                    </a:solidFill>
                  </a:tcPr>
                </a:tc>
              </a:tr>
              <a:tr h="661988">
                <a:tc>
                  <a:txBody>
                    <a:bodyPr lIns="152400" tIns="133350" rIns="152400" bIns="114300">
                      <a:noAutofit/>
                    </a:bodyPr>
                    <a:lstStyle/>
                    <a:p>
                      <a:r>
                        <a:rPr sz="2025" b="0" lang="sv-SE">
                          <a:solidFill>
                            <a:srgbClr val="153F36"/>
                          </a:solidFill>
                          <a:latin typeface="Arial"/>
                          <a:ea typeface="Arial"/>
                          <a:cs typeface="Arial"/>
                        </a:rPr>
                        <a:t>2</a:t>
                      </a:r>
                    </a:p>
                  </a:txBody>
                  <a:tcPr marL="91440" marR="91440" marT="45720" marB="45720">
                    <a:solidFill>
                      <a:srgbClr val="F3F7F2"/>
                    </a:solidFill>
                  </a:tcPr>
                </a:tc>
                <a:tc>
                  <a:txBody>
                    <a:bodyPr lIns="152400" tIns="133350" rIns="152400" bIns="114300">
                      <a:noAutofit/>
                    </a:bodyPr>
                    <a:lstStyle/>
                    <a:p>
                      <a:r>
                        <a:rPr sz="2025" b="0" lang="sv-SE">
                          <a:solidFill>
                            <a:srgbClr val="153F36"/>
                          </a:solidFill>
                          <a:latin typeface="Arial"/>
                          <a:ea typeface="Arial"/>
                          <a:cs typeface="Arial"/>
                        </a:rPr>
                        <a:t>75 CC</a:t>
                      </a:r>
                    </a:p>
                  </a:txBody>
                  <a:tcPr marL="91440" marR="91440" marT="45720" marB="45720">
                    <a:solidFill>
                      <a:srgbClr val="F3F7F2"/>
                    </a:solidFill>
                  </a:tcPr>
                </a:tc>
                <a:tc>
                  <a:txBody>
                    <a:bodyPr lIns="152400" tIns="133350" rIns="152400" bIns="114300">
                      <a:noAutofit/>
                    </a:bodyPr>
                    <a:lstStyle/>
                    <a:p>
                      <a:r>
                        <a:rPr sz="2025" b="0" lang="sv-SE">
                          <a:solidFill>
                            <a:srgbClr val="153F36"/>
                          </a:solidFill>
                          <a:latin typeface="Arial"/>
                          <a:ea typeface="Arial"/>
                          <a:cs typeface="Arial"/>
                        </a:rPr>
                        <a:t>150 CC</a:t>
                      </a:r>
                    </a:p>
                  </a:txBody>
                  <a:tcPr marL="91440" marR="91440" marT="45720" marB="45720">
                    <a:solidFill>
                      <a:srgbClr val="F3F7F2"/>
                    </a:solidFill>
                  </a:tcPr>
                </a:tc>
                <a:tc>
                  <a:txBody>
                    <a:bodyPr lIns="152400" tIns="133350" rIns="152400" bIns="114300">
                      <a:noAutofit/>
                    </a:bodyPr>
                    <a:lstStyle/>
                    <a:p>
                      <a:r>
                        <a:rPr sz="2025" b="0" lang="sv-SE">
                          <a:solidFill>
                            <a:srgbClr val="153F36"/>
                          </a:solidFill>
                          <a:latin typeface="Arial"/>
                          <a:ea typeface="Arial"/>
                          <a:cs typeface="Arial"/>
                        </a:rPr>
                        <a:t>225 CC</a:t>
                      </a:r>
                    </a:p>
                  </a:txBody>
                  <a:tcPr marL="91440" marR="91440" marT="45720" marB="45720">
                    <a:solidFill>
                      <a:srgbClr val="F3F7F2"/>
                    </a:solidFill>
                  </a:tcPr>
                </a:tc>
                <a:tc>
                  <a:txBody>
                    <a:bodyPr lIns="152400" tIns="133350" rIns="152400" bIns="114300">
                      <a:noAutofit/>
                    </a:bodyPr>
                    <a:lstStyle/>
                    <a:p>
                      <a:r>
                        <a:rPr sz="2025" b="0" lang="sv-SE">
                          <a:solidFill>
                            <a:srgbClr val="153F36"/>
                          </a:solidFill>
                          <a:latin typeface="Arial"/>
                          <a:ea typeface="Arial"/>
                          <a:cs typeface="Arial"/>
                        </a:rPr>
                        <a:t>600 USD</a:t>
                      </a:r>
                    </a:p>
                  </a:txBody>
                  <a:tcPr marL="91440" marR="91440" marT="45720" marB="45720">
                    <a:solidFill>
                      <a:srgbClr val="F3F7F2"/>
                    </a:solidFill>
                  </a:tcPr>
                </a:tc>
              </a:tr>
              <a:tr h="661988">
                <a:tc>
                  <a:txBody>
                    <a:bodyPr lIns="152400" tIns="133350" rIns="152400" bIns="114300">
                      <a:noAutofit/>
                    </a:bodyPr>
                    <a:lstStyle/>
                    <a:p>
                      <a:r>
                        <a:rPr sz="2025" b="0" lang="sv-SE">
                          <a:solidFill>
                            <a:srgbClr val="153F36"/>
                          </a:solidFill>
                          <a:latin typeface="Arial"/>
                          <a:ea typeface="Arial"/>
                          <a:cs typeface="Arial"/>
                        </a:rPr>
                        <a:t>3</a:t>
                      </a:r>
                    </a:p>
                  </a:txBody>
                  <a:tcPr marL="91440" marR="91440" marT="45720" marB="45720">
                    <a:solidFill>
                      <a:srgbClr val="FFFFFF"/>
                    </a:solidFill>
                  </a:tcPr>
                </a:tc>
                <a:tc>
                  <a:txBody>
                    <a:bodyPr lIns="152400" tIns="133350" rIns="152400" bIns="114300">
                      <a:noAutofit/>
                    </a:bodyPr>
                    <a:lstStyle/>
                    <a:p>
                      <a:r>
                        <a:rPr sz="2025" b="0" lang="sv-SE">
                          <a:solidFill>
                            <a:srgbClr val="153F36"/>
                          </a:solidFill>
                          <a:latin typeface="Arial"/>
                          <a:ea typeface="Arial"/>
                          <a:cs typeface="Arial"/>
                        </a:rPr>
                        <a:t>100 CC</a:t>
                      </a:r>
                    </a:p>
                  </a:txBody>
                  <a:tcPr marL="91440" marR="91440" marT="45720" marB="45720">
                    <a:solidFill>
                      <a:srgbClr val="FFFFFF"/>
                    </a:solidFill>
                  </a:tcPr>
                </a:tc>
                <a:tc>
                  <a:txBody>
                    <a:bodyPr lIns="152400" tIns="133350" rIns="152400" bIns="114300">
                      <a:noAutofit/>
                    </a:bodyPr>
                    <a:lstStyle/>
                    <a:p>
                      <a:r>
                        <a:rPr sz="2025" b="0" lang="sv-SE">
                          <a:solidFill>
                            <a:srgbClr val="153F36"/>
                          </a:solidFill>
                          <a:latin typeface="Arial"/>
                          <a:ea typeface="Arial"/>
                          <a:cs typeface="Arial"/>
                        </a:rPr>
                        <a:t>200 CC</a:t>
                      </a:r>
                    </a:p>
                  </a:txBody>
                  <a:tcPr marL="91440" marR="91440" marT="45720" marB="45720">
                    <a:solidFill>
                      <a:srgbClr val="FFFFFF"/>
                    </a:solidFill>
                  </a:tcPr>
                </a:tc>
                <a:tc>
                  <a:txBody>
                    <a:bodyPr lIns="152400" tIns="133350" rIns="152400" bIns="114300">
                      <a:noAutofit/>
                    </a:bodyPr>
                    <a:lstStyle/>
                    <a:p>
                      <a:r>
                        <a:rPr sz="2025" b="0" lang="sv-SE">
                          <a:solidFill>
                            <a:srgbClr val="153F36"/>
                          </a:solidFill>
                          <a:latin typeface="Arial"/>
                          <a:ea typeface="Arial"/>
                          <a:cs typeface="Arial"/>
                        </a:rPr>
                        <a:t>300 CC</a:t>
                      </a:r>
                    </a:p>
                  </a:txBody>
                  <a:tcPr marL="91440" marR="91440" marT="45720" marB="45720">
                    <a:solidFill>
                      <a:srgbClr val="FFFFFF"/>
                    </a:solidFill>
                  </a:tcPr>
                </a:tc>
                <a:tc>
                  <a:txBody>
                    <a:bodyPr lIns="152400" tIns="133350" rIns="152400" bIns="114300">
                      <a:noAutofit/>
                    </a:bodyPr>
                    <a:lstStyle/>
                    <a:p>
                      <a:r>
                        <a:rPr sz="2025" b="0" lang="sv-SE">
                          <a:solidFill>
                            <a:srgbClr val="153F36"/>
                          </a:solidFill>
                          <a:latin typeface="Arial"/>
                          <a:ea typeface="Arial"/>
                          <a:cs typeface="Arial"/>
                        </a:rPr>
                        <a:t>800 USD</a:t>
                      </a:r>
                    </a:p>
                  </a:txBody>
                  <a:tcPr marL="91440" marR="91440" marT="45720" marB="45720">
                    <a:solidFill>
                      <a:srgbClr val="FFFFFF"/>
                    </a:solidFill>
                  </a:tcPr>
                </a:tc>
              </a:tr>
            </a:tbl>
          </a:graphicData>
        </a:graphic>
      </p:graphicFrame>
      <p:sp>
        <p:nvSpPr>
          <p:cNvPr id="5" name="">
            <a:extLst>
              <a:ext uri="{FF2B5EF4-FFF2-40B4-BE49-F238E27FC236}">
                <ns2:creationId id="{B4AC18CE-F6CB-49F2-8416-567B308FCF87}"/>
              </a:ext>
            </a:extLst>
          </p:cNvPr>
          <p:cNvSpPr>
            <a:spLocks noGrp="1"/>
          </p:cNvSpPr>
          <p:nvPr/>
        </p:nvSpPr>
        <p:spPr>
          <a:xfrm>
            <a:off x="609600" y="5143500"/>
            <a:ext cx="10458450" cy="809625"/>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v-SE">
                <a:solidFill>
                  <a:srgbClr val="153F36"/>
                </a:solidFill>
                <a:latin typeface="Arial"/>
                <a:ea typeface="Arial"/>
                <a:cs typeface="Arial"/>
              </a:rPr>
              <a:t>Kvalificering och fortsatt uppfyllelse av villkoren. Incitament i upp till 36 månader.</a:t>
            </a:r>
          </a:p>
        </p:txBody>
      </p:sp>
    </p:spTree>
    <p:extLst>
      <p:ext uri="{BB962C8B-B14F-4D97-AF65-F5344CB8AC3E}">
        <ns4:creationId val="280473326"/>
      </p:ext>
    </p:extLst>
  </p:cSld>
</p:sld>
</file>

<file path=ppt/slides/slide3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B9E3C7C8-35B4-441E-B1C2-00BCFB5C9F40}"/>
              </a:ext>
            </a:extLst>
          </p:cNvPr>
          <p:cNvPicPr>
            <a:picLocks noChangeAspect="1"/>
          </p:cNvPicPr>
          <p:nvPr/>
        </p:nvPicPr>
        <p:blipFill>
          <a:blip r:embed="R58ce5c4bc3ef4c8b"/>
          <a:stretch/>
        </p:blipFill>
        <p:spPr>
          <a:xfrm>
            <a:off x="9867900" y="276061"/>
            <a:ext cx="1695450" cy="438478"/>
          </a:xfrm>
          <a:prstGeom prst="rect">
            <a:avLst/>
          </a:prstGeom>
        </p:spPr>
      </p:pic>
      <p:sp>
        <p:nvSpPr>
          <p:cNvPr id="2" name="">
            <a:extLst>
              <a:ext uri="{FF2B5EF4-FFF2-40B4-BE49-F238E27FC236}">
                <ns2:creationId id="{0CB37FEB-5A20-485A-9A04-1936EE10F0CF}"/>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35</a:t>
            </a:r>
          </a:p>
        </p:txBody>
      </p:sp>
      <p:sp>
        <p:nvSpPr>
          <p:cNvPr id="3" name="Naslov">
            <a:extLst>
              <a:ext uri="{FF2B5EF4-FFF2-40B4-BE49-F238E27FC236}">
                <ns2:creationId id="{B655E18D-295A-4CD8-9A03-B3FC391A9AED}"/>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Tillägg: årliga kvalificeringar</a:t>
            </a:r>
          </a:p>
        </p:txBody>
      </p:sp>
      <p:sp>
        <p:nvSpPr>
          <p:cNvPr id="4" name="">
            <a:extLst>
              <a:ext uri="{FF2B5EF4-FFF2-40B4-BE49-F238E27FC236}">
                <ns2:creationId id="{F037214A-CF38-4FAB-8F4B-BC9F710748A2}"/>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v-SE">
                <a:solidFill>
                  <a:srgbClr val="148977"/>
                </a:solidFill>
                <a:latin typeface="Arial"/>
                <a:ea typeface="Arial"/>
                <a:cs typeface="Arial"/>
              </a:rPr>
              <a:t>1.</a:t>
            </a:r>
          </a:p>
        </p:txBody>
      </p:sp>
      <p:sp>
        <p:nvSpPr>
          <p:cNvPr id="5" name="">
            <a:extLst>
              <a:ext uri="{FF2B5EF4-FFF2-40B4-BE49-F238E27FC236}">
                <ns2:creationId id="{DE39F66B-A442-4DB2-BC88-152A2F537F88}"/>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v-SE">
                <a:solidFill>
                  <a:srgbClr val="153F36"/>
                </a:solidFill>
                <a:latin typeface="Arial"/>
                <a:ea typeface="Arial"/>
                <a:cs typeface="Arial"/>
              </a:rPr>
              <a:t>Eagle Manager</a:t>
            </a:r>
          </a:p>
        </p:txBody>
      </p:sp>
      <p:sp>
        <p:nvSpPr>
          <p:cNvPr id="6" name="">
            <a:extLst>
              <a:ext uri="{FF2B5EF4-FFF2-40B4-BE49-F238E27FC236}">
                <ns2:creationId id="{5EB13131-225A-47B3-A990-4556686F98B8}"/>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720 totalt CC, 100 nya CC och 3 nya Supervisor-linjer.</a:t>
            </a:r>
          </a:p>
        </p:txBody>
      </p:sp>
      <p:sp>
        <p:nvSpPr>
          <p:cNvPr id="7" name="">
            <a:extLst>
              <a:ext uri="{FF2B5EF4-FFF2-40B4-BE49-F238E27FC236}">
                <ns2:creationId id="{81F9A9B6-F0B7-4FC8-82A9-040A17BA37F4}"/>
              </a:ext>
            </a:extLst>
          </p:cNvPr>
          <p:cNvSpPr>
            <a:spLocks noGrp="1"/>
          </p:cNvSpPr>
          <p:nvPr/>
        </p:nvSpPr>
        <p:spPr>
          <a:xfrm>
            <a:off x="609600" y="312420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v-SE">
                <a:solidFill>
                  <a:srgbClr val="148977"/>
                </a:solidFill>
                <a:latin typeface="Arial"/>
                <a:ea typeface="Arial"/>
                <a:cs typeface="Arial"/>
              </a:rPr>
              <a:t>2.</a:t>
            </a:r>
          </a:p>
        </p:txBody>
      </p:sp>
      <p:sp>
        <p:nvSpPr>
          <p:cNvPr id="8" name="">
            <a:extLst>
              <a:ext uri="{FF2B5EF4-FFF2-40B4-BE49-F238E27FC236}">
                <ns2:creationId id="{C4C32F05-04BB-4214-8487-F780C8E1B8F9}"/>
              </a:ext>
            </a:extLst>
          </p:cNvPr>
          <p:cNvSpPr>
            <a:spLocks noGrp="1"/>
          </p:cNvSpPr>
          <p:nvPr/>
        </p:nvSpPr>
        <p:spPr>
          <a:xfrm>
            <a:off x="1257300" y="312420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v-SE">
                <a:solidFill>
                  <a:srgbClr val="153F36"/>
                </a:solidFill>
                <a:latin typeface="Arial"/>
                <a:ea typeface="Arial"/>
                <a:cs typeface="Arial"/>
              </a:rPr>
              <a:t>Global Rally</a:t>
            </a:r>
          </a:p>
        </p:txBody>
      </p:sp>
      <p:sp>
        <p:nvSpPr>
          <p:cNvPr id="9" name="">
            <a:extLst>
              <a:ext uri="{FF2B5EF4-FFF2-40B4-BE49-F238E27FC236}">
                <ns2:creationId id="{AD802E04-F4DC-4E5B-83E7-81C942E85FE4}"/>
              </a:ext>
            </a:extLst>
          </p:cNvPr>
          <p:cNvSpPr>
            <a:spLocks noGrp="1"/>
          </p:cNvSpPr>
          <p:nvPr/>
        </p:nvSpPr>
        <p:spPr>
          <a:xfrm>
            <a:off x="1257300" y="353377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Minst 1 500 CC totalt, inklusive minst 50 nya CC.</a:t>
            </a:r>
          </a:p>
        </p:txBody>
      </p:sp>
      <p:sp>
        <p:nvSpPr>
          <p:cNvPr id="10" name="">
            <a:extLst>
              <a:ext uri="{FF2B5EF4-FFF2-40B4-BE49-F238E27FC236}">
                <ns2:creationId id="{765D29EF-17EE-439A-9148-70DA52221B41}"/>
              </a:ext>
            </a:extLst>
          </p:cNvPr>
          <p:cNvSpPr>
            <a:spLocks noGrp="1"/>
          </p:cNvSpPr>
          <p:nvPr/>
        </p:nvSpPr>
        <p:spPr>
          <a:xfrm>
            <a:off x="609600" y="4286250"/>
            <a:ext cx="523875" cy="495300"/>
          </a:xfrm>
          <a:prstGeom prst="rect">
            <a:avLst/>
          </a:prstGeom>
          <a:noFill/>
          <a:ln w="0">
            <a:noFill/>
          </a:ln>
        </p:spPr>
        <p:txBody>
          <a:bodyPr wrap="square" lIns="0" tIns="0" rIns="0" bIns="0" anchor="t">
            <a:noAutofit/>
          </a:bodyPr>
          <a:lstStyle>
            <a:defPPr>
              <a:defRPr sz="2325" b="1">
                <a:solidFill>
                  <a:srgbClr val="148977"/>
                </a:solidFill>
                <a:latin typeface="Arial"/>
                <a:ea typeface="Arial"/>
                <a:cs typeface="Arial"/>
              </a:defRPr>
            </a:defPPr>
          </a:lstStyle>
          <a:p>
            <a:pPr>
              <a:defRPr sz="2325" b="1">
                <a:solidFill>
                  <a:srgbClr val="148977"/>
                </a:solidFill>
                <a:latin typeface="Arial"/>
                <a:ea typeface="Arial"/>
                <a:cs typeface="Arial"/>
              </a:defRPr>
            </a:pPr>
            <a:r>
              <a:rPr sz="2325" b="1" lang="sv-SE">
                <a:solidFill>
                  <a:srgbClr val="148977"/>
                </a:solidFill>
                <a:latin typeface="Arial"/>
                <a:ea typeface="Arial"/>
                <a:cs typeface="Arial"/>
              </a:rPr>
              <a:t>3.</a:t>
            </a:r>
          </a:p>
        </p:txBody>
      </p:sp>
      <p:sp>
        <p:nvSpPr>
          <p:cNvPr id="11" name="">
            <a:extLst>
              <a:ext uri="{FF2B5EF4-FFF2-40B4-BE49-F238E27FC236}">
                <ns2:creationId id="{5C8C13D5-EA0A-45FF-B19C-610392AA90BD}"/>
              </a:ext>
            </a:extLst>
          </p:cNvPr>
          <p:cNvSpPr>
            <a:spLocks noGrp="1"/>
          </p:cNvSpPr>
          <p:nvPr/>
        </p:nvSpPr>
        <p:spPr>
          <a:xfrm>
            <a:off x="1257300" y="4286250"/>
            <a:ext cx="9925050" cy="457200"/>
          </a:xfrm>
          <a:prstGeom prst="rect">
            <a:avLst/>
          </a:prstGeom>
          <a:noFill/>
          <a:ln w="0">
            <a:noFill/>
          </a:ln>
        </p:spPr>
        <p:txBody>
          <a:bodyPr wrap="square" lIns="0" tIns="0" rIns="0" bIns="0" anchor="t">
            <a:noAutofit/>
          </a:bodyPr>
          <a:lstStyle>
            <a:defPPr>
              <a:defRPr sz="2325" b="1">
                <a:solidFill>
                  <a:srgbClr val="153F36"/>
                </a:solidFill>
                <a:latin typeface="Arial"/>
                <a:ea typeface="Arial"/>
                <a:cs typeface="Arial"/>
              </a:defRPr>
            </a:defPPr>
          </a:lstStyle>
          <a:p>
            <a:pPr>
              <a:defRPr sz="2325" b="1">
                <a:solidFill>
                  <a:srgbClr val="153F36"/>
                </a:solidFill>
                <a:latin typeface="Arial"/>
                <a:ea typeface="Arial"/>
                <a:cs typeface="Arial"/>
              </a:defRPr>
            </a:pPr>
            <a:r>
              <a:rPr sz="2325" b="1" lang="sv-SE">
                <a:solidFill>
                  <a:srgbClr val="153F36"/>
                </a:solidFill>
                <a:latin typeface="Arial"/>
                <a:ea typeface="Arial"/>
                <a:cs typeface="Arial"/>
              </a:rPr>
              <a:t>Chairman’s Bonus</a:t>
            </a:r>
          </a:p>
        </p:txBody>
      </p:sp>
      <p:sp>
        <p:nvSpPr>
          <p:cNvPr id="12" name="">
            <a:extLst>
              <a:ext uri="{FF2B5EF4-FFF2-40B4-BE49-F238E27FC236}">
                <ns2:creationId id="{ED3D2BFE-A33E-4B2F-ABBA-68D93EE7CCAA}"/>
              </a:ext>
            </a:extLst>
          </p:cNvPr>
          <p:cNvSpPr>
            <a:spLocks noGrp="1"/>
          </p:cNvSpPr>
          <p:nvPr/>
        </p:nvSpPr>
        <p:spPr>
          <a:xfrm>
            <a:off x="1257300" y="46958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Utvecklade kvalificerade linjer och ytterligare programvillkor.</a:t>
            </a:r>
          </a:p>
        </p:txBody>
      </p:sp>
      <p:sp>
        <p:nvSpPr>
          <p:cNvPr id="13" name="">
            <a:extLst>
              <a:ext uri="{FF2B5EF4-FFF2-40B4-BE49-F238E27FC236}">
                <ns2:creationId id="{B903DFC0-E1C3-44EE-AD9B-AD2E08F86D6D}"/>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Tröskelvärdena är en sammanfattning. Tidsfrister, bibehållande och alla ytterligare villkor anges i den lokala policyn.</a:t>
            </a:r>
          </a:p>
        </p:txBody>
      </p:sp>
    </p:spTree>
    <p:extLst>
      <p:ext uri="{BB962C8B-B14F-4D97-AF65-F5344CB8AC3E}">
        <ns4:creationId val="880705396"/>
      </p:ext>
    </p:extLst>
  </p:cSld>
</p:sld>
</file>

<file path=ppt/slides/slide36.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3F7F2"/>
        </a:solidFill>
      </p:bgPr>
    </p:bg>
    <p:spTree>
      <p:nvGrpSpPr>
        <p:cNvPr id="1" name=""/>
        <p:cNvGrpSpPr/>
        <p:nvPr/>
      </p:nvGrpSpPr>
      <p:grpSpPr>
        <a:xfrm/>
      </p:grpSpPr>
      <p:pic>
        <p:nvPicPr>
          <p:cNvPr id="14" name="">
            <a:extLst>
              <a:ext uri="{FF2B5EF4-FFF2-40B4-BE49-F238E27FC236}">
                <ns2:creationId id="{88852AA4-6578-41AF-9740-5117C7F6172E}"/>
              </a:ext>
            </a:extLst>
          </p:cNvPr>
          <p:cNvPicPr>
            <a:picLocks noChangeAspect="1"/>
          </p:cNvPicPr>
          <p:nvPr/>
        </p:nvPicPr>
        <p:blipFill>
          <a:blip r:embed="R94ed22d42f074bff"/>
          <a:stretch/>
        </p:blipFill>
        <p:spPr>
          <a:xfrm>
            <a:off x="9867900" y="276061"/>
            <a:ext cx="1695450" cy="438478"/>
          </a:xfrm>
          <a:prstGeom prst="rect">
            <a:avLst/>
          </a:prstGeom>
        </p:spPr>
      </p:pic>
      <p:sp>
        <p:nvSpPr>
          <p:cNvPr id="2" name="">
            <a:extLst>
              <a:ext uri="{FF2B5EF4-FFF2-40B4-BE49-F238E27FC236}">
                <ns2:creationId id="{F484BD7A-5B1B-4432-9A78-B974D5EEA709}"/>
              </a:ext>
            </a:extLst>
          </p:cNvPr>
          <p:cNvSpPr>
            <a:spLocks noGrp="1"/>
          </p:cNvSpPr>
          <p:nvPr/>
        </p:nvSpPr>
        <p:spPr>
          <a:xfrm>
            <a:off x="11334750" y="6372225"/>
            <a:ext cx="438150" cy="266700"/>
          </a:xfrm>
          <a:prstGeom prst="rect">
            <a:avLst/>
          </a:prstGeom>
          <a:noFill/>
          <a:ln w="0">
            <a:noFill/>
          </a:ln>
        </p:spPr>
        <p:txBody>
          <a:bodyPr wrap="square" lIns="0" tIns="0" rIns="0" bIns="0" anchor="t">
            <a:noAutofit/>
          </a:bodyPr>
          <a:lstStyle>
            <a:defPPr>
              <a:defRPr sz="1350" b="0">
                <a:solidFill>
                  <a:srgbClr val="526B63"/>
                </a:solidFill>
                <a:latin typeface="Arial"/>
                <a:ea typeface="Arial"/>
                <a:cs typeface="Arial"/>
              </a:defRPr>
            </a:defPPr>
          </a:lstStyle>
          <a:p>
            <a:pPr>
              <a:defRPr sz="1350" b="0">
                <a:solidFill>
                  <a:srgbClr val="526B63"/>
                </a:solidFill>
                <a:latin typeface="Arial"/>
                <a:ea typeface="Arial"/>
                <a:cs typeface="Arial"/>
              </a:defRPr>
            </a:pPr>
            <a:r>
              <a:rPr sz="1350" b="0" lang="sv-SE">
                <a:solidFill>
                  <a:srgbClr val="526B63"/>
                </a:solidFill>
                <a:latin typeface="Arial"/>
                <a:ea typeface="Arial"/>
                <a:cs typeface="Arial"/>
              </a:rPr>
              <a:t>36</a:t>
            </a:r>
          </a:p>
        </p:txBody>
      </p:sp>
      <p:sp>
        <p:nvSpPr>
          <p:cNvPr id="3" name="Naslov">
            <a:extLst>
              <a:ext uri="{FF2B5EF4-FFF2-40B4-BE49-F238E27FC236}">
                <ns2:creationId id="{AADE5631-8BAA-49DB-AB4C-B28590B49F43}"/>
              </a:ext>
            </a:extLst>
          </p:cNvPr>
          <p:cNvSpPr>
            <a:spLocks noGrp="1"/>
          </p:cNvSpPr>
          <p:nvPr/>
        </p:nvSpPr>
        <p:spPr>
          <a:xfrm>
            <a:off x="609600" y="628650"/>
            <a:ext cx="10668000" cy="1181100"/>
          </a:xfrm>
          <a:prstGeom prst="rect">
            <a:avLst/>
          </a:prstGeom>
          <a:noFill/>
          <a:ln w="0">
            <a:noFill/>
          </a:ln>
        </p:spPr>
        <p:txBody>
          <a:bodyPr wrap="square" lIns="0" tIns="0" rIns="0" bIns="0" anchor="t">
            <a:noAutofit/>
          </a:bodyPr>
          <a:lstStyle>
            <a:defPPr>
              <a:defRPr sz="3600" b="1">
                <a:solidFill>
                  <a:srgbClr val="153F36"/>
                </a:solidFill>
                <a:latin typeface="Arial"/>
                <a:ea typeface="Arial"/>
                <a:cs typeface="Arial"/>
              </a:defRPr>
            </a:defPPr>
          </a:lstStyle>
          <a:p>
            <a:pPr>
              <a:defRPr sz="3600" b="1">
                <a:solidFill>
                  <a:srgbClr val="153F36"/>
                </a:solidFill>
                <a:latin typeface="Arial"/>
                <a:ea typeface="Arial"/>
                <a:cs typeface="Arial"/>
              </a:defRPr>
            </a:pPr>
            <a:r>
              <a:rPr sz="3600" b="1" lang="sv-SE">
                <a:solidFill>
                  <a:srgbClr val="153F36"/>
                </a:solidFill>
                <a:latin typeface="Arial"/>
                <a:ea typeface="Arial"/>
                <a:cs typeface="Arial"/>
              </a:rPr>
              <a:t>Tillägg: utbetalningar och faktisk inkomst</a:t>
            </a:r>
          </a:p>
        </p:txBody>
      </p:sp>
      <p:sp>
        <p:nvSpPr>
          <p:cNvPr id="4" name="">
            <a:extLst>
              <a:ext uri="{FF2B5EF4-FFF2-40B4-BE49-F238E27FC236}">
                <ns2:creationId id="{4648F494-74C7-41B9-A7AD-105B8730022F}"/>
              </a:ext>
            </a:extLst>
          </p:cNvPr>
          <p:cNvSpPr>
            <a:spLocks noGrp="1"/>
          </p:cNvSpPr>
          <p:nvPr/>
        </p:nvSpPr>
        <p:spPr>
          <a:xfrm>
            <a:off x="609600" y="1962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v-SE">
                <a:solidFill>
                  <a:srgbClr val="148977"/>
                </a:solidFill>
                <a:latin typeface="Arial"/>
                <a:ea typeface="Arial"/>
                <a:cs typeface="Arial"/>
              </a:rPr>
              <a:t>1.</a:t>
            </a:r>
          </a:p>
        </p:txBody>
      </p:sp>
      <p:sp>
        <p:nvSpPr>
          <p:cNvPr id="5" name="">
            <a:extLst>
              <a:ext uri="{FF2B5EF4-FFF2-40B4-BE49-F238E27FC236}">
                <ns2:creationId id="{D8F3ADF8-D3CE-4D09-B5D5-37B3C4DF925C}"/>
              </a:ext>
            </a:extLst>
          </p:cNvPr>
          <p:cNvSpPr>
            <a:spLocks noGrp="1"/>
          </p:cNvSpPr>
          <p:nvPr/>
        </p:nvSpPr>
        <p:spPr>
          <a:xfrm>
            <a:off x="1257300" y="1962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v-SE">
                <a:solidFill>
                  <a:srgbClr val="153F36"/>
                </a:solidFill>
                <a:latin typeface="Arial"/>
                <a:ea typeface="Arial"/>
                <a:cs typeface="Arial"/>
              </a:rPr>
              <a:t>Bonusar för föregående månad</a:t>
            </a:r>
          </a:p>
        </p:txBody>
      </p:sp>
      <p:sp>
        <p:nvSpPr>
          <p:cNvPr id="6" name="">
            <a:extLst>
              <a:ext uri="{FF2B5EF4-FFF2-40B4-BE49-F238E27FC236}">
                <ns2:creationId id="{3C09A159-46FC-4266-AE84-DE17BCFA81A2}"/>
              </a:ext>
            </a:extLst>
          </p:cNvPr>
          <p:cNvSpPr>
            <a:spLocks noGrp="1"/>
          </p:cNvSpPr>
          <p:nvPr/>
        </p:nvSpPr>
        <p:spPr>
          <a:xfrm>
            <a:off x="1257300" y="2371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Enligt den kroatiska policyn, den 15:e i följande månad.</a:t>
            </a:r>
          </a:p>
        </p:txBody>
      </p:sp>
      <p:sp>
        <p:nvSpPr>
          <p:cNvPr id="7" name="">
            <a:extLst>
              <a:ext uri="{FF2B5EF4-FFF2-40B4-BE49-F238E27FC236}">
                <ns2:creationId id="{7AEEAE2C-E72E-48F1-91F1-C715F3B5457C}"/>
              </a:ext>
            </a:extLst>
          </p:cNvPr>
          <p:cNvSpPr>
            <a:spLocks noGrp="1"/>
          </p:cNvSpPr>
          <p:nvPr/>
        </p:nvSpPr>
        <p:spPr>
          <a:xfrm>
            <a:off x="609600" y="3105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v-SE">
                <a:solidFill>
                  <a:srgbClr val="148977"/>
                </a:solidFill>
                <a:latin typeface="Arial"/>
                <a:ea typeface="Arial"/>
                <a:cs typeface="Arial"/>
              </a:rPr>
              <a:t>2.</a:t>
            </a:r>
          </a:p>
        </p:txBody>
      </p:sp>
      <p:sp>
        <p:nvSpPr>
          <p:cNvPr id="8" name="">
            <a:extLst>
              <a:ext uri="{FF2B5EF4-FFF2-40B4-BE49-F238E27FC236}">
                <ns2:creationId id="{D7C8ED34-9B2A-4A5B-8F5C-E661D3D95A39}"/>
              </a:ext>
            </a:extLst>
          </p:cNvPr>
          <p:cNvSpPr>
            <a:spLocks noGrp="1"/>
          </p:cNvSpPr>
          <p:nvPr/>
        </p:nvSpPr>
        <p:spPr>
          <a:xfrm>
            <a:off x="1257300" y="3105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v-SE">
                <a:solidFill>
                  <a:srgbClr val="153F36"/>
                </a:solidFill>
                <a:latin typeface="Arial"/>
                <a:ea typeface="Arial"/>
                <a:cs typeface="Arial"/>
              </a:rPr>
              <a:t>Onlineintäkter</a:t>
            </a:r>
          </a:p>
        </p:txBody>
      </p:sp>
      <p:sp>
        <p:nvSpPr>
          <p:cNvPr id="9" name="">
            <a:extLst>
              <a:ext uri="{FF2B5EF4-FFF2-40B4-BE49-F238E27FC236}">
                <ns2:creationId id="{03EEB3A6-8AA0-4AAC-8BB6-5A5C316EB19C}"/>
              </a:ext>
            </a:extLst>
          </p:cNvPr>
          <p:cNvSpPr>
            <a:spLocks noGrp="1"/>
          </p:cNvSpPr>
          <p:nvPr/>
        </p:nvSpPr>
        <p:spPr>
          <a:xfrm>
            <a:off x="1257300" y="3514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Global Pay efter den 10:e, den 20:e och månadens sista dag.</a:t>
            </a:r>
          </a:p>
        </p:txBody>
      </p:sp>
      <p:sp>
        <p:nvSpPr>
          <p:cNvPr id="10" name="">
            <a:extLst>
              <a:ext uri="{FF2B5EF4-FFF2-40B4-BE49-F238E27FC236}">
                <ns2:creationId id="{3836A816-BCC9-4762-B15B-376FBDA90C2D}"/>
              </a:ext>
            </a:extLst>
          </p:cNvPr>
          <p:cNvSpPr>
            <a:spLocks noGrp="1"/>
          </p:cNvSpPr>
          <p:nvPr/>
        </p:nvSpPr>
        <p:spPr>
          <a:xfrm>
            <a:off x="609600" y="4248150"/>
            <a:ext cx="523875" cy="495300"/>
          </a:xfrm>
          <a:prstGeom prst="rect">
            <a:avLst/>
          </a:prstGeom>
          <a:noFill/>
          <a:ln w="0">
            <a:noFill/>
          </a:ln>
        </p:spPr>
        <p:txBody>
          <a:bodyPr wrap="square" lIns="0" tIns="0" rIns="0" bIns="0" anchor="t">
            <a:noAutofit/>
          </a:bodyPr>
          <a:lstStyle>
            <a:defPPr>
              <a:defRPr sz="2400" b="1">
                <a:solidFill>
                  <a:srgbClr val="148977"/>
                </a:solidFill>
                <a:latin typeface="Arial"/>
                <a:ea typeface="Arial"/>
                <a:cs typeface="Arial"/>
              </a:defRPr>
            </a:defPPr>
          </a:lstStyle>
          <a:p>
            <a:pPr>
              <a:defRPr sz="2400" b="1">
                <a:solidFill>
                  <a:srgbClr val="148977"/>
                </a:solidFill>
                <a:latin typeface="Arial"/>
                <a:ea typeface="Arial"/>
                <a:cs typeface="Arial"/>
              </a:defRPr>
            </a:pPr>
            <a:r>
              <a:rPr sz="2400" b="1" lang="sv-SE">
                <a:solidFill>
                  <a:srgbClr val="148977"/>
                </a:solidFill>
                <a:latin typeface="Arial"/>
                <a:ea typeface="Arial"/>
                <a:cs typeface="Arial"/>
              </a:rPr>
              <a:t>3.</a:t>
            </a:r>
          </a:p>
        </p:txBody>
      </p:sp>
      <p:sp>
        <p:nvSpPr>
          <p:cNvPr id="11" name="">
            <a:extLst>
              <a:ext uri="{FF2B5EF4-FFF2-40B4-BE49-F238E27FC236}">
                <ns2:creationId id="{02C2B9B3-EB86-468F-B5C8-D10A79D640D8}"/>
              </a:ext>
            </a:extLst>
          </p:cNvPr>
          <p:cNvSpPr>
            <a:spLocks noGrp="1"/>
          </p:cNvSpPr>
          <p:nvPr/>
        </p:nvSpPr>
        <p:spPr>
          <a:xfrm>
            <a:off x="1257300" y="4248150"/>
            <a:ext cx="9925050" cy="457200"/>
          </a:xfrm>
          <a:prstGeom prst="rect">
            <a:avLst/>
          </a:prstGeom>
          <a:noFill/>
          <a:ln w="0">
            <a:noFill/>
          </a:ln>
        </p:spPr>
        <p:txBody>
          <a:bodyPr wrap="square" lIns="0" tIns="0" rIns="0" bIns="0" anchor="t">
            <a:noAutofit/>
          </a:bodyPr>
          <a:lstStyle>
            <a:defPPr>
              <a:defRPr sz="2400" b="1">
                <a:solidFill>
                  <a:srgbClr val="153F36"/>
                </a:solidFill>
                <a:latin typeface="Arial"/>
                <a:ea typeface="Arial"/>
                <a:cs typeface="Arial"/>
              </a:defRPr>
            </a:defPPr>
          </a:lstStyle>
          <a:p>
            <a:pPr>
              <a:defRPr sz="2400" b="1">
                <a:solidFill>
                  <a:srgbClr val="153F36"/>
                </a:solidFill>
                <a:latin typeface="Arial"/>
                <a:ea typeface="Arial"/>
                <a:cs typeface="Arial"/>
              </a:defRPr>
            </a:pPr>
            <a:r>
              <a:rPr sz="2400" b="1" lang="sv-SE">
                <a:solidFill>
                  <a:srgbClr val="153F36"/>
                </a:solidFill>
                <a:latin typeface="Arial"/>
                <a:ea typeface="Arial"/>
                <a:cs typeface="Arial"/>
              </a:rPr>
              <a:t>Faktisk inkomst</a:t>
            </a:r>
          </a:p>
        </p:txBody>
      </p:sp>
      <p:sp>
        <p:nvSpPr>
          <p:cNvPr id="12" name="">
            <a:extLst>
              <a:ext uri="{FF2B5EF4-FFF2-40B4-BE49-F238E27FC236}">
                <ns2:creationId id="{04657A1D-053C-48FC-B7DB-E622C573FFDA}"/>
              </a:ext>
            </a:extLst>
          </p:cNvPr>
          <p:cNvSpPr>
            <a:spLocks noGrp="1"/>
          </p:cNvSpPr>
          <p:nvPr/>
        </p:nvSpPr>
        <p:spPr>
          <a:xfrm>
            <a:off x="1257300" y="4657725"/>
            <a:ext cx="9925050" cy="552450"/>
          </a:xfrm>
          <a:prstGeom prst="rect">
            <a:avLst/>
          </a:prstGeom>
          <a:noFill/>
          <a:ln w="0">
            <a:noFill/>
          </a:ln>
        </p:spPr>
        <p:txBody>
          <a:bodyPr wrap="square" lIns="0" tIns="0" rIns="0" bIns="0" anchor="t">
            <a:noAutofit/>
          </a:bodyPr>
          <a:lstStyle>
            <a:defPPr>
              <a:defRPr sz="1875" b="0">
                <a:solidFill>
                  <a:srgbClr val="526B63"/>
                </a:solidFill>
                <a:latin typeface="Arial"/>
                <a:ea typeface="Arial"/>
                <a:cs typeface="Arial"/>
              </a:defRPr>
            </a:defPPr>
          </a:lstStyle>
          <a:p>
            <a:pPr>
              <a:defRPr sz="1875" b="0">
                <a:solidFill>
                  <a:srgbClr val="526B63"/>
                </a:solidFill>
                <a:latin typeface="Arial"/>
                <a:ea typeface="Arial"/>
                <a:cs typeface="Arial"/>
              </a:defRPr>
            </a:pPr>
            <a:r>
              <a:rPr sz="1875" b="0" lang="sv-SE">
                <a:solidFill>
                  <a:srgbClr val="526B63"/>
                </a:solidFill>
                <a:latin typeface="Arial"/>
                <a:ea typeface="Arial"/>
                <a:cs typeface="Arial"/>
              </a:rPr>
              <a:t>Redovisad försäljning efter kostnader, returer och skatteförpliktelser.</a:t>
            </a:r>
          </a:p>
        </p:txBody>
      </p:sp>
      <p:sp>
        <p:nvSpPr>
          <p:cNvPr id="13" name="">
            <a:extLst>
              <a:ext uri="{FF2B5EF4-FFF2-40B4-BE49-F238E27FC236}">
                <ns2:creationId id="{D0CED1DA-9CAB-4767-B17A-CCA055B377B4}"/>
              </a:ext>
            </a:extLst>
          </p:cNvPr>
          <p:cNvSpPr>
            <a:spLocks noGrp="1"/>
          </p:cNvSpPr>
          <p:nvPr/>
        </p:nvSpPr>
        <p:spPr>
          <a:xfrm>
            <a:off x="609600" y="5772150"/>
            <a:ext cx="10363200" cy="542925"/>
          </a:xfrm>
          <a:prstGeom prst="rect">
            <a:avLst/>
          </a:prstGeom>
          <a:noFill/>
          <a:ln w="0">
            <a:noFill/>
          </a:ln>
        </p:spPr>
        <p:txBody>
          <a:bodyPr wrap="square" lIns="0" tIns="0" rIns="0" bIns="0" anchor="t">
            <a:noAutofit/>
          </a:bodyPr>
          <a:lstStyle>
            <a:defPPr>
              <a:defRPr sz="1650" b="0">
                <a:solidFill>
                  <a:srgbClr val="526B63"/>
                </a:solidFill>
                <a:latin typeface="Arial"/>
                <a:ea typeface="Arial"/>
                <a:cs typeface="Arial"/>
              </a:defRPr>
            </a:defPPr>
          </a:lstStyle>
          <a:p>
            <a:pPr>
              <a:defRPr sz="1650" b="0">
                <a:solidFill>
                  <a:srgbClr val="526B63"/>
                </a:solidFill>
                <a:latin typeface="Arial"/>
                <a:ea typeface="Arial"/>
                <a:cs typeface="Arial"/>
              </a:defRPr>
            </a:pPr>
            <a:r>
              <a:rPr sz="1650" b="0" lang="sv-SE">
                <a:solidFill>
                  <a:srgbClr val="526B63"/>
                </a:solidFill>
                <a:latin typeface="Arial"/>
                <a:ea typeface="Arial"/>
                <a:cs typeface="Arial"/>
              </a:rPr>
              <a:t>Resultatet beror på personen, marknaden och den faktiska försäljningen. FCC garanterar inte någon inkomst.</a:t>
            </a:r>
          </a:p>
        </p:txBody>
      </p:sp>
    </p:spTree>
    <p:extLst>
      <p:ext uri="{BB962C8B-B14F-4D97-AF65-F5344CB8AC3E}">
        <ns4:creationId val="80532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2026-10-04T12:05:50.0890000Z</dcterms:created>
  <dcterms:modified xsi:type="dcterms:W3CDTF">2026-10-04T12:05:50.0890000Z</dcterms:modified>
</coreProperties>
</file>