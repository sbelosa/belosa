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e8ae9ebd874a7b" /><Relationship Type="http://schemas.openxmlformats.org/officeDocument/2006/relationships/extended-properties" Target="/docProps/app.xml" Id="R01380b84c3dd45ec" /><Relationship Type="http://schemas.openxmlformats.org/officeDocument/2006/relationships/officeDocument" Target="/ppt/presentation.xml" Id="Ra84fedbd27db4393" /></Relationships>
</file>

<file path=ppt/presentation.xml><?xml version="1.0" encoding="utf-8"?>
<p:presentation xmlns:p="http://schemas.openxmlformats.org/presentationml/2006/main">
  <p:sldMasterIdLst>
    <p:sldMasterId xmlns:r="http://schemas.openxmlformats.org/officeDocument/2006/relationships" id="2147483648" r:id="Rc9e88217567e4db7"/>
  </p:sldMasterIdLst>
  <p:notesMasterIdLst>
    <p:notesMasterId xmlns:r="http://schemas.openxmlformats.org/officeDocument/2006/relationships" r:id="Rc18a70ab738d4fdd"/>
  </p:notesMasterIdLst>
  <p:sldIdLst>
    <p:sldId xmlns:r="http://schemas.openxmlformats.org/officeDocument/2006/relationships" id="256" r:id="Re8ed2e66c8d84047"/>
    <p:sldId xmlns:r="http://schemas.openxmlformats.org/officeDocument/2006/relationships" id="257" r:id="R4746b0e7c5ef4131"/>
    <p:sldId xmlns:r="http://schemas.openxmlformats.org/officeDocument/2006/relationships" id="258" r:id="Rbc31ff09593c4d17"/>
    <p:sldId xmlns:r="http://schemas.openxmlformats.org/officeDocument/2006/relationships" id="259" r:id="Rae4ed353ca834eb3"/>
    <p:sldId xmlns:r="http://schemas.openxmlformats.org/officeDocument/2006/relationships" id="260" r:id="Ra1b02be37e2e4ff2"/>
    <p:sldId xmlns:r="http://schemas.openxmlformats.org/officeDocument/2006/relationships" id="261" r:id="Rfe59078e123f44b1"/>
    <p:sldId xmlns:r="http://schemas.openxmlformats.org/officeDocument/2006/relationships" id="262" r:id="R590dc5576ed441ae"/>
    <p:sldId xmlns:r="http://schemas.openxmlformats.org/officeDocument/2006/relationships" id="263" r:id="R0328f91799364ba2"/>
    <p:sldId xmlns:r="http://schemas.openxmlformats.org/officeDocument/2006/relationships" id="264" r:id="Re580240414f64df3"/>
    <p:sldId xmlns:r="http://schemas.openxmlformats.org/officeDocument/2006/relationships" id="265" r:id="Re3803403ee9b468b"/>
    <p:sldId xmlns:r="http://schemas.openxmlformats.org/officeDocument/2006/relationships" id="266" r:id="Re9729d197679489d"/>
    <p:sldId xmlns:r="http://schemas.openxmlformats.org/officeDocument/2006/relationships" id="267" r:id="R17364f024e114fa7"/>
    <p:sldId xmlns:r="http://schemas.openxmlformats.org/officeDocument/2006/relationships" id="268" r:id="Ra32d2299b1e34645"/>
    <p:sldId xmlns:r="http://schemas.openxmlformats.org/officeDocument/2006/relationships" id="269" r:id="R112da9e5e26d4a1a"/>
    <p:sldId xmlns:r="http://schemas.openxmlformats.org/officeDocument/2006/relationships" id="270" r:id="Rfc6e8098b0094e49"/>
    <p:sldId xmlns:r="http://schemas.openxmlformats.org/officeDocument/2006/relationships" id="271" r:id="R637ab624bb744813"/>
    <p:sldId xmlns:r="http://schemas.openxmlformats.org/officeDocument/2006/relationships" id="272" r:id="R83dee26be35c43dd"/>
    <p:sldId xmlns:r="http://schemas.openxmlformats.org/officeDocument/2006/relationships" id="273" r:id="R618fda44c9f74872"/>
    <p:sldId xmlns:r="http://schemas.openxmlformats.org/officeDocument/2006/relationships" id="274" r:id="R1b6aa91c6bb84531"/>
    <p:sldId xmlns:r="http://schemas.openxmlformats.org/officeDocument/2006/relationships" id="275" r:id="Rff9f2644ad404234"/>
    <p:sldId xmlns:r="http://schemas.openxmlformats.org/officeDocument/2006/relationships" id="276" r:id="Rffdacc3614814b34"/>
    <p:sldId xmlns:r="http://schemas.openxmlformats.org/officeDocument/2006/relationships" id="277" r:id="R7cd2e17b0ac44598"/>
    <p:sldId xmlns:r="http://schemas.openxmlformats.org/officeDocument/2006/relationships" id="278" r:id="Rbaf6e7b843f34b38"/>
    <p:sldId xmlns:r="http://schemas.openxmlformats.org/officeDocument/2006/relationships" id="279" r:id="Re58715032f894a0b"/>
    <p:sldId xmlns:r="http://schemas.openxmlformats.org/officeDocument/2006/relationships" id="280" r:id="R671b64fee09647d1"/>
    <p:sldId xmlns:r="http://schemas.openxmlformats.org/officeDocument/2006/relationships" id="281" r:id="R0f1efdb0735b4810"/>
    <p:sldId xmlns:r="http://schemas.openxmlformats.org/officeDocument/2006/relationships" id="282" r:id="R299277170d58463a"/>
    <p:sldId xmlns:r="http://schemas.openxmlformats.org/officeDocument/2006/relationships" id="283" r:id="R47c1e12bebaf4e1e"/>
    <p:sldId xmlns:r="http://schemas.openxmlformats.org/officeDocument/2006/relationships" id="284" r:id="R33f2281931074e26"/>
    <p:sldId xmlns:r="http://schemas.openxmlformats.org/officeDocument/2006/relationships" id="285" r:id="Rcb00a46c0526422d"/>
    <p:sldId xmlns:r="http://schemas.openxmlformats.org/officeDocument/2006/relationships" id="286" r:id="Rdefdab25799b403c"/>
    <p:sldId xmlns:r="http://schemas.openxmlformats.org/officeDocument/2006/relationships" id="287" r:id="Rf00af2c51ef04723"/>
    <p:sldId xmlns:r="http://schemas.openxmlformats.org/officeDocument/2006/relationships" id="288" r:id="R6dd932b7d3e94967"/>
    <p:sldId xmlns:r="http://schemas.openxmlformats.org/officeDocument/2006/relationships" id="289" r:id="R05566556677748cd"/>
    <p:sldId xmlns:r="http://schemas.openxmlformats.org/officeDocument/2006/relationships" id="290" r:id="Rff449ac26a254c77"/>
    <p:sldId xmlns:r="http://schemas.openxmlformats.org/officeDocument/2006/relationships" id="291" r:id="Rce57f775d35142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51f3484e124c0d" /><Relationship Type="http://schemas.openxmlformats.org/officeDocument/2006/relationships/slideMaster" Target="/ppt/slideMasters/slideMaster1.xml" Id="Rc9e88217567e4db7" /><Relationship Type="http://schemas.openxmlformats.org/officeDocument/2006/relationships/notesMaster" Target="/ppt/notesMasters/notesMaster1.xml" Id="Rc18a70ab738d4fdd" /><Relationship Type="http://schemas.openxmlformats.org/officeDocument/2006/relationships/presProps" Target="/ppt/presProps.xml" Id="Rdd6d008c9f824ff1" /><Relationship Type="http://schemas.openxmlformats.org/officeDocument/2006/relationships/tableStyles" Target="/ppt/tableStyles.xml" Id="R5dfb1b75d143461b" /><Relationship Type="http://schemas.openxmlformats.org/officeDocument/2006/relationships/slide" Target="/ppt/slides/slide1.xml" Id="Re8ed2e66c8d84047" /><Relationship Type="http://schemas.openxmlformats.org/officeDocument/2006/relationships/slide" Target="/ppt/slides/slide2.xml" Id="R4746b0e7c5ef4131" /><Relationship Type="http://schemas.openxmlformats.org/officeDocument/2006/relationships/slide" Target="/ppt/slides/slide3.xml" Id="Rbc31ff09593c4d17" /><Relationship Type="http://schemas.openxmlformats.org/officeDocument/2006/relationships/slide" Target="/ppt/slides/slide4.xml" Id="Rae4ed353ca834eb3" /><Relationship Type="http://schemas.openxmlformats.org/officeDocument/2006/relationships/slide" Target="/ppt/slides/slide5.xml" Id="Ra1b02be37e2e4ff2" /><Relationship Type="http://schemas.openxmlformats.org/officeDocument/2006/relationships/slide" Target="/ppt/slides/slide6.xml" Id="Rfe59078e123f44b1" /><Relationship Type="http://schemas.openxmlformats.org/officeDocument/2006/relationships/slide" Target="/ppt/slides/slide7.xml" Id="R590dc5576ed441ae" /><Relationship Type="http://schemas.openxmlformats.org/officeDocument/2006/relationships/slide" Target="/ppt/slides/slide8.xml" Id="R0328f91799364ba2" /><Relationship Type="http://schemas.openxmlformats.org/officeDocument/2006/relationships/slide" Target="/ppt/slides/slide9.xml" Id="Re580240414f64df3" /><Relationship Type="http://schemas.openxmlformats.org/officeDocument/2006/relationships/slide" Target="/ppt/slides/slide10.xml" Id="Re3803403ee9b468b" /><Relationship Type="http://schemas.openxmlformats.org/officeDocument/2006/relationships/slide" Target="/ppt/slides/slide11.xml" Id="Re9729d197679489d" /><Relationship Type="http://schemas.openxmlformats.org/officeDocument/2006/relationships/slide" Target="/ppt/slides/slide12.xml" Id="R17364f024e114fa7" /><Relationship Type="http://schemas.openxmlformats.org/officeDocument/2006/relationships/slide" Target="/ppt/slides/slide13.xml" Id="Ra32d2299b1e34645" /><Relationship Type="http://schemas.openxmlformats.org/officeDocument/2006/relationships/slide" Target="/ppt/slides/slide14.xml" Id="R112da9e5e26d4a1a" /><Relationship Type="http://schemas.openxmlformats.org/officeDocument/2006/relationships/slide" Target="/ppt/slides/slide15.xml" Id="Rfc6e8098b0094e49" /><Relationship Type="http://schemas.openxmlformats.org/officeDocument/2006/relationships/slide" Target="/ppt/slides/slide16.xml" Id="R637ab624bb744813" /><Relationship Type="http://schemas.openxmlformats.org/officeDocument/2006/relationships/slide" Target="/ppt/slides/slide17.xml" Id="R83dee26be35c43dd" /><Relationship Type="http://schemas.openxmlformats.org/officeDocument/2006/relationships/slide" Target="/ppt/slides/slide18.xml" Id="R618fda44c9f74872" /><Relationship Type="http://schemas.openxmlformats.org/officeDocument/2006/relationships/slide" Target="/ppt/slides/slide19.xml" Id="R1b6aa91c6bb84531" /><Relationship Type="http://schemas.openxmlformats.org/officeDocument/2006/relationships/slide" Target="/ppt/slides/slide20.xml" Id="Rff9f2644ad404234" /><Relationship Type="http://schemas.openxmlformats.org/officeDocument/2006/relationships/slide" Target="/ppt/slides/slide21.xml" Id="Rffdacc3614814b34" /><Relationship Type="http://schemas.openxmlformats.org/officeDocument/2006/relationships/slide" Target="/ppt/slides/slide22.xml" Id="R7cd2e17b0ac44598" /><Relationship Type="http://schemas.openxmlformats.org/officeDocument/2006/relationships/slide" Target="/ppt/slides/slide23.xml" Id="Rbaf6e7b843f34b38" /><Relationship Type="http://schemas.openxmlformats.org/officeDocument/2006/relationships/slide" Target="/ppt/slides/slide24.xml" Id="Re58715032f894a0b" /><Relationship Type="http://schemas.openxmlformats.org/officeDocument/2006/relationships/slide" Target="/ppt/slides/slide25.xml" Id="R671b64fee09647d1" /><Relationship Type="http://schemas.openxmlformats.org/officeDocument/2006/relationships/slide" Target="/ppt/slides/slide26.xml" Id="R0f1efdb0735b4810" /><Relationship Type="http://schemas.openxmlformats.org/officeDocument/2006/relationships/slide" Target="/ppt/slides/slide27.xml" Id="R299277170d58463a" /><Relationship Type="http://schemas.openxmlformats.org/officeDocument/2006/relationships/slide" Target="/ppt/slides/slide28.xml" Id="R47c1e12bebaf4e1e" /><Relationship Type="http://schemas.openxmlformats.org/officeDocument/2006/relationships/slide" Target="/ppt/slides/slide29.xml" Id="R33f2281931074e26" /><Relationship Type="http://schemas.openxmlformats.org/officeDocument/2006/relationships/slide" Target="/ppt/slides/slide30.xml" Id="Rcb00a46c0526422d" /><Relationship Type="http://schemas.openxmlformats.org/officeDocument/2006/relationships/slide" Target="/ppt/slides/slide31.xml" Id="Rdefdab25799b403c" /><Relationship Type="http://schemas.openxmlformats.org/officeDocument/2006/relationships/slide" Target="/ppt/slides/slide32.xml" Id="Rf00af2c51ef04723" /><Relationship Type="http://schemas.openxmlformats.org/officeDocument/2006/relationships/slide" Target="/ppt/slides/slide33.xml" Id="R6dd932b7d3e94967" /><Relationship Type="http://schemas.openxmlformats.org/officeDocument/2006/relationships/slide" Target="/ppt/slides/slide34.xml" Id="R05566556677748cd" /><Relationship Type="http://schemas.openxmlformats.org/officeDocument/2006/relationships/slide" Target="/ppt/slides/slide35.xml" Id="Rff449ac26a254c77" /><Relationship Type="http://schemas.openxmlformats.org/officeDocument/2006/relationships/slide" Target="/ppt/slides/slide36.xml" Id="Rce57f775d35142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6a719019c04d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96e187a9264970" /><Relationship Type="http://schemas.openxmlformats.org/officeDocument/2006/relationships/notesMaster" Target="/ppt/notesMasters/notesMaster1.xml" Id="Rd6ba87770fec45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3804c4900144eb" /><Relationship Type="http://schemas.openxmlformats.org/officeDocument/2006/relationships/notesMaster" Target="/ppt/notesMasters/notesMaster1.xml" Id="Rae1d711f98904d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ce734e65b84f03" /><Relationship Type="http://schemas.openxmlformats.org/officeDocument/2006/relationships/notesMaster" Target="/ppt/notesMasters/notesMaster1.xml" Id="R3196595326904c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bd2ae38c244181" /><Relationship Type="http://schemas.openxmlformats.org/officeDocument/2006/relationships/notesMaster" Target="/ppt/notesMasters/notesMaster1.xml" Id="Rb45bffc5c14d4e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f50df7094b47c4" /><Relationship Type="http://schemas.openxmlformats.org/officeDocument/2006/relationships/notesMaster" Target="/ppt/notesMasters/notesMaster1.xml" Id="Ra29a7855fc7e44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ceed1dbe064194" /><Relationship Type="http://schemas.openxmlformats.org/officeDocument/2006/relationships/notesMaster" Target="/ppt/notesMasters/notesMaster1.xml" Id="R9009548589204c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bf2fae2d674d8b" /><Relationship Type="http://schemas.openxmlformats.org/officeDocument/2006/relationships/notesMaster" Target="/ppt/notesMasters/notesMaster1.xml" Id="R9a68c937125640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3d1f28bd684f47" /><Relationship Type="http://schemas.openxmlformats.org/officeDocument/2006/relationships/notesMaster" Target="/ppt/notesMasters/notesMaster1.xml" Id="R4f66a1fe075747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082f67a9a94eb0" /><Relationship Type="http://schemas.openxmlformats.org/officeDocument/2006/relationships/notesMaster" Target="/ppt/notesMasters/notesMaster1.xml" Id="R0dcd16fd22174c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d494a01c6d4c2b" /><Relationship Type="http://schemas.openxmlformats.org/officeDocument/2006/relationships/notesMaster" Target="/ppt/notesMasters/notesMaster1.xml" Id="Rf0be8b2ba7f84a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c2dac3e3384d40" /><Relationship Type="http://schemas.openxmlformats.org/officeDocument/2006/relationships/notesMaster" Target="/ppt/notesMasters/notesMaster1.xml" Id="R12b543772d5040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7db9ff243443af" /><Relationship Type="http://schemas.openxmlformats.org/officeDocument/2006/relationships/notesMaster" Target="/ppt/notesMasters/notesMaster1.xml" Id="R41d7c42f991c48b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5d318d74824b8f" /><Relationship Type="http://schemas.openxmlformats.org/officeDocument/2006/relationships/notesMaster" Target="/ppt/notesMasters/notesMaster1.xml" Id="R6cc8e392453a40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6e000b97a5487e" /><Relationship Type="http://schemas.openxmlformats.org/officeDocument/2006/relationships/notesMaster" Target="/ppt/notesMasters/notesMaster1.xml" Id="Rd4903da3fca449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2a1051921a476d" /><Relationship Type="http://schemas.openxmlformats.org/officeDocument/2006/relationships/notesMaster" Target="/ppt/notesMasters/notesMaster1.xml" Id="R145e09a0677a4ea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1b9fc78b574304" /><Relationship Type="http://schemas.openxmlformats.org/officeDocument/2006/relationships/notesMaster" Target="/ppt/notesMasters/notesMaster1.xml" Id="Raf7a5c504e8c42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e7e2ace3f364bb4" /><Relationship Type="http://schemas.openxmlformats.org/officeDocument/2006/relationships/notesMaster" Target="/ppt/notesMasters/notesMaster1.xml" Id="Rdae45306c3c143c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699c39e0e34f5d" /><Relationship Type="http://schemas.openxmlformats.org/officeDocument/2006/relationships/notesMaster" Target="/ppt/notesMasters/notesMaster1.xml" Id="R7b480820a0044fa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7d8867e05e74d7b" /><Relationship Type="http://schemas.openxmlformats.org/officeDocument/2006/relationships/notesMaster" Target="/ppt/notesMasters/notesMaster1.xml" Id="R8033f3f879b142f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807b4f2a22743ff" /><Relationship Type="http://schemas.openxmlformats.org/officeDocument/2006/relationships/notesMaster" Target="/ppt/notesMasters/notesMaster1.xml" Id="R4b9ce22d074142c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416c2e7bab84a96" /><Relationship Type="http://schemas.openxmlformats.org/officeDocument/2006/relationships/notesMaster" Target="/ppt/notesMasters/notesMaster1.xml" Id="R2275f7ce1f994ed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9907580cc774395" /><Relationship Type="http://schemas.openxmlformats.org/officeDocument/2006/relationships/notesMaster" Target="/ppt/notesMasters/notesMaster1.xml" Id="R469ab7642294470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1cb433f060f4963" /><Relationship Type="http://schemas.openxmlformats.org/officeDocument/2006/relationships/notesMaster" Target="/ppt/notesMasters/notesMaster1.xml" Id="R7b4d7234a6044de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aa4b0c937a34b4b" /><Relationship Type="http://schemas.openxmlformats.org/officeDocument/2006/relationships/notesMaster" Target="/ppt/notesMasters/notesMaster1.xml" Id="Rc2246cd9c6a8463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cd6218a495d47cc" /><Relationship Type="http://schemas.openxmlformats.org/officeDocument/2006/relationships/notesMaster" Target="/ppt/notesMasters/notesMaster1.xml" Id="R3d5dcb5fc3b946f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027dd530cc34012" /><Relationship Type="http://schemas.openxmlformats.org/officeDocument/2006/relationships/notesMaster" Target="/ppt/notesMasters/notesMaster1.xml" Id="Rf1d88de2a7ca48f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2574ee6f72646ed" /><Relationship Type="http://schemas.openxmlformats.org/officeDocument/2006/relationships/notesMaster" Target="/ppt/notesMasters/notesMaster1.xml" Id="R5343f4f46e024e1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230466004cc4193" /><Relationship Type="http://schemas.openxmlformats.org/officeDocument/2006/relationships/notesMaster" Target="/ppt/notesMasters/notesMaster1.xml" Id="R49fd3b65ef50448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c4bd6a826b04c10" /><Relationship Type="http://schemas.openxmlformats.org/officeDocument/2006/relationships/notesMaster" Target="/ppt/notesMasters/notesMaster1.xml" Id="R02760a6c7df24a6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fd0436381f6401c" /><Relationship Type="http://schemas.openxmlformats.org/officeDocument/2006/relationships/notesMaster" Target="/ppt/notesMasters/notesMaster1.xml" Id="R080d4de62ebf41e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37f0224225e4dba" /><Relationship Type="http://schemas.openxmlformats.org/officeDocument/2006/relationships/notesMaster" Target="/ppt/notesMasters/notesMaster1.xml" Id="R00fbaf2ef36c436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a9b230ea7c44160" /><Relationship Type="http://schemas.openxmlformats.org/officeDocument/2006/relationships/notesMaster" Target="/ppt/notesMasters/notesMaster1.xml" Id="Rd2a61c7ba35a477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ea83218b7254a5e" /><Relationship Type="http://schemas.openxmlformats.org/officeDocument/2006/relationships/notesMaster" Target="/ppt/notesMasters/notesMaster1.xml" Id="R66b0be88079f4e4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ef4899d87ad4280" /><Relationship Type="http://schemas.openxmlformats.org/officeDocument/2006/relationships/notesMaster" Target="/ppt/notesMasters/notesMaster1.xml" Id="R38d47d1dbe65492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634e1d4a1f44fa0" /><Relationship Type="http://schemas.openxmlformats.org/officeDocument/2006/relationships/notesMaster" Target="/ppt/notesMasters/notesMaster1.xml" Id="R635d27840b01456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2327ada477b42ba" /><Relationship Type="http://schemas.openxmlformats.org/officeDocument/2006/relationships/notesMaster" Target="/ppt/notesMasters/notesMaster1.xml" Id="R1cdcf2d0ba074651"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Einleitung, etwa 1 Minute. Erkläre, was die Person kennenlernen wird: Produkte, das Geschäftsmodell und die konkrete tägliche Arbeit. Passe die Dauer der Vorstellung an das Publikum an. Diese Präsentation zeigt die kroatischen Geschäftsbedingungen und die FCC Funktionen mit Stand vom 4. Oktober 2026.</a:t>
            </a:r>
          </a:p>
          <a:p>
            <a:r>
              <a:t/>
            </a:r>
          </a:p>
          <a:p>
            <a:r>
              <a:t>Quellen:</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Stelle dich persönlich vor, etwa 1 Minute. Sprich nur über deine eigenen nachprüfbaren Erfahrungen. Den gemeinsamen Teil nach dieser Einleitung verwendet das gesamte Team.</a:t>
            </a:r>
          </a:p>
          <a:p>
            <a:r>
              <a:t/>
            </a:r>
          </a:p>
          <a:p>
            <a:r>
              <a:t>Quellen:</a:t>
            </a:r>
          </a:p>
          <a:p>
            <a:r>
              <a:t>Originalmaterial des Nutzers, Fotos für die Einleitung.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 Minute. Kündige ein praktisches Beispiel an: Eine Person wählt ein Produkt oder Webinar, spricht mit einem Kontakt und hält die nächste Vereinbarung fest. Versprich kein Ergebnis und kein Einkommen.</a:t>
            </a:r>
          </a:p>
          <a:p>
            <a:r>
              <a:t/>
            </a:r>
          </a:p>
          <a:p>
            <a:r>
              <a:t>Quellen:</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 Minute. Forever wurde 1978 gegründet. Die Zahl der Märkte unterscheidet sich auf den offiziellen regionalen Websites. Deshalb wird hier keine einheitliche Zahl genannt. FCC ist ein eigenständiges, unabhängiges System des Teams.</a:t>
            </a:r>
          </a:p>
          <a:p>
            <a:r>
              <a:t/>
            </a:r>
          </a:p>
          <a:p>
            <a:r>
              <a:t>Quellen:</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 Minute. Das Gespräch beginnt mit dem tatsächlichen Bedarf, den Gewohnheiten und dem Budget der Person. Zeige das Produkt, die lokale Kennzeichnung und die Gebrauchshinweise. Erfinde keine gesundheitlichen Wirkungen. Das Foto veranschaulicht das Sortiment und ist keine aktuelle lokale Preisliste.</a:t>
            </a:r>
          </a:p>
          <a:p>
            <a:r>
              <a:t/>
            </a:r>
          </a:p>
          <a:p>
            <a:r>
              <a:t>Quellen:</a:t>
            </a:r>
          </a:p>
          <a:p>
            <a:r>
              <a:t>https://foreverliving.com/shop/hrv/hr-hr/products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 Minute. Die Fotos aus der bereitgestellten Präsentation zeigen Produktion und Vertrieb. Sprich über die Aufgaben des Unternehmens und versprich keine gesundheitliche Wirkung.</a:t>
            </a:r>
          </a:p>
          <a:p>
            <a:r>
              <a:t/>
            </a:r>
          </a:p>
          <a:p>
            <a:r>
              <a:t>Quellen:</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1,5 Minuten. Beide Möglichkeiten sind sinnvoll. Der geschäftliche Weg erfordert eine eigene Entscheidung und die Erfüllung lokaler Bedingungen. Der Zugang zu FCC ist an das FCC Konto und die verfügbaren Leistungen gebunden. Er ist nicht dasselbe wie ein Forever Geschäftskonto.</a:t>
            </a:r>
          </a:p>
          <a:p>
            <a:r>
              <a:t/>
            </a:r>
          </a:p>
          <a:p>
            <a:r>
              <a:t>Quellen:</a:t>
            </a:r>
          </a:p>
          <a:p>
            <a:r>
              <a:t>https://cdn.foreverliving.com/content/MarketingConfigurableContent/HRV/Poslovna%20politika/Poslovna%20politika.pdf</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1,5 Minuten. Kroatische Geschäftsrichtlinien, gültige Fassung ab 1. Juli 2026. CC sind Verrechnungswerte für Produkte. Nach 2 CC in zwei aufeinanderfolgenden Monaten gelten 30% auf spätere Bestellungen und die Möglichkeit, sich gesondert für die Geschäftstätigkeit zu entscheiden. Prüfe Preis, Paketinhalt und den Zeitpunkt der Rabattgewährung im offiziellen lokalen Shop. Empfiehl keinen Kauf allein wegen der Punkte ohne tatsächlichen Bedarf.</a:t>
            </a:r>
          </a:p>
          <a:p>
            <a:r>
              <a:t/>
            </a:r>
          </a:p>
          <a:p>
            <a:r>
              <a:t>Quellen:</a:t>
            </a:r>
          </a:p>
          <a:p>
            <a:r>
              <a:t>https://cdn.foreverliving.com/content/MarketingConfigurableContent/HRV/Poslovna%20politika/Poslovna%20politika.pdf</a:t>
            </a:r>
          </a:p>
          <a:p>
            <a:r>
              <a:t>https://cdn.foreverliving.com/content/MarketingConfigurableContent/HRV/Preuzimanja/Novi_start_paketi_2025.pdf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2 Minuten. In Kroatien sind 30% nach der Qualifikation nicht mit dem persönlichen Bonus oder dem Nettoeinkommen gleichzusetzen. Ein angepasster Preis von bis zu 48% gegenüber dem SRP ist ein Begriff aus den Richtlinien und keine garantierte Provision auf jede Bestellung. Berechnungsgrundlagen und Anwendung hängen von der Verkaufsart und den Richtlinien ab.</a:t>
            </a:r>
          </a:p>
          <a:p>
            <a:r>
              <a:t/>
            </a:r>
          </a:p>
          <a:p>
            <a:r>
              <a:t>Quellen:</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2 Minuten. Dies erklärt mögliche Einkommensquellen und ist keine Verdienstprognose. Prozentsätze und Berechnungsgrundlagen sind in den lokalen Richtlinien zu prüfen. Eine Registrierung allein erzeugt kein Einkommen. Die detaillierten Sätze stehen im Anhang.</a:t>
            </a:r>
          </a:p>
          <a:p>
            <a:r>
              <a:t/>
            </a:r>
          </a:p>
          <a:p>
            <a:r>
              <a:t>Quellen:</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1,5 Minuten. Kroatische Richtlinien 4.01. Für Supervisor gilt ein Schwellenwert von 10 Non Manager CC. Die Frist ist jedoch zwischen 4.01(b) und 4.01(g) derselben Richtlinien widersprüchlich und wird deshalb hier nicht genannt. Erkläre CC als Verkaufsvolumen, niemals als Anzahl registrierter Personen. Eine Stufe garantiert keinen monatlichen Bonus.</a:t>
            </a:r>
          </a:p>
          <a:p>
            <a:r>
              <a:t/>
            </a:r>
          </a:p>
          <a:p>
            <a:r>
              <a:t>Quellen:</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1,5 Minuten. Nach den kroatischen Richtlinien hat ein aktiver FBO 4 CC, davon mindestens 1 persönlich gekauften CC. Die erreichte Stufe und der Bonusanspruch sind getrennte Begriffe. Dies sind keine weltweit einheitlichen Regeln. Es wird nicht ohne Nachfrage allein zur Qualifikation gekauft. Die CC Zahlen aus FLP360 in FCC sind aggregierte Werte und kein Nachweis einer Bestellung durch einen bestimmten Kunden.</a:t>
            </a:r>
          </a:p>
          <a:p>
            <a:r>
              <a:t/>
            </a:r>
          </a:p>
          <a:p>
            <a:r>
              <a:t>Quellen:</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 Minute. Förderprogramme haben zusätzliche Qualifikationen, fortlaufende Anforderungen und lokale Bedingungen. Stelle sie nicht als kostenloses Auto oder garantierte Reise dar. Der Anhang enthält eine Übersicht, die Richtlinien die vollständigen Bedingungen.</a:t>
            </a:r>
          </a:p>
          <a:p>
            <a:r>
              <a:t/>
            </a:r>
          </a:p>
          <a:p>
            <a:r>
              <a:t>Quellen:</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 Minute. Betone klar die Unabhängigkeit von FCC. FCC produziert und liefert keine Produkte und zahlt keine Forever Boni aus. Es dient der Organisation von Arbeit, Schulung, persönlichen Empfehlungen und Unterstützung.</a:t>
            </a:r>
          </a:p>
          <a:p>
            <a:r>
              <a:t/>
            </a:r>
          </a:p>
          <a:p>
            <a:r>
              <a:t>Quellen:</a:t>
            </a:r>
          </a:p>
          <a:p>
            <a:r>
              <a:t>https://forevercard.club/partner</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 Minute. Die Karte bündelt Kontakt, Inhalte und den Forever Webshop. Der neue Hauptblock verwendet die Forever ID aus dem Konto und die vorhandene Weiterleitungslogik. Besucher können den Markt prüfen. Produktverfügbarkeit und Kaufbedingungen liegen beim lokalen Forever Shop.</a:t>
            </a:r>
          </a:p>
          <a:p>
            <a:r>
              <a:t/>
            </a:r>
          </a:p>
          <a:p>
            <a:r>
              <a:t>Quellen:</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1,5 Minuten. Die Ansicht des tatsächlichen Produktivsystems wurde am 4. Oktober 2026 aufgenommen. Das Beispiel ist Fiber Fusion. Das Öffnen von WhatsApp bereitet die Nachricht nur vor. Der Nutzer prüft und sendet sie selbst. Artikel und offizieller Shop sind unterschiedliche Seiten. Sende in der Demonstration keine Nachricht ohne echte Absicht.</a:t>
            </a:r>
          </a:p>
          <a:p>
            <a:r>
              <a:t/>
            </a:r>
          </a:p>
          <a:p>
            <a:r>
              <a:t>Quellen:</a:t>
            </a:r>
          </a:p>
          <a:p>
            <a:r>
              <a:t>https://forevercard.club/partner/share</a:t>
            </a:r>
          </a:p>
          <a:p>
            <a:r>
              <a:t>https://forevercard.club/blog/forever-fiber-fusion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 Minute. Die Empfehlung für eine geschäftliche Zusammenarbeit und Start Your Journey führt über die vorhandene Weiterleitungslogik in den offiziellen lokalen Forever Prozess mit der Empfehlung des Partners. Preise, Verfügbarkeit und lokale Bedingungen sind nicht in allen Ländern gleich. Der Gast prüft und bestätigt Bestellung und Registrierung selbst.</a:t>
            </a:r>
          </a:p>
          <a:p>
            <a:r>
              <a:t/>
            </a:r>
          </a:p>
          <a:p>
            <a:r>
              <a:t>Quellen:</a:t>
            </a:r>
          </a:p>
          <a:p>
            <a:r>
              <a:t>https://forevercard.club/partner-marketing</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1,5 Minuten. Kontakte und Erinnerungen sind im Free Paket verfügbar. Eine Webinaranmeldung kann mit einem vorhandenen Kontakt verknüpft werden. Titel und Beispiel sind erfunden und keine personenbezogenen Daten tatsächlicher Mitglieder. Eine vorbereitete oder kopierte Nachricht ist nicht gesendet. Das Senden wird separat bestätigt.</a:t>
            </a:r>
          </a:p>
          <a:p>
            <a:r>
              <a:t/>
            </a:r>
          </a:p>
          <a:p>
            <a:r>
              <a:t>Quellen:</a:t>
            </a:r>
          </a:p>
          <a:p>
            <a:r>
              <a:t>https://forevercard.club/partner/contacts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1,5 Minuten. Der persönliche PRO Coach hilft bei Nachrichten, Aufgaben und Rückblicken anhand des bekannten Kontexts. Er sendet keine Nachrichten anstelle des Nutzers und bestätigt keinen Kaufabschluss. Die Beispielfrage ist erfunden. Zeige in einem öffentlichen Webinar keine tatsächlichen privaten Gespräche.</a:t>
            </a:r>
          </a:p>
          <a:p>
            <a:r>
              <a:t/>
            </a:r>
          </a:p>
          <a:p>
            <a:r>
              <a:t>Quellen:</a:t>
            </a:r>
          </a:p>
          <a:p>
            <a:r>
              <a:t>https://forevercard.club/partner?view=coach</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1,5 Minuten. Das aktuelle Programm sieht 90 Schritte vor. Die Verfügbarkeit hängt von den Bedingungen des Kontos und des Programms ab. Ein unerledigter Schritt bleibt bestehen, bis sein Abschluss bestätigt wird. Die nächste reguläre Aufgabe folgt nach Abschluss der heutigen Aufgabe gemäß den Programmregeln.</a:t>
            </a:r>
          </a:p>
          <a:p>
            <a:r>
              <a:t/>
            </a:r>
          </a:p>
          <a:p>
            <a:r>
              <a:t>Quellen:</a:t>
            </a:r>
          </a:p>
          <a:p>
            <a:r>
              <a:t>https://forevercard.club/partner</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 Minute. Die Schulung enthält sechs Videolektionen und Themen für Gespräche mit dem Sponsor oder Team. Zeige eine Beispielfrage und ihre Anwendung im Gespräch. Ansicht des FCC Systems vom 4. Oktober 2026.</a:t>
            </a:r>
          </a:p>
          <a:p>
            <a:r>
              <a:t/>
            </a:r>
          </a:p>
          <a:p>
            <a:r>
              <a:t>Quellen:</a:t>
            </a:r>
          </a:p>
          <a:p>
            <a:r>
              <a:t>https://forevercard.club/partner?view=materials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1,5 Minuten. Tatsächliche Ansicht des Produktivsystems vom 4. Oktober 2026. Der gezeigte Termin ist ein Beispiel und kein dauerhafter Zeitplan. Jeder Partner verwendet seine persönliche Einladung. Video und persönliche Einleitung hängen vom PRO Paket ab. Das Öffnen von WhatsApp belegt kein Senden. Du kannst die Einladung anpassen und selbst teilen.</a:t>
            </a:r>
          </a:p>
          <a:p>
            <a:r>
              <a:t/>
            </a:r>
          </a:p>
          <a:p>
            <a:r>
              <a:t>Quellen:</a:t>
            </a:r>
          </a:p>
          <a:p>
            <a:r>
              <a:t>https://forevercard.club/partner/share?type=webinar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2 Minuten. Marko ist ein erfundenes Beispiel. Anmeldung und Teilnahme sind getrennt. Eine Zoom Teilnahme wird nicht automatisch nachgewiesen. Der Gast erhält eine Bestätigung und verfügbare Erinnerungen abhängig von Einwilligungen und der Bestätigung seiner Mailadresse. Eine erneute Anmeldung zu einem anderen Termin führt einen separaten Teilnahmenachweis und verknüpft denselben erkannten Kontakt. Bei uneindeutiger Identität erfolgt eine Prüfung.</a:t>
            </a:r>
          </a:p>
          <a:p>
            <a:r>
              <a:t/>
            </a:r>
          </a:p>
          <a:p>
            <a:r>
              <a:t>Quellen:</a:t>
            </a:r>
          </a:p>
          <a:p>
            <a:r>
              <a:t>https://forevercard.club/partner-webinar?view=activity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1,5 Minuten. Der Veranstalter mit PRO Paket wählt einen einzelnen oder wöchentlichen Termin, die Sprache und die Sichtbarkeit nur für eigene Einladungen oder für sein gesamtes bestätigtes FCC Team. Seine Teammitglieder können über ihren eigenen Link einladen und erhalten ihre eigenen Kontakte. Der Veranstalter sieht die Gesamtzahl und nicht das private CRM anderer Mitglieder. Veranstaltungssprache und Kontosprache sind getrennt.</a:t>
            </a:r>
          </a:p>
          <a:p>
            <a:r>
              <a:t/>
            </a:r>
          </a:p>
          <a:p>
            <a:r>
              <a:t>Quellen:</a:t>
            </a:r>
          </a:p>
          <a:p>
            <a:r>
              <a:t>https://forevercard.club/partner-webinar?view=manage</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 Minute. PRO zeigt die bestätigte FCC Struktur, aggregierte CC Daten und den Fortschritt. Eine CC Änderung belegt nicht, dass ein bestimmter Kontakt ein bestimmtes Produkt gekauft hat. Die persönliche Kontaktaufnahme verwaltet Entwurf, bestätigtes Senden und Erinnerung. Zeige bei einer öffentlichen Demonstration keine privaten Mitglieder und Daten.</a:t>
            </a:r>
          </a:p>
          <a:p>
            <a:r>
              <a:t/>
            </a:r>
          </a:p>
          <a:p>
            <a:r>
              <a:t>Quellen:</a:t>
            </a:r>
          </a:p>
          <a:p>
            <a:r>
              <a:t>https://forevercard.club/partner/team</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2 Minuten oder eine kurze Demonstration. Ana ist ein erfundenes Beispiel. Zeige eine Aufgabe und eine vorbereitete Nachricht, ohne sie tatsächlich zu senden. Zeige dann, wo die Vereinbarung festgehalten wird. Öffne vor Publikum keine privaten CRM Einträge.</a:t>
            </a:r>
          </a:p>
          <a:p>
            <a:r>
              <a:t/>
            </a:r>
          </a:p>
          <a:p>
            <a:r>
              <a:t>Quellen:</a:t>
            </a:r>
          </a:p>
          <a:p>
            <a:r>
              <a:t>https://forevercard.club/partner</a:t>
            </a:r>
          </a:p>
          <a:p>
            <a:r>
              <a:t>https://forevercard.club/partner/contacts</a:t>
            </a:r>
          </a:p>
          <a:p>
            <a:r>
              <a:t>https://forevercard.club/partner/share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 Minute. Der vorgeschlagene Rhythmus ist ein Organisationsbeispiel und keine offizielle Programmpflicht. Der Termin wird aus dem aktuellen Zeitplan gewählt. Setze nicht Mittwoch, Sonntag oder dieselbe Uhrzeit für alle Teams voraus.</a:t>
            </a:r>
          </a:p>
          <a:p>
            <a:r>
              <a:t/>
            </a:r>
          </a:p>
          <a:p>
            <a:r>
              <a:t>Quellen:</a:t>
            </a:r>
          </a:p>
          <a:p>
            <a:r>
              <a:t>https://forevercard.club/partner/share?type=webinar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1,5 Minuten. Dies ist ein Beispiel für den Einstieg mit einem Sponsor und kein Ersatz für die konkreten Kriterien des Programms Mein Weg. Kontoaktivierung und Programmzugang haben eigene Voraussetzungen. Passe das Tempo an Zeit und Wissen der Person an.</a:t>
            </a:r>
          </a:p>
          <a:p>
            <a:r>
              <a:t/>
            </a:r>
          </a:p>
          <a:p>
            <a:r>
              <a:t>Quellen:</a:t>
            </a:r>
          </a:p>
          <a:p>
            <a:r>
              <a:t>https://forevercard.club/partner</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 Minute. Die tatsächlichen Leistungen wurden am 4. Oktober 2026 im Produktivsystem geprüft. Preise und genaue Grenzen können sich ändern und werden deshalb in FCC angezeigt. Schulung ist nach den Bedingungen des bestehenden Programms verfügbar. Das PRO Abonnement ist keine Forever Qualifikation und garantiert kein Einkommen.</a:t>
            </a:r>
          </a:p>
          <a:p>
            <a:r>
              <a:t/>
            </a:r>
          </a:p>
          <a:p>
            <a:r>
              <a:t>Quellen:</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2 Minuten. Ermutige zu konkreten Fragen. Antworte passend zur Situation und den lokalen Regeln. Wenn du eine Antwort nicht weißt, notiere die Frage und prüfe eine offizielle Quelle oder frage den Support. Gib keine Einkommensprognose ab.</a:t>
            </a:r>
          </a:p>
          <a:p>
            <a:r>
              <a:t/>
            </a:r>
          </a:p>
          <a:p>
            <a:r>
              <a:t>Quellen:</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Etwa 1 Minute. Vereinbare ein Gespräch mit der Person, die den Gast eingeladen hat, bei Bedarf gemeinsam mit dem Sponsor oder Manager. Der Gast muss nicht sofort eine geschäftliche Entscheidung treffen. Ersetze den persönlichen Einladenden nicht durch einen gemeinsamen Kontakt.</a:t>
            </a:r>
          </a:p>
          <a:p>
            <a:r>
              <a:t/>
            </a:r>
          </a:p>
          <a:p>
            <a:r>
              <a:t>Quellen:</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Abschluss des Hauptteils. Beantworte Fragen und erinnere an das persönliche Gespräch. Die zusätzlichen Folien dienen detaillierten Fragen zum Marketingplan und müssen nicht in jedem Webinar durchgegangen werden.</a:t>
            </a:r>
          </a:p>
          <a:p>
            <a:r>
              <a:t/>
            </a:r>
          </a:p>
          <a:p>
            <a:r>
              <a:t>Quellen:</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Bei Bedarf. Die kroatischen Geschäftsrichtlinien knüpfen den persönlichen Bonus an Verkaufsstufe, Aktivität und die festgelegte Berechnungsgrundlage. Der Begriff eines angepassten Preises von bis zu 48% hat in den Richtlinien eine eigene Bedeutung. Er bedeutet keine garantierte Geldprovision auf jede Bestellung. Addiere Grundrabatt und Boni nicht als sicheres Nettoeinkommen.</a:t>
            </a:r>
          </a:p>
          <a:p>
            <a:r>
              <a:t/>
            </a:r>
          </a:p>
          <a:p>
            <a:r>
              <a:t>Quellen:</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Bei Bedarf. Kroatische Richtlinien, Abschnitt 10. Das Programm richtet sich an aktive anerkannte Manager mit zusätzlichen Voraussetzungen und fortlaufenden Anforderungen. Die Qualifikation dauert drei aufeinanderfolgende Monate. Die Förderung kann bis zu 36 Monate dauern. Die Höchstbeträge in den Richtlinien sind in USD angegeben. Prüfe für einen persönlichen Plan die lokale Berechnung und die Auszahlungsbedingungen in Euro.</a:t>
            </a:r>
          </a:p>
          <a:p>
            <a:r>
              <a:t/>
            </a:r>
          </a:p>
          <a:p>
            <a:r>
              <a:t>Quellen:</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Bei Bedarf. Dies sind grundlegende Schwellenwerte. Die vollständigen Regeln bestimmt die gültige lokale Richtlinie. Eagle Manager umfasst 720 CC insgesamt, 100 neue CC, drei neue Supervisorlinien und zusätzliche Bedingungen. Global Rally umfasst 1.500 CC insgesamt und 50 neue CC. Neue CC bezeichnen das Verkaufsvolumen neuer Linien. Chairman’s Bonus hat erweiterte Qualifikationsbedingungen und keinen festen Auszahlungsbetrag.</a:t>
            </a:r>
          </a:p>
          <a:p>
            <a:r>
              <a:t/>
            </a:r>
          </a:p>
          <a:p>
            <a:r>
              <a:t>Quellen:</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Bei Bedarf. Die kroatischen Richtlinien nennen Boni am 15. des Folgemonats. Onlinegewinn wird nach dem 10., 20. und letzten Tag des Monats an Global Pay übertragen. Abrechnung und Geldeingang auf dem Bankkonto können unterschiedliche Fristen haben. Einkommen, Steuern und Gewerbeanmeldung hängen von den tatsächlichen Umständen ab. Verweise persönliche Fragen an einen qualifizierten Berater und den offiziellen Support.</a:t>
            </a:r>
          </a:p>
          <a:p>
            <a:r>
              <a:t/>
            </a:r>
          </a:p>
          <a:p>
            <a:r>
              <a:t>Quellen:</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64707d873445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03b1c9a62540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91a54b21bb4a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8e0804b00442d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e8e4d02edd4d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1cdb0906e742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F74769-3CBD-4239-A818-D9166EFEF5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6042203-E90D-4177-99CB-E5E2C734199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E2FCF2E-2D72-496B-8F60-FE46E13BE0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775AFD-5424-4228-AFD5-4BC8664224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3975AA1-4E8D-49F3-B4BE-05D474ECD0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CF18A8-1252-41C0-8CBF-B3940F037E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E68A17-6C5D-4A77-8C64-27A74687D2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BD60F0C-4409-4658-8236-F7B45BD1BD7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5FBD3C-3E2D-4E80-8CD4-5B20E1124F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0E3664-B48C-4CCF-A458-5AD8D6B31A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b32fd4c33147ec" /><Relationship Type="http://schemas.openxmlformats.org/officeDocument/2006/relationships/slideLayout" Target="/ppt/slideLayouts/slideLayout1.xml" Id="R222ce6330a5b4ca8" /><Relationship Type="http://schemas.openxmlformats.org/officeDocument/2006/relationships/slideLayout" Target="/ppt/slideLayouts/slideLayout2.xml" Id="R6b5e57ad54854d85" /><Relationship Type="http://schemas.openxmlformats.org/officeDocument/2006/relationships/slideLayout" Target="/ppt/slideLayouts/slideLayout3.xml" Id="Rab436a0ab7cb4f40" /><Relationship Type="http://schemas.openxmlformats.org/officeDocument/2006/relationships/slideLayout" Target="/ppt/slideLayouts/slideLayout4.xml" Id="R918e832eccb44b54" /><Relationship Type="http://schemas.openxmlformats.org/officeDocument/2006/relationships/slideLayout" Target="/ppt/slideLayouts/slideLayout5.xml" Id="Rf01cc88d49c044cf" /><Relationship Type="http://schemas.openxmlformats.org/officeDocument/2006/relationships/slideLayout" Target="/ppt/slideLayouts/slideLayout6.xml" Id="Rbb2fac1f08344b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2ce6330a5b4ca8"/>
    <p:sldLayoutId xmlns:r="http://schemas.openxmlformats.org/officeDocument/2006/relationships" id="2147483650" r:id="R6b5e57ad54854d85"/>
    <p:sldLayoutId xmlns:r="http://schemas.openxmlformats.org/officeDocument/2006/relationships" id="2147483651" r:id="Rab436a0ab7cb4f40"/>
    <p:sldLayoutId xmlns:r="http://schemas.openxmlformats.org/officeDocument/2006/relationships" id="2147483652" r:id="R918e832eccb44b54"/>
    <p:sldLayoutId xmlns:r="http://schemas.openxmlformats.org/officeDocument/2006/relationships" id="2147483653" r:id="Rf01cc88d49c044cf"/>
    <p:sldLayoutId xmlns:r="http://schemas.openxmlformats.org/officeDocument/2006/relationships" id="2147483654" r:id="Rbb2fac1f08344b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e8b876870b4bd3" /><Relationship Type="http://schemas.openxmlformats.org/officeDocument/2006/relationships/image" Target="/ppt/media/image.jpeg" Id="R034c0eeccf4948c0" /><Relationship Type="http://schemas.openxmlformats.org/officeDocument/2006/relationships/image" Target="/ppt/media/image.png" Id="R2b8d2ff69cca4c51" /><Relationship Type="http://schemas.openxmlformats.org/officeDocument/2006/relationships/notesSlide" Target="/ppt/notesSlides/notesSlide1.xml" Id="R81b9f33499044c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036672317249bc" /><Relationship Type="http://schemas.openxmlformats.org/officeDocument/2006/relationships/image" Target="/ppt/media/image2.png" Id="R83eae1d8ff684ca8" /><Relationship Type="http://schemas.openxmlformats.org/officeDocument/2006/relationships/image" Target="/ppt/media/image2.jpeg" Id="R7d26e2f4bdc14ea7" /><Relationship Type="http://schemas.openxmlformats.org/officeDocument/2006/relationships/notesSlide" Target="/ppt/notesSlides/notesSlide2.xml" Id="Rb7545ed1f51d4e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c735092e2049a9" /><Relationship Type="http://schemas.openxmlformats.org/officeDocument/2006/relationships/image" Target="/ppt/media/image3.png" Id="R242c0c3a74d44c3e" /><Relationship Type="http://schemas.openxmlformats.org/officeDocument/2006/relationships/notesSlide" Target="/ppt/notesSlides/notesSlide3.xml" Id="Rf304fb9e41e44f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a17a4223055445a" /><Relationship Type="http://schemas.openxmlformats.org/officeDocument/2006/relationships/image" Target="/ppt/media/image4.png" Id="Rdae54c54c13e41c1" /><Relationship Type="http://schemas.openxmlformats.org/officeDocument/2006/relationships/image" Target="/ppt/media/image3.jpeg" Id="Ra3daa3908981400c" /><Relationship Type="http://schemas.openxmlformats.org/officeDocument/2006/relationships/notesSlide" Target="/ppt/notesSlides/notesSlide4.xml" Id="R0285fcbda83549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21b2435988947ea" /><Relationship Type="http://schemas.openxmlformats.org/officeDocument/2006/relationships/image" Target="/ppt/media/image5.png" Id="Rba10fc9d1268426c" /><Relationship Type="http://schemas.openxmlformats.org/officeDocument/2006/relationships/image" Target="/ppt/media/image6.png" Id="R5eebdc2fa42747ce" /><Relationship Type="http://schemas.openxmlformats.org/officeDocument/2006/relationships/notesSlide" Target="/ppt/notesSlides/notesSlide5.xml" Id="Rfecf98df9a1a4e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d898239d1c4bc7" /><Relationship Type="http://schemas.openxmlformats.org/officeDocument/2006/relationships/image" Target="/ppt/media/image7.png" Id="Rc418f7fc157f4c3e" /><Relationship Type="http://schemas.openxmlformats.org/officeDocument/2006/relationships/image" Target="/ppt/media/image4.jpeg" Id="R760ec06578814d61" /><Relationship Type="http://schemas.openxmlformats.org/officeDocument/2006/relationships/image" Target="/ppt/media/image5.jpeg" Id="R67e74f1e1fe24f58" /><Relationship Type="http://schemas.openxmlformats.org/officeDocument/2006/relationships/notesSlide" Target="/ppt/notesSlides/notesSlide6.xml" Id="Rfe88255fd57641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9b6062e5e124a0a" /><Relationship Type="http://schemas.openxmlformats.org/officeDocument/2006/relationships/image" Target="/ppt/media/image8.png" Id="R9d24496200b841ee" /><Relationship Type="http://schemas.openxmlformats.org/officeDocument/2006/relationships/notesSlide" Target="/ppt/notesSlides/notesSlide7.xml" Id="R299db23e058f4f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d1c24b5618406a" /><Relationship Type="http://schemas.openxmlformats.org/officeDocument/2006/relationships/image" Target="/ppt/media/image9.png" Id="R051be96e5b284a3e" /><Relationship Type="http://schemas.openxmlformats.org/officeDocument/2006/relationships/notesSlide" Target="/ppt/notesSlides/notesSlide8.xml" Id="R0e3bd16dd9f740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0e6f8c9f284a17" /><Relationship Type="http://schemas.openxmlformats.org/officeDocument/2006/relationships/image" Target="/ppt/media/image10.png" Id="Rf661f195b5314748" /><Relationship Type="http://schemas.openxmlformats.org/officeDocument/2006/relationships/notesSlide" Target="/ppt/notesSlides/notesSlide9.xml" Id="Re8ee2aa0c2d745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2528d2b8f874644" /><Relationship Type="http://schemas.openxmlformats.org/officeDocument/2006/relationships/image" Target="/ppt/media/image11.png" Id="Redb93a4280434ff1" /><Relationship Type="http://schemas.openxmlformats.org/officeDocument/2006/relationships/notesSlide" Target="/ppt/notesSlides/notesSlide10.xml" Id="R6cb81f1d52bb48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b9ab9d061bb401c" /><Relationship Type="http://schemas.openxmlformats.org/officeDocument/2006/relationships/image" Target="/ppt/media/image12.png" Id="R5bc897ca9a314817" /><Relationship Type="http://schemas.openxmlformats.org/officeDocument/2006/relationships/notesSlide" Target="/ppt/notesSlides/notesSlide11.xml" Id="R21c3170dc7f34b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5fc977a777745a7" /><Relationship Type="http://schemas.openxmlformats.org/officeDocument/2006/relationships/image" Target="/ppt/media/image13.png" Id="Rc8567ceef5234c8d" /><Relationship Type="http://schemas.openxmlformats.org/officeDocument/2006/relationships/notesSlide" Target="/ppt/notesSlides/notesSlide12.xml" Id="R8a3483c1ab694d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32506bf467547bd" /><Relationship Type="http://schemas.openxmlformats.org/officeDocument/2006/relationships/image" Target="/ppt/media/image14.png" Id="Rf83108d97d584295" /><Relationship Type="http://schemas.openxmlformats.org/officeDocument/2006/relationships/notesSlide" Target="/ppt/notesSlides/notesSlide13.xml" Id="Rb81f8c0116bd4f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c6c16df8f9b4a2d" /><Relationship Type="http://schemas.openxmlformats.org/officeDocument/2006/relationships/notesSlide" Target="/ppt/notesSlides/notesSlide14.xml" Id="R744adfba47b348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d62801bc3f64cec" /><Relationship Type="http://schemas.openxmlformats.org/officeDocument/2006/relationships/image" Target="/ppt/media/image15.png" Id="R96ec4f327d4d4f96" /><Relationship Type="http://schemas.openxmlformats.org/officeDocument/2006/relationships/notesSlide" Target="/ppt/notesSlides/notesSlide15.xml" Id="R28a7cd00d350454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480e1010a4749a2" /><Relationship Type="http://schemas.openxmlformats.org/officeDocument/2006/relationships/image" Target="/ppt/media/image16.png" Id="Rc17e468844c54e84" /><Relationship Type="http://schemas.openxmlformats.org/officeDocument/2006/relationships/image" Target="/ppt/media/image6.jpeg" Id="R94ff2c7901084e46" /><Relationship Type="http://schemas.openxmlformats.org/officeDocument/2006/relationships/notesSlide" Target="/ppt/notesSlides/notesSlide16.xml" Id="Ree7c05797a5148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da9fcec88d4440c" /><Relationship Type="http://schemas.openxmlformats.org/officeDocument/2006/relationships/image" Target="/ppt/media/image17.png" Id="R595a642bf0454749" /><Relationship Type="http://schemas.openxmlformats.org/officeDocument/2006/relationships/notesSlide" Target="/ppt/notesSlides/notesSlide17.xml" Id="R989c80c1ab7649a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537c883443c4227" /><Relationship Type="http://schemas.openxmlformats.org/officeDocument/2006/relationships/image" Target="/ppt/media/image18.png" Id="Rcc997d641f674b2e" /><Relationship Type="http://schemas.openxmlformats.org/officeDocument/2006/relationships/notesSlide" Target="/ppt/notesSlides/notesSlide18.xml" Id="R8d03a8edfbe44b2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51ab6cc4d054267" /><Relationship Type="http://schemas.openxmlformats.org/officeDocument/2006/relationships/image" Target="/ppt/media/image19.png" Id="R64b74fa4d54445c9" /><Relationship Type="http://schemas.openxmlformats.org/officeDocument/2006/relationships/notesSlide" Target="/ppt/notesSlides/notesSlide19.xml" Id="R73252235dda1420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04f72282a1f43c7" /><Relationship Type="http://schemas.openxmlformats.org/officeDocument/2006/relationships/image" Target="/ppt/media/image20.png" Id="R5343d6ff4c174578" /><Relationship Type="http://schemas.openxmlformats.org/officeDocument/2006/relationships/notesSlide" Target="/ppt/notesSlides/notesSlide20.xml" Id="R1ae34887bf6b469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ed28d195f35443d" /><Relationship Type="http://schemas.openxmlformats.org/officeDocument/2006/relationships/image" Target="/ppt/media/image21.png" Id="Rd2520270cdcb44be" /><Relationship Type="http://schemas.openxmlformats.org/officeDocument/2006/relationships/image" Target="/ppt/media/image7.jpeg" Id="Rc24afb3e1b784e7e" /><Relationship Type="http://schemas.openxmlformats.org/officeDocument/2006/relationships/notesSlide" Target="/ppt/notesSlides/notesSlide21.xml" Id="Rbc0de2a1637e4a5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e16aecb56c245ae" /><Relationship Type="http://schemas.openxmlformats.org/officeDocument/2006/relationships/image" Target="/ppt/media/image22.png" Id="R9e74150305fa4111" /><Relationship Type="http://schemas.openxmlformats.org/officeDocument/2006/relationships/image" Target="/ppt/media/image8.jpeg" Id="R1e50648732a948d2" /><Relationship Type="http://schemas.openxmlformats.org/officeDocument/2006/relationships/notesSlide" Target="/ppt/notesSlides/notesSlide22.xml" Id="R30e134802af8440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7e27ec12d1a473a" /><Relationship Type="http://schemas.openxmlformats.org/officeDocument/2006/relationships/image" Target="/ppt/media/image23.png" Id="R767dfad8865d4072" /><Relationship Type="http://schemas.openxmlformats.org/officeDocument/2006/relationships/notesSlide" Target="/ppt/notesSlides/notesSlide23.xml" Id="Rcdffd40f7fb54e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f4213f8477847af" /><Relationship Type="http://schemas.openxmlformats.org/officeDocument/2006/relationships/image" Target="/ppt/media/image24.png" Id="R91a2746f4c374b45" /><Relationship Type="http://schemas.openxmlformats.org/officeDocument/2006/relationships/notesSlide" Target="/ppt/notesSlides/notesSlide24.xml" Id="Re08558424ab042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31ef9866f844b13" /><Relationship Type="http://schemas.openxmlformats.org/officeDocument/2006/relationships/image" Target="/ppt/media/image25.png" Id="R59ec47a19bc2488c" /><Relationship Type="http://schemas.openxmlformats.org/officeDocument/2006/relationships/notesSlide" Target="/ppt/notesSlides/notesSlide25.xml" Id="Rfe051ce0ad3743a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04e216661cb46d8" /><Relationship Type="http://schemas.openxmlformats.org/officeDocument/2006/relationships/notesSlide" Target="/ppt/notesSlides/notesSlide26.xml" Id="Rd955d76780a0445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31edf40b97d430e" /><Relationship Type="http://schemas.openxmlformats.org/officeDocument/2006/relationships/image" Target="/ppt/media/image26.png" Id="R5fc007ce49884a48" /><Relationship Type="http://schemas.openxmlformats.org/officeDocument/2006/relationships/notesSlide" Target="/ppt/notesSlides/notesSlide27.xml" Id="R6e2c3395d089417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820138f73cd44f4" /><Relationship Type="http://schemas.openxmlformats.org/officeDocument/2006/relationships/image" Target="/ppt/media/image27.png" Id="R2ce76662dc9b4623" /><Relationship Type="http://schemas.openxmlformats.org/officeDocument/2006/relationships/notesSlide" Target="/ppt/notesSlides/notesSlide28.xml" Id="R26fc3c5b9f414fd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d9355eb3c3e4fc5" /><Relationship Type="http://schemas.openxmlformats.org/officeDocument/2006/relationships/image" Target="/ppt/media/image28.png" Id="R5e6a51b14994433f" /><Relationship Type="http://schemas.openxmlformats.org/officeDocument/2006/relationships/notesSlide" Target="/ppt/notesSlides/notesSlide29.xml" Id="Rc99cf4ce3b1f4ee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04d39c204f04178" /><Relationship Type="http://schemas.openxmlformats.org/officeDocument/2006/relationships/image" Target="/ppt/media/image29.png" Id="R90f9cc35fcf0450c" /><Relationship Type="http://schemas.openxmlformats.org/officeDocument/2006/relationships/notesSlide" Target="/ppt/notesSlides/notesSlide30.xml" Id="R84d2f32132a4487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2187c0cea7e4553" /><Relationship Type="http://schemas.openxmlformats.org/officeDocument/2006/relationships/image" Target="/ppt/media/image30.png" Id="R83eb3923d8184bad" /><Relationship Type="http://schemas.openxmlformats.org/officeDocument/2006/relationships/notesSlide" Target="/ppt/notesSlides/notesSlide31.xml" Id="R041eb70f80e446a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0ab2bf6fa284ec2" /><Relationship Type="http://schemas.openxmlformats.org/officeDocument/2006/relationships/notesSlide" Target="/ppt/notesSlides/notesSlide32.xml" Id="Rfba93b99e45c4dc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2ee66e90d034c10" /><Relationship Type="http://schemas.openxmlformats.org/officeDocument/2006/relationships/image" Target="/ppt/media/image31.png" Id="R36ae438961544b63" /><Relationship Type="http://schemas.openxmlformats.org/officeDocument/2006/relationships/notesSlide" Target="/ppt/notesSlides/notesSlide33.xml" Id="R5a1843e749774ba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b2c9e6ee3d842b0" /><Relationship Type="http://schemas.openxmlformats.org/officeDocument/2006/relationships/image" Target="/ppt/media/image32.png" Id="R9c5ed023181f4870" /><Relationship Type="http://schemas.openxmlformats.org/officeDocument/2006/relationships/notesSlide" Target="/ppt/notesSlides/notesSlide34.xml" Id="R0496a57b86264bb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9a51a4052a9476f" /><Relationship Type="http://schemas.openxmlformats.org/officeDocument/2006/relationships/image" Target="/ppt/media/image33.png" Id="R58ce5c4bc3ef4c8b" /><Relationship Type="http://schemas.openxmlformats.org/officeDocument/2006/relationships/notesSlide" Target="/ppt/notesSlides/notesSlide35.xml" Id="R2fc1dca00dc3471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83230092d6b4ea4" /><Relationship Type="http://schemas.openxmlformats.org/officeDocument/2006/relationships/image" Target="/ppt/media/image34.png" Id="R94ed22d42f074bff" /><Relationship Type="http://schemas.openxmlformats.org/officeDocument/2006/relationships/notesSlide" Target="/ppt/notesSlides/notesSlide36.xml" Id="R31e5ae07ec8642d3" /></Relationships>
</file>

<file path=ppt/slides/slide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sp>
        <p:nvSpPr>
          <p:cNvPr id="7" name="">
            <a:extLst>
              <a:ext uri="{FF2B5EF4-FFF2-40B4-BE49-F238E27FC236}">
                <ns2:creationId id="{A7AC97BE-995D-43C8-B710-19D4F10EEBAB}"/>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01</a:t>
            </a:r>
          </a:p>
        </p:txBody>
      </p:sp>
      <p:pic>
        <p:nvPicPr>
          <p:cNvPr id="2" name="">
            <a:extLst>
              <a:ext uri="{FF2B5EF4-FFF2-40B4-BE49-F238E27FC236}">
                <ns2:creationId id="{256D1567-1E22-4203-8C6B-FAC7BC7E5857}"/>
              </a:ext>
            </a:extLst>
          </p:cNvPr>
          <p:cNvPicPr>
            <a:picLocks noChangeAspect="1"/>
          </p:cNvPicPr>
          <p:nvPr/>
        </p:nvPicPr>
        <p:blipFill>
          <a:blip r:embed="R034c0eeccf4948c0"/>
          <a:srcRect l="24610" t="0" r="24610" b="0"/>
          <a:stretch>
            <a:fillRect l="0" t="0" r="0" b="0"/>
          </a:stretch>
        </p:blipFill>
        <p:spPr>
          <a:xfrm>
            <a:off x="6810375" y="0"/>
            <a:ext cx="5381625" cy="6858000"/>
          </a:xfrm>
          <a:prstGeom prst="rect">
            <a:avLst/>
          </a:prstGeom>
        </p:spPr>
      </p:pic>
      <p:pic>
        <p:nvPicPr>
          <p:cNvPr id="3" name="">
            <a:extLst>
              <a:ext uri="{FF2B5EF4-FFF2-40B4-BE49-F238E27FC236}">
                <ns2:creationId id="{95EA2546-934B-459A-AC59-934CC0E1E9C1}"/>
              </a:ext>
            </a:extLst>
          </p:cNvPr>
          <p:cNvPicPr>
            <a:picLocks noChangeAspect="1"/>
          </p:cNvPicPr>
          <p:nvPr/>
        </p:nvPicPr>
        <p:blipFill>
          <a:blip r:embed="R2b8d2ff69cca4c51"/>
          <a:stretch/>
        </p:blipFill>
        <p:spPr>
          <a:xfrm>
            <a:off x="609600" y="463276"/>
            <a:ext cx="2457450" cy="635547"/>
          </a:xfrm>
          <a:prstGeom prst="rect">
            <a:avLst/>
          </a:prstGeom>
        </p:spPr>
      </p:pic>
      <p:sp>
        <p:nvSpPr>
          <p:cNvPr id="4" name="">
            <a:extLst>
              <a:ext uri="{FF2B5EF4-FFF2-40B4-BE49-F238E27FC236}">
                <ns2:creationId id="{7A84D4CA-7994-4015-BA7A-862B8C85D61A}"/>
              </a:ext>
            </a:extLst>
          </p:cNvPr>
          <p:cNvSpPr>
            <a:spLocks noGrp="1"/>
          </p:cNvSpPr>
          <p:nvPr/>
        </p:nvSpPr>
        <p:spPr>
          <a:xfrm>
            <a:off x="609600" y="1943100"/>
            <a:ext cx="6191250" cy="790575"/>
          </a:xfrm>
          <a:prstGeom prst="rect">
            <a:avLst/>
          </a:prstGeom>
          <a:noFill/>
          <a:ln w="0">
            <a:noFill/>
          </a:ln>
        </p:spPr>
        <p:txBody>
          <a:bodyPr wrap="square" lIns="0" tIns="0" rIns="0" bIns="0" anchor="t">
            <a:noAutofit/>
          </a:bodyPr>
          <a:lstStyle>
            <a:defPPr>
              <a:defRPr sz="4950" b="1">
                <a:solidFill>
                  <a:srgbClr val="153F36"/>
                </a:solidFill>
                <a:latin typeface="Arial"/>
                <a:ea typeface="Arial"/>
                <a:cs typeface="Arial"/>
              </a:defRPr>
            </a:defPPr>
          </a:lstStyle>
          <a:p>
            <a:pPr>
              <a:defRPr sz="4950" b="1">
                <a:solidFill>
                  <a:srgbClr val="153F36"/>
                </a:solidFill>
                <a:latin typeface="Arial"/>
                <a:ea typeface="Arial"/>
                <a:cs typeface="Arial"/>
              </a:defRPr>
            </a:pPr>
            <a:r>
              <a:rPr sz="4950" b="1" lang="de-DE">
                <a:solidFill>
                  <a:srgbClr val="153F36"/>
                </a:solidFill>
                <a:latin typeface="Arial"/>
                <a:ea typeface="Arial"/>
                <a:cs typeface="Arial"/>
              </a:rPr>
              <a:t>Forever und FCC</a:t>
            </a:r>
          </a:p>
        </p:txBody>
      </p:sp>
      <p:sp>
        <p:nvSpPr>
          <p:cNvPr id="5" name="">
            <a:extLst>
              <a:ext uri="{FF2B5EF4-FFF2-40B4-BE49-F238E27FC236}">
                <ns2:creationId id="{FC0596C7-1725-4D0C-95AB-F7C38913635E}"/>
              </a:ext>
            </a:extLst>
          </p:cNvPr>
          <p:cNvSpPr>
            <a:spLocks noGrp="1"/>
          </p:cNvSpPr>
          <p:nvPr/>
        </p:nvSpPr>
        <p:spPr>
          <a:xfrm>
            <a:off x="609600" y="2857500"/>
            <a:ext cx="6115050" cy="1676400"/>
          </a:xfrm>
          <a:prstGeom prst="rect">
            <a:avLst/>
          </a:prstGeom>
          <a:noFill/>
          <a:ln w="0">
            <a:noFill/>
          </a:ln>
        </p:spPr>
        <p:txBody>
          <a:bodyPr wrap="square" lIns="0" tIns="0" rIns="0" bIns="0" anchor="t">
            <a:noAutofit/>
          </a:bodyPr>
          <a:lstStyle>
            <a:defPPr>
              <a:defRPr sz="5250" b="1">
                <a:solidFill>
                  <a:srgbClr val="153F36"/>
                </a:solidFill>
                <a:latin typeface="Arial"/>
                <a:ea typeface="Arial"/>
                <a:cs typeface="Arial"/>
              </a:defRPr>
            </a:defPPr>
          </a:lstStyle>
          <a:p>
            <a:pPr>
              <a:defRPr sz="5250" b="1">
                <a:solidFill>
                  <a:srgbClr val="153F36"/>
                </a:solidFill>
                <a:latin typeface="Arial"/>
                <a:ea typeface="Arial"/>
                <a:cs typeface="Arial"/>
              </a:defRPr>
            </a:pPr>
            <a:r>
              <a:rPr sz="3937" b="1" lang="de-DE">
                <a:solidFill>
                  <a:srgbClr val="153F36"/>
                </a:solidFill>
                <a:latin typeface="Arial"/>
                <a:ea typeface="Arial"/>
                <a:cs typeface="Arial"/>
              </a:rPr>
              <a:t>Die Geschäftsmöglichkeit</a:t>
            </a:r>
          </a:p>
          <a:p>
            <a:pPr>
              <a:defRPr sz="5250" b="1">
                <a:solidFill>
                  <a:srgbClr val="153F36"/>
                </a:solidFill>
                <a:latin typeface="Arial"/>
                <a:ea typeface="Arial"/>
                <a:cs typeface="Arial"/>
              </a:defRPr>
            </a:pPr>
            <a:r>
              <a:rPr sz="3937" b="1" lang="de-DE">
                <a:solidFill>
                  <a:srgbClr val="153F36"/>
                </a:solidFill>
                <a:latin typeface="Arial"/>
                <a:ea typeface="Arial"/>
                <a:cs typeface="Arial"/>
              </a:rPr>
              <a:t>in der Praxis</a:t>
            </a:r>
          </a:p>
        </p:txBody>
      </p:sp>
      <p:sp>
        <p:nvSpPr>
          <p:cNvPr id="6" name="">
            <a:extLst>
              <a:ext uri="{FF2B5EF4-FFF2-40B4-BE49-F238E27FC236}">
                <ns2:creationId id="{1753A05F-C655-42C5-8499-56D405EA3424}"/>
              </a:ext>
            </a:extLst>
          </p:cNvPr>
          <p:cNvSpPr>
            <a:spLocks noGrp="1"/>
          </p:cNvSpPr>
          <p:nvPr/>
        </p:nvSpPr>
        <p:spPr>
          <a:xfrm>
            <a:off x="609600" y="5067300"/>
            <a:ext cx="5772150" cy="990600"/>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de-DE">
                <a:solidFill>
                  <a:srgbClr val="526B63"/>
                </a:solidFill>
                <a:latin typeface="Arial"/>
                <a:ea typeface="Arial"/>
                <a:cs typeface="Arial"/>
              </a:rPr>
              <a:t>Produkte, Zusammenarbeit und tägliche Arbeit mit digitaler Unterstützung.</a:t>
            </a:r>
          </a:p>
        </p:txBody>
      </p:sp>
    </p:spTree>
    <p:extLst>
      <p:ext uri="{BB962C8B-B14F-4D97-AF65-F5344CB8AC3E}">
        <ns4:creationId val="1491815882"/>
      </p:ext>
    </p:extLst>
  </p:cSld>
</p:sld>
</file>

<file path=ppt/slides/slide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744F585C-B6A5-433C-8BE0-CC464C4C779F}"/>
              </a:ext>
            </a:extLst>
          </p:cNvPr>
          <p:cNvPicPr>
            <a:picLocks noChangeAspect="1"/>
          </p:cNvPicPr>
          <p:nvPr/>
        </p:nvPicPr>
        <p:blipFill>
          <a:blip r:embed="R83eae1d8ff684ca8"/>
          <a:stretch/>
        </p:blipFill>
        <p:spPr>
          <a:xfrm>
            <a:off x="9867900" y="276061"/>
            <a:ext cx="1695450" cy="438478"/>
          </a:xfrm>
          <a:prstGeom prst="rect">
            <a:avLst/>
          </a:prstGeom>
        </p:spPr>
      </p:pic>
      <p:sp>
        <p:nvSpPr>
          <p:cNvPr id="2" name="">
            <a:extLst>
              <a:ext uri="{FF2B5EF4-FFF2-40B4-BE49-F238E27FC236}">
                <ns2:creationId id="{A68AD40D-226F-4ECC-A3CD-2A2C9C7D53B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02</a:t>
            </a:r>
          </a:p>
        </p:txBody>
      </p:sp>
      <p:sp>
        <p:nvSpPr>
          <p:cNvPr id="3" name="Titel">
            <a:extLst>
              <a:ext uri="{FF2B5EF4-FFF2-40B4-BE49-F238E27FC236}">
                <ns2:creationId id="{1176B0B2-066B-4212-A51F-514684F66C8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Ihre Gastgeber</a:t>
            </a:r>
          </a:p>
        </p:txBody>
      </p:sp>
      <p:sp>
        <p:nvSpPr>
          <p:cNvPr id="4" name="Vortragender, Name">
            <a:extLst>
              <a:ext uri="{FF2B5EF4-FFF2-40B4-BE49-F238E27FC236}">
                <ns2:creationId id="{8C10299F-EDB2-4E7F-B49E-4F214720F8FE}"/>
              </a:ext>
            </a:extLst>
          </p:cNvPr>
          <p:cNvSpPr>
            <a:spLocks noGrp="1"/>
          </p:cNvSpPr>
          <p:nvPr/>
        </p:nvSpPr>
        <p:spPr>
          <a:xfrm>
            <a:off x="609600" y="2181225"/>
            <a:ext cx="5381625" cy="1314450"/>
          </a:xfrm>
          <a:prstGeom prst="rect">
            <a:avLst/>
          </a:prstGeom>
          <a:noFill/>
          <a:ln w="0">
            <a:noFill/>
          </a:ln>
        </p:spPr>
        <p:txBody>
          <a:bodyPr wrap="square" lIns="0" tIns="0" rIns="0" bIns="0" anchor="t">
            <a:noAutofit/>
          </a:bodyPr>
          <a:lstStyle>
            <a:defPPr>
              <a:defRPr sz="3975" b="1">
                <a:solidFill>
                  <a:srgbClr val="153F36"/>
                </a:solidFill>
                <a:latin typeface="Arial"/>
                <a:ea typeface="Arial"/>
                <a:cs typeface="Arial"/>
              </a:defRPr>
            </a:defPPr>
          </a:lstStyle>
          <a:p>
            <a:pPr>
              <a:defRPr sz="3975" b="1">
                <a:solidFill>
                  <a:srgbClr val="153F36"/>
                </a:solidFill>
                <a:latin typeface="Arial"/>
                <a:ea typeface="Arial"/>
                <a:cs typeface="Arial"/>
              </a:defRPr>
            </a:pPr>
            <a:r>
              <a:rPr sz="3975" b="1" lang="de-DE">
                <a:solidFill>
                  <a:srgbClr val="153F36"/>
                </a:solidFill>
                <a:latin typeface="Arial"/>
                <a:ea typeface="Arial"/>
                <a:cs typeface="Arial"/>
              </a:rPr>
              <a:t>Stjepan und</a:t>
            </a:r>
          </a:p>
          <a:p>
            <a:pPr>
              <a:defRPr sz="3975" b="1">
                <a:solidFill>
                  <a:srgbClr val="153F36"/>
                </a:solidFill>
                <a:latin typeface="Arial"/>
                <a:ea typeface="Arial"/>
                <a:cs typeface="Arial"/>
              </a:defRPr>
            </a:pPr>
            <a:r>
              <a:rPr sz="3975" b="1" lang="de-DE">
                <a:solidFill>
                  <a:srgbClr val="153F36"/>
                </a:solidFill>
                <a:latin typeface="Arial"/>
                <a:ea typeface="Arial"/>
                <a:cs typeface="Arial"/>
              </a:rPr>
              <a:t>Snježana Beloša</a:t>
            </a:r>
          </a:p>
        </p:txBody>
      </p:sp>
      <p:sp>
        <p:nvSpPr>
          <p:cNvPr id="5" name="Vortragender, Beschreibung">
            <a:extLst>
              <a:ext uri="{FF2B5EF4-FFF2-40B4-BE49-F238E27FC236}">
                <ns2:creationId id="{C8BD6CD1-D5ED-485E-A612-0D7A42166A3E}"/>
              </a:ext>
            </a:extLst>
          </p:cNvPr>
          <p:cNvSpPr>
            <a:spLocks noGrp="1"/>
          </p:cNvSpPr>
          <p:nvPr/>
        </p:nvSpPr>
        <p:spPr>
          <a:xfrm>
            <a:off x="609600" y="3810000"/>
            <a:ext cx="5076825" cy="990600"/>
          </a:xfrm>
          <a:prstGeom prst="rect">
            <a:avLst/>
          </a:prstGeom>
          <a:noFill/>
          <a:ln w="0">
            <a:noFill/>
          </a:ln>
        </p:spPr>
        <p:txBody>
          <a:bodyPr wrap="square" lIns="0" tIns="0" rIns="0" bIns="0" anchor="t">
            <a:noAutofit/>
          </a:bodyPr>
          <a:lstStyle>
            <a:defPPr>
              <a:defRPr sz="2250" b="0">
                <a:solidFill>
                  <a:srgbClr val="526B63"/>
                </a:solidFill>
                <a:latin typeface="Arial"/>
                <a:ea typeface="Arial"/>
                <a:cs typeface="Arial"/>
              </a:defRPr>
            </a:defPPr>
          </a:lstStyle>
          <a:p>
            <a:pPr>
              <a:defRPr sz="2250" b="0">
                <a:solidFill>
                  <a:srgbClr val="526B63"/>
                </a:solidFill>
                <a:latin typeface="Arial"/>
                <a:ea typeface="Arial"/>
                <a:cs typeface="Arial"/>
              </a:defRPr>
            </a:pPr>
            <a:r>
              <a:rPr sz="2250" b="0" lang="de-DE">
                <a:solidFill>
                  <a:srgbClr val="526B63"/>
                </a:solidFill>
                <a:latin typeface="Arial"/>
                <a:ea typeface="Arial"/>
                <a:cs typeface="Arial"/>
              </a:rPr>
              <a:t>Gründer des Forever Card Club</a:t>
            </a:r>
          </a:p>
          <a:p>
            <a:pPr>
              <a:defRPr sz="2250" b="0">
                <a:solidFill>
                  <a:srgbClr val="526B63"/>
                </a:solidFill>
                <a:latin typeface="Arial"/>
                <a:ea typeface="Arial"/>
                <a:cs typeface="Arial"/>
              </a:defRPr>
            </a:pPr>
            <a:r>
              <a:rPr sz="2250" b="0" lang="de-DE">
                <a:solidFill>
                  <a:srgbClr val="526B63"/>
                </a:solidFill>
                <a:latin typeface="Arial"/>
                <a:ea typeface="Arial"/>
                <a:cs typeface="Arial"/>
              </a:rPr>
              <a:t>und Mentoren unseres Teams.</a:t>
            </a:r>
          </a:p>
        </p:txBody>
      </p:sp>
      <p:sp>
        <p:nvSpPr>
          <p:cNvPr id="6" name="Vortragender, persönliche Nachricht">
            <a:extLst>
              <a:ext uri="{FF2B5EF4-FFF2-40B4-BE49-F238E27FC236}">
                <ns2:creationId id="{C7EB62E8-86BA-442F-820A-95F8E087C2C6}"/>
              </a:ext>
            </a:extLst>
          </p:cNvPr>
          <p:cNvSpPr>
            <a:spLocks noGrp="1"/>
          </p:cNvSpPr>
          <p:nvPr/>
        </p:nvSpPr>
        <p:spPr>
          <a:xfrm>
            <a:off x="609600" y="5124450"/>
            <a:ext cx="5076825" cy="857250"/>
          </a:xfrm>
          <a:prstGeom prst="rect">
            <a:avLst/>
          </a:prstGeom>
          <a:noFill/>
          <a:ln w="0">
            <a:noFill/>
          </a:ln>
        </p:spPr>
        <p:txBody>
          <a:bodyPr wrap="square" lIns="0" tIns="0" rIns="0" bIns="0" anchor="t">
            <a:noAutofit/>
          </a:bodyPr>
          <a:lstStyle>
            <a:defPPr>
              <a:defRPr sz="2100" b="0">
                <a:solidFill>
                  <a:srgbClr val="153F36"/>
                </a:solidFill>
                <a:latin typeface="Arial"/>
                <a:ea typeface="Arial"/>
                <a:cs typeface="Arial"/>
              </a:defRPr>
            </a:defPPr>
          </a:lstStyle>
          <a:p>
            <a:pPr>
              <a:defRPr sz="2100" b="0">
                <a:solidFill>
                  <a:srgbClr val="153F36"/>
                </a:solidFill>
                <a:latin typeface="Arial"/>
                <a:ea typeface="Arial"/>
                <a:cs typeface="Arial"/>
              </a:defRPr>
            </a:pPr>
            <a:r>
              <a:rPr sz="2016" b="0" lang="de-DE">
                <a:solidFill>
                  <a:srgbClr val="153F36"/>
                </a:solidFill>
                <a:latin typeface="Arial"/>
                <a:ea typeface="Arial"/>
                <a:cs typeface="Arial"/>
              </a:rPr>
              <a:t>Wir helfen Ihnen, die Möglichkeiten zu verstehen und einen machbaren Einstieg zu wählen.</a:t>
            </a:r>
          </a:p>
        </p:txBody>
      </p:sp>
      <p:pic>
        <p:nvPicPr>
          <p:cNvPr id="7" name="">
            <a:extLst>
              <a:ext uri="{FF2B5EF4-FFF2-40B4-BE49-F238E27FC236}">
                <ns2:creationId id="{1CC6FBA4-AAA8-41D9-9116-49E85FDFC736}"/>
              </a:ext>
            </a:extLst>
          </p:cNvPr>
          <p:cNvPicPr>
            <a:picLocks noChangeAspect="1"/>
          </p:cNvPicPr>
          <p:nvPr/>
        </p:nvPicPr>
        <p:blipFill>
          <a:blip r:embed="R7d26e2f4bdc14ea7"/>
          <a:srcRect l="0" t="63" r="0" b="63"/>
          <a:stretch>
            <a:fillRect l="0" t="0" r="0" b="0"/>
          </a:stretch>
        </p:blipFill>
        <p:spPr>
          <a:xfrm>
            <a:off x="6572250" y="1952625"/>
            <a:ext cx="5010150" cy="3752850"/>
          </a:xfrm>
          <a:prstGeom prst="rect">
            <a:avLst/>
          </a:prstGeom>
        </p:spPr>
      </p:pic>
    </p:spTree>
    <p:extLst>
      <p:ext uri="{BB962C8B-B14F-4D97-AF65-F5344CB8AC3E}">
        <ns4:creationId val="1588096114"/>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5E6FCE42-34ED-49DB-917B-885BF7A07AF1}"/>
              </a:ext>
            </a:extLst>
          </p:cNvPr>
          <p:cNvPicPr>
            <a:picLocks noChangeAspect="1"/>
          </p:cNvPicPr>
          <p:nvPr/>
        </p:nvPicPr>
        <p:blipFill>
          <a:blip r:embed="R242c0c3a74d44c3e"/>
          <a:stretch/>
        </p:blipFill>
        <p:spPr>
          <a:xfrm>
            <a:off x="9867900" y="276061"/>
            <a:ext cx="1695450" cy="438478"/>
          </a:xfrm>
          <a:prstGeom prst="rect">
            <a:avLst/>
          </a:prstGeom>
        </p:spPr>
      </p:pic>
      <p:sp>
        <p:nvSpPr>
          <p:cNvPr id="2" name="">
            <a:extLst>
              <a:ext uri="{FF2B5EF4-FFF2-40B4-BE49-F238E27FC236}">
                <ns2:creationId id="{1B1032C0-79B5-4738-8E25-D6937A3C85A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03</a:t>
            </a:r>
          </a:p>
        </p:txBody>
      </p:sp>
      <p:sp>
        <p:nvSpPr>
          <p:cNvPr id="3" name="Titel">
            <a:extLst>
              <a:ext uri="{FF2B5EF4-FFF2-40B4-BE49-F238E27FC236}">
                <ns2:creationId id="{0C2BCB8F-C404-42C6-BD3A-B39A251103DF}"/>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Was Sie heute kennenlernen</a:t>
            </a:r>
          </a:p>
        </p:txBody>
      </p:sp>
      <p:sp>
        <p:nvSpPr>
          <p:cNvPr id="4" name="">
            <a:extLst>
              <a:ext uri="{FF2B5EF4-FFF2-40B4-BE49-F238E27FC236}">
                <ns2:creationId id="{7090349B-17CB-4069-9021-E9AC8929150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1.</a:t>
            </a:r>
          </a:p>
        </p:txBody>
      </p:sp>
      <p:sp>
        <p:nvSpPr>
          <p:cNvPr id="5" name="">
            <a:extLst>
              <a:ext uri="{FF2B5EF4-FFF2-40B4-BE49-F238E27FC236}">
                <ns2:creationId id="{B790FCFE-A2F7-46DA-9AAA-E3D158B44E5E}"/>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Forever</a:t>
            </a:r>
          </a:p>
        </p:txBody>
      </p:sp>
      <p:sp>
        <p:nvSpPr>
          <p:cNvPr id="6" name="">
            <a:extLst>
              <a:ext uri="{FF2B5EF4-FFF2-40B4-BE49-F238E27FC236}">
                <ns2:creationId id="{62CF0980-2434-4AA9-A846-7ADF450EF6D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Produkte, offizielle Bestellung und Geschäftsregeln.</a:t>
            </a:r>
          </a:p>
        </p:txBody>
      </p:sp>
      <p:sp>
        <p:nvSpPr>
          <p:cNvPr id="7" name="">
            <a:extLst>
              <a:ext uri="{FF2B5EF4-FFF2-40B4-BE49-F238E27FC236}">
                <ns2:creationId id="{8096E1E2-CF39-4546-9C54-85736B904FB3}"/>
              </a:ext>
            </a:extLst>
          </p:cNvPr>
          <p:cNvSpPr>
            <a:spLocks noGrp="1"/>
          </p:cNvSpPr>
          <p:nvPr/>
        </p:nvSpPr>
        <p:spPr>
          <a:xfrm>
            <a:off x="609600" y="28384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2.</a:t>
            </a:r>
          </a:p>
        </p:txBody>
      </p:sp>
      <p:sp>
        <p:nvSpPr>
          <p:cNvPr id="8" name="">
            <a:extLst>
              <a:ext uri="{FF2B5EF4-FFF2-40B4-BE49-F238E27FC236}">
                <ns2:creationId id="{D93BAFA1-E082-42C0-AF07-8A3F5D4A51BF}"/>
              </a:ext>
            </a:extLst>
          </p:cNvPr>
          <p:cNvSpPr>
            <a:spLocks noGrp="1"/>
          </p:cNvSpPr>
          <p:nvPr/>
        </p:nvSpPr>
        <p:spPr>
          <a:xfrm>
            <a:off x="1257300" y="28384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Ihre Entscheidung</a:t>
            </a:r>
          </a:p>
        </p:txBody>
      </p:sp>
      <p:sp>
        <p:nvSpPr>
          <p:cNvPr id="9" name="">
            <a:extLst>
              <a:ext uri="{FF2B5EF4-FFF2-40B4-BE49-F238E27FC236}">
                <ns2:creationId id="{DC87F678-8ACE-44B6-8B16-8B5A0F8B7F0C}"/>
              </a:ext>
            </a:extLst>
          </p:cNvPr>
          <p:cNvSpPr>
            <a:spLocks noGrp="1"/>
          </p:cNvSpPr>
          <p:nvPr/>
        </p:nvSpPr>
        <p:spPr>
          <a:xfrm>
            <a:off x="1257300" y="32480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Produkte nutzen oder ein eigenes Geschäft aufbauen.</a:t>
            </a:r>
          </a:p>
        </p:txBody>
      </p:sp>
      <p:sp>
        <p:nvSpPr>
          <p:cNvPr id="10" name="">
            <a:extLst>
              <a:ext uri="{FF2B5EF4-FFF2-40B4-BE49-F238E27FC236}">
                <ns2:creationId id="{3860522A-792D-4373-A4F3-28F5656DBD92}"/>
              </a:ext>
            </a:extLst>
          </p:cNvPr>
          <p:cNvSpPr>
            <a:spLocks noGrp="1"/>
          </p:cNvSpPr>
          <p:nvPr/>
        </p:nvSpPr>
        <p:spPr>
          <a:xfrm>
            <a:off x="609600" y="37147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3.</a:t>
            </a:r>
          </a:p>
        </p:txBody>
      </p:sp>
      <p:sp>
        <p:nvSpPr>
          <p:cNvPr id="11" name="">
            <a:extLst>
              <a:ext uri="{FF2B5EF4-FFF2-40B4-BE49-F238E27FC236}">
                <ns2:creationId id="{34D75F7B-C2E5-44A0-9838-83056B206B41}"/>
              </a:ext>
            </a:extLst>
          </p:cNvPr>
          <p:cNvSpPr>
            <a:spLocks noGrp="1"/>
          </p:cNvSpPr>
          <p:nvPr/>
        </p:nvSpPr>
        <p:spPr>
          <a:xfrm>
            <a:off x="1257300" y="37147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FCC in der Praxis</a:t>
            </a:r>
          </a:p>
        </p:txBody>
      </p:sp>
      <p:sp>
        <p:nvSpPr>
          <p:cNvPr id="12" name="">
            <a:extLst>
              <a:ext uri="{FF2B5EF4-FFF2-40B4-BE49-F238E27FC236}">
                <ns2:creationId id="{C9D45EDC-05EA-4018-BAB4-F46975DFEACA}"/>
              </a:ext>
            </a:extLst>
          </p:cNvPr>
          <p:cNvSpPr>
            <a:spLocks noGrp="1"/>
          </p:cNvSpPr>
          <p:nvPr/>
        </p:nvSpPr>
        <p:spPr>
          <a:xfrm>
            <a:off x="1257300" y="41243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Persönliche Empfehlung, Kontakte, Webinar und Unterstützung.</a:t>
            </a:r>
          </a:p>
        </p:txBody>
      </p:sp>
      <p:sp>
        <p:nvSpPr>
          <p:cNvPr id="13" name="">
            <a:extLst>
              <a:ext uri="{FF2B5EF4-FFF2-40B4-BE49-F238E27FC236}">
                <ns2:creationId id="{2E7A5D7F-6A19-4AFA-BB4D-57AF548C10AF}"/>
              </a:ext>
            </a:extLst>
          </p:cNvPr>
          <p:cNvSpPr>
            <a:spLocks noGrp="1"/>
          </p:cNvSpPr>
          <p:nvPr/>
        </p:nvSpPr>
        <p:spPr>
          <a:xfrm>
            <a:off x="609600" y="45910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4.</a:t>
            </a:r>
          </a:p>
        </p:txBody>
      </p:sp>
      <p:sp>
        <p:nvSpPr>
          <p:cNvPr id="14" name="">
            <a:extLst>
              <a:ext uri="{FF2B5EF4-FFF2-40B4-BE49-F238E27FC236}">
                <ns2:creationId id="{E46D0B6C-8B28-440C-9B75-E7B279A7BD4E}"/>
              </a:ext>
            </a:extLst>
          </p:cNvPr>
          <p:cNvSpPr>
            <a:spLocks noGrp="1"/>
          </p:cNvSpPr>
          <p:nvPr/>
        </p:nvSpPr>
        <p:spPr>
          <a:xfrm>
            <a:off x="1257300" y="45910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Die erste Woche</a:t>
            </a:r>
          </a:p>
        </p:txBody>
      </p:sp>
      <p:sp>
        <p:nvSpPr>
          <p:cNvPr id="15" name="">
            <a:extLst>
              <a:ext uri="{FF2B5EF4-FFF2-40B4-BE49-F238E27FC236}">
                <ns2:creationId id="{6829D74A-201C-438E-A0A9-426869F09F1D}"/>
              </a:ext>
            </a:extLst>
          </p:cNvPr>
          <p:cNvSpPr>
            <a:spLocks noGrp="1"/>
          </p:cNvSpPr>
          <p:nvPr/>
        </p:nvSpPr>
        <p:spPr>
          <a:xfrm>
            <a:off x="1257300" y="50006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Ein konkreter Einstieg mit der Person, die Sie eingeladen hat.</a:t>
            </a:r>
          </a:p>
        </p:txBody>
      </p:sp>
    </p:spTree>
    <p:extLst>
      <p:ext uri="{BB962C8B-B14F-4D97-AF65-F5344CB8AC3E}">
        <ns4:creationId val="15104013"/>
      </p:ext>
    </p:extLst>
  </p:cSld>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031F2DBE-3CEF-4AB1-808D-82DFD8D39AE4}"/>
              </a:ext>
            </a:extLst>
          </p:cNvPr>
          <p:cNvPicPr>
            <a:picLocks noChangeAspect="1"/>
          </p:cNvPicPr>
          <p:nvPr/>
        </p:nvPicPr>
        <p:blipFill>
          <a:blip r:embed="Rdae54c54c13e41c1"/>
          <a:stretch/>
        </p:blipFill>
        <p:spPr>
          <a:xfrm>
            <a:off x="9867900" y="276061"/>
            <a:ext cx="1695450" cy="438478"/>
          </a:xfrm>
          <a:prstGeom prst="rect">
            <a:avLst/>
          </a:prstGeom>
        </p:spPr>
      </p:pic>
      <p:sp>
        <p:nvSpPr>
          <p:cNvPr id="2" name="">
            <a:extLst>
              <a:ext uri="{FF2B5EF4-FFF2-40B4-BE49-F238E27FC236}">
                <ns2:creationId id="{A8A277E5-B6B2-4E06-B214-ACC2911CBCFB}"/>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04</a:t>
            </a:r>
          </a:p>
        </p:txBody>
      </p:sp>
      <p:sp>
        <p:nvSpPr>
          <p:cNvPr id="3" name="Titel">
            <a:extLst>
              <a:ext uri="{FF2B5EF4-FFF2-40B4-BE49-F238E27FC236}">
                <ns2:creationId id="{B03E3510-0DEE-482B-A50E-CCFBC65CBF8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Forever Living Products</a:t>
            </a:r>
          </a:p>
        </p:txBody>
      </p:sp>
      <p:sp>
        <p:nvSpPr>
          <p:cNvPr id="4" name="">
            <a:extLst>
              <a:ext uri="{FF2B5EF4-FFF2-40B4-BE49-F238E27FC236}">
                <ns2:creationId id="{D1A63BA3-11AF-41C5-A0DB-F238BF1FED1D}"/>
              </a:ext>
            </a:extLst>
          </p:cNvPr>
          <p:cNvSpPr>
            <a:spLocks noGrp="1"/>
          </p:cNvSpPr>
          <p:nvPr/>
        </p:nvSpPr>
        <p:spPr>
          <a:xfrm>
            <a:off x="609600" y="2133600"/>
            <a:ext cx="5353050" cy="1495425"/>
          </a:xfrm>
          <a:prstGeom prst="rect">
            <a:avLst/>
          </a:prstGeom>
          <a:noFill/>
          <a:ln w="0">
            <a:noFill/>
          </a:ln>
        </p:spPr>
        <p:txBody>
          <a:bodyPr wrap="square" lIns="0" tIns="0" rIns="0" bIns="0" anchor="t">
            <a:noAutofit/>
          </a:bodyPr>
          <a:lstStyle>
            <a:defPPr>
              <a:defRPr sz="8100" b="1">
                <a:solidFill>
                  <a:srgbClr val="153F36"/>
                </a:solidFill>
                <a:latin typeface="Arial"/>
                <a:ea typeface="Arial"/>
                <a:cs typeface="Arial"/>
              </a:defRPr>
            </a:defPPr>
          </a:lstStyle>
          <a:p>
            <a:pPr>
              <a:defRPr sz="8100" b="1">
                <a:solidFill>
                  <a:srgbClr val="153F36"/>
                </a:solidFill>
                <a:latin typeface="Arial"/>
                <a:ea typeface="Arial"/>
                <a:cs typeface="Arial"/>
              </a:defRPr>
            </a:pPr>
            <a:r>
              <a:rPr sz="8100" b="1" lang="de-DE">
                <a:solidFill>
                  <a:srgbClr val="153F36"/>
                </a:solidFill>
                <a:latin typeface="Arial"/>
                <a:ea typeface="Arial"/>
                <a:cs typeface="Arial"/>
              </a:rPr>
              <a:t>1978.</a:t>
            </a:r>
          </a:p>
        </p:txBody>
      </p:sp>
      <p:sp>
        <p:nvSpPr>
          <p:cNvPr id="5" name="">
            <a:extLst>
              <a:ext uri="{FF2B5EF4-FFF2-40B4-BE49-F238E27FC236}">
                <ns2:creationId id="{3E7CC058-7669-4F2A-8739-E7D03E723F65}"/>
              </a:ext>
            </a:extLst>
          </p:cNvPr>
          <p:cNvSpPr>
            <a:spLocks noGrp="1"/>
          </p:cNvSpPr>
          <p:nvPr/>
        </p:nvSpPr>
        <p:spPr>
          <a:xfrm>
            <a:off x="647700" y="3609975"/>
            <a:ext cx="4953000" cy="542925"/>
          </a:xfrm>
          <a:prstGeom prst="rect">
            <a:avLst/>
          </a:prstGeom>
          <a:noFill/>
          <a:ln w="0">
            <a:noFill/>
          </a:ln>
        </p:spPr>
        <p:txBody>
          <a:bodyPr wrap="square" lIns="0" tIns="0" rIns="0" bIns="0" anchor="t">
            <a:noAutofit/>
          </a:bodyPr>
          <a:lstStyle>
            <a:defPPr>
              <a:defRPr sz="2475" b="1">
                <a:solidFill>
                  <a:srgbClr val="153F36"/>
                </a:solidFill>
                <a:latin typeface="Arial"/>
                <a:ea typeface="Arial"/>
                <a:cs typeface="Arial"/>
              </a:defRPr>
            </a:defPPr>
          </a:lstStyle>
          <a:p>
            <a:pPr>
              <a:defRPr sz="2475" b="1">
                <a:solidFill>
                  <a:srgbClr val="153F36"/>
                </a:solidFill>
                <a:latin typeface="Arial"/>
                <a:ea typeface="Arial"/>
                <a:cs typeface="Arial"/>
              </a:defRPr>
            </a:pPr>
            <a:r>
              <a:rPr sz="2475" b="1" lang="de-DE">
                <a:solidFill>
                  <a:srgbClr val="153F36"/>
                </a:solidFill>
                <a:latin typeface="Arial"/>
                <a:ea typeface="Arial"/>
                <a:cs typeface="Arial"/>
              </a:rPr>
              <a:t>Gründungsjahr</a:t>
            </a:r>
          </a:p>
        </p:txBody>
      </p:sp>
      <p:sp>
        <p:nvSpPr>
          <p:cNvPr id="6" name="">
            <a:extLst>
              <a:ext uri="{FF2B5EF4-FFF2-40B4-BE49-F238E27FC236}">
                <ns2:creationId id="{9F9A23A7-5EC9-47CD-A30C-C9479DD7485A}"/>
              </a:ext>
            </a:extLst>
          </p:cNvPr>
          <p:cNvSpPr>
            <a:spLocks noGrp="1"/>
          </p:cNvSpPr>
          <p:nvPr/>
        </p:nvSpPr>
        <p:spPr>
          <a:xfrm>
            <a:off x="609600" y="4457700"/>
            <a:ext cx="5248275" cy="1428750"/>
          </a:xfrm>
          <a:prstGeom prst="rect">
            <a:avLst/>
          </a:prstGeom>
          <a:noFill/>
          <a:ln w="0">
            <a:noFill/>
          </a:ln>
        </p:spPr>
        <p:txBody>
          <a:bodyPr wrap="square" lIns="0" tIns="0" rIns="0" bIns="0" anchor="t">
            <a:noAutofit/>
          </a:bodyPr>
          <a:lstStyle>
            <a:defPPr>
              <a:defRPr sz="2250" b="0">
                <a:solidFill>
                  <a:srgbClr val="526B63"/>
                </a:solidFill>
                <a:latin typeface="Arial"/>
                <a:ea typeface="Arial"/>
                <a:cs typeface="Arial"/>
              </a:defRPr>
            </a:defPPr>
          </a:lstStyle>
          <a:p>
            <a:pPr>
              <a:defRPr sz="2250" b="0">
                <a:solidFill>
                  <a:srgbClr val="526B63"/>
                </a:solidFill>
                <a:latin typeface="Arial"/>
                <a:ea typeface="Arial"/>
                <a:cs typeface="Arial"/>
              </a:defRPr>
            </a:pPr>
            <a:r>
              <a:rPr sz="2250" b="0" lang="de-DE">
                <a:solidFill>
                  <a:srgbClr val="526B63"/>
                </a:solidFill>
                <a:latin typeface="Arial"/>
                <a:ea typeface="Arial"/>
                <a:cs typeface="Arial"/>
              </a:rPr>
              <a:t>Ein globales Unternehmen mit Produkten, einem Vertriebsnetz und offiziellen Geschäftsregeln.</a:t>
            </a:r>
          </a:p>
        </p:txBody>
      </p:sp>
      <p:pic>
        <p:nvPicPr>
          <p:cNvPr id="7" name="">
            <a:extLst>
              <a:ext uri="{FF2B5EF4-FFF2-40B4-BE49-F238E27FC236}">
                <ns2:creationId id="{0B1CC924-CD88-4010-9FE5-A5B82838F629}"/>
              </a:ext>
            </a:extLst>
          </p:cNvPr>
          <p:cNvPicPr>
            <a:picLocks noChangeAspect="1"/>
          </p:cNvPicPr>
          <p:nvPr/>
        </p:nvPicPr>
        <p:blipFill>
          <a:blip r:embed="Ra3daa3908981400c"/>
          <a:srcRect l="2187" t="0" r="2187" b="0"/>
          <a:stretch>
            <a:fillRect l="0" t="0" r="0" b="0"/>
          </a:stretch>
        </p:blipFill>
        <p:spPr>
          <a:xfrm>
            <a:off x="6438900" y="2057400"/>
            <a:ext cx="5143500" cy="3429000"/>
          </a:xfrm>
          <a:prstGeom prst="rect">
            <a:avLst/>
          </a:prstGeom>
        </p:spPr>
      </p:pic>
    </p:spTree>
    <p:extLst>
      <p:ext uri="{BB962C8B-B14F-4D97-AF65-F5344CB8AC3E}">
        <ns4:creationId val="708542696"/>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8C8D58AB-6E9E-4036-91B3-2CE93502D8AF}"/>
              </a:ext>
            </a:extLst>
          </p:cNvPr>
          <p:cNvPicPr>
            <a:picLocks noChangeAspect="1"/>
          </p:cNvPicPr>
          <p:nvPr/>
        </p:nvPicPr>
        <p:blipFill>
          <a:blip r:embed="Rba10fc9d1268426c"/>
          <a:stretch/>
        </p:blipFill>
        <p:spPr>
          <a:xfrm>
            <a:off x="9867900" y="276061"/>
            <a:ext cx="1695450" cy="438478"/>
          </a:xfrm>
          <a:prstGeom prst="rect">
            <a:avLst/>
          </a:prstGeom>
        </p:spPr>
      </p:pic>
      <p:sp>
        <p:nvSpPr>
          <p:cNvPr id="2" name="">
            <a:extLst>
              <a:ext uri="{FF2B5EF4-FFF2-40B4-BE49-F238E27FC236}">
                <ns2:creationId id="{E6F95587-9DD7-454A-A7A0-50CA5576146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05</a:t>
            </a:r>
          </a:p>
        </p:txBody>
      </p:sp>
      <p:sp>
        <p:nvSpPr>
          <p:cNvPr id="3" name="Titel">
            <a:extLst>
              <a:ext uri="{FF2B5EF4-FFF2-40B4-BE49-F238E27FC236}">
                <ns2:creationId id="{3F971641-B408-403C-9558-0637FE54DB8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Produkte im Alltag</a:t>
            </a:r>
          </a:p>
        </p:txBody>
      </p:sp>
      <p:sp>
        <p:nvSpPr>
          <p:cNvPr id="4" name="">
            <a:extLst>
              <a:ext uri="{FF2B5EF4-FFF2-40B4-BE49-F238E27FC236}">
                <ns2:creationId id="{BA40F1F6-713C-4513-869A-F89CBDFF95A4}"/>
              </a:ext>
            </a:extLst>
          </p:cNvPr>
          <p:cNvSpPr>
            <a:spLocks noGrp="1"/>
          </p:cNvSpPr>
          <p:nvPr/>
        </p:nvSpPr>
        <p:spPr>
          <a:xfrm>
            <a:off x="609600" y="2047875"/>
            <a:ext cx="5438775" cy="1981200"/>
          </a:xfrm>
          <a:prstGeom prst="rect">
            <a:avLst/>
          </a:prstGeom>
          <a:noFill/>
          <a:ln w="0">
            <a:noFill/>
          </a:ln>
        </p:spPr>
        <p:txBody>
          <a:bodyPr wrap="square" lIns="0" tIns="0" rIns="0" bIns="0" anchor="t">
            <a:noAutofit/>
          </a:bodyPr>
          <a:lstStyle>
            <a:defPPr>
              <a:defRPr sz="2925" b="1">
                <a:solidFill>
                  <a:srgbClr val="153F36"/>
                </a:solidFill>
                <a:latin typeface="Arial"/>
                <a:ea typeface="Arial"/>
                <a:cs typeface="Arial"/>
              </a:defRPr>
            </a:defPPr>
          </a:lstStyle>
          <a:p>
            <a:pPr>
              <a:defRPr sz="2925" b="1">
                <a:solidFill>
                  <a:srgbClr val="153F36"/>
                </a:solidFill>
                <a:latin typeface="Arial"/>
                <a:ea typeface="Arial"/>
                <a:cs typeface="Arial"/>
              </a:defRPr>
            </a:pPr>
            <a:r>
              <a:rPr sz="2925" b="1" lang="de-DE">
                <a:solidFill>
                  <a:srgbClr val="153F36"/>
                </a:solidFill>
                <a:latin typeface="Arial"/>
                <a:ea typeface="Arial"/>
                <a:cs typeface="Arial"/>
              </a:rPr>
              <a:t>Körperpflege</a:t>
            </a:r>
          </a:p>
          <a:p>
            <a:pPr>
              <a:defRPr sz="2925" b="1">
                <a:solidFill>
                  <a:srgbClr val="153F36"/>
                </a:solidFill>
                <a:latin typeface="Arial"/>
                <a:ea typeface="Arial"/>
                <a:cs typeface="Arial"/>
              </a:defRPr>
            </a:pPr>
            <a:r>
              <a:rPr sz="2925" b="1" lang="de-DE">
                <a:solidFill>
                  <a:srgbClr val="153F36"/>
                </a:solidFill>
                <a:latin typeface="Arial"/>
                <a:ea typeface="Arial"/>
                <a:cs typeface="Arial"/>
              </a:rPr>
              <a:t>Getränke</a:t>
            </a:r>
          </a:p>
          <a:p>
            <a:pPr>
              <a:defRPr sz="2925" b="1">
                <a:solidFill>
                  <a:srgbClr val="153F36"/>
                </a:solidFill>
                <a:latin typeface="Arial"/>
                <a:ea typeface="Arial"/>
                <a:cs typeface="Arial"/>
              </a:defRPr>
            </a:pPr>
            <a:r>
              <a:rPr sz="2925" b="1" lang="de-DE">
                <a:solidFill>
                  <a:srgbClr val="153F36"/>
                </a:solidFill>
                <a:latin typeface="Arial"/>
                <a:ea typeface="Arial"/>
                <a:cs typeface="Arial"/>
              </a:rPr>
              <a:t>Nahrungsergänzung</a:t>
            </a:r>
          </a:p>
        </p:txBody>
      </p:sp>
      <p:sp>
        <p:nvSpPr>
          <p:cNvPr id="5" name="">
            <a:extLst>
              <a:ext uri="{FF2B5EF4-FFF2-40B4-BE49-F238E27FC236}">
                <ns2:creationId id="{1D9888A3-65A4-4BA0-A252-BAFF4B247E14}"/>
              </a:ext>
            </a:extLst>
          </p:cNvPr>
          <p:cNvSpPr>
            <a:spLocks noGrp="1"/>
          </p:cNvSpPr>
          <p:nvPr/>
        </p:nvSpPr>
        <p:spPr>
          <a:xfrm>
            <a:off x="609600" y="4314825"/>
            <a:ext cx="5410200" cy="1114425"/>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de-DE">
                <a:solidFill>
                  <a:srgbClr val="526B63"/>
                </a:solidFill>
                <a:latin typeface="Arial"/>
                <a:ea typeface="Arial"/>
                <a:cs typeface="Arial"/>
              </a:rPr>
              <a:t>Eine Empfehlung ist sinnvoll, wenn das Produkt zur Person und ihrem Alltag passt.</a:t>
            </a:r>
          </a:p>
        </p:txBody>
      </p:sp>
      <p:pic>
        <p:nvPicPr>
          <p:cNvPr id="6" name="">
            <a:extLst>
              <a:ext uri="{FF2B5EF4-FFF2-40B4-BE49-F238E27FC236}">
                <ns2:creationId id="{FBA35493-A3D8-4CDD-B285-CEAA1756B8A5}"/>
              </a:ext>
            </a:extLst>
          </p:cNvPr>
          <p:cNvPicPr>
            <a:picLocks noChangeAspect="1"/>
          </p:cNvPicPr>
          <p:nvPr/>
        </p:nvPicPr>
        <p:blipFill>
          <a:blip r:embed="R5eebdc2fa42747ce"/>
          <a:srcRect l="0" t="449" r="0" b="449"/>
          <a:stretch>
            <a:fillRect l="0" t="0" r="0" b="0"/>
          </a:stretch>
        </p:blipFill>
        <p:spPr>
          <a:xfrm>
            <a:off x="7286625" y="1914525"/>
            <a:ext cx="3714750" cy="3876675"/>
          </a:xfrm>
          <a:prstGeom prst="rect">
            <a:avLst/>
          </a:prstGeom>
        </p:spPr>
      </p:pic>
    </p:spTree>
    <p:extLst>
      <p:ext uri="{BB962C8B-B14F-4D97-AF65-F5344CB8AC3E}">
        <ns4:creationId val="1185823960"/>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C46B7334-D258-4863-BDBC-0EC0B34D3EC6}"/>
              </a:ext>
            </a:extLst>
          </p:cNvPr>
          <p:cNvPicPr>
            <a:picLocks noChangeAspect="1"/>
          </p:cNvPicPr>
          <p:nvPr/>
        </p:nvPicPr>
        <p:blipFill>
          <a:blip r:embed="Rc418f7fc157f4c3e"/>
          <a:stretch/>
        </p:blipFill>
        <p:spPr>
          <a:xfrm>
            <a:off x="9867900" y="276061"/>
            <a:ext cx="1695450" cy="438478"/>
          </a:xfrm>
          <a:prstGeom prst="rect">
            <a:avLst/>
          </a:prstGeom>
        </p:spPr>
      </p:pic>
      <p:sp>
        <p:nvSpPr>
          <p:cNvPr id="2" name="">
            <a:extLst>
              <a:ext uri="{FF2B5EF4-FFF2-40B4-BE49-F238E27FC236}">
                <ns2:creationId id="{5DB4D99C-680C-4273-AA73-EE7C5D30111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06</a:t>
            </a:r>
          </a:p>
        </p:txBody>
      </p:sp>
      <p:sp>
        <p:nvSpPr>
          <p:cNvPr id="3" name="Titel">
            <a:extLst>
              <a:ext uri="{FF2B5EF4-FFF2-40B4-BE49-F238E27FC236}">
                <ns2:creationId id="{6D53AC0C-2BDA-402D-9E9D-A573631BA1C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Vom Anbau zur offiziellen Bestellung</a:t>
            </a:r>
          </a:p>
        </p:txBody>
      </p:sp>
      <p:pic>
        <p:nvPicPr>
          <p:cNvPr id="4" name="">
            <a:extLst>
              <a:ext uri="{FF2B5EF4-FFF2-40B4-BE49-F238E27FC236}">
                <ns2:creationId id="{5D0A6E93-1A12-423D-9899-8ABB22E67C8D}"/>
              </a:ext>
            </a:extLst>
          </p:cNvPr>
          <p:cNvPicPr>
            <a:picLocks noChangeAspect="1"/>
          </p:cNvPicPr>
          <p:nvPr/>
        </p:nvPicPr>
        <p:blipFill>
          <a:blip r:embed="R760ec06578814d61"/>
          <a:srcRect l="0" t="11760" r="0" b="11760"/>
          <a:stretch>
            <a:fillRect l="0" t="0" r="0" b="0"/>
          </a:stretch>
        </p:blipFill>
        <p:spPr>
          <a:xfrm>
            <a:off x="609600" y="1981200"/>
            <a:ext cx="5257800" cy="2600325"/>
          </a:xfrm>
          <a:prstGeom prst="rect">
            <a:avLst/>
          </a:prstGeom>
        </p:spPr>
      </p:pic>
      <p:pic>
        <p:nvPicPr>
          <p:cNvPr id="5" name="">
            <a:extLst>
              <a:ext uri="{FF2B5EF4-FFF2-40B4-BE49-F238E27FC236}">
                <ns2:creationId id="{B207C59F-8F2C-47BF-BC54-ADB1CA9C1458}"/>
              </a:ext>
            </a:extLst>
          </p:cNvPr>
          <p:cNvPicPr>
            <a:picLocks noChangeAspect="1"/>
          </p:cNvPicPr>
          <p:nvPr/>
        </p:nvPicPr>
        <p:blipFill>
          <a:blip r:embed="R67e74f1e1fe24f58"/>
          <a:srcRect l="0" t="17029" r="0" b="17029"/>
          <a:stretch>
            <a:fillRect l="0" t="0" r="0" b="0"/>
          </a:stretch>
        </p:blipFill>
        <p:spPr>
          <a:xfrm>
            <a:off x="6324600" y="1981200"/>
            <a:ext cx="5257800" cy="2600325"/>
          </a:xfrm>
          <a:prstGeom prst="rect">
            <a:avLst/>
          </a:prstGeom>
        </p:spPr>
      </p:pic>
      <p:sp>
        <p:nvSpPr>
          <p:cNvPr id="6" name="">
            <a:extLst>
              <a:ext uri="{FF2B5EF4-FFF2-40B4-BE49-F238E27FC236}">
                <ns2:creationId id="{043BAD13-5883-4683-B52C-68D2B5637D91}"/>
              </a:ext>
            </a:extLst>
          </p:cNvPr>
          <p:cNvSpPr>
            <a:spLocks noGrp="1"/>
          </p:cNvSpPr>
          <p:nvPr/>
        </p:nvSpPr>
        <p:spPr>
          <a:xfrm>
            <a:off x="609600" y="4953000"/>
            <a:ext cx="10382250" cy="62865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de-DE">
                <a:solidFill>
                  <a:srgbClr val="153F36"/>
                </a:solidFill>
                <a:latin typeface="Arial"/>
                <a:ea typeface="Arial"/>
                <a:cs typeface="Arial"/>
              </a:rPr>
              <a:t>Forever übernimmt Produktion, Bestellungen und Lieferung.</a:t>
            </a:r>
          </a:p>
        </p:txBody>
      </p:sp>
      <p:sp>
        <p:nvSpPr>
          <p:cNvPr id="7" name="">
            <a:extLst>
              <a:ext uri="{FF2B5EF4-FFF2-40B4-BE49-F238E27FC236}">
                <ns2:creationId id="{E65AD224-944D-41B6-800D-07B566B65B36}"/>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de-DE">
                <a:solidFill>
                  <a:srgbClr val="526B63"/>
                </a:solidFill>
                <a:latin typeface="Arial"/>
                <a:ea typeface="Arial"/>
                <a:cs typeface="Arial"/>
              </a:rPr>
              <a:t>Der Partner hilft bei der Produktauswahl und beim Kauf über den offiziellen Vertriebskanal.</a:t>
            </a:r>
          </a:p>
        </p:txBody>
      </p:sp>
    </p:spTree>
    <p:extLst>
      <p:ext uri="{BB962C8B-B14F-4D97-AF65-F5344CB8AC3E}">
        <ns4:creationId val="206011841"/>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2E54AF73-E036-4720-891A-5121EB809BF9}"/>
              </a:ext>
            </a:extLst>
          </p:cNvPr>
          <p:cNvPicPr>
            <a:picLocks noChangeAspect="1"/>
          </p:cNvPicPr>
          <p:nvPr/>
        </p:nvPicPr>
        <p:blipFill>
          <a:blip r:embed="R9d24496200b841ee"/>
          <a:stretch/>
        </p:blipFill>
        <p:spPr>
          <a:xfrm>
            <a:off x="9867900" y="276061"/>
            <a:ext cx="1695450" cy="438478"/>
          </a:xfrm>
          <a:prstGeom prst="rect">
            <a:avLst/>
          </a:prstGeom>
        </p:spPr>
      </p:pic>
      <p:sp>
        <p:nvSpPr>
          <p:cNvPr id="2" name="">
            <a:extLst>
              <a:ext uri="{FF2B5EF4-FFF2-40B4-BE49-F238E27FC236}">
                <ns2:creationId id="{67E37213-3D26-4825-BBB6-2E564E93A55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07</a:t>
            </a:r>
          </a:p>
        </p:txBody>
      </p:sp>
      <p:sp>
        <p:nvSpPr>
          <p:cNvPr id="3" name="Titel">
            <a:extLst>
              <a:ext uri="{FF2B5EF4-FFF2-40B4-BE49-F238E27FC236}">
                <ns2:creationId id="{1383C903-881D-4840-A4D5-5DDD9FAFC1F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Produktnutzer oder Geschäftspartner</a:t>
            </a:r>
          </a:p>
        </p:txBody>
      </p:sp>
      <p:sp>
        <p:nvSpPr>
          <p:cNvPr id="4" name="">
            <a:extLst>
              <a:ext uri="{FF2B5EF4-FFF2-40B4-BE49-F238E27FC236}">
                <ns2:creationId id="{2E14BC8A-29A8-4C50-9C5C-973F016EBCBF}"/>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de-DE">
                <a:solidFill>
                  <a:srgbClr val="153F36"/>
                </a:solidFill>
                <a:latin typeface="Arial"/>
                <a:ea typeface="Arial"/>
                <a:cs typeface="Arial"/>
              </a:rPr>
              <a:t>Produktnutzer</a:t>
            </a:r>
          </a:p>
        </p:txBody>
      </p:sp>
      <p:sp>
        <p:nvSpPr>
          <p:cNvPr id="5" name="">
            <a:extLst>
              <a:ext uri="{FF2B5EF4-FFF2-40B4-BE49-F238E27FC236}">
                <ns2:creationId id="{44DDA104-5A1E-4779-A60F-E3CEA86C4451}"/>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de-DE">
                <a:solidFill>
                  <a:srgbClr val="526B63"/>
                </a:solidFill>
                <a:latin typeface="Arial"/>
                <a:ea typeface="Arial"/>
                <a:cs typeface="Arial"/>
              </a:rPr>
              <a:t>Wählt Produkte für den eigenen Gebrauch.</a:t>
            </a:r>
          </a:p>
          <a:p>
            <a:r>
              <a:t/>
            </a:r>
          </a:p>
          <a:p>
            <a:pPr>
              <a:defRPr sz="2175" b="0">
                <a:solidFill>
                  <a:srgbClr val="526B63"/>
                </a:solidFill>
                <a:latin typeface="Arial"/>
                <a:ea typeface="Arial"/>
                <a:cs typeface="Arial"/>
              </a:defRPr>
            </a:pPr>
            <a:r>
              <a:rPr sz="2175" b="0" lang="de-DE">
                <a:solidFill>
                  <a:srgbClr val="526B63"/>
                </a:solidFill>
                <a:latin typeface="Arial"/>
                <a:ea typeface="Arial"/>
                <a:cs typeface="Arial"/>
              </a:rPr>
              <a:t>Prüft Rabatt und Bedingungen des eigenen Marktes.</a:t>
            </a:r>
          </a:p>
        </p:txBody>
      </p:sp>
      <p:sp>
        <p:nvSpPr>
          <p:cNvPr id="6" name="">
            <a:extLst>
              <a:ext uri="{FF2B5EF4-FFF2-40B4-BE49-F238E27FC236}">
                <ns2:creationId id="{CB3AEC29-C6AB-4B40-B4A4-BBBBB4FC86ED}"/>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de-DE">
                <a:solidFill>
                  <a:srgbClr val="153F36"/>
                </a:solidFill>
                <a:latin typeface="Arial"/>
                <a:ea typeface="Arial"/>
                <a:cs typeface="Arial"/>
              </a:rPr>
              <a:t>Geschäftspartner</a:t>
            </a:r>
          </a:p>
        </p:txBody>
      </p:sp>
      <p:sp>
        <p:nvSpPr>
          <p:cNvPr id="7" name="">
            <a:extLst>
              <a:ext uri="{FF2B5EF4-FFF2-40B4-BE49-F238E27FC236}">
                <ns2:creationId id="{3D3E645E-563B-44E3-A32F-90226B46A13C}"/>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de-DE">
                <a:solidFill>
                  <a:srgbClr val="526B63"/>
                </a:solidFill>
                <a:latin typeface="Arial"/>
                <a:ea typeface="Arial"/>
                <a:cs typeface="Arial"/>
              </a:rPr>
              <a:t>Lernt, Produkte zu empfehlen und Kunden zu betreuen.</a:t>
            </a:r>
          </a:p>
          <a:p>
            <a:r>
              <a:t/>
            </a:r>
          </a:p>
          <a:p>
            <a:pPr>
              <a:defRPr sz="2175" b="0">
                <a:solidFill>
                  <a:srgbClr val="526B63"/>
                </a:solidFill>
                <a:latin typeface="Arial"/>
                <a:ea typeface="Arial"/>
                <a:cs typeface="Arial"/>
              </a:defRPr>
            </a:pPr>
            <a:r>
              <a:rPr sz="2175" b="0" lang="de-DE">
                <a:solidFill>
                  <a:srgbClr val="526B63"/>
                </a:solidFill>
                <a:latin typeface="Arial"/>
                <a:ea typeface="Arial"/>
                <a:cs typeface="Arial"/>
              </a:rPr>
              <a:t>Kann nach dem offiziellen Plan ein Team aufbauen.</a:t>
            </a:r>
          </a:p>
        </p:txBody>
      </p:sp>
      <p:sp>
        <p:nvSpPr>
          <p:cNvPr id="8" name="">
            <a:extLst>
              <a:ext uri="{FF2B5EF4-FFF2-40B4-BE49-F238E27FC236}">
                <ns2:creationId id="{0E0D066F-E836-4495-B6BA-02C6081856E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de-DE">
                <a:solidFill>
                  <a:srgbClr val="526B63"/>
                </a:solidFill>
                <a:latin typeface="Arial"/>
                <a:ea typeface="Arial"/>
                <a:cs typeface="Arial"/>
              </a:rPr>
              <a:t>Das erste Gespräch hilft, den passenden Weg zu wählen.</a:t>
            </a:r>
          </a:p>
        </p:txBody>
      </p:sp>
    </p:spTree>
    <p:extLst>
      <p:ext uri="{BB962C8B-B14F-4D97-AF65-F5344CB8AC3E}">
        <ns4:creationId val="72070813"/>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452BAE09-4A28-4FDF-B4F1-D84AE45B9CCE}"/>
              </a:ext>
            </a:extLst>
          </p:cNvPr>
          <p:cNvPicPr>
            <a:picLocks noChangeAspect="1"/>
          </p:cNvPicPr>
          <p:nvPr/>
        </p:nvPicPr>
        <p:blipFill>
          <a:blip r:embed="R051be96e5b284a3e"/>
          <a:stretch/>
        </p:blipFill>
        <p:spPr>
          <a:xfrm>
            <a:off x="9867900" y="276061"/>
            <a:ext cx="1695450" cy="438478"/>
          </a:xfrm>
          <a:prstGeom prst="rect">
            <a:avLst/>
          </a:prstGeom>
        </p:spPr>
      </p:pic>
      <p:sp>
        <p:nvSpPr>
          <p:cNvPr id="2" name="">
            <a:extLst>
              <a:ext uri="{FF2B5EF4-FFF2-40B4-BE49-F238E27FC236}">
                <ns2:creationId id="{7AF10F6B-11A4-4082-8474-F8BB8D3A628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08</a:t>
            </a:r>
          </a:p>
        </p:txBody>
      </p:sp>
      <p:sp>
        <p:nvSpPr>
          <p:cNvPr id="3" name="Titel">
            <a:extLst>
              <a:ext uri="{FF2B5EF4-FFF2-40B4-BE49-F238E27FC236}">
                <ns2:creationId id="{FFD17B86-6F5B-4AC9-A45D-61B841C5305A}"/>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Einstiegsqualifikation: 2 CC</a:t>
            </a:r>
          </a:p>
        </p:txBody>
      </p:sp>
      <p:sp>
        <p:nvSpPr>
          <p:cNvPr id="4" name="">
            <a:extLst>
              <a:ext uri="{FF2B5EF4-FFF2-40B4-BE49-F238E27FC236}">
                <ns2:creationId id="{1305E928-94E3-4B55-A605-33368A8BE1FE}"/>
              </a:ext>
            </a:extLst>
          </p:cNvPr>
          <p:cNvSpPr>
            <a:spLocks noGrp="1"/>
          </p:cNvSpPr>
          <p:nvPr/>
        </p:nvSpPr>
        <p:spPr>
          <a:xfrm>
            <a:off x="609600" y="2095500"/>
            <a:ext cx="4810125" cy="1285875"/>
          </a:xfrm>
          <a:prstGeom prst="rect">
            <a:avLst/>
          </a:prstGeom>
          <a:noFill/>
          <a:ln w="0">
            <a:noFill/>
          </a:ln>
        </p:spPr>
        <p:txBody>
          <a:bodyPr wrap="square" lIns="0" tIns="0" rIns="0" bIns="0" anchor="t">
            <a:noAutofit/>
          </a:bodyPr>
          <a:lstStyle>
            <a:defPPr>
              <a:defRPr sz="7650" b="1">
                <a:solidFill>
                  <a:srgbClr val="153F36"/>
                </a:solidFill>
                <a:latin typeface="Arial"/>
                <a:ea typeface="Arial"/>
                <a:cs typeface="Arial"/>
              </a:defRPr>
            </a:defPPr>
          </a:lstStyle>
          <a:p>
            <a:pPr>
              <a:defRPr sz="7650" b="1">
                <a:solidFill>
                  <a:srgbClr val="153F36"/>
                </a:solidFill>
                <a:latin typeface="Arial"/>
                <a:ea typeface="Arial"/>
                <a:cs typeface="Arial"/>
              </a:defRPr>
            </a:pPr>
            <a:r>
              <a:rPr sz="7650" b="1" lang="de-DE">
                <a:solidFill>
                  <a:srgbClr val="153F36"/>
                </a:solidFill>
                <a:latin typeface="Arial"/>
                <a:ea typeface="Arial"/>
                <a:cs typeface="Arial"/>
              </a:rPr>
              <a:t>2 CC</a:t>
            </a:r>
          </a:p>
        </p:txBody>
      </p:sp>
      <p:sp>
        <p:nvSpPr>
          <p:cNvPr id="5" name="">
            <a:extLst>
              <a:ext uri="{FF2B5EF4-FFF2-40B4-BE49-F238E27FC236}">
                <ns2:creationId id="{8E600297-3522-4464-94CB-5C48591DB8FF}"/>
              </a:ext>
            </a:extLst>
          </p:cNvPr>
          <p:cNvSpPr>
            <a:spLocks noGrp="1"/>
          </p:cNvSpPr>
          <p:nvPr/>
        </p:nvSpPr>
        <p:spPr>
          <a:xfrm>
            <a:off x="4572000" y="2333625"/>
            <a:ext cx="6715125" cy="1104900"/>
          </a:xfrm>
          <a:prstGeom prst="rect">
            <a:avLst/>
          </a:prstGeom>
          <a:noFill/>
          <a:ln w="0">
            <a:noFill/>
          </a:ln>
        </p:spPr>
        <p:txBody>
          <a:bodyPr wrap="square" lIns="0" tIns="0" rIns="0" bIns="0" anchor="t">
            <a:noAutofit/>
          </a:bodyPr>
          <a:lstStyle>
            <a:defPPr>
              <a:defRPr sz="2700" b="1">
                <a:solidFill>
                  <a:srgbClr val="153F36"/>
                </a:solidFill>
                <a:latin typeface="Arial"/>
                <a:ea typeface="Arial"/>
                <a:cs typeface="Arial"/>
              </a:defRPr>
            </a:defPPr>
          </a:lstStyle>
          <a:p>
            <a:pPr>
              <a:defRPr sz="2700" b="1">
                <a:solidFill>
                  <a:srgbClr val="153F36"/>
                </a:solidFill>
                <a:latin typeface="Arial"/>
                <a:ea typeface="Arial"/>
                <a:cs typeface="Arial"/>
              </a:defRPr>
            </a:pPr>
            <a:r>
              <a:rPr sz="2700" b="1" lang="de-DE">
                <a:solidFill>
                  <a:srgbClr val="153F36"/>
                </a:solidFill>
                <a:latin typeface="Arial"/>
                <a:ea typeface="Arial"/>
                <a:cs typeface="Arial"/>
              </a:rPr>
              <a:t>CC sind Verrechnungswerte</a:t>
            </a:r>
          </a:p>
          <a:p>
            <a:pPr>
              <a:defRPr sz="2700" b="1">
                <a:solidFill>
                  <a:srgbClr val="153F36"/>
                </a:solidFill>
                <a:latin typeface="Arial"/>
                <a:ea typeface="Arial"/>
                <a:cs typeface="Arial"/>
              </a:defRPr>
            </a:pPr>
            <a:r>
              <a:rPr sz="2700" b="1" lang="de-DE">
                <a:solidFill>
                  <a:srgbClr val="153F36"/>
                </a:solidFill>
                <a:latin typeface="Arial"/>
                <a:ea typeface="Arial"/>
                <a:cs typeface="Arial"/>
              </a:rPr>
              <a:t>für Produkte.</a:t>
            </a:r>
          </a:p>
        </p:txBody>
      </p:sp>
      <p:sp>
        <p:nvSpPr>
          <p:cNvPr id="6" name="">
            <a:extLst>
              <a:ext uri="{FF2B5EF4-FFF2-40B4-BE49-F238E27FC236}">
                <ns2:creationId id="{0D2CE9B8-81CE-4B05-9A88-8AA42B134161}"/>
              </a:ext>
            </a:extLst>
          </p:cNvPr>
          <p:cNvSpPr>
            <a:spLocks noGrp="1"/>
          </p:cNvSpPr>
          <p:nvPr/>
        </p:nvSpPr>
        <p:spPr>
          <a:xfrm>
            <a:off x="609600" y="3486150"/>
            <a:ext cx="9753600" cy="6858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de-DE">
                <a:solidFill>
                  <a:srgbClr val="153F36"/>
                </a:solidFill>
                <a:latin typeface="Arial"/>
                <a:ea typeface="Arial"/>
                <a:cs typeface="Arial"/>
              </a:rPr>
              <a:t>In zwei aufeinanderfolgenden Monaten</a:t>
            </a:r>
          </a:p>
        </p:txBody>
      </p:sp>
      <p:sp>
        <p:nvSpPr>
          <p:cNvPr id="7" name="">
            <a:extLst>
              <a:ext uri="{FF2B5EF4-FFF2-40B4-BE49-F238E27FC236}">
                <ns2:creationId id="{F38A0995-25A3-4169-84D9-35E62D33DC4A}"/>
              </a:ext>
            </a:extLst>
          </p:cNvPr>
          <p:cNvSpPr>
            <a:spLocks noGrp="1"/>
          </p:cNvSpPr>
          <p:nvPr/>
        </p:nvSpPr>
        <p:spPr>
          <a:xfrm>
            <a:off x="609600" y="4495800"/>
            <a:ext cx="9525000" cy="933450"/>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de-DE">
                <a:solidFill>
                  <a:srgbClr val="526B63"/>
                </a:solidFill>
                <a:latin typeface="Arial"/>
                <a:ea typeface="Arial"/>
                <a:cs typeface="Arial"/>
              </a:rPr>
              <a:t>Ein passendes Startpaket oder eine Produktkombination nach den aktuellen Bedingungen.</a:t>
            </a:r>
          </a:p>
        </p:txBody>
      </p:sp>
      <p:sp>
        <p:nvSpPr>
          <p:cNvPr id="8" name="">
            <a:extLst>
              <a:ext uri="{FF2B5EF4-FFF2-40B4-BE49-F238E27FC236}">
                <ns2:creationId id="{77AFF33C-FD64-4E61-B81A-785DDD31156C}"/>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de-DE">
                <a:solidFill>
                  <a:srgbClr val="526B63"/>
                </a:solidFill>
                <a:latin typeface="Arial"/>
                <a:ea typeface="Arial"/>
                <a:cs typeface="Arial"/>
              </a:rPr>
              <a:t>Kroatische Marktbedingungen. Preis und Verfügbarkeit im offiziellen Shop prüfen.</a:t>
            </a:r>
          </a:p>
        </p:txBody>
      </p:sp>
    </p:spTree>
    <p:extLst>
      <p:ext uri="{BB962C8B-B14F-4D97-AF65-F5344CB8AC3E}">
        <ns4:creationId val="302156339"/>
      </p:ext>
    </p:extLst>
  </p:cSld>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54B81B2D-1CCA-483A-BFD7-E57A9B46F8C8}"/>
              </a:ext>
            </a:extLst>
          </p:cNvPr>
          <p:cNvPicPr>
            <a:picLocks noChangeAspect="1"/>
          </p:cNvPicPr>
          <p:nvPr/>
        </p:nvPicPr>
        <p:blipFill>
          <a:blip r:embed="Rf661f195b5314748"/>
          <a:stretch/>
        </p:blipFill>
        <p:spPr>
          <a:xfrm>
            <a:off x="9867900" y="276061"/>
            <a:ext cx="1695450" cy="438478"/>
          </a:xfrm>
          <a:prstGeom prst="rect">
            <a:avLst/>
          </a:prstGeom>
        </p:spPr>
      </p:pic>
      <p:sp>
        <p:nvSpPr>
          <p:cNvPr id="2" name="">
            <a:extLst>
              <a:ext uri="{FF2B5EF4-FFF2-40B4-BE49-F238E27FC236}">
                <ns2:creationId id="{54A71095-8359-4EA0-A4C1-36D0120F2536}"/>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09</a:t>
            </a:r>
          </a:p>
        </p:txBody>
      </p:sp>
      <p:sp>
        <p:nvSpPr>
          <p:cNvPr id="3" name="Titel">
            <a:extLst>
              <a:ext uri="{FF2B5EF4-FFF2-40B4-BE49-F238E27FC236}">
                <ns2:creationId id="{616FFF80-E49E-4FEC-A237-32EC6915272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Rabatt, Verkaufsgewinn und Bonus</a:t>
            </a:r>
          </a:p>
        </p:txBody>
      </p:sp>
      <p:sp>
        <p:nvSpPr>
          <p:cNvPr id="4" name="">
            <a:extLst>
              <a:ext uri="{FF2B5EF4-FFF2-40B4-BE49-F238E27FC236}">
                <ns2:creationId id="{BDDED255-1812-4E04-914B-6B332C90B5B4}"/>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de-DE">
                <a:solidFill>
                  <a:srgbClr val="148977"/>
                </a:solidFill>
                <a:latin typeface="Arial"/>
                <a:ea typeface="Arial"/>
                <a:cs typeface="Arial"/>
              </a:rPr>
              <a:t>1.</a:t>
            </a:r>
          </a:p>
        </p:txBody>
      </p:sp>
      <p:sp>
        <p:nvSpPr>
          <p:cNvPr id="5" name="">
            <a:extLst>
              <a:ext uri="{FF2B5EF4-FFF2-40B4-BE49-F238E27FC236}">
                <ns2:creationId id="{FD37A62D-3C45-4D0E-A38A-9915FE68876C}"/>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de-DE">
                <a:solidFill>
                  <a:srgbClr val="153F36"/>
                </a:solidFill>
                <a:latin typeface="Arial"/>
                <a:ea typeface="Arial"/>
                <a:cs typeface="Arial"/>
              </a:rPr>
              <a:t>30% nach der Einstiegsqualifikation</a:t>
            </a:r>
          </a:p>
        </p:txBody>
      </p:sp>
      <p:sp>
        <p:nvSpPr>
          <p:cNvPr id="6" name="">
            <a:extLst>
              <a:ext uri="{FF2B5EF4-FFF2-40B4-BE49-F238E27FC236}">
                <ns2:creationId id="{0AEF7DBB-93FC-4643-9868-0D9C3B4364E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Rabatt auf spätere Bestellungen nach kroatischen Marktbedingungen.</a:t>
            </a:r>
          </a:p>
        </p:txBody>
      </p:sp>
      <p:sp>
        <p:nvSpPr>
          <p:cNvPr id="7" name="">
            <a:extLst>
              <a:ext uri="{FF2B5EF4-FFF2-40B4-BE49-F238E27FC236}">
                <ns2:creationId id="{7B9CB7F3-4139-4611-87F8-435F9FF741FD}"/>
              </a:ext>
            </a:extLst>
          </p:cNvPr>
          <p:cNvSpPr>
            <a:spLocks noGrp="1"/>
          </p:cNvSpPr>
          <p:nvPr/>
        </p:nvSpPr>
        <p:spPr>
          <a:xfrm>
            <a:off x="609600" y="31242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de-DE">
                <a:solidFill>
                  <a:srgbClr val="148977"/>
                </a:solidFill>
                <a:latin typeface="Arial"/>
                <a:ea typeface="Arial"/>
                <a:cs typeface="Arial"/>
              </a:rPr>
              <a:t>2.</a:t>
            </a:r>
          </a:p>
        </p:txBody>
      </p:sp>
      <p:sp>
        <p:nvSpPr>
          <p:cNvPr id="8" name="">
            <a:extLst>
              <a:ext uri="{FF2B5EF4-FFF2-40B4-BE49-F238E27FC236}">
                <ns2:creationId id="{9C21A969-5A0A-4363-B933-89E397B75B42}"/>
              </a:ext>
            </a:extLst>
          </p:cNvPr>
          <p:cNvSpPr>
            <a:spLocks noGrp="1"/>
          </p:cNvSpPr>
          <p:nvPr/>
        </p:nvSpPr>
        <p:spPr>
          <a:xfrm>
            <a:off x="1257300" y="31242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de-DE">
                <a:solidFill>
                  <a:srgbClr val="153F36"/>
                </a:solidFill>
                <a:latin typeface="Arial"/>
                <a:ea typeface="Arial"/>
                <a:cs typeface="Arial"/>
              </a:rPr>
              <a:t>Verkaufsgewinn</a:t>
            </a:r>
          </a:p>
        </p:txBody>
      </p:sp>
      <p:sp>
        <p:nvSpPr>
          <p:cNvPr id="9" name="">
            <a:extLst>
              <a:ext uri="{FF2B5EF4-FFF2-40B4-BE49-F238E27FC236}">
                <ns2:creationId id="{A037074A-E68A-4282-99A4-49DED4CAE7F8}"/>
              </a:ext>
            </a:extLst>
          </p:cNvPr>
          <p:cNvSpPr>
            <a:spLocks noGrp="1"/>
          </p:cNvSpPr>
          <p:nvPr/>
        </p:nvSpPr>
        <p:spPr>
          <a:xfrm>
            <a:off x="1257300" y="3533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Hängt vom tatsächlichen Verkaufspreis und Einkaufspreis ab.</a:t>
            </a:r>
          </a:p>
        </p:txBody>
      </p:sp>
      <p:sp>
        <p:nvSpPr>
          <p:cNvPr id="10" name="">
            <a:extLst>
              <a:ext uri="{FF2B5EF4-FFF2-40B4-BE49-F238E27FC236}">
                <ns2:creationId id="{3D570E6E-8B24-4330-A562-3E522F970A4D}"/>
              </a:ext>
            </a:extLst>
          </p:cNvPr>
          <p:cNvSpPr>
            <a:spLocks noGrp="1"/>
          </p:cNvSpPr>
          <p:nvPr/>
        </p:nvSpPr>
        <p:spPr>
          <a:xfrm>
            <a:off x="609600" y="42862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de-DE">
                <a:solidFill>
                  <a:srgbClr val="148977"/>
                </a:solidFill>
                <a:latin typeface="Arial"/>
                <a:ea typeface="Arial"/>
                <a:cs typeface="Arial"/>
              </a:rPr>
              <a:t>3.</a:t>
            </a:r>
          </a:p>
        </p:txBody>
      </p:sp>
      <p:sp>
        <p:nvSpPr>
          <p:cNvPr id="11" name="">
            <a:extLst>
              <a:ext uri="{FF2B5EF4-FFF2-40B4-BE49-F238E27FC236}">
                <ns2:creationId id="{141569BD-0969-41EC-B9D6-1548A3721055}"/>
              </a:ext>
            </a:extLst>
          </p:cNvPr>
          <p:cNvSpPr>
            <a:spLocks noGrp="1"/>
          </p:cNvSpPr>
          <p:nvPr/>
        </p:nvSpPr>
        <p:spPr>
          <a:xfrm>
            <a:off x="1257300" y="42862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de-DE">
                <a:solidFill>
                  <a:srgbClr val="153F36"/>
                </a:solidFill>
                <a:latin typeface="Arial"/>
                <a:ea typeface="Arial"/>
                <a:cs typeface="Arial"/>
              </a:rPr>
              <a:t>Bonus</a:t>
            </a:r>
          </a:p>
        </p:txBody>
      </p:sp>
      <p:sp>
        <p:nvSpPr>
          <p:cNvPr id="12" name="">
            <a:extLst>
              <a:ext uri="{FF2B5EF4-FFF2-40B4-BE49-F238E27FC236}">
                <ns2:creationId id="{44D69AAF-0CFB-4734-B419-43D03A1B0923}"/>
              </a:ext>
            </a:extLst>
          </p:cNvPr>
          <p:cNvSpPr>
            <a:spLocks noGrp="1"/>
          </p:cNvSpPr>
          <p:nvPr/>
        </p:nvSpPr>
        <p:spPr>
          <a:xfrm>
            <a:off x="1257300" y="46958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Wird für anerkannte Verkäufe unter den festgelegten Bedingungen berechnet.</a:t>
            </a:r>
          </a:p>
        </p:txBody>
      </p:sp>
      <p:sp>
        <p:nvSpPr>
          <p:cNvPr id="13" name="">
            <a:extLst>
              <a:ext uri="{FF2B5EF4-FFF2-40B4-BE49-F238E27FC236}">
                <ns2:creationId id="{BD566267-66F1-4515-8129-B602138DC9B1}"/>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de-DE">
                <a:solidFill>
                  <a:srgbClr val="526B63"/>
                </a:solidFill>
                <a:latin typeface="Arial"/>
                <a:ea typeface="Arial"/>
                <a:cs typeface="Arial"/>
              </a:rPr>
              <a:t>Das Nettoeinkommen hängt auch von Kosten, Rückgaben und Steuern ab.</a:t>
            </a:r>
          </a:p>
        </p:txBody>
      </p:sp>
    </p:spTree>
    <p:extLst>
      <p:ext uri="{BB962C8B-B14F-4D97-AF65-F5344CB8AC3E}">
        <ns4:creationId val="402010883"/>
      </p:ext>
    </p:extLst>
  </p:cSld>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840DF7EE-0EBF-4A51-BCCA-50E40AAC8CD9}"/>
              </a:ext>
            </a:extLst>
          </p:cNvPr>
          <p:cNvPicPr>
            <a:picLocks noChangeAspect="1"/>
          </p:cNvPicPr>
          <p:nvPr/>
        </p:nvPicPr>
        <p:blipFill>
          <a:blip r:embed="Redb93a4280434ff1"/>
          <a:stretch/>
        </p:blipFill>
        <p:spPr>
          <a:xfrm>
            <a:off x="9867900" y="276061"/>
            <a:ext cx="1695450" cy="438478"/>
          </a:xfrm>
          <a:prstGeom prst="rect">
            <a:avLst/>
          </a:prstGeom>
        </p:spPr>
      </p:pic>
      <p:sp>
        <p:nvSpPr>
          <p:cNvPr id="2" name="">
            <a:extLst>
              <a:ext uri="{FF2B5EF4-FFF2-40B4-BE49-F238E27FC236}">
                <ns2:creationId id="{F88BD6BA-C85F-4ABA-8F08-31047BB24EE0}"/>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10</a:t>
            </a:r>
          </a:p>
        </p:txBody>
      </p:sp>
      <p:sp>
        <p:nvSpPr>
          <p:cNvPr id="3" name="Titel">
            <a:extLst>
              <a:ext uri="{FF2B5EF4-FFF2-40B4-BE49-F238E27FC236}">
                <ns2:creationId id="{3292CFF6-A88B-4EB8-9D76-22FE6259927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Mögliche Einkommensquellen</a:t>
            </a:r>
          </a:p>
        </p:txBody>
      </p:sp>
      <p:sp>
        <p:nvSpPr>
          <p:cNvPr id="4" name="">
            <a:extLst>
              <a:ext uri="{FF2B5EF4-FFF2-40B4-BE49-F238E27FC236}">
                <ns2:creationId id="{E4F37C57-BB38-4268-A186-D1B747EFAAB6}"/>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1.</a:t>
            </a:r>
          </a:p>
        </p:txBody>
      </p:sp>
      <p:sp>
        <p:nvSpPr>
          <p:cNvPr id="5" name="">
            <a:extLst>
              <a:ext uri="{FF2B5EF4-FFF2-40B4-BE49-F238E27FC236}">
                <ns2:creationId id="{961A0C47-68F2-4FC3-AC65-BF70D8BE9435}"/>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Einzelhandel und Onlineverkauf</a:t>
            </a:r>
          </a:p>
        </p:txBody>
      </p:sp>
      <p:sp>
        <p:nvSpPr>
          <p:cNvPr id="6" name="">
            <a:extLst>
              <a:ext uri="{FF2B5EF4-FFF2-40B4-BE49-F238E27FC236}">
                <ns2:creationId id="{63F83357-877E-4FF3-915F-C3938DABCDED}"/>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Gewinn aus dem tatsächlichen Kauf von Produkten.</a:t>
            </a:r>
          </a:p>
        </p:txBody>
      </p:sp>
      <p:sp>
        <p:nvSpPr>
          <p:cNvPr id="7" name="">
            <a:extLst>
              <a:ext uri="{FF2B5EF4-FFF2-40B4-BE49-F238E27FC236}">
                <ns2:creationId id="{DADDE4B6-6F20-47E2-A08D-2141BD840EEE}"/>
              </a:ext>
            </a:extLst>
          </p:cNvPr>
          <p:cNvSpPr>
            <a:spLocks noGrp="1"/>
          </p:cNvSpPr>
          <p:nvPr/>
        </p:nvSpPr>
        <p:spPr>
          <a:xfrm>
            <a:off x="609600" y="28575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2.</a:t>
            </a:r>
          </a:p>
        </p:txBody>
      </p:sp>
      <p:sp>
        <p:nvSpPr>
          <p:cNvPr id="8" name="">
            <a:extLst>
              <a:ext uri="{FF2B5EF4-FFF2-40B4-BE49-F238E27FC236}">
                <ns2:creationId id="{67D8978D-38A0-4FC8-BFC8-BC13A9976728}"/>
              </a:ext>
            </a:extLst>
          </p:cNvPr>
          <p:cNvSpPr>
            <a:spLocks noGrp="1"/>
          </p:cNvSpPr>
          <p:nvPr/>
        </p:nvSpPr>
        <p:spPr>
          <a:xfrm>
            <a:off x="1257300" y="28575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Persönlicher und Preferred Customer Bonus</a:t>
            </a:r>
          </a:p>
        </p:txBody>
      </p:sp>
      <p:sp>
        <p:nvSpPr>
          <p:cNvPr id="9" name="">
            <a:extLst>
              <a:ext uri="{FF2B5EF4-FFF2-40B4-BE49-F238E27FC236}">
                <ns2:creationId id="{C231494E-33FE-4508-9785-F00A2151446B}"/>
              </a:ext>
            </a:extLst>
          </p:cNvPr>
          <p:cNvSpPr>
            <a:spLocks noGrp="1"/>
          </p:cNvSpPr>
          <p:nvPr/>
        </p:nvSpPr>
        <p:spPr>
          <a:xfrm>
            <a:off x="1257300" y="32670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Berechnung nach Verkaufsstufe und Bedingungen.</a:t>
            </a:r>
          </a:p>
        </p:txBody>
      </p:sp>
      <p:sp>
        <p:nvSpPr>
          <p:cNvPr id="10" name="">
            <a:extLst>
              <a:ext uri="{FF2B5EF4-FFF2-40B4-BE49-F238E27FC236}">
                <ns2:creationId id="{6C5B4166-CAE5-400B-9E51-0F8ECA7D451A}"/>
              </a:ext>
            </a:extLst>
          </p:cNvPr>
          <p:cNvSpPr>
            <a:spLocks noGrp="1"/>
          </p:cNvSpPr>
          <p:nvPr/>
        </p:nvSpPr>
        <p:spPr>
          <a:xfrm>
            <a:off x="609600" y="37528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3.</a:t>
            </a:r>
          </a:p>
        </p:txBody>
      </p:sp>
      <p:sp>
        <p:nvSpPr>
          <p:cNvPr id="11" name="">
            <a:extLst>
              <a:ext uri="{FF2B5EF4-FFF2-40B4-BE49-F238E27FC236}">
                <ns2:creationId id="{50834E28-49CA-44B2-B93E-18D9D4627CA3}"/>
              </a:ext>
            </a:extLst>
          </p:cNvPr>
          <p:cNvSpPr>
            <a:spLocks noGrp="1"/>
          </p:cNvSpPr>
          <p:nvPr/>
        </p:nvSpPr>
        <p:spPr>
          <a:xfrm>
            <a:off x="1257300" y="37528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Volume Bonus</a:t>
            </a:r>
          </a:p>
        </p:txBody>
      </p:sp>
      <p:sp>
        <p:nvSpPr>
          <p:cNvPr id="12" name="">
            <a:extLst>
              <a:ext uri="{FF2B5EF4-FFF2-40B4-BE49-F238E27FC236}">
                <ns2:creationId id="{5407DF9D-985F-4E8D-8C98-F0B86ED67E9E}"/>
              </a:ext>
            </a:extLst>
          </p:cNvPr>
          <p:cNvSpPr>
            <a:spLocks noGrp="1"/>
          </p:cNvSpPr>
          <p:nvPr/>
        </p:nvSpPr>
        <p:spPr>
          <a:xfrm>
            <a:off x="1257300" y="41624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Qualifizierte Verkäufe der unteren Stufen in der Organisation.</a:t>
            </a:r>
          </a:p>
        </p:txBody>
      </p:sp>
      <p:sp>
        <p:nvSpPr>
          <p:cNvPr id="13" name="">
            <a:extLst>
              <a:ext uri="{FF2B5EF4-FFF2-40B4-BE49-F238E27FC236}">
                <ns2:creationId id="{E9580FA4-DD30-4C4A-BAB0-1DC98066621F}"/>
              </a:ext>
            </a:extLst>
          </p:cNvPr>
          <p:cNvSpPr>
            <a:spLocks noGrp="1"/>
          </p:cNvSpPr>
          <p:nvPr/>
        </p:nvSpPr>
        <p:spPr>
          <a:xfrm>
            <a:off x="609600" y="46482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4.</a:t>
            </a:r>
          </a:p>
        </p:txBody>
      </p:sp>
      <p:sp>
        <p:nvSpPr>
          <p:cNvPr id="14" name="">
            <a:extLst>
              <a:ext uri="{FF2B5EF4-FFF2-40B4-BE49-F238E27FC236}">
                <ns2:creationId id="{E50EC679-BBB4-46B2-81C9-AC16645DB86B}"/>
              </a:ext>
            </a:extLst>
          </p:cNvPr>
          <p:cNvSpPr>
            <a:spLocks noGrp="1"/>
          </p:cNvSpPr>
          <p:nvPr/>
        </p:nvSpPr>
        <p:spPr>
          <a:xfrm>
            <a:off x="1257300" y="46482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Leadership Bonus</a:t>
            </a:r>
          </a:p>
        </p:txBody>
      </p:sp>
      <p:sp>
        <p:nvSpPr>
          <p:cNvPr id="15" name="">
            <a:extLst>
              <a:ext uri="{FF2B5EF4-FFF2-40B4-BE49-F238E27FC236}">
                <ns2:creationId id="{A8964C4B-0C42-4F0F-9058-0454BA2D8106}"/>
              </a:ext>
            </a:extLst>
          </p:cNvPr>
          <p:cNvSpPr>
            <a:spLocks noGrp="1"/>
          </p:cNvSpPr>
          <p:nvPr/>
        </p:nvSpPr>
        <p:spPr>
          <a:xfrm>
            <a:off x="1257300" y="5057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Qualifizierte Managergenerationen und Bedingungen des Plans.</a:t>
            </a:r>
          </a:p>
        </p:txBody>
      </p:sp>
    </p:spTree>
    <p:extLst>
      <p:ext uri="{BB962C8B-B14F-4D97-AF65-F5344CB8AC3E}">
        <ns4:creationId val="992325245"/>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A9AB977B-9D5E-4F10-952B-A0122802EBF9}"/>
              </a:ext>
            </a:extLst>
          </p:cNvPr>
          <p:cNvPicPr>
            <a:picLocks noChangeAspect="1"/>
          </p:cNvPicPr>
          <p:nvPr/>
        </p:nvPicPr>
        <p:blipFill>
          <a:blip r:embed="R5bc897ca9a314817"/>
          <a:stretch/>
        </p:blipFill>
        <p:spPr>
          <a:xfrm>
            <a:off x="9867900" y="276061"/>
            <a:ext cx="1695450" cy="438478"/>
          </a:xfrm>
          <a:prstGeom prst="rect">
            <a:avLst/>
          </a:prstGeom>
        </p:spPr>
      </p:pic>
      <p:sp>
        <p:nvSpPr>
          <p:cNvPr id="2" name="">
            <a:extLst>
              <a:ext uri="{FF2B5EF4-FFF2-40B4-BE49-F238E27FC236}">
                <ns2:creationId id="{E1206217-E73A-4CEB-9B09-737F10EA58F5}"/>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11</a:t>
            </a:r>
          </a:p>
        </p:txBody>
      </p:sp>
      <p:sp>
        <p:nvSpPr>
          <p:cNvPr id="3" name="Titel">
            <a:extLst>
              <a:ext uri="{FF2B5EF4-FFF2-40B4-BE49-F238E27FC236}">
                <ns2:creationId id="{F97FCDE6-31DA-49CD-A3B9-7E9B8A32A524}"/>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Verkaufsstufen</a:t>
            </a:r>
          </a:p>
        </p:txBody>
      </p:sp>
      <p:graphicFrame>
        <p:nvGraphicFramePr>
          <p:cNvPr id="4" name="">
            <a:extLst>
              <a:ext uri="{FF2B5EF4-FFF2-40B4-BE49-F238E27FC236}">
                <ns2:creationId id="{BC47871F-1D3A-4769-8DAA-F613396509F8}"/>
              </a:ext>
            </a:extLst>
          </p:cNvPr>
          <p:cNvGraphicFramePr/>
          <p:nvPr/>
        </p:nvGraphicFramePr>
        <p:xfrm>
          <a:off x="609600" y="2114550"/>
          <a:ext cx="10953750" cy="3171825"/>
        </p:xfrm>
        <a:graphic>
          <a:graphicData uri="http://schemas.openxmlformats.org/drawingml/2006/table">
            <a:tbl>
              <a:tblPr/>
              <a:tblGrid>
                <a:gridCol w="3981450"/>
                <a:gridCol w="6972300"/>
              </a:tblGrid>
              <a:tr h="634365">
                <a:tc>
                  <a:txBody>
                    <a:bodyPr lIns="152400" tIns="133350" rIns="152400" bIns="114300">
                      <a:noAutofit/>
                    </a:bodyPr>
                    <a:lstStyle/>
                    <a:p>
                      <a:r>
                        <a:rPr sz="2025" b="1" lang="de-DE">
                          <a:solidFill>
                            <a:srgbClr val="FFFFFF"/>
                          </a:solidFill>
                          <a:latin typeface="Arial"/>
                          <a:ea typeface="Arial"/>
                          <a:cs typeface="Arial"/>
                        </a:rPr>
                        <a:t>Stufe</a:t>
                      </a:r>
                    </a:p>
                  </a:txBody>
                  <a:tcPr marL="91440" marR="91440" marT="45720" marB="45720">
                    <a:solidFill>
                      <a:srgbClr val="153F36"/>
                    </a:solidFill>
                  </a:tcPr>
                </a:tc>
                <a:tc>
                  <a:txBody>
                    <a:bodyPr lIns="152400" tIns="133350" rIns="152400" bIns="114300">
                      <a:noAutofit/>
                    </a:bodyPr>
                    <a:lstStyle/>
                    <a:p>
                      <a:r>
                        <a:rPr sz="2025" b="1" lang="de-DE">
                          <a:solidFill>
                            <a:srgbClr val="FFFFFF"/>
                          </a:solidFill>
                          <a:latin typeface="Arial"/>
                          <a:ea typeface="Arial"/>
                          <a:cs typeface="Arial"/>
                        </a:rPr>
                        <a:t>Qualifikationsvolumen</a:t>
                      </a:r>
                    </a:p>
                  </a:txBody>
                  <a:tcPr marL="91440" marR="91440" marT="45720" marB="45720">
                    <a:solidFill>
                      <a:srgbClr val="153F36"/>
                    </a:solidFill>
                  </a:tcPr>
                </a:tc>
              </a:tr>
              <a:tr h="634365">
                <a:tc>
                  <a:txBody>
                    <a:bodyPr lIns="152400" tIns="133350" rIns="152400" bIns="114300">
                      <a:noAutofit/>
                    </a:bodyPr>
                    <a:lstStyle/>
                    <a:p>
                      <a:r>
                        <a:rPr sz="2025" b="0" lang="de-DE">
                          <a:solidFill>
                            <a:srgbClr val="153F36"/>
                          </a:solidFill>
                          <a:latin typeface="Arial"/>
                          <a:ea typeface="Arial"/>
                          <a:cs typeface="Arial"/>
                        </a:rPr>
                        <a:t>Assistant Supervisor</a:t>
                      </a:r>
                    </a:p>
                  </a:txBody>
                  <a:tcPr marL="91440" marR="91440" marT="45720" marB="45720">
                    <a:solidFill>
                      <a:srgbClr val="FFFFFF"/>
                    </a:solidFill>
                  </a:tcPr>
                </a:tc>
                <a:tc>
                  <a:txBody>
                    <a:bodyPr lIns="152400" tIns="133350" rIns="152400" bIns="114300">
                      <a:noAutofit/>
                    </a:bodyPr>
                    <a:lstStyle/>
                    <a:p>
                      <a:r>
                        <a:rPr sz="2025" b="0" lang="de-DE">
                          <a:solidFill>
                            <a:srgbClr val="153F36"/>
                          </a:solidFill>
                          <a:latin typeface="Arial"/>
                          <a:ea typeface="Arial"/>
                          <a:cs typeface="Arial"/>
                        </a:rPr>
                        <a:t>2 CC in zwei aufeinanderfolgenden Monaten</a:t>
                      </a:r>
                    </a:p>
                  </a:txBody>
                  <a:tcPr marL="91440" marR="91440" marT="45720" marB="45720">
                    <a:solidFill>
                      <a:srgbClr val="FFFFFF"/>
                    </a:solidFill>
                  </a:tcPr>
                </a:tc>
              </a:tr>
              <a:tr h="634365">
                <a:tc>
                  <a:txBody>
                    <a:bodyPr lIns="152400" tIns="133350" rIns="152400" bIns="114300">
                      <a:noAutofit/>
                    </a:bodyPr>
                    <a:lstStyle/>
                    <a:p>
                      <a:r>
                        <a:rPr sz="2025" b="0" lang="de-DE">
                          <a:solidFill>
                            <a:srgbClr val="153F36"/>
                          </a:solidFill>
                          <a:latin typeface="Arial"/>
                          <a:ea typeface="Arial"/>
                          <a:cs typeface="Arial"/>
                        </a:rPr>
                        <a:t>Supervisor</a:t>
                      </a:r>
                    </a:p>
                  </a:txBody>
                  <a:tcPr marL="91440" marR="91440" marT="45720" marB="45720">
                    <a:solidFill>
                      <a:srgbClr val="F3F7F2"/>
                    </a:solidFill>
                  </a:tcPr>
                </a:tc>
                <a:tc>
                  <a:txBody>
                    <a:bodyPr lIns="152400" tIns="133350" rIns="152400" bIns="114300">
                      <a:noAutofit/>
                    </a:bodyPr>
                    <a:lstStyle/>
                    <a:p>
                      <a:r>
                        <a:rPr sz="2025" b="0" lang="de-DE">
                          <a:solidFill>
                            <a:srgbClr val="153F36"/>
                          </a:solidFill>
                          <a:latin typeface="Arial"/>
                          <a:ea typeface="Arial"/>
                          <a:cs typeface="Arial"/>
                        </a:rPr>
                        <a:t>10 CC, Frist lokal prüfen</a:t>
                      </a:r>
                    </a:p>
                  </a:txBody>
                  <a:tcPr marL="91440" marR="91440" marT="45720" marB="45720">
                    <a:solidFill>
                      <a:srgbClr val="F3F7F2"/>
                    </a:solidFill>
                  </a:tcPr>
                </a:tc>
              </a:tr>
              <a:tr h="634365">
                <a:tc>
                  <a:txBody>
                    <a:bodyPr lIns="152400" tIns="133350" rIns="152400" bIns="114300">
                      <a:noAutofit/>
                    </a:bodyPr>
                    <a:lstStyle/>
                    <a:p>
                      <a:r>
                        <a:rPr sz="2025" b="0" lang="de-DE">
                          <a:solidFill>
                            <a:srgbClr val="153F36"/>
                          </a:solidFill>
                          <a:latin typeface="Arial"/>
                          <a:ea typeface="Arial"/>
                          <a:cs typeface="Arial"/>
                        </a:rPr>
                        <a:t>Assistant Manager</a:t>
                      </a:r>
                    </a:p>
                  </a:txBody>
                  <a:tcPr marL="91440" marR="91440" marT="45720" marB="45720">
                    <a:solidFill>
                      <a:srgbClr val="FFFFFF"/>
                    </a:solidFill>
                  </a:tcPr>
                </a:tc>
                <a:tc>
                  <a:txBody>
                    <a:bodyPr lIns="152400" tIns="133350" rIns="152400" bIns="114300">
                      <a:noAutofit/>
                    </a:bodyPr>
                    <a:lstStyle/>
                    <a:p>
                      <a:r>
                        <a:rPr sz="2025" b="0" lang="de-DE">
                          <a:solidFill>
                            <a:srgbClr val="153F36"/>
                          </a:solidFill>
                          <a:latin typeface="Arial"/>
                          <a:ea typeface="Arial"/>
                          <a:cs typeface="Arial"/>
                        </a:rPr>
                        <a:t>60 CC in zwei aufeinanderfolgenden Monaten</a:t>
                      </a:r>
                    </a:p>
                  </a:txBody>
                  <a:tcPr marL="91440" marR="91440" marT="45720" marB="45720">
                    <a:solidFill>
                      <a:srgbClr val="FFFFFF"/>
                    </a:solidFill>
                  </a:tcPr>
                </a:tc>
              </a:tr>
              <a:tr h="634365">
                <a:tc>
                  <a:txBody>
                    <a:bodyPr lIns="152400" tIns="133350" rIns="152400" bIns="114300">
                      <a:noAutofit/>
                    </a:bodyPr>
                    <a:lstStyle/>
                    <a:p>
                      <a:r>
                        <a:rPr sz="2025" b="0" lang="de-DE">
                          <a:solidFill>
                            <a:srgbClr val="153F36"/>
                          </a:solidFill>
                          <a:latin typeface="Arial"/>
                          <a:ea typeface="Arial"/>
                          <a:cs typeface="Arial"/>
                        </a:rPr>
                        <a:t>Manager</a:t>
                      </a:r>
                    </a:p>
                  </a:txBody>
                  <a:tcPr marL="91440" marR="91440" marT="45720" marB="45720">
                    <a:solidFill>
                      <a:srgbClr val="F3F7F2"/>
                    </a:solidFill>
                  </a:tcPr>
                </a:tc>
                <a:tc>
                  <a:txBody>
                    <a:bodyPr lIns="152400" tIns="133350" rIns="152400" bIns="114300">
                      <a:noAutofit/>
                    </a:bodyPr>
                    <a:lstStyle/>
                    <a:p>
                      <a:r>
                        <a:rPr sz="2025" b="0" lang="de-DE">
                          <a:solidFill>
                            <a:srgbClr val="153F36"/>
                          </a:solidFill>
                          <a:latin typeface="Arial"/>
                          <a:ea typeface="Arial"/>
                          <a:cs typeface="Arial"/>
                        </a:rPr>
                        <a:t>120 CC in 1 oder 2 Mon., oder 150 CC in 3 oder 4 Mon.</a:t>
                      </a:r>
                    </a:p>
                  </a:txBody>
                  <a:tcPr marL="91440" marR="91440" marT="45720" marB="45720">
                    <a:solidFill>
                      <a:srgbClr val="F3F7F2"/>
                    </a:solidFill>
                  </a:tcPr>
                </a:tc>
              </a:tr>
            </a:tbl>
          </a:graphicData>
        </a:graphic>
      </p:graphicFrame>
      <p:sp>
        <p:nvSpPr>
          <p:cNvPr id="5" name="">
            <a:extLst>
              <a:ext uri="{FF2B5EF4-FFF2-40B4-BE49-F238E27FC236}">
                <ns2:creationId id="{9DFB2BCF-6AA8-4740-A837-9F538AEBF00A}"/>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de-DE">
                <a:solidFill>
                  <a:srgbClr val="526B63"/>
                </a:solidFill>
                <a:latin typeface="Arial"/>
                <a:ea typeface="Arial"/>
                <a:cs typeface="Arial"/>
              </a:rPr>
              <a:t>Kroatische Bedingungen. Der Aufstieg richtet sich nach dem anerkannten Produktumsatz.</a:t>
            </a:r>
          </a:p>
        </p:txBody>
      </p:sp>
    </p:spTree>
    <p:extLst>
      <p:ext uri="{BB962C8B-B14F-4D97-AF65-F5344CB8AC3E}">
        <ns4:creationId val="1649879452"/>
      </p:ext>
    </p:extLst>
  </p:cSld>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E97F2449-B0C8-45FF-9BA5-1467F6340A5D}"/>
              </a:ext>
            </a:extLst>
          </p:cNvPr>
          <p:cNvPicPr>
            <a:picLocks noChangeAspect="1"/>
          </p:cNvPicPr>
          <p:nvPr/>
        </p:nvPicPr>
        <p:blipFill>
          <a:blip r:embed="Rc8567ceef5234c8d"/>
          <a:stretch/>
        </p:blipFill>
        <p:spPr>
          <a:xfrm>
            <a:off x="9867900" y="276061"/>
            <a:ext cx="1695450" cy="438478"/>
          </a:xfrm>
          <a:prstGeom prst="rect">
            <a:avLst/>
          </a:prstGeom>
        </p:spPr>
      </p:pic>
      <p:sp>
        <p:nvSpPr>
          <p:cNvPr id="2" name="">
            <a:extLst>
              <a:ext uri="{FF2B5EF4-FFF2-40B4-BE49-F238E27FC236}">
                <ns2:creationId id="{B9FFE9D7-C589-4DAD-A5DC-C4584AC8344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12</a:t>
            </a:r>
          </a:p>
        </p:txBody>
      </p:sp>
      <p:sp>
        <p:nvSpPr>
          <p:cNvPr id="3" name="Titel">
            <a:extLst>
              <a:ext uri="{FF2B5EF4-FFF2-40B4-BE49-F238E27FC236}">
                <ns2:creationId id="{F91E5C4C-3C31-4F72-9B91-81AAABDBF56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Stufe und monatliche Aktivität</a:t>
            </a:r>
          </a:p>
        </p:txBody>
      </p:sp>
      <p:sp>
        <p:nvSpPr>
          <p:cNvPr id="4" name="">
            <a:extLst>
              <a:ext uri="{FF2B5EF4-FFF2-40B4-BE49-F238E27FC236}">
                <ns2:creationId id="{703903BE-E1EA-4755-AF0E-DDC0FD0D2C54}"/>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de-DE">
                <a:solidFill>
                  <a:srgbClr val="153F36"/>
                </a:solidFill>
                <a:latin typeface="Arial"/>
                <a:ea typeface="Arial"/>
                <a:cs typeface="Arial"/>
              </a:rPr>
              <a:t>Erreichte Stufe</a:t>
            </a:r>
          </a:p>
        </p:txBody>
      </p:sp>
      <p:sp>
        <p:nvSpPr>
          <p:cNvPr id="5" name="">
            <a:extLst>
              <a:ext uri="{FF2B5EF4-FFF2-40B4-BE49-F238E27FC236}">
                <ns2:creationId id="{9A996385-7B48-4296-A854-5EB0CE2EE565}"/>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de-DE">
                <a:solidFill>
                  <a:srgbClr val="526B63"/>
                </a:solidFill>
                <a:latin typeface="Arial"/>
                <a:ea typeface="Arial"/>
                <a:cs typeface="Arial"/>
              </a:rPr>
              <a:t>Zeigt die erreichte Verkaufsqualifikation.</a:t>
            </a:r>
          </a:p>
          <a:p>
            <a:r>
              <a:t/>
            </a:r>
          </a:p>
          <a:p>
            <a:pPr>
              <a:defRPr sz="2175" b="0">
                <a:solidFill>
                  <a:srgbClr val="526B63"/>
                </a:solidFill>
                <a:latin typeface="Arial"/>
                <a:ea typeface="Arial"/>
                <a:cs typeface="Arial"/>
              </a:defRPr>
            </a:pPr>
            <a:r>
              <a:rPr sz="2175" b="0" lang="de-DE">
                <a:solidFill>
                  <a:srgbClr val="526B63"/>
                </a:solidFill>
                <a:latin typeface="Arial"/>
                <a:ea typeface="Arial"/>
                <a:cs typeface="Arial"/>
              </a:rPr>
              <a:t>Bestimmte Auszahlungen haben weiterhin monatliche Voraussetzungen.</a:t>
            </a:r>
          </a:p>
        </p:txBody>
      </p:sp>
      <p:sp>
        <p:nvSpPr>
          <p:cNvPr id="6" name="">
            <a:extLst>
              <a:ext uri="{FF2B5EF4-FFF2-40B4-BE49-F238E27FC236}">
                <ns2:creationId id="{77D1FAA2-01AE-4439-AF68-AFF32BA013D3}"/>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de-DE">
                <a:solidFill>
                  <a:srgbClr val="153F36"/>
                </a:solidFill>
                <a:latin typeface="Arial"/>
                <a:ea typeface="Arial"/>
                <a:cs typeface="Arial"/>
              </a:rPr>
              <a:t>Aktivität in Kroatien</a:t>
            </a:r>
          </a:p>
        </p:txBody>
      </p:sp>
      <p:sp>
        <p:nvSpPr>
          <p:cNvPr id="7" name="">
            <a:extLst>
              <a:ext uri="{FF2B5EF4-FFF2-40B4-BE49-F238E27FC236}">
                <ns2:creationId id="{DE9F55C7-C377-46B3-ABD2-90B1875D63BE}"/>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de-DE">
                <a:solidFill>
                  <a:srgbClr val="526B63"/>
                </a:solidFill>
                <a:latin typeface="Arial"/>
                <a:ea typeface="Arial"/>
                <a:cs typeface="Arial"/>
              </a:rPr>
              <a:t>4 CC im Monat, davon mindestens 1 persönlich gekaufter CC.</a:t>
            </a:r>
          </a:p>
          <a:p>
            <a:r>
              <a:t/>
            </a:r>
          </a:p>
          <a:p>
            <a:pPr>
              <a:defRPr sz="2175" b="0">
                <a:solidFill>
                  <a:srgbClr val="526B63"/>
                </a:solidFill>
                <a:latin typeface="Arial"/>
                <a:ea typeface="Arial"/>
                <a:cs typeface="Arial"/>
              </a:defRPr>
            </a:pPr>
            <a:r>
              <a:rPr sz="2175" b="0" lang="de-DE">
                <a:solidFill>
                  <a:srgbClr val="526B63"/>
                </a:solidFill>
                <a:latin typeface="Arial"/>
                <a:ea typeface="Arial"/>
                <a:cs typeface="Arial"/>
              </a:rPr>
              <a:t>Gilt für bestimmte Boni und Qualifikationen.</a:t>
            </a:r>
          </a:p>
        </p:txBody>
      </p:sp>
      <p:sp>
        <p:nvSpPr>
          <p:cNvPr id="8" name="">
            <a:extLst>
              <a:ext uri="{FF2B5EF4-FFF2-40B4-BE49-F238E27FC236}">
                <ns2:creationId id="{FD9B8A60-55C5-4285-811D-8CC7872E0136}"/>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de-DE">
                <a:solidFill>
                  <a:srgbClr val="526B63"/>
                </a:solidFill>
                <a:latin typeface="Arial"/>
                <a:ea typeface="Arial"/>
                <a:cs typeface="Arial"/>
              </a:rPr>
              <a:t>Besprich die Regeln deines Marktes und den Verkaufsplan mit deinem Sponsor oder Manager.</a:t>
            </a:r>
          </a:p>
        </p:txBody>
      </p:sp>
    </p:spTree>
    <p:extLst>
      <p:ext uri="{BB962C8B-B14F-4D97-AF65-F5344CB8AC3E}">
        <ns4:creationId val="1437305113"/>
      </p:ext>
    </p:extLst>
  </p:cSld>
</p:sld>
</file>

<file path=ppt/slides/slide1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7CE17F46-7524-406F-87EF-22855383B637}"/>
              </a:ext>
            </a:extLst>
          </p:cNvPr>
          <p:cNvPicPr>
            <a:picLocks noChangeAspect="1"/>
          </p:cNvPicPr>
          <p:nvPr/>
        </p:nvPicPr>
        <p:blipFill>
          <a:blip r:embed="Rf83108d97d584295"/>
          <a:stretch/>
        </p:blipFill>
        <p:spPr>
          <a:xfrm>
            <a:off x="9867900" y="276061"/>
            <a:ext cx="1695450" cy="438478"/>
          </a:xfrm>
          <a:prstGeom prst="rect">
            <a:avLst/>
          </a:prstGeom>
        </p:spPr>
      </p:pic>
      <p:sp>
        <p:nvSpPr>
          <p:cNvPr id="2" name="">
            <a:extLst>
              <a:ext uri="{FF2B5EF4-FFF2-40B4-BE49-F238E27FC236}">
                <ns2:creationId id="{40911F3A-0291-4E27-930B-9F7571F7C8F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13</a:t>
            </a:r>
          </a:p>
        </p:txBody>
      </p:sp>
      <p:sp>
        <p:nvSpPr>
          <p:cNvPr id="3" name="Titel">
            <a:extLst>
              <a:ext uri="{FF2B5EF4-FFF2-40B4-BE49-F238E27FC236}">
                <ns2:creationId id="{EC120288-5F29-45BC-8AC5-7E6A97B0B8D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Möglichkeiten zur Weiterentwicklung</a:t>
            </a:r>
          </a:p>
        </p:txBody>
      </p:sp>
      <p:sp>
        <p:nvSpPr>
          <p:cNvPr id="4" name="">
            <a:extLst>
              <a:ext uri="{FF2B5EF4-FFF2-40B4-BE49-F238E27FC236}">
                <ns2:creationId id="{941C9B93-C75E-4126-A8E8-C4081A9BAE11}"/>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1.</a:t>
            </a:r>
          </a:p>
        </p:txBody>
      </p:sp>
      <p:sp>
        <p:nvSpPr>
          <p:cNvPr id="5" name="">
            <a:extLst>
              <a:ext uri="{FF2B5EF4-FFF2-40B4-BE49-F238E27FC236}">
                <ns2:creationId id="{73D521F0-969B-4577-8CDA-78D20D152E22}"/>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Forever2Drive</a:t>
            </a:r>
          </a:p>
        </p:txBody>
      </p:sp>
      <p:sp>
        <p:nvSpPr>
          <p:cNvPr id="6" name="">
            <a:extLst>
              <a:ext uri="{FF2B5EF4-FFF2-40B4-BE49-F238E27FC236}">
                <ns2:creationId id="{ACF17F9F-E8A8-40BE-883F-DDC4827BF5EB}"/>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Förderung bei Qualifikation und Einhaltung der Bedingungen.</a:t>
            </a:r>
          </a:p>
        </p:txBody>
      </p:sp>
      <p:sp>
        <p:nvSpPr>
          <p:cNvPr id="7" name="">
            <a:extLst>
              <a:ext uri="{FF2B5EF4-FFF2-40B4-BE49-F238E27FC236}">
                <ns2:creationId id="{359B9063-6C13-4CE2-BCD9-9BD3727E9FED}"/>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2.</a:t>
            </a:r>
          </a:p>
        </p:txBody>
      </p:sp>
      <p:sp>
        <p:nvSpPr>
          <p:cNvPr id="8" name="">
            <a:extLst>
              <a:ext uri="{FF2B5EF4-FFF2-40B4-BE49-F238E27FC236}">
                <ns2:creationId id="{75478720-3A7B-4E47-9017-69248B3E4C2D}"/>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Eagle Manager</a:t>
            </a:r>
          </a:p>
        </p:txBody>
      </p:sp>
      <p:sp>
        <p:nvSpPr>
          <p:cNvPr id="9" name="">
            <a:extLst>
              <a:ext uri="{FF2B5EF4-FFF2-40B4-BE49-F238E27FC236}">
                <ns2:creationId id="{57C824BA-1407-4003-AE3E-95F40257C3D7}"/>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Entwicklung von Menschen, Vertriebsorganisation und Qualifikationen.</a:t>
            </a:r>
          </a:p>
        </p:txBody>
      </p:sp>
      <p:sp>
        <p:nvSpPr>
          <p:cNvPr id="10" name="">
            <a:extLst>
              <a:ext uri="{FF2B5EF4-FFF2-40B4-BE49-F238E27FC236}">
                <ns2:creationId id="{C7DEDA4A-108F-4739-BF5B-CB0EC39ED372}"/>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3.</a:t>
            </a:r>
          </a:p>
        </p:txBody>
      </p:sp>
      <p:sp>
        <p:nvSpPr>
          <p:cNvPr id="11" name="">
            <a:extLst>
              <a:ext uri="{FF2B5EF4-FFF2-40B4-BE49-F238E27FC236}">
                <ns2:creationId id="{FC77939D-3BE0-48FF-BD9E-9E2DA6EB9D4D}"/>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Global Rally</a:t>
            </a:r>
          </a:p>
        </p:txBody>
      </p:sp>
      <p:sp>
        <p:nvSpPr>
          <p:cNvPr id="12" name="">
            <a:extLst>
              <a:ext uri="{FF2B5EF4-FFF2-40B4-BE49-F238E27FC236}">
                <ns2:creationId id="{9D0D43DD-DCED-4D9D-A8DF-DF03C8EDE1E3}"/>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Jährliche Qualifikation anhand anerkannter CC.</a:t>
            </a:r>
          </a:p>
        </p:txBody>
      </p:sp>
      <p:sp>
        <p:nvSpPr>
          <p:cNvPr id="13" name="">
            <a:extLst>
              <a:ext uri="{FF2B5EF4-FFF2-40B4-BE49-F238E27FC236}">
                <ns2:creationId id="{0DE06633-3104-4D5D-AFC2-6DD58A379127}"/>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4.</a:t>
            </a:r>
          </a:p>
        </p:txBody>
      </p:sp>
      <p:sp>
        <p:nvSpPr>
          <p:cNvPr id="14" name="">
            <a:extLst>
              <a:ext uri="{FF2B5EF4-FFF2-40B4-BE49-F238E27FC236}">
                <ns2:creationId id="{7181DCFD-1327-4AEA-A125-DB42B98E41DD}"/>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Chairman’s Bonus</a:t>
            </a:r>
          </a:p>
        </p:txBody>
      </p:sp>
      <p:sp>
        <p:nvSpPr>
          <p:cNvPr id="15" name="">
            <a:extLst>
              <a:ext uri="{FF2B5EF4-FFF2-40B4-BE49-F238E27FC236}">
                <ns2:creationId id="{0FC1322E-D4F3-4F90-B54D-8742B0118D65}"/>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Erweiterte Qualifikation und Anteile am Bonusfonds.</a:t>
            </a:r>
          </a:p>
        </p:txBody>
      </p:sp>
    </p:spTree>
    <p:extLst>
      <p:ext uri="{BB962C8B-B14F-4D97-AF65-F5344CB8AC3E}">
        <ns4:creationId val="237719923"/>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8" name="">
            <a:extLst>
              <a:ext uri="{FF2B5EF4-FFF2-40B4-BE49-F238E27FC236}">
                <ns2:creationId id="{F113DD45-36D4-4DA6-8B79-68B74FBB84D7}"/>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de-DE">
                <a:solidFill>
                  <a:srgbClr val="D4E8DD"/>
                </a:solidFill>
                <a:latin typeface="Arial"/>
                <a:ea typeface="Arial"/>
                <a:cs typeface="Arial"/>
              </a:rPr>
              <a:t>14</a:t>
            </a:r>
          </a:p>
        </p:txBody>
      </p:sp>
      <p:sp>
        <p:nvSpPr>
          <p:cNvPr id="2" name="Titel">
            <a:extLst>
              <a:ext uri="{FF2B5EF4-FFF2-40B4-BE49-F238E27FC236}">
                <ns2:creationId id="{CAA3B91D-F917-4DA2-B226-01A327BB4928}"/>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FFFFFF"/>
                </a:solidFill>
                <a:latin typeface="Arial"/>
                <a:ea typeface="Arial"/>
                <a:cs typeface="Arial"/>
              </a:defRPr>
            </a:defPPr>
          </a:lstStyle>
          <a:p>
            <a:pPr>
              <a:defRPr sz="3600" b="1">
                <a:solidFill>
                  <a:srgbClr val="FFFFFF"/>
                </a:solidFill>
                <a:latin typeface="Arial"/>
                <a:ea typeface="Arial"/>
                <a:cs typeface="Arial"/>
              </a:defRPr>
            </a:pPr>
            <a:r>
              <a:rPr sz="3600" b="1" lang="de-DE">
                <a:solidFill>
                  <a:srgbClr val="FFFFFF"/>
                </a:solidFill>
                <a:latin typeface="Arial"/>
                <a:ea typeface="Arial"/>
                <a:cs typeface="Arial"/>
              </a:rPr>
              <a:t>Forever und FCC: die Aufgaben</a:t>
            </a:r>
          </a:p>
        </p:txBody>
      </p:sp>
      <p:sp>
        <p:nvSpPr>
          <p:cNvPr id="3" name="">
            <a:extLst>
              <a:ext uri="{FF2B5EF4-FFF2-40B4-BE49-F238E27FC236}">
                <ns2:creationId id="{87010EBA-D139-47AC-B90D-AEF1B6E02C00}"/>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FFFFFF"/>
                </a:solidFill>
                <a:latin typeface="Arial"/>
                <a:ea typeface="Arial"/>
                <a:cs typeface="Arial"/>
              </a:defRPr>
            </a:defPPr>
          </a:lstStyle>
          <a:p>
            <a:pPr>
              <a:defRPr sz="2625" b="1">
                <a:solidFill>
                  <a:srgbClr val="FFFFFF"/>
                </a:solidFill>
                <a:latin typeface="Arial"/>
                <a:ea typeface="Arial"/>
                <a:cs typeface="Arial"/>
              </a:defRPr>
            </a:pPr>
            <a:r>
              <a:rPr sz="2625" b="1" lang="de-DE">
                <a:solidFill>
                  <a:srgbClr val="FFFFFF"/>
                </a:solidFill>
                <a:latin typeface="Arial"/>
                <a:ea typeface="Arial"/>
                <a:cs typeface="Arial"/>
              </a:rPr>
              <a:t>Forever</a:t>
            </a:r>
          </a:p>
        </p:txBody>
      </p:sp>
      <p:sp>
        <p:nvSpPr>
          <p:cNvPr id="4" name="">
            <a:extLst>
              <a:ext uri="{FF2B5EF4-FFF2-40B4-BE49-F238E27FC236}">
                <ns2:creationId id="{5D9D1F61-7188-45FC-9FBB-33255E60669E}"/>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D4E8DD"/>
                </a:solidFill>
                <a:latin typeface="Arial"/>
                <a:ea typeface="Arial"/>
                <a:cs typeface="Arial"/>
              </a:defRPr>
            </a:defPPr>
          </a:lstStyle>
          <a:p>
            <a:pPr>
              <a:defRPr sz="2175" b="0">
                <a:solidFill>
                  <a:srgbClr val="D4E8DD"/>
                </a:solidFill>
                <a:latin typeface="Arial"/>
                <a:ea typeface="Arial"/>
                <a:cs typeface="Arial"/>
              </a:defRPr>
            </a:pPr>
            <a:r>
              <a:rPr sz="2175" b="0" lang="de-DE">
                <a:solidFill>
                  <a:srgbClr val="D4E8DD"/>
                </a:solidFill>
                <a:latin typeface="Arial"/>
                <a:ea typeface="Arial"/>
                <a:cs typeface="Arial"/>
              </a:rPr>
              <a:t>Produkte, offizieller Kauf, Vertriebsrichtlinien und Abrechnung.</a:t>
            </a:r>
          </a:p>
        </p:txBody>
      </p:sp>
      <p:sp>
        <p:nvSpPr>
          <p:cNvPr id="5" name="">
            <a:extLst>
              <a:ext uri="{FF2B5EF4-FFF2-40B4-BE49-F238E27FC236}">
                <ns2:creationId id="{F68DF54D-E5BD-4144-BF02-CF641CC1EC3A}"/>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FFFFFF"/>
                </a:solidFill>
                <a:latin typeface="Arial"/>
                <a:ea typeface="Arial"/>
                <a:cs typeface="Arial"/>
              </a:defRPr>
            </a:defPPr>
          </a:lstStyle>
          <a:p>
            <a:pPr>
              <a:defRPr sz="2625" b="1">
                <a:solidFill>
                  <a:srgbClr val="FFFFFF"/>
                </a:solidFill>
                <a:latin typeface="Arial"/>
                <a:ea typeface="Arial"/>
                <a:cs typeface="Arial"/>
              </a:defRPr>
            </a:pPr>
            <a:r>
              <a:rPr sz="2625" b="1" lang="de-DE">
                <a:solidFill>
                  <a:srgbClr val="FFFFFF"/>
                </a:solidFill>
                <a:latin typeface="Arial"/>
                <a:ea typeface="Arial"/>
                <a:cs typeface="Arial"/>
              </a:rPr>
              <a:t>Forever Card Club</a:t>
            </a:r>
          </a:p>
        </p:txBody>
      </p:sp>
      <p:sp>
        <p:nvSpPr>
          <p:cNvPr id="6" name="">
            <a:extLst>
              <a:ext uri="{FF2B5EF4-FFF2-40B4-BE49-F238E27FC236}">
                <ns2:creationId id="{FBAF949A-07D7-451F-B687-7E2C03D536B3}"/>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D4E8DD"/>
                </a:solidFill>
                <a:latin typeface="Arial"/>
                <a:ea typeface="Arial"/>
                <a:cs typeface="Arial"/>
              </a:defRPr>
            </a:defPPr>
          </a:lstStyle>
          <a:p>
            <a:pPr>
              <a:defRPr sz="2175" b="0">
                <a:solidFill>
                  <a:srgbClr val="D4E8DD"/>
                </a:solidFill>
                <a:latin typeface="Arial"/>
                <a:ea typeface="Arial"/>
                <a:cs typeface="Arial"/>
              </a:defRPr>
            </a:pPr>
            <a:r>
              <a:rPr sz="2175" b="0" lang="de-DE">
                <a:solidFill>
                  <a:srgbClr val="D4E8DD"/>
                </a:solidFill>
                <a:latin typeface="Arial"/>
                <a:ea typeface="Arial"/>
                <a:cs typeface="Arial"/>
              </a:rPr>
              <a:t>Dein Arbeitsbereich für Empfehlungen, Kontakte, Schulung und Unterstützung.</a:t>
            </a:r>
          </a:p>
        </p:txBody>
      </p:sp>
      <p:sp>
        <p:nvSpPr>
          <p:cNvPr id="7" name="">
            <a:extLst>
              <a:ext uri="{FF2B5EF4-FFF2-40B4-BE49-F238E27FC236}">
                <ns2:creationId id="{E0555F00-9647-448C-9424-76B402954AD8}"/>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D4E8DD"/>
                </a:solidFill>
                <a:latin typeface="Arial"/>
                <a:ea typeface="Arial"/>
                <a:cs typeface="Arial"/>
              </a:defRPr>
            </a:defPPr>
          </a:lstStyle>
          <a:p>
            <a:pPr>
              <a:defRPr sz="1650" b="0">
                <a:solidFill>
                  <a:srgbClr val="D4E8DD"/>
                </a:solidFill>
                <a:latin typeface="Arial"/>
                <a:ea typeface="Arial"/>
                <a:cs typeface="Arial"/>
              </a:defRPr>
            </a:pPr>
            <a:r>
              <a:rPr sz="1650" b="0" lang="de-DE">
                <a:solidFill>
                  <a:srgbClr val="D4E8DD"/>
                </a:solidFill>
                <a:latin typeface="Arial"/>
                <a:ea typeface="Arial"/>
                <a:cs typeface="Arial"/>
              </a:rPr>
              <a:t>FCC ist ein unabhängiges System unseres Teams und keine offizielle Forever App.</a:t>
            </a:r>
          </a:p>
        </p:txBody>
      </p:sp>
    </p:spTree>
    <p:extLst>
      <p:ext uri="{BB962C8B-B14F-4D97-AF65-F5344CB8AC3E}">
        <ns3:creationId val="126074295"/>
      </p:ext>
    </p:extLst>
  </p:cSld>
</p:sld>
</file>

<file path=ppt/slides/slide1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101BC16A-314B-4D63-87BE-75099EBE651E}"/>
              </a:ext>
            </a:extLst>
          </p:cNvPr>
          <p:cNvPicPr>
            <a:picLocks noChangeAspect="1"/>
          </p:cNvPicPr>
          <p:nvPr/>
        </p:nvPicPr>
        <p:blipFill>
          <a:blip r:embed="R96ec4f327d4d4f96"/>
          <a:stretch/>
        </p:blipFill>
        <p:spPr>
          <a:xfrm>
            <a:off x="9867900" y="276061"/>
            <a:ext cx="1695450" cy="438478"/>
          </a:xfrm>
          <a:prstGeom prst="rect">
            <a:avLst/>
          </a:prstGeom>
        </p:spPr>
      </p:pic>
      <p:sp>
        <p:nvSpPr>
          <p:cNvPr id="2" name="">
            <a:extLst>
              <a:ext uri="{FF2B5EF4-FFF2-40B4-BE49-F238E27FC236}">
                <ns2:creationId id="{96C0FEC2-0597-4F16-BB30-8FE640BEF54C}"/>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15</a:t>
            </a:r>
          </a:p>
        </p:txBody>
      </p:sp>
      <p:sp>
        <p:nvSpPr>
          <p:cNvPr id="3" name="Titel">
            <a:extLst>
              <a:ext uri="{FF2B5EF4-FFF2-40B4-BE49-F238E27FC236}">
                <ns2:creationId id="{C4C47A17-4BAE-477D-A7D2-C5494BB1831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Deine digitale Karte</a:t>
            </a:r>
          </a:p>
        </p:txBody>
      </p:sp>
      <p:sp>
        <p:nvSpPr>
          <p:cNvPr id="4" name="">
            <a:extLst>
              <a:ext uri="{FF2B5EF4-FFF2-40B4-BE49-F238E27FC236}">
                <ns2:creationId id="{DE9E9B70-73E3-471A-B7FE-01385382147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de-DE">
                <a:solidFill>
                  <a:srgbClr val="148977"/>
                </a:solidFill>
                <a:latin typeface="Arial"/>
                <a:ea typeface="Arial"/>
                <a:cs typeface="Arial"/>
              </a:rPr>
              <a:t>1.</a:t>
            </a:r>
          </a:p>
        </p:txBody>
      </p:sp>
      <p:sp>
        <p:nvSpPr>
          <p:cNvPr id="5" name="">
            <a:extLst>
              <a:ext uri="{FF2B5EF4-FFF2-40B4-BE49-F238E27FC236}">
                <ns2:creationId id="{EA5D95E4-3717-4599-8D18-236CE754C736}"/>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de-DE">
                <a:solidFill>
                  <a:srgbClr val="153F36"/>
                </a:solidFill>
                <a:latin typeface="Arial"/>
                <a:ea typeface="Arial"/>
                <a:cs typeface="Arial"/>
              </a:rPr>
              <a:t>Persönlicher Kontakt</a:t>
            </a:r>
          </a:p>
        </p:txBody>
      </p:sp>
      <p:sp>
        <p:nvSpPr>
          <p:cNvPr id="6" name="">
            <a:extLst>
              <a:ext uri="{FF2B5EF4-FFF2-40B4-BE49-F238E27FC236}">
                <ns2:creationId id="{3C52910B-BE23-448E-BCE0-7FCB4EBEA6D6}"/>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Name, Foto und eine Möglichkeit, dich zu kontaktieren.</a:t>
            </a:r>
          </a:p>
        </p:txBody>
      </p:sp>
      <p:sp>
        <p:nvSpPr>
          <p:cNvPr id="7" name="">
            <a:extLst>
              <a:ext uri="{FF2B5EF4-FFF2-40B4-BE49-F238E27FC236}">
                <ns2:creationId id="{87157C25-E8A9-4655-80D1-71405D608FB7}"/>
              </a:ext>
            </a:extLst>
          </p:cNvPr>
          <p:cNvSpPr>
            <a:spLocks noGrp="1"/>
          </p:cNvSpPr>
          <p:nvPr/>
        </p:nvSpPr>
        <p:spPr>
          <a:xfrm>
            <a:off x="609600" y="309562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de-DE">
                <a:solidFill>
                  <a:srgbClr val="148977"/>
                </a:solidFill>
                <a:latin typeface="Arial"/>
                <a:ea typeface="Arial"/>
                <a:cs typeface="Arial"/>
              </a:rPr>
              <a:t>2.</a:t>
            </a:r>
          </a:p>
        </p:txBody>
      </p:sp>
      <p:sp>
        <p:nvSpPr>
          <p:cNvPr id="8" name="">
            <a:extLst>
              <a:ext uri="{FF2B5EF4-FFF2-40B4-BE49-F238E27FC236}">
                <ns2:creationId id="{09DDF819-9E51-4A20-8401-B97FBA911693}"/>
              </a:ext>
            </a:extLst>
          </p:cNvPr>
          <p:cNvSpPr>
            <a:spLocks noGrp="1"/>
          </p:cNvSpPr>
          <p:nvPr/>
        </p:nvSpPr>
        <p:spPr>
          <a:xfrm>
            <a:off x="1257300" y="309562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de-DE">
                <a:solidFill>
                  <a:srgbClr val="153F36"/>
                </a:solidFill>
                <a:latin typeface="Arial"/>
                <a:ea typeface="Arial"/>
                <a:cs typeface="Arial"/>
              </a:rPr>
              <a:t>Nützliche Inhalte</a:t>
            </a:r>
          </a:p>
        </p:txBody>
      </p:sp>
      <p:sp>
        <p:nvSpPr>
          <p:cNvPr id="9" name="">
            <a:extLst>
              <a:ext uri="{FF2B5EF4-FFF2-40B4-BE49-F238E27FC236}">
                <ns2:creationId id="{BD50225C-D510-4BFD-809A-B44813DEDCE5}"/>
              </a:ext>
            </a:extLst>
          </p:cNvPr>
          <p:cNvSpPr>
            <a:spLocks noGrp="1"/>
          </p:cNvSpPr>
          <p:nvPr/>
        </p:nvSpPr>
        <p:spPr>
          <a:xfrm>
            <a:off x="1257300" y="3505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Produkte und Geschäftsinformationen, die du teilen möchtest.</a:t>
            </a:r>
          </a:p>
        </p:txBody>
      </p:sp>
      <p:sp>
        <p:nvSpPr>
          <p:cNvPr id="10" name="">
            <a:extLst>
              <a:ext uri="{FF2B5EF4-FFF2-40B4-BE49-F238E27FC236}">
                <ns2:creationId id="{9E10415B-E2F5-4078-8A2C-FD1B2869469C}"/>
              </a:ext>
            </a:extLst>
          </p:cNvPr>
          <p:cNvSpPr>
            <a:spLocks noGrp="1"/>
          </p:cNvSpPr>
          <p:nvPr/>
        </p:nvSpPr>
        <p:spPr>
          <a:xfrm>
            <a:off x="609600" y="42291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de-DE">
                <a:solidFill>
                  <a:srgbClr val="148977"/>
                </a:solidFill>
                <a:latin typeface="Arial"/>
                <a:ea typeface="Arial"/>
                <a:cs typeface="Arial"/>
              </a:rPr>
              <a:t>3.</a:t>
            </a:r>
          </a:p>
        </p:txBody>
      </p:sp>
      <p:sp>
        <p:nvSpPr>
          <p:cNvPr id="11" name="">
            <a:extLst>
              <a:ext uri="{FF2B5EF4-FFF2-40B4-BE49-F238E27FC236}">
                <ns2:creationId id="{01B69A65-A2D9-4BED-93F5-6FE4434AFD3B}"/>
              </a:ext>
            </a:extLst>
          </p:cNvPr>
          <p:cNvSpPr>
            <a:spLocks noGrp="1"/>
          </p:cNvSpPr>
          <p:nvPr/>
        </p:nvSpPr>
        <p:spPr>
          <a:xfrm>
            <a:off x="1257300" y="42291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de-DE">
                <a:solidFill>
                  <a:srgbClr val="153F36"/>
                </a:solidFill>
                <a:latin typeface="Arial"/>
                <a:ea typeface="Arial"/>
                <a:cs typeface="Arial"/>
              </a:rPr>
              <a:t>Forever Webshop</a:t>
            </a:r>
          </a:p>
        </p:txBody>
      </p:sp>
      <p:sp>
        <p:nvSpPr>
          <p:cNvPr id="12" name="">
            <a:extLst>
              <a:ext uri="{FF2B5EF4-FFF2-40B4-BE49-F238E27FC236}">
                <ns2:creationId id="{D2CB6E9D-15B6-4BE1-97AF-B7FD2905CACC}"/>
              </a:ext>
            </a:extLst>
          </p:cNvPr>
          <p:cNvSpPr>
            <a:spLocks noGrp="1"/>
          </p:cNvSpPr>
          <p:nvPr/>
        </p:nvSpPr>
        <p:spPr>
          <a:xfrm>
            <a:off x="1257300" y="46386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Eine Empfehlung mit deiner Forever ID Nummer.</a:t>
            </a:r>
          </a:p>
        </p:txBody>
      </p:sp>
      <p:sp>
        <p:nvSpPr>
          <p:cNvPr id="13" name="">
            <a:extLst>
              <a:ext uri="{FF2B5EF4-FFF2-40B4-BE49-F238E27FC236}">
                <ns2:creationId id="{A0B246FC-D94D-416D-BD28-5AF3DCBEB6D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de-DE">
                <a:solidFill>
                  <a:srgbClr val="526B63"/>
                </a:solidFill>
                <a:latin typeface="Arial"/>
                <a:ea typeface="Arial"/>
                <a:cs typeface="Arial"/>
              </a:rPr>
              <a:t>Bearbeite die Karte unter Meine Karte und teile sie über deinen persönlichen Link.</a:t>
            </a:r>
          </a:p>
        </p:txBody>
      </p:sp>
    </p:spTree>
    <p:extLst>
      <p:ext uri="{BB962C8B-B14F-4D97-AF65-F5344CB8AC3E}">
        <ns4:creationId val="476486187"/>
      </p:ext>
    </p:extLst>
  </p:cSld>
</p:sld>
</file>

<file path=ppt/slides/slide1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3AC82866-4F1A-473C-B145-078052CC4BB7}"/>
              </a:ext>
            </a:extLst>
          </p:cNvPr>
          <p:cNvPicPr>
            <a:picLocks noChangeAspect="1"/>
          </p:cNvPicPr>
          <p:nvPr/>
        </p:nvPicPr>
        <p:blipFill>
          <a:blip r:embed="Rc17e468844c54e84"/>
          <a:stretch/>
        </p:blipFill>
        <p:spPr>
          <a:xfrm>
            <a:off x="9867900" y="276061"/>
            <a:ext cx="1695450" cy="438478"/>
          </a:xfrm>
          <a:prstGeom prst="rect">
            <a:avLst/>
          </a:prstGeom>
        </p:spPr>
      </p:pic>
      <p:sp>
        <p:nvSpPr>
          <p:cNvPr id="2" name="">
            <a:extLst>
              <a:ext uri="{FF2B5EF4-FFF2-40B4-BE49-F238E27FC236}">
                <ns2:creationId id="{70619AB1-E169-480F-B897-BB94CF101CC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16</a:t>
            </a:r>
          </a:p>
        </p:txBody>
      </p:sp>
      <p:sp>
        <p:nvSpPr>
          <p:cNvPr id="3" name="Titel">
            <a:extLst>
              <a:ext uri="{FF2B5EF4-FFF2-40B4-BE49-F238E27FC236}">
                <ns2:creationId id="{2F32543F-6D32-4352-8392-5F2ECBEDC6A8}"/>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Ein Produkt empfehlen</a:t>
            </a:r>
          </a:p>
        </p:txBody>
      </p:sp>
      <p:sp>
        <p:nvSpPr>
          <p:cNvPr id="4" name="">
            <a:extLst>
              <a:ext uri="{FF2B5EF4-FFF2-40B4-BE49-F238E27FC236}">
                <ns2:creationId id="{0F8C843F-A45D-45FF-AF7C-9289C1804CAF}"/>
              </a:ext>
            </a:extLst>
          </p:cNvPr>
          <p:cNvSpPr>
            <a:spLocks noGrp="1"/>
          </p:cNvSpPr>
          <p:nvPr/>
        </p:nvSpPr>
        <p:spPr>
          <a:xfrm>
            <a:off x="609600" y="2152650"/>
            <a:ext cx="5810250" cy="2543175"/>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de-DE">
                <a:solidFill>
                  <a:srgbClr val="153F36"/>
                </a:solidFill>
                <a:latin typeface="Arial"/>
                <a:ea typeface="Arial"/>
                <a:cs typeface="Arial"/>
              </a:rPr>
              <a:t>Wähle ein Produkt.</a:t>
            </a:r>
          </a:p>
          <a:p>
            <a:pPr>
              <a:defRPr sz="3150" b="1">
                <a:solidFill>
                  <a:srgbClr val="153F36"/>
                </a:solidFill>
                <a:latin typeface="Arial"/>
                <a:ea typeface="Arial"/>
                <a:cs typeface="Arial"/>
              </a:defRPr>
            </a:pPr>
            <a:r>
              <a:rPr sz="3150" b="1" lang="de-DE">
                <a:solidFill>
                  <a:srgbClr val="153F36"/>
                </a:solidFill>
                <a:latin typeface="Arial"/>
                <a:ea typeface="Arial"/>
                <a:cs typeface="Arial"/>
              </a:rPr>
              <a:t>Passe die Nachricht an.</a:t>
            </a:r>
          </a:p>
          <a:p>
            <a:pPr>
              <a:defRPr sz="3150" b="1">
                <a:solidFill>
                  <a:srgbClr val="153F36"/>
                </a:solidFill>
                <a:latin typeface="Arial"/>
                <a:ea typeface="Arial"/>
                <a:cs typeface="Arial"/>
              </a:defRPr>
            </a:pPr>
            <a:r>
              <a:rPr sz="3150" b="1" lang="de-DE">
                <a:solidFill>
                  <a:srgbClr val="153F36"/>
                </a:solidFill>
                <a:latin typeface="Arial"/>
                <a:ea typeface="Arial"/>
                <a:cs typeface="Arial"/>
              </a:rPr>
              <a:t>Teile deine</a:t>
            </a:r>
          </a:p>
          <a:p>
            <a:pPr>
              <a:defRPr sz="3150" b="1">
                <a:solidFill>
                  <a:srgbClr val="153F36"/>
                </a:solidFill>
                <a:latin typeface="Arial"/>
                <a:ea typeface="Arial"/>
                <a:cs typeface="Arial"/>
              </a:defRPr>
            </a:pPr>
            <a:r>
              <a:rPr sz="3150" b="1" lang="de-DE">
                <a:solidFill>
                  <a:srgbClr val="153F36"/>
                </a:solidFill>
                <a:latin typeface="Arial"/>
                <a:ea typeface="Arial"/>
                <a:cs typeface="Arial"/>
              </a:rPr>
              <a:t>Empfehlung.</a:t>
            </a:r>
          </a:p>
        </p:txBody>
      </p:sp>
      <p:sp>
        <p:nvSpPr>
          <p:cNvPr id="5" name="">
            <a:extLst>
              <a:ext uri="{FF2B5EF4-FFF2-40B4-BE49-F238E27FC236}">
                <ns2:creationId id="{9618F7B4-8815-4E7A-9AA5-F7752A962CA8}"/>
              </a:ext>
            </a:extLst>
          </p:cNvPr>
          <p:cNvSpPr>
            <a:spLocks noGrp="1"/>
          </p:cNvSpPr>
          <p:nvPr/>
        </p:nvSpPr>
        <p:spPr>
          <a:xfrm>
            <a:off x="609600" y="4962525"/>
            <a:ext cx="5505450" cy="1104900"/>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de-DE">
                <a:solidFill>
                  <a:srgbClr val="526B63"/>
                </a:solidFill>
                <a:latin typeface="Arial"/>
                <a:ea typeface="Arial"/>
                <a:cs typeface="Arial"/>
              </a:rPr>
              <a:t>Der Kauf wird im offiziellen Shop des ausgewählten Marktes abgeschlossen.</a:t>
            </a:r>
          </a:p>
        </p:txBody>
      </p:sp>
      <p:pic>
        <p:nvPicPr>
          <p:cNvPr id="6" name="">
            <a:extLst>
              <a:ext uri="{FF2B5EF4-FFF2-40B4-BE49-F238E27FC236}">
                <ns2:creationId id="{39976A63-FB8D-4AF1-9CE1-E346A83FF05D}"/>
              </a:ext>
            </a:extLst>
          </p:cNvPr>
          <p:cNvPicPr>
            <a:picLocks noChangeAspect="1"/>
          </p:cNvPicPr>
          <p:nvPr/>
        </p:nvPicPr>
        <p:blipFill>
          <a:blip r:embed="R94ff2c7901084e46"/>
          <a:srcRect l="19844" t="9722" r="55156" b="28472"/>
          <a:stretch/>
        </p:blipFill>
        <p:spPr>
          <a:xfrm>
            <a:off x="7286625" y="1695450"/>
            <a:ext cx="3714750" cy="5124450"/>
          </a:xfrm>
          <a:prstGeom prst="rect">
            <a:avLst/>
          </a:prstGeom>
        </p:spPr>
      </p:pic>
      <p:sp>
        <p:nvSpPr>
          <p:cNvPr id="8" name="Interface example"/>
          <p:cNvSpPr>
            <a:spLocks noGrp="1"/>
          </p:cNvSpPr>
          <p:nvPr/>
        </p:nvSpPr>
        <p:spPr>
          <a:xfrm>
            <a:off x="609600" y="6238875"/>
            <a:ext cx="619125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de-DE" dirty="0">
                <a:solidFill>
                  <a:srgbClr val="526B63"/>
                </a:solidFill>
                <a:latin typeface="Arial"/>
              </a:rPr>
              <a:t>Beispiel der kroatischen FCC Oberfläche.</a:t>
            </a:r>
          </a:p>
        </p:txBody>
      </p:sp>
    </p:spTree>
    <p:extLst>
      <p:ext uri="{BB962C8B-B14F-4D97-AF65-F5344CB8AC3E}">
        <ns4:creationId val="881719525"/>
      </p:ext>
    </p:extLst>
  </p:cSld>
</p:sld>
</file>

<file path=ppt/slides/slide1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F86D17C0-D7F3-45EA-967D-967E55EE8F83}"/>
              </a:ext>
            </a:extLst>
          </p:cNvPr>
          <p:cNvPicPr>
            <a:picLocks noChangeAspect="1"/>
          </p:cNvPicPr>
          <p:nvPr/>
        </p:nvPicPr>
        <p:blipFill>
          <a:blip r:embed="R595a642bf0454749"/>
          <a:stretch/>
        </p:blipFill>
        <p:spPr>
          <a:xfrm>
            <a:off x="9867900" y="276061"/>
            <a:ext cx="1695450" cy="438478"/>
          </a:xfrm>
          <a:prstGeom prst="rect">
            <a:avLst/>
          </a:prstGeom>
        </p:spPr>
      </p:pic>
      <p:sp>
        <p:nvSpPr>
          <p:cNvPr id="2" name="">
            <a:extLst>
              <a:ext uri="{FF2B5EF4-FFF2-40B4-BE49-F238E27FC236}">
                <ns2:creationId id="{4CEB6670-C2AA-4467-91EC-97E39F1D73FA}"/>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17</a:t>
            </a:r>
          </a:p>
        </p:txBody>
      </p:sp>
      <p:sp>
        <p:nvSpPr>
          <p:cNvPr id="3" name="Titel">
            <a:extLst>
              <a:ext uri="{FF2B5EF4-FFF2-40B4-BE49-F238E27FC236}">
                <ns2:creationId id="{40317049-7FB1-4A36-BA93-DFB89F66E1F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Geschäftliche Zusammenarbeit und Startpaket</a:t>
            </a:r>
          </a:p>
        </p:txBody>
      </p:sp>
      <p:sp>
        <p:nvSpPr>
          <p:cNvPr id="4" name="">
            <a:extLst>
              <a:ext uri="{FF2B5EF4-FFF2-40B4-BE49-F238E27FC236}">
                <ns2:creationId id="{423E083F-38C2-4E49-88D7-BD3CEBE4AA0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de-DE">
                <a:solidFill>
                  <a:srgbClr val="148977"/>
                </a:solidFill>
                <a:latin typeface="Arial"/>
                <a:ea typeface="Arial"/>
                <a:cs typeface="Arial"/>
              </a:rPr>
              <a:t>1.</a:t>
            </a:r>
          </a:p>
        </p:txBody>
      </p:sp>
      <p:sp>
        <p:nvSpPr>
          <p:cNvPr id="5" name="">
            <a:extLst>
              <a:ext uri="{FF2B5EF4-FFF2-40B4-BE49-F238E27FC236}">
                <ns2:creationId id="{B7C7534D-288A-42A5-83E7-F29F37899079}"/>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de-DE">
                <a:solidFill>
                  <a:srgbClr val="153F36"/>
                </a:solidFill>
                <a:latin typeface="Arial"/>
                <a:ea typeface="Arial"/>
                <a:cs typeface="Arial"/>
              </a:rPr>
              <a:t>Geschäftsinformationen</a:t>
            </a:r>
          </a:p>
        </p:txBody>
      </p:sp>
      <p:sp>
        <p:nvSpPr>
          <p:cNvPr id="6" name="">
            <a:extLst>
              <a:ext uri="{FF2B5EF4-FFF2-40B4-BE49-F238E27FC236}">
                <ns2:creationId id="{AD6CE61F-E3C0-4E6E-8FEE-073F384D663E}"/>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Geben vor der Entscheidung einen Überblick über die Möglichkeiten.</a:t>
            </a:r>
          </a:p>
        </p:txBody>
      </p:sp>
      <p:sp>
        <p:nvSpPr>
          <p:cNvPr id="7" name="">
            <a:extLst>
              <a:ext uri="{FF2B5EF4-FFF2-40B4-BE49-F238E27FC236}">
                <ns2:creationId id="{7123A8D0-039A-4339-9BAB-CFD9A4CDFA90}"/>
              </a:ext>
            </a:extLst>
          </p:cNvPr>
          <p:cNvSpPr>
            <a:spLocks noGrp="1"/>
          </p:cNvSpPr>
          <p:nvPr/>
        </p:nvSpPr>
        <p:spPr>
          <a:xfrm>
            <a:off x="609600" y="311467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de-DE">
                <a:solidFill>
                  <a:srgbClr val="148977"/>
                </a:solidFill>
                <a:latin typeface="Arial"/>
                <a:ea typeface="Arial"/>
                <a:cs typeface="Arial"/>
              </a:rPr>
              <a:t>2.</a:t>
            </a:r>
          </a:p>
        </p:txBody>
      </p:sp>
      <p:sp>
        <p:nvSpPr>
          <p:cNvPr id="8" name="">
            <a:extLst>
              <a:ext uri="{FF2B5EF4-FFF2-40B4-BE49-F238E27FC236}">
                <ns2:creationId id="{0846DCA2-8253-49B5-A450-922F0FC34097}"/>
              </a:ext>
            </a:extLst>
          </p:cNvPr>
          <p:cNvSpPr>
            <a:spLocks noGrp="1"/>
          </p:cNvSpPr>
          <p:nvPr/>
        </p:nvSpPr>
        <p:spPr>
          <a:xfrm>
            <a:off x="1257300" y="311467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de-DE">
                <a:solidFill>
                  <a:srgbClr val="153F36"/>
                </a:solidFill>
                <a:latin typeface="Arial"/>
                <a:ea typeface="Arial"/>
                <a:cs typeface="Arial"/>
              </a:rPr>
              <a:t>Startpaket</a:t>
            </a:r>
          </a:p>
        </p:txBody>
      </p:sp>
      <p:sp>
        <p:nvSpPr>
          <p:cNvPr id="9" name="">
            <a:extLst>
              <a:ext uri="{FF2B5EF4-FFF2-40B4-BE49-F238E27FC236}">
                <ns2:creationId id="{23B5AF94-FCC0-4FD5-97DB-CA7ECAF7E006}"/>
              </a:ext>
            </a:extLst>
          </p:cNvPr>
          <p:cNvSpPr>
            <a:spLocks noGrp="1"/>
          </p:cNvSpPr>
          <p:nvPr/>
        </p:nvSpPr>
        <p:spPr>
          <a:xfrm>
            <a:off x="1257300" y="35242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Link zum offiziellen lokalen Ablauf.</a:t>
            </a:r>
          </a:p>
        </p:txBody>
      </p:sp>
      <p:sp>
        <p:nvSpPr>
          <p:cNvPr id="10" name="">
            <a:extLst>
              <a:ext uri="{FF2B5EF4-FFF2-40B4-BE49-F238E27FC236}">
                <ns2:creationId id="{44091B20-92BD-4F96-81CB-4C2569DDA57E}"/>
              </a:ext>
            </a:extLst>
          </p:cNvPr>
          <p:cNvSpPr>
            <a:spLocks noGrp="1"/>
          </p:cNvSpPr>
          <p:nvPr/>
        </p:nvSpPr>
        <p:spPr>
          <a:xfrm>
            <a:off x="609600" y="42672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de-DE">
                <a:solidFill>
                  <a:srgbClr val="148977"/>
                </a:solidFill>
                <a:latin typeface="Arial"/>
                <a:ea typeface="Arial"/>
                <a:cs typeface="Arial"/>
              </a:rPr>
              <a:t>3.</a:t>
            </a:r>
          </a:p>
        </p:txBody>
      </p:sp>
      <p:sp>
        <p:nvSpPr>
          <p:cNvPr id="11" name="">
            <a:extLst>
              <a:ext uri="{FF2B5EF4-FFF2-40B4-BE49-F238E27FC236}">
                <ns2:creationId id="{FB3A53A3-847D-42D5-BE6A-327E911D5457}"/>
              </a:ext>
            </a:extLst>
          </p:cNvPr>
          <p:cNvSpPr>
            <a:spLocks noGrp="1"/>
          </p:cNvSpPr>
          <p:nvPr/>
        </p:nvSpPr>
        <p:spPr>
          <a:xfrm>
            <a:off x="1257300" y="42672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de-DE">
                <a:solidFill>
                  <a:srgbClr val="153F36"/>
                </a:solidFill>
                <a:latin typeface="Arial"/>
                <a:ea typeface="Arial"/>
                <a:cs typeface="Arial"/>
              </a:rPr>
              <a:t>Deine Empfehlung</a:t>
            </a:r>
          </a:p>
        </p:txBody>
      </p:sp>
      <p:sp>
        <p:nvSpPr>
          <p:cNvPr id="12" name="">
            <a:extLst>
              <a:ext uri="{FF2B5EF4-FFF2-40B4-BE49-F238E27FC236}">
                <ns2:creationId id="{CD6900A3-9105-4B4A-8204-3F1851783DA4}"/>
              </a:ext>
            </a:extLst>
          </p:cNvPr>
          <p:cNvSpPr>
            <a:spLocks noGrp="1"/>
          </p:cNvSpPr>
          <p:nvPr/>
        </p:nvSpPr>
        <p:spPr>
          <a:xfrm>
            <a:off x="1257300" y="4676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Mit deiner Forever ID Nummer nach den Marktregeln verknüpft.</a:t>
            </a:r>
          </a:p>
        </p:txBody>
      </p:sp>
      <p:sp>
        <p:nvSpPr>
          <p:cNvPr id="13" name="">
            <a:extLst>
              <a:ext uri="{FF2B5EF4-FFF2-40B4-BE49-F238E27FC236}">
                <ns2:creationId id="{86D648FA-AB6C-449A-89C6-E053C9F302EA}"/>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de-DE">
                <a:solidFill>
                  <a:srgbClr val="526B63"/>
                </a:solidFill>
                <a:latin typeface="Arial"/>
                <a:ea typeface="Arial"/>
                <a:cs typeface="Arial"/>
              </a:rPr>
              <a:t>Prüft vor der Entscheidung gemeinsam Paketinhalt, Preis und Geschäftsbedingungen.</a:t>
            </a:r>
          </a:p>
        </p:txBody>
      </p:sp>
    </p:spTree>
    <p:extLst>
      <p:ext uri="{BB962C8B-B14F-4D97-AF65-F5344CB8AC3E}">
        <ns4:creationId val="1985799901"/>
      </p:ext>
    </p:extLst>
  </p:cSld>
</p:sld>
</file>

<file path=ppt/slides/slide1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36D3208E-D467-45B6-B84F-993282DA2C05}"/>
              </a:ext>
            </a:extLst>
          </p:cNvPr>
          <p:cNvPicPr>
            <a:picLocks noChangeAspect="1"/>
          </p:cNvPicPr>
          <p:nvPr/>
        </p:nvPicPr>
        <p:blipFill>
          <a:blip r:embed="Rcc997d641f674b2e"/>
          <a:stretch/>
        </p:blipFill>
        <p:spPr>
          <a:xfrm>
            <a:off x="9867900" y="276061"/>
            <a:ext cx="1695450" cy="438478"/>
          </a:xfrm>
          <a:prstGeom prst="rect">
            <a:avLst/>
          </a:prstGeom>
        </p:spPr>
      </p:pic>
      <p:sp>
        <p:nvSpPr>
          <p:cNvPr id="2" name="">
            <a:extLst>
              <a:ext uri="{FF2B5EF4-FFF2-40B4-BE49-F238E27FC236}">
                <ns2:creationId id="{350745C5-7885-44C5-A038-D3DF1BE3084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18</a:t>
            </a:r>
          </a:p>
        </p:txBody>
      </p:sp>
      <p:sp>
        <p:nvSpPr>
          <p:cNvPr id="3" name="Titel">
            <a:extLst>
              <a:ext uri="{FF2B5EF4-FFF2-40B4-BE49-F238E27FC236}">
                <ns2:creationId id="{716B21D9-4588-41FE-B7DE-88EE1983E4B0}"/>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Kontakte und vereinbarte Gespräche</a:t>
            </a:r>
          </a:p>
        </p:txBody>
      </p:sp>
      <p:sp>
        <p:nvSpPr>
          <p:cNvPr id="4" name="">
            <a:extLst>
              <a:ext uri="{FF2B5EF4-FFF2-40B4-BE49-F238E27FC236}">
                <ns2:creationId id="{35A73B73-CF45-46EB-A7C8-ADD62F54412B}"/>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de-DE">
                <a:solidFill>
                  <a:srgbClr val="148977"/>
                </a:solidFill>
                <a:latin typeface="Arial"/>
                <a:ea typeface="Arial"/>
                <a:cs typeface="Arial"/>
              </a:rPr>
              <a:t>1.</a:t>
            </a:r>
          </a:p>
        </p:txBody>
      </p:sp>
      <p:sp>
        <p:nvSpPr>
          <p:cNvPr id="5" name="">
            <a:extLst>
              <a:ext uri="{FF2B5EF4-FFF2-40B4-BE49-F238E27FC236}">
                <ns2:creationId id="{2EA067BA-7EDF-4565-9395-E5B2E840046D}"/>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de-DE">
                <a:solidFill>
                  <a:srgbClr val="153F36"/>
                </a:solidFill>
                <a:latin typeface="Arial"/>
                <a:ea typeface="Arial"/>
                <a:cs typeface="Arial"/>
              </a:rPr>
              <a:t>Halte den Grund des Interesses fest</a:t>
            </a:r>
          </a:p>
        </p:txBody>
      </p:sp>
      <p:sp>
        <p:nvSpPr>
          <p:cNvPr id="6" name="">
            <a:extLst>
              <a:ext uri="{FF2B5EF4-FFF2-40B4-BE49-F238E27FC236}">
                <ns2:creationId id="{174972BC-F64E-4F59-881A-3ADD61DB6C4F}"/>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Produkt, Geschäftsmöglichkeit oder ausgewähltes Webinar.</a:t>
            </a:r>
          </a:p>
        </p:txBody>
      </p:sp>
      <p:sp>
        <p:nvSpPr>
          <p:cNvPr id="7" name="">
            <a:extLst>
              <a:ext uri="{FF2B5EF4-FFF2-40B4-BE49-F238E27FC236}">
                <ns2:creationId id="{A980A2D7-D029-4CA9-98EA-E1E24BDC96E8}"/>
              </a:ext>
            </a:extLst>
          </p:cNvPr>
          <p:cNvSpPr>
            <a:spLocks noGrp="1"/>
          </p:cNvSpPr>
          <p:nvPr/>
        </p:nvSpPr>
        <p:spPr>
          <a:xfrm>
            <a:off x="609600" y="3133725"/>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de-DE">
                <a:solidFill>
                  <a:srgbClr val="148977"/>
                </a:solidFill>
                <a:latin typeface="Arial"/>
                <a:ea typeface="Arial"/>
                <a:cs typeface="Arial"/>
              </a:rPr>
              <a:t>2.</a:t>
            </a:r>
          </a:p>
        </p:txBody>
      </p:sp>
      <p:sp>
        <p:nvSpPr>
          <p:cNvPr id="8" name="">
            <a:extLst>
              <a:ext uri="{FF2B5EF4-FFF2-40B4-BE49-F238E27FC236}">
                <ns2:creationId id="{21F348C9-ADAE-4A31-9086-7382091A7469}"/>
              </a:ext>
            </a:extLst>
          </p:cNvPr>
          <p:cNvSpPr>
            <a:spLocks noGrp="1"/>
          </p:cNvSpPr>
          <p:nvPr/>
        </p:nvSpPr>
        <p:spPr>
          <a:xfrm>
            <a:off x="1257300" y="3133725"/>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de-DE">
                <a:solidFill>
                  <a:srgbClr val="153F36"/>
                </a:solidFill>
                <a:latin typeface="Arial"/>
                <a:ea typeface="Arial"/>
                <a:cs typeface="Arial"/>
              </a:rPr>
              <a:t>Speichere die Vereinbarung</a:t>
            </a:r>
          </a:p>
        </p:txBody>
      </p:sp>
      <p:sp>
        <p:nvSpPr>
          <p:cNvPr id="9" name="">
            <a:extLst>
              <a:ext uri="{FF2B5EF4-FFF2-40B4-BE49-F238E27FC236}">
                <ns2:creationId id="{1939F4C9-7AC8-4E57-95EE-A8ED90B8F700}"/>
              </a:ext>
            </a:extLst>
          </p:cNvPr>
          <p:cNvSpPr>
            <a:spLocks noGrp="1"/>
          </p:cNvSpPr>
          <p:nvPr/>
        </p:nvSpPr>
        <p:spPr>
          <a:xfrm>
            <a:off x="1257300" y="35433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Was ihr besprochen habt und wann ihr euch wieder meldet.</a:t>
            </a:r>
          </a:p>
        </p:txBody>
      </p:sp>
      <p:sp>
        <p:nvSpPr>
          <p:cNvPr id="10" name="">
            <a:extLst>
              <a:ext uri="{FF2B5EF4-FFF2-40B4-BE49-F238E27FC236}">
                <ns2:creationId id="{1FB78878-179B-4961-98D8-1E538F979850}"/>
              </a:ext>
            </a:extLst>
          </p:cNvPr>
          <p:cNvSpPr>
            <a:spLocks noGrp="1"/>
          </p:cNvSpPr>
          <p:nvPr/>
        </p:nvSpPr>
        <p:spPr>
          <a:xfrm>
            <a:off x="609600" y="430530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de-DE">
                <a:solidFill>
                  <a:srgbClr val="148977"/>
                </a:solidFill>
                <a:latin typeface="Arial"/>
                <a:ea typeface="Arial"/>
                <a:cs typeface="Arial"/>
              </a:rPr>
              <a:t>3.</a:t>
            </a:r>
          </a:p>
        </p:txBody>
      </p:sp>
      <p:sp>
        <p:nvSpPr>
          <p:cNvPr id="11" name="">
            <a:extLst>
              <a:ext uri="{FF2B5EF4-FFF2-40B4-BE49-F238E27FC236}">
                <ns2:creationId id="{069C8E17-B1D6-4228-B6CE-91556722565C}"/>
              </a:ext>
            </a:extLst>
          </p:cNvPr>
          <p:cNvSpPr>
            <a:spLocks noGrp="1"/>
          </p:cNvSpPr>
          <p:nvPr/>
        </p:nvSpPr>
        <p:spPr>
          <a:xfrm>
            <a:off x="1257300" y="430530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de-DE">
                <a:solidFill>
                  <a:srgbClr val="153F36"/>
                </a:solidFill>
                <a:latin typeface="Arial"/>
                <a:ea typeface="Arial"/>
                <a:cs typeface="Arial"/>
              </a:rPr>
              <a:t>Bestätige die tatsächliche Handlung</a:t>
            </a:r>
          </a:p>
        </p:txBody>
      </p:sp>
      <p:sp>
        <p:nvSpPr>
          <p:cNvPr id="12" name="">
            <a:extLst>
              <a:ext uri="{FF2B5EF4-FFF2-40B4-BE49-F238E27FC236}">
                <ns2:creationId id="{1A8CF46B-3238-4DDE-9E94-1ABCB125750F}"/>
              </a:ext>
            </a:extLst>
          </p:cNvPr>
          <p:cNvSpPr>
            <a:spLocks noGrp="1"/>
          </p:cNvSpPr>
          <p:nvPr/>
        </p:nvSpPr>
        <p:spPr>
          <a:xfrm>
            <a:off x="1257300" y="47148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Entwurf und tatsächlich gesendete Nachricht haben einen unterschiedlichen Status.</a:t>
            </a:r>
          </a:p>
        </p:txBody>
      </p:sp>
      <p:sp>
        <p:nvSpPr>
          <p:cNvPr id="13" name="">
            <a:extLst>
              <a:ext uri="{FF2B5EF4-FFF2-40B4-BE49-F238E27FC236}">
                <ns2:creationId id="{2F5FF45C-FE0C-45D2-9A2F-99DE8DEC9997}"/>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de-DE">
                <a:solidFill>
                  <a:srgbClr val="526B63"/>
                </a:solidFill>
                <a:latin typeface="Arial"/>
                <a:ea typeface="Arial"/>
                <a:cs typeface="Arial"/>
              </a:rPr>
              <a:t>Beispiel: Ana möchte Produktdetails. Ihr habt ein Gespräch für Donnerstag vereinbart.</a:t>
            </a:r>
          </a:p>
        </p:txBody>
      </p:sp>
    </p:spTree>
    <p:extLst>
      <p:ext uri="{BB962C8B-B14F-4D97-AF65-F5344CB8AC3E}">
        <ns4:creationId val="449993391"/>
      </p:ext>
    </p:extLst>
  </p:cSld>
</p:sld>
</file>

<file path=ppt/slides/slide1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5ADCFCC7-A789-4960-978D-09BFFD23F46C}"/>
              </a:ext>
            </a:extLst>
          </p:cNvPr>
          <p:cNvPicPr>
            <a:picLocks noChangeAspect="1"/>
          </p:cNvPicPr>
          <p:nvPr/>
        </p:nvPicPr>
        <p:blipFill>
          <a:blip r:embed="R64b74fa4d54445c9"/>
          <a:stretch/>
        </p:blipFill>
        <p:spPr>
          <a:xfrm>
            <a:off x="9867900" y="276061"/>
            <a:ext cx="1695450" cy="438478"/>
          </a:xfrm>
          <a:prstGeom prst="rect">
            <a:avLst/>
          </a:prstGeom>
        </p:spPr>
      </p:pic>
      <p:sp>
        <p:nvSpPr>
          <p:cNvPr id="2" name="">
            <a:extLst>
              <a:ext uri="{FF2B5EF4-FFF2-40B4-BE49-F238E27FC236}">
                <ns2:creationId id="{FAC00C27-9DC4-4087-B955-2DAE7D6A8F6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19</a:t>
            </a:r>
          </a:p>
        </p:txBody>
      </p:sp>
      <p:sp>
        <p:nvSpPr>
          <p:cNvPr id="3" name="Titel">
            <a:extLst>
              <a:ext uri="{FF2B5EF4-FFF2-40B4-BE49-F238E27FC236}">
                <ns2:creationId id="{DF82E299-944A-4628-8F4C-EE73BB76D6E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AI Coach für deinen konkreten Schritt</a:t>
            </a:r>
          </a:p>
        </p:txBody>
      </p:sp>
      <p:sp>
        <p:nvSpPr>
          <p:cNvPr id="4" name="">
            <a:extLst>
              <a:ext uri="{FF2B5EF4-FFF2-40B4-BE49-F238E27FC236}">
                <ns2:creationId id="{4618C986-4CF7-4F17-A8A6-90697A6FBD9C}"/>
              </a:ext>
            </a:extLst>
          </p:cNvPr>
          <p:cNvSpPr>
            <a:spLocks noGrp="1"/>
          </p:cNvSpPr>
          <p:nvPr/>
        </p:nvSpPr>
        <p:spPr>
          <a:xfrm>
            <a:off x="609600" y="2171700"/>
            <a:ext cx="10620375" cy="1905000"/>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de-DE">
                <a:solidFill>
                  <a:srgbClr val="153F36"/>
                </a:solidFill>
                <a:latin typeface="Arial"/>
                <a:ea typeface="Arial"/>
                <a:cs typeface="Arial"/>
              </a:rPr>
              <a:t>„Ana möchte mehr über das Produkt erfahren.</a:t>
            </a:r>
          </a:p>
          <a:p>
            <a:pPr>
              <a:defRPr sz="3150" b="1">
                <a:solidFill>
                  <a:srgbClr val="153F36"/>
                </a:solidFill>
                <a:latin typeface="Arial"/>
                <a:ea typeface="Arial"/>
                <a:cs typeface="Arial"/>
              </a:defRPr>
            </a:pPr>
            <a:r>
              <a:rPr sz="3150" b="1" lang="de-DE">
                <a:solidFill>
                  <a:srgbClr val="153F36"/>
                </a:solidFill>
                <a:latin typeface="Arial"/>
                <a:ea typeface="Arial"/>
                <a:cs typeface="Arial"/>
              </a:rPr>
              <a:t>Hilf mir, eine kurze Nachricht zu schreiben</a:t>
            </a:r>
          </a:p>
          <a:p>
            <a:pPr>
              <a:defRPr sz="3150" b="1">
                <a:solidFill>
                  <a:srgbClr val="153F36"/>
                </a:solidFill>
                <a:latin typeface="Arial"/>
                <a:ea typeface="Arial"/>
                <a:cs typeface="Arial"/>
              </a:defRPr>
            </a:pPr>
            <a:r>
              <a:rPr sz="3150" b="1" lang="de-DE">
                <a:solidFill>
                  <a:srgbClr val="153F36"/>
                </a:solidFill>
                <a:latin typeface="Arial"/>
                <a:ea typeface="Arial"/>
                <a:cs typeface="Arial"/>
              </a:rPr>
              <a:t>und das nächste Gespräch vorzuschlagen.“</a:t>
            </a:r>
          </a:p>
        </p:txBody>
      </p:sp>
      <p:sp>
        <p:nvSpPr>
          <p:cNvPr id="5" name="">
            <a:extLst>
              <a:ext uri="{FF2B5EF4-FFF2-40B4-BE49-F238E27FC236}">
                <ns2:creationId id="{7A79F3E1-BCA2-4DD5-8614-AB0D88B13E50}"/>
              </a:ext>
            </a:extLst>
          </p:cNvPr>
          <p:cNvSpPr>
            <a:spLocks noGrp="1"/>
          </p:cNvSpPr>
          <p:nvPr/>
        </p:nvSpPr>
        <p:spPr>
          <a:xfrm>
            <a:off x="609600" y="4429125"/>
            <a:ext cx="9810750" cy="952500"/>
          </a:xfrm>
          <a:prstGeom prst="rect">
            <a:avLst/>
          </a:prstGeom>
          <a:noFill/>
          <a:ln w="0">
            <a:noFill/>
          </a:ln>
        </p:spPr>
        <p:txBody>
          <a:bodyPr wrap="square" lIns="0" tIns="0" rIns="0" bIns="0" anchor="t">
            <a:noAutofit/>
          </a:bodyPr>
          <a:lstStyle>
            <a:defPPr>
              <a:defRPr sz="2400" b="0">
                <a:solidFill>
                  <a:srgbClr val="526B63"/>
                </a:solidFill>
                <a:latin typeface="Arial"/>
                <a:ea typeface="Arial"/>
                <a:cs typeface="Arial"/>
              </a:defRPr>
            </a:defPPr>
          </a:lstStyle>
          <a:p>
            <a:pPr>
              <a:defRPr sz="2400" b="0">
                <a:solidFill>
                  <a:srgbClr val="526B63"/>
                </a:solidFill>
                <a:latin typeface="Arial"/>
                <a:ea typeface="Arial"/>
                <a:cs typeface="Arial"/>
              </a:defRPr>
            </a:pPr>
            <a:r>
              <a:rPr sz="2400" b="0" lang="de-DE">
                <a:solidFill>
                  <a:srgbClr val="526B63"/>
                </a:solidFill>
                <a:latin typeface="Arial"/>
                <a:ea typeface="Arial"/>
                <a:cs typeface="Arial"/>
              </a:rPr>
              <a:t>Prüfe den Text und passe ihn an deine eigene Ausdrucksweise an.</a:t>
            </a:r>
          </a:p>
        </p:txBody>
      </p:sp>
      <p:sp>
        <p:nvSpPr>
          <p:cNvPr id="6" name="">
            <a:extLst>
              <a:ext uri="{FF2B5EF4-FFF2-40B4-BE49-F238E27FC236}">
                <ns2:creationId id="{22416B2D-1F11-433C-BBC2-0F785465E81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de-DE">
                <a:solidFill>
                  <a:srgbClr val="526B63"/>
                </a:solidFill>
                <a:latin typeface="Arial"/>
                <a:ea typeface="Arial"/>
                <a:cs typeface="Arial"/>
              </a:rPr>
              <a:t>PRO Funktion. Du entscheidest, was du sendest, und bestätigst das tatsächliche Senden.</a:t>
            </a:r>
          </a:p>
        </p:txBody>
      </p:sp>
    </p:spTree>
    <p:extLst>
      <p:ext uri="{BB962C8B-B14F-4D97-AF65-F5344CB8AC3E}">
        <ns4:creationId val="1346486136"/>
      </p:ext>
    </p:extLst>
  </p:cSld>
</p:sld>
</file>

<file path=ppt/slides/slide2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FF8A0D6A-54B6-4B2D-9DB0-C5BDDF808E3D}"/>
              </a:ext>
            </a:extLst>
          </p:cNvPr>
          <p:cNvPicPr>
            <a:picLocks noChangeAspect="1"/>
          </p:cNvPicPr>
          <p:nvPr/>
        </p:nvPicPr>
        <p:blipFill>
          <a:blip r:embed="R5343d6ff4c174578"/>
          <a:stretch/>
        </p:blipFill>
        <p:spPr>
          <a:xfrm>
            <a:off x="9867900" y="276061"/>
            <a:ext cx="1695450" cy="438478"/>
          </a:xfrm>
          <a:prstGeom prst="rect">
            <a:avLst/>
          </a:prstGeom>
        </p:spPr>
      </p:pic>
      <p:sp>
        <p:nvSpPr>
          <p:cNvPr id="2" name="">
            <a:extLst>
              <a:ext uri="{FF2B5EF4-FFF2-40B4-BE49-F238E27FC236}">
                <ns2:creationId id="{E6769AB0-AB42-4284-BB52-4656C71D4B1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20</a:t>
            </a:r>
          </a:p>
        </p:txBody>
      </p:sp>
      <p:sp>
        <p:nvSpPr>
          <p:cNvPr id="3" name="Titel">
            <a:extLst>
              <a:ext uri="{FF2B5EF4-FFF2-40B4-BE49-F238E27FC236}">
                <ns2:creationId id="{90491E5F-0446-4BAA-B6BE-4190663616A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Mein Weg: Anleitung für die tägliche Arbeit</a:t>
            </a:r>
          </a:p>
        </p:txBody>
      </p:sp>
      <p:sp>
        <p:nvSpPr>
          <p:cNvPr id="4" name="">
            <a:extLst>
              <a:ext uri="{FF2B5EF4-FFF2-40B4-BE49-F238E27FC236}">
                <ns2:creationId id="{92687A41-C742-4378-AD11-49975B1C34BB}"/>
              </a:ext>
            </a:extLst>
          </p:cNvPr>
          <p:cNvSpPr>
            <a:spLocks noGrp="1"/>
          </p:cNvSpPr>
          <p:nvPr/>
        </p:nvSpPr>
        <p:spPr>
          <a:xfrm>
            <a:off x="609600" y="2076450"/>
            <a:ext cx="3333750" cy="1428750"/>
          </a:xfrm>
          <a:prstGeom prst="rect">
            <a:avLst/>
          </a:prstGeom>
          <a:noFill/>
          <a:ln w="0">
            <a:noFill/>
          </a:ln>
        </p:spPr>
        <p:txBody>
          <a:bodyPr wrap="square" lIns="0" tIns="0" rIns="0" bIns="0" anchor="t">
            <a:noAutofit/>
          </a:bodyPr>
          <a:lstStyle>
            <a:defPPr>
              <a:defRPr sz="8400" b="1">
                <a:solidFill>
                  <a:srgbClr val="153F36"/>
                </a:solidFill>
                <a:latin typeface="Arial"/>
                <a:ea typeface="Arial"/>
                <a:cs typeface="Arial"/>
              </a:defRPr>
            </a:defPPr>
          </a:lstStyle>
          <a:p>
            <a:pPr>
              <a:defRPr sz="8400" b="1">
                <a:solidFill>
                  <a:srgbClr val="153F36"/>
                </a:solidFill>
                <a:latin typeface="Arial"/>
                <a:ea typeface="Arial"/>
                <a:cs typeface="Arial"/>
              </a:defRPr>
            </a:pPr>
            <a:r>
              <a:rPr sz="8400" b="1" lang="de-DE">
                <a:solidFill>
                  <a:srgbClr val="153F36"/>
                </a:solidFill>
                <a:latin typeface="Arial"/>
                <a:ea typeface="Arial"/>
                <a:cs typeface="Arial"/>
              </a:rPr>
              <a:t>90</a:t>
            </a:r>
          </a:p>
        </p:txBody>
      </p:sp>
      <p:sp>
        <p:nvSpPr>
          <p:cNvPr id="5" name="">
            <a:extLst>
              <a:ext uri="{FF2B5EF4-FFF2-40B4-BE49-F238E27FC236}">
                <ns2:creationId id="{ADADDF67-C3F1-4410-80F0-92B1ADC7D175}"/>
              </a:ext>
            </a:extLst>
          </p:cNvPr>
          <p:cNvSpPr>
            <a:spLocks noGrp="1"/>
          </p:cNvSpPr>
          <p:nvPr/>
        </p:nvSpPr>
        <p:spPr>
          <a:xfrm>
            <a:off x="4038600" y="2343150"/>
            <a:ext cx="7010400" cy="1066800"/>
          </a:xfrm>
          <a:prstGeom prst="rect">
            <a:avLst/>
          </a:prstGeom>
          <a:noFill/>
          <a:ln w="0">
            <a:noFill/>
          </a:ln>
        </p:spPr>
        <p:txBody>
          <a:bodyPr wrap="square" lIns="0" tIns="0" rIns="0" bIns="0" anchor="t">
            <a:noAutofit/>
          </a:bodyPr>
          <a:lstStyle>
            <a:defPPr>
              <a:defRPr sz="3225" b="1">
                <a:solidFill>
                  <a:srgbClr val="153F36"/>
                </a:solidFill>
                <a:latin typeface="Arial"/>
                <a:ea typeface="Arial"/>
                <a:cs typeface="Arial"/>
              </a:defRPr>
            </a:defPPr>
          </a:lstStyle>
          <a:p>
            <a:pPr>
              <a:defRPr sz="3225" b="1">
                <a:solidFill>
                  <a:srgbClr val="153F36"/>
                </a:solidFill>
                <a:latin typeface="Arial"/>
                <a:ea typeface="Arial"/>
                <a:cs typeface="Arial"/>
              </a:defRPr>
            </a:pPr>
            <a:r>
              <a:rPr sz="3225" b="1" lang="de-DE">
                <a:solidFill>
                  <a:srgbClr val="153F36"/>
                </a:solidFill>
                <a:latin typeface="Arial"/>
                <a:ea typeface="Arial"/>
                <a:cs typeface="Arial"/>
              </a:rPr>
              <a:t>Schritte zum Lernen durch echte Handlungen</a:t>
            </a:r>
          </a:p>
        </p:txBody>
      </p:sp>
      <p:sp>
        <p:nvSpPr>
          <p:cNvPr id="6" name="">
            <a:extLst>
              <a:ext uri="{FF2B5EF4-FFF2-40B4-BE49-F238E27FC236}">
                <ns2:creationId id="{7C5AB490-C659-4C9B-B69E-DD904A82A66E}"/>
              </a:ext>
            </a:extLst>
          </p:cNvPr>
          <p:cNvSpPr>
            <a:spLocks noGrp="1"/>
          </p:cNvSpPr>
          <p:nvPr/>
        </p:nvSpPr>
        <p:spPr>
          <a:xfrm>
            <a:off x="609600" y="4105275"/>
            <a:ext cx="10382250" cy="857250"/>
          </a:xfrm>
          <a:prstGeom prst="rect">
            <a:avLst/>
          </a:prstGeom>
          <a:noFill/>
          <a:ln w="0">
            <a:noFill/>
          </a:ln>
        </p:spPr>
        <p:txBody>
          <a:bodyPr wrap="square" lIns="0" tIns="0" rIns="0" bIns="0" anchor="t">
            <a:noAutofit/>
          </a:bodyPr>
          <a:lstStyle>
            <a:defPPr>
              <a:defRPr sz="2475" b="0">
                <a:solidFill>
                  <a:srgbClr val="526B63"/>
                </a:solidFill>
                <a:latin typeface="Arial"/>
                <a:ea typeface="Arial"/>
                <a:cs typeface="Arial"/>
              </a:defRPr>
            </a:defPPr>
          </a:lstStyle>
          <a:p>
            <a:pPr>
              <a:defRPr sz="2475" b="0">
                <a:solidFill>
                  <a:srgbClr val="526B63"/>
                </a:solidFill>
                <a:latin typeface="Arial"/>
                <a:ea typeface="Arial"/>
                <a:cs typeface="Arial"/>
              </a:defRPr>
            </a:pPr>
            <a:r>
              <a:rPr sz="2475" b="0" lang="de-DE">
                <a:solidFill>
                  <a:srgbClr val="526B63"/>
                </a:solidFill>
                <a:latin typeface="Arial"/>
                <a:ea typeface="Arial"/>
                <a:cs typeface="Arial"/>
              </a:rPr>
              <a:t>Die heutige Aufgabe hat eine konkrete Handlung, Hilfe und ein Abschlusskriterium.</a:t>
            </a:r>
          </a:p>
        </p:txBody>
      </p:sp>
      <p:sp>
        <p:nvSpPr>
          <p:cNvPr id="7" name="">
            <a:extLst>
              <a:ext uri="{FF2B5EF4-FFF2-40B4-BE49-F238E27FC236}">
                <ns2:creationId id="{0E5742C4-2A4A-4AB4-9CFF-680A82FB8898}"/>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de-DE">
                <a:solidFill>
                  <a:srgbClr val="526B63"/>
                </a:solidFill>
                <a:latin typeface="Arial"/>
                <a:ea typeface="Arial"/>
                <a:cs typeface="Arial"/>
              </a:rPr>
              <a:t>4 Core: Gewinnung, Bindung, Produktivität und Entwicklung. Zugang nach den Programmbedingungen.</a:t>
            </a:r>
          </a:p>
        </p:txBody>
      </p:sp>
    </p:spTree>
    <p:extLst>
      <p:ext uri="{BB962C8B-B14F-4D97-AF65-F5344CB8AC3E}">
        <ns4:creationId val="779428553"/>
      </p:ext>
    </p:extLst>
  </p:cSld>
</p:sld>
</file>

<file path=ppt/slides/slide2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755CBF8A-CF99-4296-B52A-929A5B188D96}"/>
              </a:ext>
            </a:extLst>
          </p:cNvPr>
          <p:cNvPicPr>
            <a:picLocks noChangeAspect="1"/>
          </p:cNvPicPr>
          <p:nvPr/>
        </p:nvPicPr>
        <p:blipFill>
          <a:blip r:embed="Rd2520270cdcb44be"/>
          <a:stretch/>
        </p:blipFill>
        <p:spPr>
          <a:xfrm>
            <a:off x="9867900" y="276061"/>
            <a:ext cx="1695450" cy="438478"/>
          </a:xfrm>
          <a:prstGeom prst="rect">
            <a:avLst/>
          </a:prstGeom>
        </p:spPr>
      </p:pic>
      <p:sp>
        <p:nvSpPr>
          <p:cNvPr id="2" name="">
            <a:extLst>
              <a:ext uri="{FF2B5EF4-FFF2-40B4-BE49-F238E27FC236}">
                <ns2:creationId id="{D632DCC3-6502-4FE5-A452-5728A3FF9CB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21</a:t>
            </a:r>
          </a:p>
        </p:txBody>
      </p:sp>
      <p:sp>
        <p:nvSpPr>
          <p:cNvPr id="3" name="Titel">
            <a:extLst>
              <a:ext uri="{FF2B5EF4-FFF2-40B4-BE49-F238E27FC236}">
                <ns2:creationId id="{9CA21175-6AB5-4D8F-B8A5-DF0C57ACDEB4}"/>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Schulung mit direkter Anwendung</a:t>
            </a:r>
          </a:p>
        </p:txBody>
      </p:sp>
      <p:sp>
        <p:nvSpPr>
          <p:cNvPr id="4" name="">
            <a:extLst>
              <a:ext uri="{FF2B5EF4-FFF2-40B4-BE49-F238E27FC236}">
                <ns2:creationId id="{5601D9A2-9AD3-4AD3-8BED-F082627DE474}"/>
              </a:ext>
            </a:extLst>
          </p:cNvPr>
          <p:cNvSpPr>
            <a:spLocks noGrp="1"/>
          </p:cNvSpPr>
          <p:nvPr/>
        </p:nvSpPr>
        <p:spPr>
          <a:xfrm>
            <a:off x="609600" y="1819275"/>
            <a:ext cx="10477500" cy="59055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de-DE">
                <a:solidFill>
                  <a:srgbClr val="153F36"/>
                </a:solidFill>
                <a:latin typeface="Arial"/>
                <a:ea typeface="Arial"/>
                <a:cs typeface="Arial"/>
              </a:rPr>
              <a:t>Nutze das Thema sofort für ein hilfreiches Gespräch.</a:t>
            </a:r>
          </a:p>
        </p:txBody>
      </p:sp>
      <p:pic>
        <p:nvPicPr>
          <p:cNvPr id="5" name="">
            <a:extLst>
              <a:ext uri="{FF2B5EF4-FFF2-40B4-BE49-F238E27FC236}">
                <ns2:creationId id="{A42EF5A1-048A-40A7-8EB7-D73F3B145432}"/>
              </a:ext>
            </a:extLst>
          </p:cNvPr>
          <p:cNvPicPr>
            <a:picLocks noChangeAspect="1"/>
          </p:cNvPicPr>
          <p:nvPr/>
        </p:nvPicPr>
        <p:blipFill>
          <a:blip r:embed="Rc24afb3e1b784e7e"/>
          <a:srcRect l="21797" t="23750" r="4141" b="31389"/>
          <a:stretch/>
        </p:blipFill>
        <p:spPr>
          <a:xfrm>
            <a:off x="609600" y="2552700"/>
            <a:ext cx="10953750" cy="3733800"/>
          </a:xfrm>
          <a:prstGeom prst="rect">
            <a:avLst/>
          </a:prstGeom>
        </p:spPr>
      </p:pic>
      <p:sp>
        <p:nvSpPr>
          <p:cNvPr id="7" name="Interface example"/>
          <p:cNvSpPr>
            <a:spLocks noGrp="1"/>
          </p:cNvSpPr>
          <p:nvPr/>
        </p:nvSpPr>
        <p:spPr>
          <a:xfrm>
            <a:off x="609600" y="6362700"/>
            <a:ext cx="1047750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de-DE" dirty="0">
                <a:solidFill>
                  <a:srgbClr val="526B63"/>
                </a:solidFill>
                <a:latin typeface="Arial"/>
              </a:rPr>
              <a:t>Beispiel der kroatischen FCC Oberfläche.</a:t>
            </a:r>
          </a:p>
        </p:txBody>
      </p:sp>
    </p:spTree>
    <p:extLst>
      <p:ext uri="{BB962C8B-B14F-4D97-AF65-F5344CB8AC3E}">
        <ns4:creationId val="872864147"/>
      </p:ext>
    </p:extLst>
  </p:cSld>
</p:sld>
</file>

<file path=ppt/slides/slide2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429D5618-D6D1-4709-9032-CCBDE1794EC0}"/>
              </a:ext>
            </a:extLst>
          </p:cNvPr>
          <p:cNvPicPr>
            <a:picLocks noChangeAspect="1"/>
          </p:cNvPicPr>
          <p:nvPr/>
        </p:nvPicPr>
        <p:blipFill>
          <a:blip r:embed="R9e74150305fa4111"/>
          <a:stretch/>
        </p:blipFill>
        <p:spPr>
          <a:xfrm>
            <a:off x="9867900" y="276061"/>
            <a:ext cx="1695450" cy="438478"/>
          </a:xfrm>
          <a:prstGeom prst="rect">
            <a:avLst/>
          </a:prstGeom>
        </p:spPr>
      </p:pic>
      <p:sp>
        <p:nvSpPr>
          <p:cNvPr id="2" name="">
            <a:extLst>
              <a:ext uri="{FF2B5EF4-FFF2-40B4-BE49-F238E27FC236}">
                <ns2:creationId id="{6D26F613-9E2D-4BC5-A70E-316C062077E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22</a:t>
            </a:r>
          </a:p>
        </p:txBody>
      </p:sp>
      <p:sp>
        <p:nvSpPr>
          <p:cNvPr id="3" name="Titel">
            <a:extLst>
              <a:ext uri="{FF2B5EF4-FFF2-40B4-BE49-F238E27FC236}">
                <ns2:creationId id="{3DBF11A3-4EDF-4D18-977F-B4AACE2BE63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Einladung zum ausgewählten Webinar</a:t>
            </a:r>
          </a:p>
        </p:txBody>
      </p:sp>
      <p:sp>
        <p:nvSpPr>
          <p:cNvPr id="4" name="">
            <a:extLst>
              <a:ext uri="{FF2B5EF4-FFF2-40B4-BE49-F238E27FC236}">
                <ns2:creationId id="{64A80DF6-83D6-420D-B270-58B477A61493}"/>
              </a:ext>
            </a:extLst>
          </p:cNvPr>
          <p:cNvSpPr>
            <a:spLocks noGrp="1"/>
          </p:cNvSpPr>
          <p:nvPr/>
        </p:nvSpPr>
        <p:spPr>
          <a:xfrm>
            <a:off x="609600" y="2152650"/>
            <a:ext cx="3333750" cy="2657475"/>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de-DE">
                <a:solidFill>
                  <a:srgbClr val="153F36"/>
                </a:solidFill>
                <a:latin typeface="Arial"/>
                <a:ea typeface="Arial"/>
                <a:cs typeface="Arial"/>
              </a:rPr>
              <a:t>Wähle einen Termin.</a:t>
            </a:r>
          </a:p>
          <a:p>
            <a:pPr>
              <a:defRPr sz="2625" b="1">
                <a:solidFill>
                  <a:srgbClr val="153F36"/>
                </a:solidFill>
                <a:latin typeface="Arial"/>
                <a:ea typeface="Arial"/>
                <a:cs typeface="Arial"/>
              </a:defRPr>
            </a:pPr>
            <a:r>
              <a:rPr sz="2625" b="1" lang="de-DE">
                <a:solidFill>
                  <a:srgbClr val="153F36"/>
                </a:solidFill>
                <a:latin typeface="Arial"/>
                <a:ea typeface="Arial"/>
                <a:cs typeface="Arial"/>
              </a:rPr>
              <a:t>Ergänze deinen persönlichen</a:t>
            </a:r>
          </a:p>
          <a:p>
            <a:pPr>
              <a:defRPr sz="2625" b="1">
                <a:solidFill>
                  <a:srgbClr val="153F36"/>
                </a:solidFill>
                <a:latin typeface="Arial"/>
                <a:ea typeface="Arial"/>
                <a:cs typeface="Arial"/>
              </a:defRPr>
            </a:pPr>
            <a:r>
              <a:rPr sz="2625" b="1" lang="de-DE">
                <a:solidFill>
                  <a:srgbClr val="153F36"/>
                </a:solidFill>
                <a:latin typeface="Arial"/>
                <a:ea typeface="Arial"/>
                <a:cs typeface="Arial"/>
              </a:rPr>
              <a:t>Grund für die Einladung.</a:t>
            </a:r>
          </a:p>
          <a:p>
            <a:pPr>
              <a:defRPr sz="2625" b="1">
                <a:solidFill>
                  <a:srgbClr val="153F36"/>
                </a:solidFill>
                <a:latin typeface="Arial"/>
                <a:ea typeface="Arial"/>
                <a:cs typeface="Arial"/>
              </a:defRPr>
            </a:pPr>
            <a:r>
              <a:rPr sz="2625" b="1" lang="de-DE">
                <a:solidFill>
                  <a:srgbClr val="153F36"/>
                </a:solidFill>
                <a:latin typeface="Arial"/>
                <a:ea typeface="Arial"/>
                <a:cs typeface="Arial"/>
              </a:rPr>
              <a:t>Sende deinen Link.</a:t>
            </a:r>
          </a:p>
        </p:txBody>
      </p:sp>
      <p:sp>
        <p:nvSpPr>
          <p:cNvPr id="5" name="">
            <a:extLst>
              <a:ext uri="{FF2B5EF4-FFF2-40B4-BE49-F238E27FC236}">
                <ns2:creationId id="{958B8E7C-0CB5-4427-A2CD-626ACD27829B}"/>
              </a:ext>
            </a:extLst>
          </p:cNvPr>
          <p:cNvSpPr>
            <a:spLocks noGrp="1"/>
          </p:cNvSpPr>
          <p:nvPr/>
        </p:nvSpPr>
        <p:spPr>
          <a:xfrm>
            <a:off x="609600" y="4972050"/>
            <a:ext cx="3333750" cy="1123950"/>
          </a:xfrm>
          <a:prstGeom prst="rect">
            <a:avLst/>
          </a:prstGeom>
          <a:noFill/>
          <a:ln w="0">
            <a:noFill/>
          </a:ln>
        </p:spPr>
        <p:txBody>
          <a:bodyPr wrap="square" lIns="0" tIns="0" rIns="0" bIns="0" anchor="t">
            <a:noAutofit/>
          </a:bodyPr>
          <a:lstStyle>
            <a:defPPr>
              <a:defRPr sz="2025" b="0">
                <a:solidFill>
                  <a:srgbClr val="526B63"/>
                </a:solidFill>
                <a:latin typeface="Arial"/>
                <a:ea typeface="Arial"/>
                <a:cs typeface="Arial"/>
              </a:defRPr>
            </a:defPPr>
          </a:lstStyle>
          <a:p>
            <a:pPr>
              <a:defRPr sz="2025" b="0">
                <a:solidFill>
                  <a:srgbClr val="526B63"/>
                </a:solidFill>
                <a:latin typeface="Arial"/>
                <a:ea typeface="Arial"/>
                <a:cs typeface="Arial"/>
              </a:defRPr>
            </a:pPr>
            <a:r>
              <a:rPr sz="2025" b="0" lang="de-DE">
                <a:solidFill>
                  <a:srgbClr val="526B63"/>
                </a:solidFill>
                <a:latin typeface="Arial"/>
                <a:ea typeface="Arial"/>
                <a:cs typeface="Arial"/>
              </a:rPr>
              <a:t>Der Gast meldet sich über deine Einladung für ein bestimmtes Treffen an.</a:t>
            </a:r>
          </a:p>
        </p:txBody>
      </p:sp>
      <p:pic>
        <p:nvPicPr>
          <p:cNvPr id="6" name="">
            <a:extLst>
              <a:ext uri="{FF2B5EF4-FFF2-40B4-BE49-F238E27FC236}">
                <ns2:creationId id="{3390DCC8-0B52-4314-8F10-D4E2C4601566}"/>
              </a:ext>
            </a:extLst>
          </p:cNvPr>
          <p:cNvPicPr>
            <a:picLocks noChangeAspect="1"/>
          </p:cNvPicPr>
          <p:nvPr/>
        </p:nvPicPr>
        <p:blipFill>
          <a:blip r:embed="R1e50648732a948d2"/>
          <a:srcRect l="56250" t="24028" r="4531" b="22222"/>
          <a:stretch/>
        </p:blipFill>
        <p:spPr>
          <a:xfrm>
            <a:off x="5667375" y="1924050"/>
            <a:ext cx="5524500" cy="4257675"/>
          </a:xfrm>
          <a:prstGeom prst="rect">
            <a:avLst/>
          </a:prstGeom>
        </p:spPr>
      </p:pic>
      <p:sp>
        <p:nvSpPr>
          <p:cNvPr id="8" name="Interface example"/>
          <p:cNvSpPr>
            <a:spLocks noGrp="1"/>
          </p:cNvSpPr>
          <p:nvPr/>
        </p:nvSpPr>
        <p:spPr>
          <a:xfrm>
            <a:off x="609600" y="6238875"/>
            <a:ext cx="619125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de-DE" dirty="0">
                <a:solidFill>
                  <a:srgbClr val="526B63"/>
                </a:solidFill>
                <a:latin typeface="Arial"/>
              </a:rPr>
              <a:t>Beispiel der kroatischen FCC Oberfläche.</a:t>
            </a:r>
          </a:p>
        </p:txBody>
      </p:sp>
    </p:spTree>
    <p:extLst>
      <p:ext uri="{BB962C8B-B14F-4D97-AF65-F5344CB8AC3E}">
        <ns4:creationId val="700804711"/>
      </p:ext>
    </p:extLst>
  </p:cSld>
</p:sld>
</file>

<file path=ppt/slides/slide2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D5E12F88-80BE-4ED3-9045-0929104BF85E}"/>
              </a:ext>
            </a:extLst>
          </p:cNvPr>
          <p:cNvPicPr>
            <a:picLocks noChangeAspect="1"/>
          </p:cNvPicPr>
          <p:nvPr/>
        </p:nvPicPr>
        <p:blipFill>
          <a:blip r:embed="R767dfad8865d4072"/>
          <a:stretch/>
        </p:blipFill>
        <p:spPr>
          <a:xfrm>
            <a:off x="9867900" y="276061"/>
            <a:ext cx="1695450" cy="438478"/>
          </a:xfrm>
          <a:prstGeom prst="rect">
            <a:avLst/>
          </a:prstGeom>
        </p:spPr>
      </p:pic>
      <p:sp>
        <p:nvSpPr>
          <p:cNvPr id="2" name="">
            <a:extLst>
              <a:ext uri="{FF2B5EF4-FFF2-40B4-BE49-F238E27FC236}">
                <ns2:creationId id="{6C95CCE3-AAC8-46D2-A89D-918660909B14}"/>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23</a:t>
            </a:r>
          </a:p>
        </p:txBody>
      </p:sp>
      <p:sp>
        <p:nvSpPr>
          <p:cNvPr id="3" name="Titel">
            <a:extLst>
              <a:ext uri="{FF2B5EF4-FFF2-40B4-BE49-F238E27FC236}">
                <ns2:creationId id="{86A969A1-FE90-4CAE-9E4D-B1F25AAE345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Marko hat sich angemeldet. Was folgt?</a:t>
            </a:r>
          </a:p>
        </p:txBody>
      </p:sp>
      <p:sp>
        <p:nvSpPr>
          <p:cNvPr id="4" name="">
            <a:extLst>
              <a:ext uri="{FF2B5EF4-FFF2-40B4-BE49-F238E27FC236}">
                <ns2:creationId id="{E5F1DAFA-2528-492F-B2BE-F6718195409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1.</a:t>
            </a:r>
          </a:p>
        </p:txBody>
      </p:sp>
      <p:sp>
        <p:nvSpPr>
          <p:cNvPr id="5" name="">
            <a:extLst>
              <a:ext uri="{FF2B5EF4-FFF2-40B4-BE49-F238E27FC236}">
                <ns2:creationId id="{4DB35653-FBDF-4BEC-83F0-6FBB39603769}"/>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Anmeldung zu einem bestimmten Termin</a:t>
            </a:r>
          </a:p>
        </p:txBody>
      </p:sp>
      <p:sp>
        <p:nvSpPr>
          <p:cNvPr id="6" name="">
            <a:extLst>
              <a:ext uri="{FF2B5EF4-FFF2-40B4-BE49-F238E27FC236}">
                <ns2:creationId id="{CB2364BB-A3BB-4784-8D31-FC7726F1C590}"/>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Kontakt und Anmeldung bleiben mit dem Einladenden verknüpft.</a:t>
            </a:r>
          </a:p>
        </p:txBody>
      </p:sp>
      <p:sp>
        <p:nvSpPr>
          <p:cNvPr id="7" name="">
            <a:extLst>
              <a:ext uri="{FF2B5EF4-FFF2-40B4-BE49-F238E27FC236}">
                <ns2:creationId id="{AD290595-7437-4728-8D3A-3E8B1D2B748F}"/>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2.</a:t>
            </a:r>
          </a:p>
        </p:txBody>
      </p:sp>
      <p:sp>
        <p:nvSpPr>
          <p:cNvPr id="8" name="">
            <a:extLst>
              <a:ext uri="{FF2B5EF4-FFF2-40B4-BE49-F238E27FC236}">
                <ns2:creationId id="{46695ECA-CB8D-4B9F-A2E8-B65C37B9556C}"/>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Vor dem Webinar</a:t>
            </a:r>
          </a:p>
        </p:txBody>
      </p:sp>
      <p:sp>
        <p:nvSpPr>
          <p:cNvPr id="9" name="">
            <a:extLst>
              <a:ext uri="{FF2B5EF4-FFF2-40B4-BE49-F238E27FC236}">
                <ns2:creationId id="{62BE4D3F-BC4E-41C9-B048-D3D0AD57E314}"/>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Bestätigung und ausgewählte Erinnerungen helfen dem Gast bei der Teilnahme.</a:t>
            </a:r>
          </a:p>
        </p:txBody>
      </p:sp>
      <p:sp>
        <p:nvSpPr>
          <p:cNvPr id="10" name="">
            <a:extLst>
              <a:ext uri="{FF2B5EF4-FFF2-40B4-BE49-F238E27FC236}">
                <ns2:creationId id="{8ECC572D-40C3-4866-9005-CFF07D7DA9C3}"/>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3.</a:t>
            </a:r>
          </a:p>
        </p:txBody>
      </p:sp>
      <p:sp>
        <p:nvSpPr>
          <p:cNvPr id="11" name="">
            <a:extLst>
              <a:ext uri="{FF2B5EF4-FFF2-40B4-BE49-F238E27FC236}">
                <ns2:creationId id="{9B07424D-9E40-46F4-B29D-C0C5CD66F25E}"/>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Nach dem Webinar</a:t>
            </a:r>
          </a:p>
        </p:txBody>
      </p:sp>
      <p:sp>
        <p:nvSpPr>
          <p:cNvPr id="12" name="">
            <a:extLst>
              <a:ext uri="{FF2B5EF4-FFF2-40B4-BE49-F238E27FC236}">
                <ns2:creationId id="{CC04F91B-0460-4471-969A-A7A5BB25A43D}"/>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Der Partner bestätigt die Teilnahme und vereinbart ein Gespräch.</a:t>
            </a:r>
          </a:p>
        </p:txBody>
      </p:sp>
      <p:sp>
        <p:nvSpPr>
          <p:cNvPr id="13" name="">
            <a:extLst>
              <a:ext uri="{FF2B5EF4-FFF2-40B4-BE49-F238E27FC236}">
                <ns2:creationId id="{1996C6A4-A7E3-4F17-8120-05460EF79D98}"/>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4.</a:t>
            </a:r>
          </a:p>
        </p:txBody>
      </p:sp>
      <p:sp>
        <p:nvSpPr>
          <p:cNvPr id="14" name="">
            <a:extLst>
              <a:ext uri="{FF2B5EF4-FFF2-40B4-BE49-F238E27FC236}">
                <ns2:creationId id="{0015C3FA-BB82-4048-81E2-1B20DA03DFA6}"/>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Bei Nichtteilnahme</a:t>
            </a:r>
          </a:p>
        </p:txBody>
      </p:sp>
      <p:sp>
        <p:nvSpPr>
          <p:cNvPr id="15" name="">
            <a:extLst>
              <a:ext uri="{FF2B5EF4-FFF2-40B4-BE49-F238E27FC236}">
                <ns2:creationId id="{67891E00-CB5A-48F8-9822-D3F7DBF396CA}"/>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Persönliches Gespräch und neue Einladung zu einem neuen Termin.</a:t>
            </a:r>
          </a:p>
        </p:txBody>
      </p:sp>
    </p:spTree>
    <p:extLst>
      <p:ext uri="{BB962C8B-B14F-4D97-AF65-F5344CB8AC3E}">
        <ns4:creationId val="2122822085"/>
      </p:ext>
    </p:extLst>
  </p:cSld>
</p:sld>
</file>

<file path=ppt/slides/slide2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B9472236-3934-486C-A23A-6370DE23E664}"/>
              </a:ext>
            </a:extLst>
          </p:cNvPr>
          <p:cNvPicPr>
            <a:picLocks noChangeAspect="1"/>
          </p:cNvPicPr>
          <p:nvPr/>
        </p:nvPicPr>
        <p:blipFill>
          <a:blip r:embed="R91a2746f4c374b45"/>
          <a:stretch/>
        </p:blipFill>
        <p:spPr>
          <a:xfrm>
            <a:off x="9867900" y="276061"/>
            <a:ext cx="1695450" cy="438478"/>
          </a:xfrm>
          <a:prstGeom prst="rect">
            <a:avLst/>
          </a:prstGeom>
        </p:spPr>
      </p:pic>
      <p:sp>
        <p:nvSpPr>
          <p:cNvPr id="2" name="">
            <a:extLst>
              <a:ext uri="{FF2B5EF4-FFF2-40B4-BE49-F238E27FC236}">
                <ns2:creationId id="{68B0361B-9635-4166-AE62-4CF793B4F1A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24</a:t>
            </a:r>
          </a:p>
        </p:txBody>
      </p:sp>
      <p:sp>
        <p:nvSpPr>
          <p:cNvPr id="3" name="Titel">
            <a:extLst>
              <a:ext uri="{FF2B5EF4-FFF2-40B4-BE49-F238E27FC236}">
                <ns2:creationId id="{A3F07F94-2F35-418F-817F-9743B462CB6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Persönliche und Teamwebinare</a:t>
            </a:r>
          </a:p>
        </p:txBody>
      </p:sp>
      <p:sp>
        <p:nvSpPr>
          <p:cNvPr id="4" name="">
            <a:extLst>
              <a:ext uri="{FF2B5EF4-FFF2-40B4-BE49-F238E27FC236}">
                <ns2:creationId id="{15C68868-CAC3-4747-A74E-8D8DCC287173}"/>
              </a:ext>
            </a:extLst>
          </p:cNvPr>
          <p:cNvSpPr>
            <a:spLocks noGrp="1"/>
          </p:cNvSpPr>
          <p:nvPr/>
        </p:nvSpPr>
        <p:spPr>
          <a:xfrm>
            <a:off x="609600" y="2181225"/>
            <a:ext cx="10591800" cy="2190750"/>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de-DE">
                <a:solidFill>
                  <a:srgbClr val="153F36"/>
                </a:solidFill>
                <a:latin typeface="Arial"/>
                <a:ea typeface="Arial"/>
                <a:cs typeface="Arial"/>
              </a:rPr>
              <a:t>Ein einzelner Termin oder regelmäßige Treffen.</a:t>
            </a:r>
          </a:p>
          <a:p>
            <a:pPr>
              <a:defRPr sz="3150" b="1">
                <a:solidFill>
                  <a:srgbClr val="153F36"/>
                </a:solidFill>
                <a:latin typeface="Arial"/>
                <a:ea typeface="Arial"/>
                <a:cs typeface="Arial"/>
              </a:defRPr>
            </a:pPr>
            <a:r>
              <a:rPr sz="3150" b="1" lang="de-DE">
                <a:solidFill>
                  <a:srgbClr val="153F36"/>
                </a:solidFill>
                <a:latin typeface="Arial"/>
                <a:ea typeface="Arial"/>
                <a:cs typeface="Arial"/>
              </a:rPr>
              <a:t>In der gewählten Sprache.</a:t>
            </a:r>
          </a:p>
          <a:p>
            <a:pPr>
              <a:defRPr sz="3150" b="1">
                <a:solidFill>
                  <a:srgbClr val="153F36"/>
                </a:solidFill>
                <a:latin typeface="Arial"/>
                <a:ea typeface="Arial"/>
                <a:cs typeface="Arial"/>
              </a:defRPr>
            </a:pPr>
            <a:r>
              <a:rPr sz="3150" b="1" lang="de-DE">
                <a:solidFill>
                  <a:srgbClr val="153F36"/>
                </a:solidFill>
                <a:latin typeface="Arial"/>
                <a:ea typeface="Arial"/>
                <a:cs typeface="Arial"/>
              </a:rPr>
              <a:t>Für eigene Einladungen oder dein FCC Team.</a:t>
            </a:r>
          </a:p>
        </p:txBody>
      </p:sp>
      <p:sp>
        <p:nvSpPr>
          <p:cNvPr id="5" name="">
            <a:extLst>
              <a:ext uri="{FF2B5EF4-FFF2-40B4-BE49-F238E27FC236}">
                <ns2:creationId id="{CA141C86-D453-47CD-8181-922C077B11D4}"/>
              </a:ext>
            </a:extLst>
          </p:cNvPr>
          <p:cNvSpPr>
            <a:spLocks noGrp="1"/>
          </p:cNvSpPr>
          <p:nvPr/>
        </p:nvSpPr>
        <p:spPr>
          <a:xfrm>
            <a:off x="609600" y="4733925"/>
            <a:ext cx="10448925" cy="866775"/>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de-DE">
                <a:solidFill>
                  <a:srgbClr val="526B63"/>
                </a:solidFill>
                <a:latin typeface="Arial"/>
                <a:ea typeface="Arial"/>
                <a:cs typeface="Arial"/>
              </a:rPr>
              <a:t>Jedes Mitglied lädt über seinen eigenen Link ein und behält seine Kontakte.</a:t>
            </a:r>
          </a:p>
        </p:txBody>
      </p:sp>
      <p:sp>
        <p:nvSpPr>
          <p:cNvPr id="6" name="">
            <a:extLst>
              <a:ext uri="{FF2B5EF4-FFF2-40B4-BE49-F238E27FC236}">
                <ns2:creationId id="{330A4E96-5E13-4241-96CF-B5C8186A91E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de-DE">
                <a:solidFill>
                  <a:srgbClr val="526B63"/>
                </a:solidFill>
                <a:latin typeface="Arial"/>
                <a:ea typeface="Arial"/>
                <a:cs typeface="Arial"/>
              </a:rPr>
              <a:t>Eigene Webinare können im PRO Paket erstellt werden.</a:t>
            </a:r>
          </a:p>
        </p:txBody>
      </p:sp>
    </p:spTree>
    <p:extLst>
      <p:ext uri="{BB962C8B-B14F-4D97-AF65-F5344CB8AC3E}">
        <ns4:creationId val="1264850231"/>
      </p:ext>
    </p:extLst>
  </p:cSld>
</p:sld>
</file>

<file path=ppt/slides/slide2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5E86031B-74C2-4608-8EC0-F7A06E16AB36}"/>
              </a:ext>
            </a:extLst>
          </p:cNvPr>
          <p:cNvPicPr>
            <a:picLocks noChangeAspect="1"/>
          </p:cNvPicPr>
          <p:nvPr/>
        </p:nvPicPr>
        <p:blipFill>
          <a:blip r:embed="R59ec47a19bc2488c"/>
          <a:stretch/>
        </p:blipFill>
        <p:spPr>
          <a:xfrm>
            <a:off x="9867900" y="276061"/>
            <a:ext cx="1695450" cy="438478"/>
          </a:xfrm>
          <a:prstGeom prst="rect">
            <a:avLst/>
          </a:prstGeom>
        </p:spPr>
      </p:pic>
      <p:sp>
        <p:nvSpPr>
          <p:cNvPr id="2" name="">
            <a:extLst>
              <a:ext uri="{FF2B5EF4-FFF2-40B4-BE49-F238E27FC236}">
                <ns2:creationId id="{93698D6B-5742-4E5B-834D-CB8A1A514169}"/>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25</a:t>
            </a:r>
          </a:p>
        </p:txBody>
      </p:sp>
      <p:sp>
        <p:nvSpPr>
          <p:cNvPr id="3" name="Titel">
            <a:extLst>
              <a:ext uri="{FF2B5EF4-FFF2-40B4-BE49-F238E27FC236}">
                <ns2:creationId id="{E8A14DF5-11A1-4D9F-9B08-F9C64AB2045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Partner unterstützen unter Mein Team</a:t>
            </a:r>
          </a:p>
        </p:txBody>
      </p:sp>
      <p:sp>
        <p:nvSpPr>
          <p:cNvPr id="4" name="">
            <a:extLst>
              <a:ext uri="{FF2B5EF4-FFF2-40B4-BE49-F238E27FC236}">
                <ns2:creationId id="{5C794550-AB76-4651-9D65-FCC54402C9D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de-DE">
                <a:solidFill>
                  <a:srgbClr val="148977"/>
                </a:solidFill>
                <a:latin typeface="Arial"/>
                <a:ea typeface="Arial"/>
                <a:cs typeface="Arial"/>
              </a:rPr>
              <a:t>1.</a:t>
            </a:r>
          </a:p>
        </p:txBody>
      </p:sp>
      <p:sp>
        <p:nvSpPr>
          <p:cNvPr id="5" name="">
            <a:extLst>
              <a:ext uri="{FF2B5EF4-FFF2-40B4-BE49-F238E27FC236}">
                <ns2:creationId id="{0D790686-2438-4A73-8815-5D8A40D9C276}"/>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de-DE">
                <a:solidFill>
                  <a:srgbClr val="153F36"/>
                </a:solidFill>
                <a:latin typeface="Arial"/>
                <a:ea typeface="Arial"/>
                <a:cs typeface="Arial"/>
              </a:rPr>
              <a:t>Menschen und Fortschritt im Überblick</a:t>
            </a:r>
          </a:p>
        </p:txBody>
      </p:sp>
      <p:sp>
        <p:nvSpPr>
          <p:cNvPr id="6" name="">
            <a:extLst>
              <a:ext uri="{FF2B5EF4-FFF2-40B4-BE49-F238E27FC236}">
                <ns2:creationId id="{57A656BD-9E7D-4723-A3EB-C0005AB55657}"/>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Erkenne leichter, wo ein Gespräch und Unterstützung sinnvoll sind.</a:t>
            </a:r>
          </a:p>
        </p:txBody>
      </p:sp>
      <p:sp>
        <p:nvSpPr>
          <p:cNvPr id="7" name="">
            <a:extLst>
              <a:ext uri="{FF2B5EF4-FFF2-40B4-BE49-F238E27FC236}">
                <ns2:creationId id="{967AC6C6-2AA2-4DBF-B458-584184EDCB24}"/>
              </a:ext>
            </a:extLst>
          </p:cNvPr>
          <p:cNvSpPr>
            <a:spLocks noGrp="1"/>
          </p:cNvSpPr>
          <p:nvPr/>
        </p:nvSpPr>
        <p:spPr>
          <a:xfrm>
            <a:off x="609600" y="3105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de-DE">
                <a:solidFill>
                  <a:srgbClr val="148977"/>
                </a:solidFill>
                <a:latin typeface="Arial"/>
                <a:ea typeface="Arial"/>
                <a:cs typeface="Arial"/>
              </a:rPr>
              <a:t>2.</a:t>
            </a:r>
          </a:p>
        </p:txBody>
      </p:sp>
      <p:sp>
        <p:nvSpPr>
          <p:cNvPr id="8" name="">
            <a:extLst>
              <a:ext uri="{FF2B5EF4-FFF2-40B4-BE49-F238E27FC236}">
                <ns2:creationId id="{56B851E9-6FC5-431B-859B-AF028D6FEB8F}"/>
              </a:ext>
            </a:extLst>
          </p:cNvPr>
          <p:cNvSpPr>
            <a:spLocks noGrp="1"/>
          </p:cNvSpPr>
          <p:nvPr/>
        </p:nvSpPr>
        <p:spPr>
          <a:xfrm>
            <a:off x="1257300" y="3105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de-DE">
                <a:solidFill>
                  <a:srgbClr val="153F36"/>
                </a:solidFill>
                <a:latin typeface="Arial"/>
                <a:ea typeface="Arial"/>
                <a:cs typeface="Arial"/>
              </a:rPr>
              <a:t>Persönliche Kontaktaufnahme</a:t>
            </a:r>
          </a:p>
        </p:txBody>
      </p:sp>
      <p:sp>
        <p:nvSpPr>
          <p:cNvPr id="9" name="">
            <a:extLst>
              <a:ext uri="{FF2B5EF4-FFF2-40B4-BE49-F238E27FC236}">
                <ns2:creationId id="{818F0784-40F3-44C9-9582-B7A15C5FB7EE}"/>
              </a:ext>
            </a:extLst>
          </p:cNvPr>
          <p:cNvSpPr>
            <a:spLocks noGrp="1"/>
          </p:cNvSpPr>
          <p:nvPr/>
        </p:nvSpPr>
        <p:spPr>
          <a:xfrm>
            <a:off x="1257300" y="3514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Nachricht vorbereiten und das tatsächliche Senden bestätigen.</a:t>
            </a:r>
          </a:p>
        </p:txBody>
      </p:sp>
      <p:sp>
        <p:nvSpPr>
          <p:cNvPr id="10" name="">
            <a:extLst>
              <a:ext uri="{FF2B5EF4-FFF2-40B4-BE49-F238E27FC236}">
                <ns2:creationId id="{B9F0BD01-52B3-41AC-98C0-040405407F1A}"/>
              </a:ext>
            </a:extLst>
          </p:cNvPr>
          <p:cNvSpPr>
            <a:spLocks noGrp="1"/>
          </p:cNvSpPr>
          <p:nvPr/>
        </p:nvSpPr>
        <p:spPr>
          <a:xfrm>
            <a:off x="609600" y="4248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de-DE">
                <a:solidFill>
                  <a:srgbClr val="148977"/>
                </a:solidFill>
                <a:latin typeface="Arial"/>
                <a:ea typeface="Arial"/>
                <a:cs typeface="Arial"/>
              </a:rPr>
              <a:t>3.</a:t>
            </a:r>
          </a:p>
        </p:txBody>
      </p:sp>
      <p:sp>
        <p:nvSpPr>
          <p:cNvPr id="11" name="">
            <a:extLst>
              <a:ext uri="{FF2B5EF4-FFF2-40B4-BE49-F238E27FC236}">
                <ns2:creationId id="{481DB09C-DD2D-4344-86DC-1D4C290AFDE8}"/>
              </a:ext>
            </a:extLst>
          </p:cNvPr>
          <p:cNvSpPr>
            <a:spLocks noGrp="1"/>
          </p:cNvSpPr>
          <p:nvPr/>
        </p:nvSpPr>
        <p:spPr>
          <a:xfrm>
            <a:off x="1257300" y="4248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de-DE">
                <a:solidFill>
                  <a:srgbClr val="153F36"/>
                </a:solidFill>
                <a:latin typeface="Arial"/>
                <a:ea typeface="Arial"/>
                <a:cs typeface="Arial"/>
              </a:rPr>
              <a:t>Nächste Vereinbarung</a:t>
            </a:r>
          </a:p>
        </p:txBody>
      </p:sp>
      <p:sp>
        <p:nvSpPr>
          <p:cNvPr id="12" name="">
            <a:extLst>
              <a:ext uri="{FF2B5EF4-FFF2-40B4-BE49-F238E27FC236}">
                <ns2:creationId id="{FA5462F9-CF88-452C-9CD7-60E7B954693D}"/>
              </a:ext>
            </a:extLst>
          </p:cNvPr>
          <p:cNvSpPr>
            <a:spLocks noGrp="1"/>
          </p:cNvSpPr>
          <p:nvPr/>
        </p:nvSpPr>
        <p:spPr>
          <a:xfrm>
            <a:off x="1257300" y="4657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Erinnerung an ein Gespräch und weitere Unterstützung.</a:t>
            </a:r>
          </a:p>
        </p:txBody>
      </p:sp>
      <p:sp>
        <p:nvSpPr>
          <p:cNvPr id="13" name="">
            <a:extLst>
              <a:ext uri="{FF2B5EF4-FFF2-40B4-BE49-F238E27FC236}">
                <ns2:creationId id="{EA4F5EE5-D9B7-490A-8B9A-397E2C50127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de-DE">
                <a:solidFill>
                  <a:srgbClr val="526B63"/>
                </a:solidFill>
                <a:latin typeface="Arial"/>
                <a:ea typeface="Arial"/>
                <a:cs typeface="Arial"/>
              </a:rPr>
              <a:t>PRO Funktion. Zahlen helfen beim Gespräch und ersetzen es nicht.</a:t>
            </a:r>
          </a:p>
        </p:txBody>
      </p:sp>
    </p:spTree>
    <p:extLst>
      <p:ext uri="{BB962C8B-B14F-4D97-AF65-F5344CB8AC3E}">
        <ns4:creationId val="743576115"/>
      </p:ext>
    </p:extLst>
  </p:cSld>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15" name="">
            <a:extLst>
              <a:ext uri="{FF2B5EF4-FFF2-40B4-BE49-F238E27FC236}">
                <ns2:creationId id="{8FD54B42-D5D9-4C8E-A795-D8C9DC824F7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de-DE">
                <a:solidFill>
                  <a:srgbClr val="D4E8DD"/>
                </a:solidFill>
                <a:latin typeface="Arial"/>
                <a:ea typeface="Arial"/>
                <a:cs typeface="Arial"/>
              </a:rPr>
              <a:t>26</a:t>
            </a:r>
          </a:p>
        </p:txBody>
      </p:sp>
      <p:sp>
        <p:nvSpPr>
          <p:cNvPr id="2" name="Titel">
            <a:extLst>
              <a:ext uri="{FF2B5EF4-FFF2-40B4-BE49-F238E27FC236}">
                <ns2:creationId id="{0A8A4CAC-4231-4F7F-ACB0-D9A1910CA91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FFFFFF"/>
                </a:solidFill>
                <a:latin typeface="Arial"/>
                <a:ea typeface="Arial"/>
                <a:cs typeface="Arial"/>
              </a:defRPr>
            </a:defPPr>
          </a:lstStyle>
          <a:p>
            <a:pPr>
              <a:defRPr sz="3600" b="1">
                <a:solidFill>
                  <a:srgbClr val="FFFFFF"/>
                </a:solidFill>
                <a:latin typeface="Arial"/>
                <a:ea typeface="Arial"/>
                <a:cs typeface="Arial"/>
              </a:defRPr>
            </a:pPr>
            <a:r>
              <a:rPr sz="3600" b="1" lang="de-DE">
                <a:solidFill>
                  <a:srgbClr val="FFFFFF"/>
                </a:solidFill>
                <a:latin typeface="Arial"/>
                <a:ea typeface="Arial"/>
                <a:cs typeface="Arial"/>
              </a:rPr>
              <a:t>Ein Beispiel aus dem Alltag</a:t>
            </a:r>
          </a:p>
        </p:txBody>
      </p:sp>
      <p:sp>
        <p:nvSpPr>
          <p:cNvPr id="3" name="">
            <a:extLst>
              <a:ext uri="{FF2B5EF4-FFF2-40B4-BE49-F238E27FC236}">
                <ns2:creationId id="{95AA7EBA-6878-4508-B7DD-388E8A06A72D}"/>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de-DE">
                <a:solidFill>
                  <a:srgbClr val="D4E8DD"/>
                </a:solidFill>
                <a:latin typeface="Arial"/>
                <a:ea typeface="Arial"/>
                <a:cs typeface="Arial"/>
              </a:rPr>
              <a:t>1.</a:t>
            </a:r>
          </a:p>
        </p:txBody>
      </p:sp>
      <p:sp>
        <p:nvSpPr>
          <p:cNvPr id="4" name="">
            <a:extLst>
              <a:ext uri="{FF2B5EF4-FFF2-40B4-BE49-F238E27FC236}">
                <ns2:creationId id="{03646A3A-C104-4F37-B92F-BB2EAE187254}"/>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de-DE">
                <a:solidFill>
                  <a:srgbClr val="FFFFFF"/>
                </a:solidFill>
                <a:latin typeface="Arial"/>
                <a:ea typeface="Arial"/>
                <a:cs typeface="Arial"/>
              </a:rPr>
              <a:t>Der heutige Schritt</a:t>
            </a:r>
          </a:p>
        </p:txBody>
      </p:sp>
      <p:sp>
        <p:nvSpPr>
          <p:cNvPr id="5" name="">
            <a:extLst>
              <a:ext uri="{FF2B5EF4-FFF2-40B4-BE49-F238E27FC236}">
                <ns2:creationId id="{FE393999-B9B5-4679-B5D3-6DB274700D3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de-DE">
                <a:solidFill>
                  <a:srgbClr val="D4E8DD"/>
                </a:solidFill>
                <a:latin typeface="Arial"/>
                <a:ea typeface="Arial"/>
                <a:cs typeface="Arial"/>
              </a:rPr>
              <a:t>Ich öffne die Aufgabe und verstehe, was ich tun soll.</a:t>
            </a:r>
          </a:p>
        </p:txBody>
      </p:sp>
      <p:sp>
        <p:nvSpPr>
          <p:cNvPr id="6" name="">
            <a:extLst>
              <a:ext uri="{FF2B5EF4-FFF2-40B4-BE49-F238E27FC236}">
                <ns2:creationId id="{91FEC0DE-5CB4-4CA9-AAEC-3F72A813B357}"/>
              </a:ext>
            </a:extLst>
          </p:cNvPr>
          <p:cNvSpPr>
            <a:spLocks noGrp="1"/>
          </p:cNvSpPr>
          <p:nvPr/>
        </p:nvSpPr>
        <p:spPr>
          <a:xfrm>
            <a:off x="609600" y="28765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de-DE">
                <a:solidFill>
                  <a:srgbClr val="D4E8DD"/>
                </a:solidFill>
                <a:latin typeface="Arial"/>
                <a:ea typeface="Arial"/>
                <a:cs typeface="Arial"/>
              </a:rPr>
              <a:t>2.</a:t>
            </a:r>
          </a:p>
        </p:txBody>
      </p:sp>
      <p:sp>
        <p:nvSpPr>
          <p:cNvPr id="7" name="">
            <a:extLst>
              <a:ext uri="{FF2B5EF4-FFF2-40B4-BE49-F238E27FC236}">
                <ns2:creationId id="{DAD20ADD-6670-452E-AC38-4568348090F2}"/>
              </a:ext>
            </a:extLst>
          </p:cNvPr>
          <p:cNvSpPr>
            <a:spLocks noGrp="1"/>
          </p:cNvSpPr>
          <p:nvPr/>
        </p:nvSpPr>
        <p:spPr>
          <a:xfrm>
            <a:off x="1257300" y="28765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de-DE">
                <a:solidFill>
                  <a:srgbClr val="FFFFFF"/>
                </a:solidFill>
                <a:latin typeface="Arial"/>
                <a:ea typeface="Arial"/>
                <a:cs typeface="Arial"/>
              </a:rPr>
              <a:t>Ana und ihr Interesse</a:t>
            </a:r>
          </a:p>
        </p:txBody>
      </p:sp>
      <p:sp>
        <p:nvSpPr>
          <p:cNvPr id="8" name="">
            <a:extLst>
              <a:ext uri="{FF2B5EF4-FFF2-40B4-BE49-F238E27FC236}">
                <ns2:creationId id="{65D3A541-A07B-40D6-996F-497837E3F221}"/>
              </a:ext>
            </a:extLst>
          </p:cNvPr>
          <p:cNvSpPr>
            <a:spLocks noGrp="1"/>
          </p:cNvSpPr>
          <p:nvPr/>
        </p:nvSpPr>
        <p:spPr>
          <a:xfrm>
            <a:off x="1257300" y="32861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de-DE">
                <a:solidFill>
                  <a:srgbClr val="D4E8DD"/>
                </a:solidFill>
                <a:latin typeface="Arial"/>
                <a:ea typeface="Arial"/>
                <a:cs typeface="Arial"/>
              </a:rPr>
              <a:t>Ich bereite anhand des Gesprächs eine hilfreiche Nachricht vor.</a:t>
            </a:r>
          </a:p>
        </p:txBody>
      </p:sp>
      <p:sp>
        <p:nvSpPr>
          <p:cNvPr id="9" name="">
            <a:extLst>
              <a:ext uri="{FF2B5EF4-FFF2-40B4-BE49-F238E27FC236}">
                <ns2:creationId id="{B0B45942-1C82-4F2E-A57D-A14033966DFD}"/>
              </a:ext>
            </a:extLst>
          </p:cNvPr>
          <p:cNvSpPr>
            <a:spLocks noGrp="1"/>
          </p:cNvSpPr>
          <p:nvPr/>
        </p:nvSpPr>
        <p:spPr>
          <a:xfrm>
            <a:off x="609600" y="37909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de-DE">
                <a:solidFill>
                  <a:srgbClr val="D4E8DD"/>
                </a:solidFill>
                <a:latin typeface="Arial"/>
                <a:ea typeface="Arial"/>
                <a:cs typeface="Arial"/>
              </a:rPr>
              <a:t>3.</a:t>
            </a:r>
          </a:p>
        </p:txBody>
      </p:sp>
      <p:sp>
        <p:nvSpPr>
          <p:cNvPr id="10" name="">
            <a:extLst>
              <a:ext uri="{FF2B5EF4-FFF2-40B4-BE49-F238E27FC236}">
                <ns2:creationId id="{60121B05-21D8-491D-8733-458B22AA21A7}"/>
              </a:ext>
            </a:extLst>
          </p:cNvPr>
          <p:cNvSpPr>
            <a:spLocks noGrp="1"/>
          </p:cNvSpPr>
          <p:nvPr/>
        </p:nvSpPr>
        <p:spPr>
          <a:xfrm>
            <a:off x="1257300" y="37909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de-DE">
                <a:solidFill>
                  <a:srgbClr val="FFFFFF"/>
                </a:solidFill>
                <a:latin typeface="Arial"/>
                <a:ea typeface="Arial"/>
                <a:cs typeface="Arial"/>
              </a:rPr>
              <a:t>Meine Empfehlung</a:t>
            </a:r>
          </a:p>
        </p:txBody>
      </p:sp>
      <p:sp>
        <p:nvSpPr>
          <p:cNvPr id="11" name="">
            <a:extLst>
              <a:ext uri="{FF2B5EF4-FFF2-40B4-BE49-F238E27FC236}">
                <ns2:creationId id="{F6AE71F9-B8CE-4986-8A1F-59474B627BB0}"/>
              </a:ext>
            </a:extLst>
          </p:cNvPr>
          <p:cNvSpPr>
            <a:spLocks noGrp="1"/>
          </p:cNvSpPr>
          <p:nvPr/>
        </p:nvSpPr>
        <p:spPr>
          <a:xfrm>
            <a:off x="1257300" y="42005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de-DE">
                <a:solidFill>
                  <a:srgbClr val="D4E8DD"/>
                </a:solidFill>
                <a:latin typeface="Arial"/>
                <a:ea typeface="Arial"/>
                <a:cs typeface="Arial"/>
              </a:rPr>
              <a:t>Ich teile ein Produkt oder eine Einladung zum ausgewählten Termin.</a:t>
            </a:r>
          </a:p>
        </p:txBody>
      </p:sp>
      <p:sp>
        <p:nvSpPr>
          <p:cNvPr id="12" name="">
            <a:extLst>
              <a:ext uri="{FF2B5EF4-FFF2-40B4-BE49-F238E27FC236}">
                <ns2:creationId id="{F4A4571D-FA77-422B-9D76-F3ACB7D696EF}"/>
              </a:ext>
            </a:extLst>
          </p:cNvPr>
          <p:cNvSpPr>
            <a:spLocks noGrp="1"/>
          </p:cNvSpPr>
          <p:nvPr/>
        </p:nvSpPr>
        <p:spPr>
          <a:xfrm>
            <a:off x="609600" y="47053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de-DE">
                <a:solidFill>
                  <a:srgbClr val="D4E8DD"/>
                </a:solidFill>
                <a:latin typeface="Arial"/>
                <a:ea typeface="Arial"/>
                <a:cs typeface="Arial"/>
              </a:rPr>
              <a:t>4.</a:t>
            </a:r>
          </a:p>
        </p:txBody>
      </p:sp>
      <p:sp>
        <p:nvSpPr>
          <p:cNvPr id="13" name="">
            <a:extLst>
              <a:ext uri="{FF2B5EF4-FFF2-40B4-BE49-F238E27FC236}">
                <ns2:creationId id="{7F97F9DF-E177-4FFC-BEA3-E8607C5F908E}"/>
              </a:ext>
            </a:extLst>
          </p:cNvPr>
          <p:cNvSpPr>
            <a:spLocks noGrp="1"/>
          </p:cNvSpPr>
          <p:nvPr/>
        </p:nvSpPr>
        <p:spPr>
          <a:xfrm>
            <a:off x="1257300" y="47053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de-DE">
                <a:solidFill>
                  <a:srgbClr val="FFFFFF"/>
                </a:solidFill>
                <a:latin typeface="Arial"/>
                <a:ea typeface="Arial"/>
                <a:cs typeface="Arial"/>
              </a:rPr>
              <a:t>Nächste Vereinbarung</a:t>
            </a:r>
          </a:p>
        </p:txBody>
      </p:sp>
      <p:sp>
        <p:nvSpPr>
          <p:cNvPr id="14" name="">
            <a:extLst>
              <a:ext uri="{FF2B5EF4-FFF2-40B4-BE49-F238E27FC236}">
                <ns2:creationId id="{AE76C082-5565-4973-AD5C-698FD8AAAAA8}"/>
              </a:ext>
            </a:extLst>
          </p:cNvPr>
          <p:cNvSpPr>
            <a:spLocks noGrp="1"/>
          </p:cNvSpPr>
          <p:nvPr/>
        </p:nvSpPr>
        <p:spPr>
          <a:xfrm>
            <a:off x="1257300" y="51149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de-DE">
                <a:solidFill>
                  <a:srgbClr val="D4E8DD"/>
                </a:solidFill>
                <a:latin typeface="Arial"/>
                <a:ea typeface="Arial"/>
                <a:cs typeface="Arial"/>
              </a:rPr>
              <a:t>Ich halte die Handlung und das Datum der nächsten Kontaktaufnahme fest.</a:t>
            </a:r>
          </a:p>
        </p:txBody>
      </p:sp>
    </p:spTree>
    <p:extLst>
      <p:ext uri="{BB962C8B-B14F-4D97-AF65-F5344CB8AC3E}">
        <ns3:creationId val="1769184539"/>
      </p:ext>
    </p:extLst>
  </p:cSld>
</p:sld>
</file>

<file path=ppt/slides/slide2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AD69F793-5AC2-4B61-8E08-807EA3E82C93}"/>
              </a:ext>
            </a:extLst>
          </p:cNvPr>
          <p:cNvPicPr>
            <a:picLocks noChangeAspect="1"/>
          </p:cNvPicPr>
          <p:nvPr/>
        </p:nvPicPr>
        <p:blipFill>
          <a:blip r:embed="R5fc007ce49884a48"/>
          <a:stretch/>
        </p:blipFill>
        <p:spPr>
          <a:xfrm>
            <a:off x="9867900" y="276061"/>
            <a:ext cx="1695450" cy="438478"/>
          </a:xfrm>
          <a:prstGeom prst="rect">
            <a:avLst/>
          </a:prstGeom>
        </p:spPr>
      </p:pic>
      <p:sp>
        <p:nvSpPr>
          <p:cNvPr id="2" name="">
            <a:extLst>
              <a:ext uri="{FF2B5EF4-FFF2-40B4-BE49-F238E27FC236}">
                <ns2:creationId id="{D599A719-1E57-4637-B8AE-2EADBB60B92A}"/>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27</a:t>
            </a:r>
          </a:p>
        </p:txBody>
      </p:sp>
      <p:sp>
        <p:nvSpPr>
          <p:cNvPr id="3" name="Titel">
            <a:extLst>
              <a:ext uri="{FF2B5EF4-FFF2-40B4-BE49-F238E27FC236}">
                <ns2:creationId id="{8BB1BE9D-040A-44D0-AEAF-D2C3ACE9FBD0}"/>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Die Woche rund um dein Webinar</a:t>
            </a:r>
          </a:p>
        </p:txBody>
      </p:sp>
      <p:sp>
        <p:nvSpPr>
          <p:cNvPr id="4" name="">
            <a:extLst>
              <a:ext uri="{FF2B5EF4-FFF2-40B4-BE49-F238E27FC236}">
                <ns2:creationId id="{0F5BB3E7-43FB-4F91-B6E5-6557057A7B6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de-DE">
                <a:solidFill>
                  <a:srgbClr val="148977"/>
                </a:solidFill>
                <a:latin typeface="Arial"/>
                <a:ea typeface="Arial"/>
                <a:cs typeface="Arial"/>
              </a:rPr>
              <a:t>1.</a:t>
            </a:r>
          </a:p>
        </p:txBody>
      </p:sp>
      <p:sp>
        <p:nvSpPr>
          <p:cNvPr id="5" name="">
            <a:extLst>
              <a:ext uri="{FF2B5EF4-FFF2-40B4-BE49-F238E27FC236}">
                <ns2:creationId id="{82D731A5-172B-48C5-9CD0-E353F39BF95A}"/>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de-DE">
                <a:solidFill>
                  <a:srgbClr val="153F36"/>
                </a:solidFill>
                <a:latin typeface="Arial"/>
                <a:ea typeface="Arial"/>
                <a:cs typeface="Arial"/>
              </a:rPr>
              <a:t>Vor dem Termin</a:t>
            </a:r>
          </a:p>
        </p:txBody>
      </p:sp>
      <p:sp>
        <p:nvSpPr>
          <p:cNvPr id="6" name="">
            <a:extLst>
              <a:ext uri="{FF2B5EF4-FFF2-40B4-BE49-F238E27FC236}">
                <ns2:creationId id="{DE5EA19D-E7B5-44A8-9292-5670686D93E3}"/>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Lade passende Personen ein und verfolge die Anmeldungen.</a:t>
            </a:r>
          </a:p>
        </p:txBody>
      </p:sp>
      <p:sp>
        <p:nvSpPr>
          <p:cNvPr id="7" name="">
            <a:extLst>
              <a:ext uri="{FF2B5EF4-FFF2-40B4-BE49-F238E27FC236}">
                <ns2:creationId id="{3563B572-16E0-4754-AEA8-67452D850777}"/>
              </a:ext>
            </a:extLst>
          </p:cNvPr>
          <p:cNvSpPr>
            <a:spLocks noGrp="1"/>
          </p:cNvSpPr>
          <p:nvPr/>
        </p:nvSpPr>
        <p:spPr>
          <a:xfrm>
            <a:off x="609600" y="313372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de-DE">
                <a:solidFill>
                  <a:srgbClr val="148977"/>
                </a:solidFill>
                <a:latin typeface="Arial"/>
                <a:ea typeface="Arial"/>
                <a:cs typeface="Arial"/>
              </a:rPr>
              <a:t>2.</a:t>
            </a:r>
          </a:p>
        </p:txBody>
      </p:sp>
      <p:sp>
        <p:nvSpPr>
          <p:cNvPr id="8" name="">
            <a:extLst>
              <a:ext uri="{FF2B5EF4-FFF2-40B4-BE49-F238E27FC236}">
                <ns2:creationId id="{8ADC08C2-B626-42AB-8FE0-A6E440453B26}"/>
              </a:ext>
            </a:extLst>
          </p:cNvPr>
          <p:cNvSpPr>
            <a:spLocks noGrp="1"/>
          </p:cNvSpPr>
          <p:nvPr/>
        </p:nvSpPr>
        <p:spPr>
          <a:xfrm>
            <a:off x="1257300" y="313372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de-DE">
                <a:solidFill>
                  <a:srgbClr val="153F36"/>
                </a:solidFill>
                <a:latin typeface="Arial"/>
                <a:ea typeface="Arial"/>
                <a:cs typeface="Arial"/>
              </a:rPr>
              <a:t>Am Tag des Webinars</a:t>
            </a:r>
          </a:p>
        </p:txBody>
      </p:sp>
      <p:sp>
        <p:nvSpPr>
          <p:cNvPr id="9" name="">
            <a:extLst>
              <a:ext uri="{FF2B5EF4-FFF2-40B4-BE49-F238E27FC236}">
                <ns2:creationId id="{DADD1F90-51F6-4480-B898-7B0301DA703B}"/>
              </a:ext>
            </a:extLst>
          </p:cNvPr>
          <p:cNvSpPr>
            <a:spLocks noGrp="1"/>
          </p:cNvSpPr>
          <p:nvPr/>
        </p:nvSpPr>
        <p:spPr>
          <a:xfrm>
            <a:off x="1257300" y="35433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Prüfe die Vereinbarung mit den Gästen und den Zugangslink.</a:t>
            </a:r>
          </a:p>
        </p:txBody>
      </p:sp>
      <p:sp>
        <p:nvSpPr>
          <p:cNvPr id="10" name="">
            <a:extLst>
              <a:ext uri="{FF2B5EF4-FFF2-40B4-BE49-F238E27FC236}">
                <ns2:creationId id="{484C3046-0C6A-4B03-8AD2-29A084085E35}"/>
              </a:ext>
            </a:extLst>
          </p:cNvPr>
          <p:cNvSpPr>
            <a:spLocks noGrp="1"/>
          </p:cNvSpPr>
          <p:nvPr/>
        </p:nvSpPr>
        <p:spPr>
          <a:xfrm>
            <a:off x="609600" y="43053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de-DE">
                <a:solidFill>
                  <a:srgbClr val="148977"/>
                </a:solidFill>
                <a:latin typeface="Arial"/>
                <a:ea typeface="Arial"/>
                <a:cs typeface="Arial"/>
              </a:rPr>
              <a:t>3.</a:t>
            </a:r>
          </a:p>
        </p:txBody>
      </p:sp>
      <p:sp>
        <p:nvSpPr>
          <p:cNvPr id="11" name="">
            <a:extLst>
              <a:ext uri="{FF2B5EF4-FFF2-40B4-BE49-F238E27FC236}">
                <ns2:creationId id="{9A55AF0B-C2C8-4E43-9E8D-6C7703D217C1}"/>
              </a:ext>
            </a:extLst>
          </p:cNvPr>
          <p:cNvSpPr>
            <a:spLocks noGrp="1"/>
          </p:cNvSpPr>
          <p:nvPr/>
        </p:nvSpPr>
        <p:spPr>
          <a:xfrm>
            <a:off x="1257300" y="43053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de-DE">
                <a:solidFill>
                  <a:srgbClr val="153F36"/>
                </a:solidFill>
                <a:latin typeface="Arial"/>
                <a:ea typeface="Arial"/>
                <a:cs typeface="Arial"/>
              </a:rPr>
              <a:t>Nach dem Treffen</a:t>
            </a:r>
          </a:p>
        </p:txBody>
      </p:sp>
      <p:sp>
        <p:nvSpPr>
          <p:cNvPr id="12" name="">
            <a:extLst>
              <a:ext uri="{FF2B5EF4-FFF2-40B4-BE49-F238E27FC236}">
                <ns2:creationId id="{DB263AC0-53C8-4704-9C0D-1FE463EBD2D5}"/>
              </a:ext>
            </a:extLst>
          </p:cNvPr>
          <p:cNvSpPr>
            <a:spLocks noGrp="1"/>
          </p:cNvSpPr>
          <p:nvPr/>
        </p:nvSpPr>
        <p:spPr>
          <a:xfrm>
            <a:off x="1257300" y="47148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Besprich das Interesse und vereinbare den nächsten Schritt.</a:t>
            </a:r>
          </a:p>
        </p:txBody>
      </p:sp>
      <p:sp>
        <p:nvSpPr>
          <p:cNvPr id="13" name="">
            <a:extLst>
              <a:ext uri="{FF2B5EF4-FFF2-40B4-BE49-F238E27FC236}">
                <ns2:creationId id="{75B3B4AC-FE57-4B6D-896B-D75217171EA0}"/>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de-DE">
                <a:solidFill>
                  <a:srgbClr val="526B63"/>
                </a:solidFill>
                <a:latin typeface="Arial"/>
                <a:ea typeface="Arial"/>
                <a:cs typeface="Arial"/>
              </a:rPr>
              <a:t>Zwischen den Treffen betreust du Kunden und setzt die verfügbaren Schritte in Mein Weg fort.</a:t>
            </a:r>
          </a:p>
        </p:txBody>
      </p:sp>
    </p:spTree>
    <p:extLst>
      <p:ext uri="{BB962C8B-B14F-4D97-AF65-F5344CB8AC3E}">
        <ns4:creationId val="1050284790"/>
      </p:ext>
    </p:extLst>
  </p:cSld>
</p:sld>
</file>

<file path=ppt/slides/slide2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90AF6069-FCC7-4456-B755-1C11B7C5D272}"/>
              </a:ext>
            </a:extLst>
          </p:cNvPr>
          <p:cNvPicPr>
            <a:picLocks noChangeAspect="1"/>
          </p:cNvPicPr>
          <p:nvPr/>
        </p:nvPicPr>
        <p:blipFill>
          <a:blip r:embed="R2ce76662dc9b4623"/>
          <a:stretch/>
        </p:blipFill>
        <p:spPr>
          <a:xfrm>
            <a:off x="9867900" y="276061"/>
            <a:ext cx="1695450" cy="438478"/>
          </a:xfrm>
          <a:prstGeom prst="rect">
            <a:avLst/>
          </a:prstGeom>
        </p:spPr>
      </p:pic>
      <p:sp>
        <p:nvSpPr>
          <p:cNvPr id="2" name="">
            <a:extLst>
              <a:ext uri="{FF2B5EF4-FFF2-40B4-BE49-F238E27FC236}">
                <ns2:creationId id="{C23F1E39-5BF0-44A4-A298-3D226CF4DBA5}"/>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28</a:t>
            </a:r>
          </a:p>
        </p:txBody>
      </p:sp>
      <p:sp>
        <p:nvSpPr>
          <p:cNvPr id="3" name="Titel">
            <a:extLst>
              <a:ext uri="{FF2B5EF4-FFF2-40B4-BE49-F238E27FC236}">
                <ns2:creationId id="{AB0951CD-823B-4F14-9076-B1C104C88A1D}"/>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Ein Beispiel für die erste Woche</a:t>
            </a:r>
          </a:p>
        </p:txBody>
      </p:sp>
      <p:sp>
        <p:nvSpPr>
          <p:cNvPr id="4" name="">
            <a:extLst>
              <a:ext uri="{FF2B5EF4-FFF2-40B4-BE49-F238E27FC236}">
                <ns2:creationId id="{E4E16D70-7C22-4173-AEA3-D57D27D08849}"/>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1.</a:t>
            </a:r>
          </a:p>
        </p:txBody>
      </p:sp>
      <p:sp>
        <p:nvSpPr>
          <p:cNvPr id="5" name="">
            <a:extLst>
              <a:ext uri="{FF2B5EF4-FFF2-40B4-BE49-F238E27FC236}">
                <ns2:creationId id="{89CAEC09-35AD-4098-B8D6-9F7812181948}"/>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Kennenlernen</a:t>
            </a:r>
          </a:p>
        </p:txBody>
      </p:sp>
      <p:sp>
        <p:nvSpPr>
          <p:cNvPr id="6" name="">
            <a:extLst>
              <a:ext uri="{FF2B5EF4-FFF2-40B4-BE49-F238E27FC236}">
                <ns2:creationId id="{0D5006A6-5EE1-48F3-BADE-BF53FCED4EB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Konto, Karte und Gespräch mit dem Sponsor.</a:t>
            </a:r>
          </a:p>
        </p:txBody>
      </p:sp>
      <p:sp>
        <p:nvSpPr>
          <p:cNvPr id="7" name="">
            <a:extLst>
              <a:ext uri="{FF2B5EF4-FFF2-40B4-BE49-F238E27FC236}">
                <ns2:creationId id="{7303B055-FEE5-47B6-8053-4DA925ABC5E7}"/>
              </a:ext>
            </a:extLst>
          </p:cNvPr>
          <p:cNvSpPr>
            <a:spLocks noGrp="1"/>
          </p:cNvSpPr>
          <p:nvPr/>
        </p:nvSpPr>
        <p:spPr>
          <a:xfrm>
            <a:off x="609600" y="28575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2.</a:t>
            </a:r>
          </a:p>
        </p:txBody>
      </p:sp>
      <p:sp>
        <p:nvSpPr>
          <p:cNvPr id="8" name="">
            <a:extLst>
              <a:ext uri="{FF2B5EF4-FFF2-40B4-BE49-F238E27FC236}">
                <ns2:creationId id="{9F217234-F93D-4B66-BF0E-A719F5C8D308}"/>
              </a:ext>
            </a:extLst>
          </p:cNvPr>
          <p:cNvSpPr>
            <a:spLocks noGrp="1"/>
          </p:cNvSpPr>
          <p:nvPr/>
        </p:nvSpPr>
        <p:spPr>
          <a:xfrm>
            <a:off x="1257300" y="28575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Eine hilfreiche Empfehlung</a:t>
            </a:r>
          </a:p>
        </p:txBody>
      </p:sp>
      <p:sp>
        <p:nvSpPr>
          <p:cNvPr id="9" name="">
            <a:extLst>
              <a:ext uri="{FF2B5EF4-FFF2-40B4-BE49-F238E27FC236}">
                <ns2:creationId id="{CC951A8C-6108-4925-B9E2-E88BC497C0F5}"/>
              </a:ext>
            </a:extLst>
          </p:cNvPr>
          <p:cNvSpPr>
            <a:spLocks noGrp="1"/>
          </p:cNvSpPr>
          <p:nvPr/>
        </p:nvSpPr>
        <p:spPr>
          <a:xfrm>
            <a:off x="1257300" y="32670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Produktauswahl und eine natürliche persönliche Nachricht.</a:t>
            </a:r>
          </a:p>
        </p:txBody>
      </p:sp>
      <p:sp>
        <p:nvSpPr>
          <p:cNvPr id="10" name="">
            <a:extLst>
              <a:ext uri="{FF2B5EF4-FFF2-40B4-BE49-F238E27FC236}">
                <ns2:creationId id="{9D38A44F-AE96-4E0B-9981-4DAFF3425B47}"/>
              </a:ext>
            </a:extLst>
          </p:cNvPr>
          <p:cNvSpPr>
            <a:spLocks noGrp="1"/>
          </p:cNvSpPr>
          <p:nvPr/>
        </p:nvSpPr>
        <p:spPr>
          <a:xfrm>
            <a:off x="609600" y="37528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3.</a:t>
            </a:r>
          </a:p>
        </p:txBody>
      </p:sp>
      <p:sp>
        <p:nvSpPr>
          <p:cNvPr id="11" name="">
            <a:extLst>
              <a:ext uri="{FF2B5EF4-FFF2-40B4-BE49-F238E27FC236}">
                <ns2:creationId id="{8E9E14C2-91E9-4D7C-AAE4-F4F0E9B5CF6F}"/>
              </a:ext>
            </a:extLst>
          </p:cNvPr>
          <p:cNvSpPr>
            <a:spLocks noGrp="1"/>
          </p:cNvSpPr>
          <p:nvPr/>
        </p:nvSpPr>
        <p:spPr>
          <a:xfrm>
            <a:off x="1257300" y="37528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Eine Einladung</a:t>
            </a:r>
          </a:p>
        </p:txBody>
      </p:sp>
      <p:sp>
        <p:nvSpPr>
          <p:cNvPr id="12" name="">
            <a:extLst>
              <a:ext uri="{FF2B5EF4-FFF2-40B4-BE49-F238E27FC236}">
                <ns2:creationId id="{D22D0B3A-262A-432C-81FD-50F65D84DE52}"/>
              </a:ext>
            </a:extLst>
          </p:cNvPr>
          <p:cNvSpPr>
            <a:spLocks noGrp="1"/>
          </p:cNvSpPr>
          <p:nvPr/>
        </p:nvSpPr>
        <p:spPr>
          <a:xfrm>
            <a:off x="1257300" y="41624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Aktuelles Webinar auswählen und Einladung vorbereiten.</a:t>
            </a:r>
          </a:p>
        </p:txBody>
      </p:sp>
      <p:sp>
        <p:nvSpPr>
          <p:cNvPr id="13" name="">
            <a:extLst>
              <a:ext uri="{FF2B5EF4-FFF2-40B4-BE49-F238E27FC236}">
                <ns2:creationId id="{E7B9CBFC-3ADE-4A30-AE7C-A4D42E435278}"/>
              </a:ext>
            </a:extLst>
          </p:cNvPr>
          <p:cNvSpPr>
            <a:spLocks noGrp="1"/>
          </p:cNvSpPr>
          <p:nvPr/>
        </p:nvSpPr>
        <p:spPr>
          <a:xfrm>
            <a:off x="609600" y="46482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4.</a:t>
            </a:r>
          </a:p>
        </p:txBody>
      </p:sp>
      <p:sp>
        <p:nvSpPr>
          <p:cNvPr id="14" name="">
            <a:extLst>
              <a:ext uri="{FF2B5EF4-FFF2-40B4-BE49-F238E27FC236}">
                <ns2:creationId id="{08B2CFAD-8690-4998-8924-E7791A9679EB}"/>
              </a:ext>
            </a:extLst>
          </p:cNvPr>
          <p:cNvSpPr>
            <a:spLocks noGrp="1"/>
          </p:cNvSpPr>
          <p:nvPr/>
        </p:nvSpPr>
        <p:spPr>
          <a:xfrm>
            <a:off x="1257300" y="46482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Ein kurzer Rückblick</a:t>
            </a:r>
          </a:p>
        </p:txBody>
      </p:sp>
      <p:sp>
        <p:nvSpPr>
          <p:cNvPr id="15" name="">
            <a:extLst>
              <a:ext uri="{FF2B5EF4-FFF2-40B4-BE49-F238E27FC236}">
                <ns2:creationId id="{31F9D09C-3988-4A44-80DE-E4905FDBB713}"/>
              </a:ext>
            </a:extLst>
          </p:cNvPr>
          <p:cNvSpPr>
            <a:spLocks noGrp="1"/>
          </p:cNvSpPr>
          <p:nvPr/>
        </p:nvSpPr>
        <p:spPr>
          <a:xfrm>
            <a:off x="1257300" y="5057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Was erledigt wurde, was unklar ist und welcher Schritt folgt.</a:t>
            </a:r>
          </a:p>
        </p:txBody>
      </p:sp>
    </p:spTree>
    <p:extLst>
      <p:ext uri="{BB962C8B-B14F-4D97-AF65-F5344CB8AC3E}">
        <ns4:creationId val="185701561"/>
      </p:ext>
    </p:extLst>
  </p:cSld>
</p:sld>
</file>

<file path=ppt/slides/slide2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6A372F37-AC02-4069-917F-14900D63FA2F}"/>
              </a:ext>
            </a:extLst>
          </p:cNvPr>
          <p:cNvPicPr>
            <a:picLocks noChangeAspect="1"/>
          </p:cNvPicPr>
          <p:nvPr/>
        </p:nvPicPr>
        <p:blipFill>
          <a:blip r:embed="R5e6a51b14994433f"/>
          <a:stretch/>
        </p:blipFill>
        <p:spPr>
          <a:xfrm>
            <a:off x="9867900" y="276061"/>
            <a:ext cx="1695450" cy="438478"/>
          </a:xfrm>
          <a:prstGeom prst="rect">
            <a:avLst/>
          </a:prstGeom>
        </p:spPr>
      </p:pic>
      <p:sp>
        <p:nvSpPr>
          <p:cNvPr id="2" name="">
            <a:extLst>
              <a:ext uri="{FF2B5EF4-FFF2-40B4-BE49-F238E27FC236}">
                <ns2:creationId id="{F59ED990-7C91-47DE-B6FF-FD1484E9EE76}"/>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29</a:t>
            </a:r>
          </a:p>
        </p:txBody>
      </p:sp>
      <p:sp>
        <p:nvSpPr>
          <p:cNvPr id="3" name="Titel">
            <a:extLst>
              <a:ext uri="{FF2B5EF4-FFF2-40B4-BE49-F238E27FC236}">
                <ns2:creationId id="{26408AEC-A0D6-4A44-A0F9-D0C8BC1357D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Free und PRO: nach Bedarf wählen</a:t>
            </a:r>
          </a:p>
        </p:txBody>
      </p:sp>
      <p:sp>
        <p:nvSpPr>
          <p:cNvPr id="4" name="">
            <a:extLst>
              <a:ext uri="{FF2B5EF4-FFF2-40B4-BE49-F238E27FC236}">
                <ns2:creationId id="{60B55B24-89D6-4E5D-A9E8-E601C38C3855}"/>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de-DE">
                <a:solidFill>
                  <a:srgbClr val="153F36"/>
                </a:solidFill>
                <a:latin typeface="Arial"/>
                <a:ea typeface="Arial"/>
                <a:cs typeface="Arial"/>
              </a:rPr>
              <a:t>Free</a:t>
            </a:r>
          </a:p>
        </p:txBody>
      </p:sp>
      <p:sp>
        <p:nvSpPr>
          <p:cNvPr id="5" name="">
            <a:extLst>
              <a:ext uri="{FF2B5EF4-FFF2-40B4-BE49-F238E27FC236}">
                <ns2:creationId id="{43A95E34-CA37-48CF-8F92-03753AFC8E52}"/>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de-DE">
                <a:solidFill>
                  <a:srgbClr val="526B63"/>
                </a:solidFill>
                <a:latin typeface="Arial"/>
                <a:ea typeface="Arial"/>
                <a:cs typeface="Arial"/>
              </a:rPr>
              <a:t>Persönliche Karte und Teilen von Empfehlungen.</a:t>
            </a:r>
          </a:p>
          <a:p>
            <a:r>
              <a:t/>
            </a:r>
          </a:p>
          <a:p>
            <a:pPr>
              <a:defRPr sz="2175" b="0">
                <a:solidFill>
                  <a:srgbClr val="526B63"/>
                </a:solidFill>
                <a:latin typeface="Arial"/>
                <a:ea typeface="Arial"/>
                <a:cs typeface="Arial"/>
              </a:defRPr>
            </a:pPr>
            <a:r>
              <a:rPr sz="2175" b="0" lang="de-DE">
                <a:solidFill>
                  <a:srgbClr val="526B63"/>
                </a:solidFill>
                <a:latin typeface="Arial"/>
                <a:ea typeface="Arial"/>
                <a:cs typeface="Arial"/>
              </a:rPr>
              <a:t>Kontakte, vereinbarte Gespräche und persönliche Aufgaben.</a:t>
            </a:r>
          </a:p>
        </p:txBody>
      </p:sp>
      <p:sp>
        <p:nvSpPr>
          <p:cNvPr id="6" name="">
            <a:extLst>
              <a:ext uri="{FF2B5EF4-FFF2-40B4-BE49-F238E27FC236}">
                <ns2:creationId id="{C4E1F5DC-0C3B-4C12-8156-1609B7C6E1B3}"/>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de-DE">
                <a:solidFill>
                  <a:srgbClr val="153F36"/>
                </a:solidFill>
                <a:latin typeface="Arial"/>
                <a:ea typeface="Arial"/>
                <a:cs typeface="Arial"/>
              </a:rPr>
              <a:t>PRO</a:t>
            </a:r>
          </a:p>
        </p:txBody>
      </p:sp>
      <p:sp>
        <p:nvSpPr>
          <p:cNvPr id="7" name="">
            <a:extLst>
              <a:ext uri="{FF2B5EF4-FFF2-40B4-BE49-F238E27FC236}">
                <ns2:creationId id="{E86197AF-9652-4CFF-A13A-1751EB92289C}"/>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de-DE">
                <a:solidFill>
                  <a:srgbClr val="526B63"/>
                </a:solidFill>
                <a:latin typeface="Arial"/>
                <a:ea typeface="Arial"/>
                <a:cs typeface="Arial"/>
              </a:rPr>
              <a:t>Persönlicher Coach und Teamübersicht.</a:t>
            </a:r>
          </a:p>
          <a:p>
            <a:r>
              <a:t/>
            </a:r>
          </a:p>
          <a:p>
            <a:pPr>
              <a:defRPr sz="2175" b="0">
                <a:solidFill>
                  <a:srgbClr val="526B63"/>
                </a:solidFill>
                <a:latin typeface="Arial"/>
                <a:ea typeface="Arial"/>
                <a:cs typeface="Arial"/>
              </a:defRPr>
            </a:pPr>
            <a:r>
              <a:rPr sz="2175" b="0" lang="de-DE">
                <a:solidFill>
                  <a:srgbClr val="526B63"/>
                </a:solidFill>
                <a:latin typeface="Arial"/>
                <a:ea typeface="Arial"/>
                <a:cs typeface="Arial"/>
              </a:rPr>
              <a:t>Eigene Webinare, Videoeinladungen und weitere Werkzeuge.</a:t>
            </a:r>
          </a:p>
        </p:txBody>
      </p:sp>
      <p:sp>
        <p:nvSpPr>
          <p:cNvPr id="8" name="">
            <a:extLst>
              <a:ext uri="{FF2B5EF4-FFF2-40B4-BE49-F238E27FC236}">
                <ns2:creationId id="{9AC41453-B93F-4081-8A58-8F439FDBAE8E}"/>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de-DE">
                <a:solidFill>
                  <a:srgbClr val="526B63"/>
                </a:solidFill>
                <a:latin typeface="Arial"/>
                <a:ea typeface="Arial"/>
                <a:cs typeface="Arial"/>
              </a:rPr>
              <a:t>PRO ist kostenpflichtig. Aktuelle Leistungen und Preise werden in FCC angezeigt.</a:t>
            </a:r>
          </a:p>
        </p:txBody>
      </p:sp>
    </p:spTree>
    <p:extLst>
      <p:ext uri="{BB962C8B-B14F-4D97-AF65-F5344CB8AC3E}">
        <ns4:creationId val="1992491909"/>
      </p:ext>
    </p:extLst>
  </p:cSld>
</p:sld>
</file>

<file path=ppt/slides/slide3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8A847E84-CE4C-4CC0-B070-58B987762D4A}"/>
              </a:ext>
            </a:extLst>
          </p:cNvPr>
          <p:cNvPicPr>
            <a:picLocks noChangeAspect="1"/>
          </p:cNvPicPr>
          <p:nvPr/>
        </p:nvPicPr>
        <p:blipFill>
          <a:blip r:embed="R90f9cc35fcf0450c"/>
          <a:stretch/>
        </p:blipFill>
        <p:spPr>
          <a:xfrm>
            <a:off x="9867900" y="276061"/>
            <a:ext cx="1695450" cy="438478"/>
          </a:xfrm>
          <a:prstGeom prst="rect">
            <a:avLst/>
          </a:prstGeom>
        </p:spPr>
      </p:pic>
      <p:sp>
        <p:nvSpPr>
          <p:cNvPr id="2" name="">
            <a:extLst>
              <a:ext uri="{FF2B5EF4-FFF2-40B4-BE49-F238E27FC236}">
                <ns2:creationId id="{3998E854-20B7-4D4D-825D-9507829847E4}"/>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30</a:t>
            </a:r>
          </a:p>
        </p:txBody>
      </p:sp>
      <p:sp>
        <p:nvSpPr>
          <p:cNvPr id="3" name="Titel">
            <a:extLst>
              <a:ext uri="{FF2B5EF4-FFF2-40B4-BE49-F238E27FC236}">
                <ns2:creationId id="{D7A61237-BA69-4EAE-BC4F-F276472E1BCE}"/>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Fragen für das persönliche Gespräch</a:t>
            </a:r>
          </a:p>
        </p:txBody>
      </p:sp>
      <p:sp>
        <p:nvSpPr>
          <p:cNvPr id="4" name="">
            <a:extLst>
              <a:ext uri="{FF2B5EF4-FFF2-40B4-BE49-F238E27FC236}">
                <ns2:creationId id="{2DF79649-6C2F-45FF-8E1E-2C06B3DFCAC7}"/>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1.</a:t>
            </a:r>
          </a:p>
        </p:txBody>
      </p:sp>
      <p:sp>
        <p:nvSpPr>
          <p:cNvPr id="5" name="">
            <a:extLst>
              <a:ext uri="{FF2B5EF4-FFF2-40B4-BE49-F238E27FC236}">
                <ns2:creationId id="{0B6DA76C-B943-432A-B447-BF9D222BC1C7}"/>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Welcher Einstieg passt zu mir?</a:t>
            </a:r>
          </a:p>
        </p:txBody>
      </p:sp>
      <p:sp>
        <p:nvSpPr>
          <p:cNvPr id="6" name="">
            <a:extLst>
              <a:ext uri="{FF2B5EF4-FFF2-40B4-BE49-F238E27FC236}">
                <ns2:creationId id="{980D52DB-06F8-442B-9486-2B3594D0853F}"/>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Produkte nutzen oder geschäftlich zusammenarbeiten.</a:t>
            </a:r>
          </a:p>
        </p:txBody>
      </p:sp>
      <p:sp>
        <p:nvSpPr>
          <p:cNvPr id="7" name="">
            <a:extLst>
              <a:ext uri="{FF2B5EF4-FFF2-40B4-BE49-F238E27FC236}">
                <ns2:creationId id="{756C80F1-00D4-47FA-A748-CF5C89E7CDA3}"/>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2.</a:t>
            </a:r>
          </a:p>
        </p:txBody>
      </p:sp>
      <p:sp>
        <p:nvSpPr>
          <p:cNvPr id="8" name="">
            <a:extLst>
              <a:ext uri="{FF2B5EF4-FFF2-40B4-BE49-F238E27FC236}">
                <ns2:creationId id="{57DE507B-F306-4302-BC81-A9F642343139}"/>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Wie viel Zeit kann ich einplanen?</a:t>
            </a:r>
          </a:p>
        </p:txBody>
      </p:sp>
      <p:sp>
        <p:nvSpPr>
          <p:cNvPr id="9" name="">
            <a:extLst>
              <a:ext uri="{FF2B5EF4-FFF2-40B4-BE49-F238E27FC236}">
                <ns2:creationId id="{F22B9F41-26A8-4FA6-8538-9DB9DA3162CF}"/>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Einen realistischen Rhythmus und verfügbare Schritte vereinbaren.</a:t>
            </a:r>
          </a:p>
        </p:txBody>
      </p:sp>
      <p:sp>
        <p:nvSpPr>
          <p:cNvPr id="10" name="">
            <a:extLst>
              <a:ext uri="{FF2B5EF4-FFF2-40B4-BE49-F238E27FC236}">
                <ns2:creationId id="{3AEF13F9-FCAD-4E39-9580-49296A61F38E}"/>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3.</a:t>
            </a:r>
          </a:p>
        </p:txBody>
      </p:sp>
      <p:sp>
        <p:nvSpPr>
          <p:cNvPr id="11" name="">
            <a:extLst>
              <a:ext uri="{FF2B5EF4-FFF2-40B4-BE49-F238E27FC236}">
                <ns2:creationId id="{79B1BB93-4440-41B9-A6A6-361B1780F78E}"/>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Welche Kosten soll ich prüfen?</a:t>
            </a:r>
          </a:p>
        </p:txBody>
      </p:sp>
      <p:sp>
        <p:nvSpPr>
          <p:cNvPr id="12" name="">
            <a:extLst>
              <a:ext uri="{FF2B5EF4-FFF2-40B4-BE49-F238E27FC236}">
                <ns2:creationId id="{0D214BC7-68F9-4224-B971-EF7B21F274B6}"/>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Produkte, Geschäftstätigkeit und gegebenenfalls das FCC PRO Paket.</a:t>
            </a:r>
          </a:p>
        </p:txBody>
      </p:sp>
      <p:sp>
        <p:nvSpPr>
          <p:cNvPr id="13" name="">
            <a:extLst>
              <a:ext uri="{FF2B5EF4-FFF2-40B4-BE49-F238E27FC236}">
                <ns2:creationId id="{BAA6452F-3A8A-4DDB-8B39-8563C5F5DEAC}"/>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de-DE">
                <a:solidFill>
                  <a:srgbClr val="148977"/>
                </a:solidFill>
                <a:latin typeface="Arial"/>
                <a:ea typeface="Arial"/>
                <a:cs typeface="Arial"/>
              </a:rPr>
              <a:t>4.</a:t>
            </a:r>
          </a:p>
        </p:txBody>
      </p:sp>
      <p:sp>
        <p:nvSpPr>
          <p:cNvPr id="14" name="">
            <a:extLst>
              <a:ext uri="{FF2B5EF4-FFF2-40B4-BE49-F238E27FC236}">
                <ns2:creationId id="{771B1C17-3F7C-4F88-85D9-5C27843AEC35}"/>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de-DE">
                <a:solidFill>
                  <a:srgbClr val="153F36"/>
                </a:solidFill>
                <a:latin typeface="Arial"/>
                <a:ea typeface="Arial"/>
                <a:cs typeface="Arial"/>
              </a:rPr>
              <a:t>Wo bekomme ich Hilfe?</a:t>
            </a:r>
          </a:p>
        </p:txBody>
      </p:sp>
      <p:sp>
        <p:nvSpPr>
          <p:cNvPr id="15" name="">
            <a:extLst>
              <a:ext uri="{FF2B5EF4-FFF2-40B4-BE49-F238E27FC236}">
                <ns2:creationId id="{E15C9F73-FB10-4547-9706-D38095AA7206}"/>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Sponsor, Team, Schulung und FCC Unterstützung.</a:t>
            </a:r>
          </a:p>
        </p:txBody>
      </p:sp>
    </p:spTree>
    <p:extLst>
      <p:ext uri="{BB962C8B-B14F-4D97-AF65-F5344CB8AC3E}">
        <ns4:creationId val="65287420"/>
      </p:ext>
    </p:extLst>
  </p:cSld>
</p:sld>
</file>

<file path=ppt/slides/slide3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8F7198C6-2DE8-43DF-B1EF-D88A1974C6C5}"/>
              </a:ext>
            </a:extLst>
          </p:cNvPr>
          <p:cNvPicPr>
            <a:picLocks noChangeAspect="1"/>
          </p:cNvPicPr>
          <p:nvPr/>
        </p:nvPicPr>
        <p:blipFill>
          <a:blip r:embed="R83eb3923d8184bad"/>
          <a:stretch/>
        </p:blipFill>
        <p:spPr>
          <a:xfrm>
            <a:off x="9867900" y="276061"/>
            <a:ext cx="1695450" cy="438478"/>
          </a:xfrm>
          <a:prstGeom prst="rect">
            <a:avLst/>
          </a:prstGeom>
        </p:spPr>
      </p:pic>
      <p:sp>
        <p:nvSpPr>
          <p:cNvPr id="2" name="">
            <a:extLst>
              <a:ext uri="{FF2B5EF4-FFF2-40B4-BE49-F238E27FC236}">
                <ns2:creationId id="{1A09478C-BF47-4F20-BD76-F045C9D915C8}"/>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31</a:t>
            </a:r>
          </a:p>
        </p:txBody>
      </p:sp>
      <p:sp>
        <p:nvSpPr>
          <p:cNvPr id="3" name="Titel">
            <a:extLst>
              <a:ext uri="{FF2B5EF4-FFF2-40B4-BE49-F238E27FC236}">
                <ns2:creationId id="{7D02396B-C2D6-47CB-AB7E-1597B626F1FE}"/>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Der nächste Schritt nach dem Webinar</a:t>
            </a:r>
          </a:p>
        </p:txBody>
      </p:sp>
      <p:sp>
        <p:nvSpPr>
          <p:cNvPr id="4" name="">
            <a:extLst>
              <a:ext uri="{FF2B5EF4-FFF2-40B4-BE49-F238E27FC236}">
                <ns2:creationId id="{10FB5614-1D74-41FB-BD52-AAD704F16FB3}"/>
              </a:ext>
            </a:extLst>
          </p:cNvPr>
          <p:cNvSpPr>
            <a:spLocks noGrp="1"/>
          </p:cNvSpPr>
          <p:nvPr/>
        </p:nvSpPr>
        <p:spPr>
          <a:xfrm>
            <a:off x="609600" y="2171700"/>
            <a:ext cx="10401300" cy="1514475"/>
          </a:xfrm>
          <a:prstGeom prst="rect">
            <a:avLst/>
          </a:prstGeom>
          <a:noFill/>
          <a:ln w="0">
            <a:noFill/>
          </a:ln>
        </p:spPr>
        <p:txBody>
          <a:bodyPr wrap="square" lIns="0" tIns="0" rIns="0" bIns="0" anchor="t">
            <a:noAutofit/>
          </a:bodyPr>
          <a:lstStyle>
            <a:defPPr>
              <a:defRPr sz="4425" b="1">
                <a:solidFill>
                  <a:srgbClr val="153F36"/>
                </a:solidFill>
                <a:latin typeface="Arial"/>
                <a:ea typeface="Arial"/>
                <a:cs typeface="Arial"/>
              </a:defRPr>
            </a:defPPr>
          </a:lstStyle>
          <a:p>
            <a:pPr>
              <a:defRPr sz="4425" b="1">
                <a:solidFill>
                  <a:srgbClr val="153F36"/>
                </a:solidFill>
                <a:latin typeface="Arial"/>
                <a:ea typeface="Arial"/>
                <a:cs typeface="Arial"/>
              </a:defRPr>
            </a:pPr>
            <a:r>
              <a:rPr sz="4425" b="1" lang="de-DE">
                <a:solidFill>
                  <a:srgbClr val="153F36"/>
                </a:solidFill>
                <a:latin typeface="Arial"/>
                <a:ea typeface="Arial"/>
                <a:cs typeface="Arial"/>
              </a:rPr>
              <a:t>Ein Gespräch mit der Person,</a:t>
            </a:r>
          </a:p>
          <a:p>
            <a:pPr>
              <a:defRPr sz="4425" b="1">
                <a:solidFill>
                  <a:srgbClr val="153F36"/>
                </a:solidFill>
                <a:latin typeface="Arial"/>
                <a:ea typeface="Arial"/>
                <a:cs typeface="Arial"/>
              </a:defRPr>
            </a:pPr>
            <a:r>
              <a:rPr sz="4425" b="1" lang="de-DE">
                <a:solidFill>
                  <a:srgbClr val="153F36"/>
                </a:solidFill>
                <a:latin typeface="Arial"/>
                <a:ea typeface="Arial"/>
                <a:cs typeface="Arial"/>
              </a:rPr>
              <a:t>die Sie eingeladen hat</a:t>
            </a:r>
          </a:p>
        </p:txBody>
      </p:sp>
      <p:sp>
        <p:nvSpPr>
          <p:cNvPr id="5" name="">
            <a:extLst>
              <a:ext uri="{FF2B5EF4-FFF2-40B4-BE49-F238E27FC236}">
                <ns2:creationId id="{138D5422-BFFA-4FC8-B03E-A2E56FC32628}"/>
              </a:ext>
            </a:extLst>
          </p:cNvPr>
          <p:cNvSpPr>
            <a:spLocks noGrp="1"/>
          </p:cNvSpPr>
          <p:nvPr/>
        </p:nvSpPr>
        <p:spPr>
          <a:xfrm>
            <a:off x="609600" y="4181475"/>
            <a:ext cx="9763125" cy="1181100"/>
          </a:xfrm>
          <a:prstGeom prst="rect">
            <a:avLst/>
          </a:prstGeom>
          <a:noFill/>
          <a:ln w="0">
            <a:noFill/>
          </a:ln>
        </p:spPr>
        <p:txBody>
          <a:bodyPr wrap="square" lIns="0" tIns="0" rIns="0" bIns="0" anchor="t">
            <a:noAutofit/>
          </a:bodyPr>
          <a:lstStyle>
            <a:defPPr>
              <a:defRPr sz="2475" b="0">
                <a:solidFill>
                  <a:srgbClr val="526B63"/>
                </a:solidFill>
                <a:latin typeface="Arial"/>
                <a:ea typeface="Arial"/>
                <a:cs typeface="Arial"/>
              </a:defRPr>
            </a:defPPr>
          </a:lstStyle>
          <a:p>
            <a:pPr>
              <a:defRPr sz="2475" b="0">
                <a:solidFill>
                  <a:srgbClr val="526B63"/>
                </a:solidFill>
                <a:latin typeface="Arial"/>
                <a:ea typeface="Arial"/>
                <a:cs typeface="Arial"/>
              </a:defRPr>
            </a:pPr>
            <a:r>
              <a:rPr sz="2475" b="0" lang="de-DE">
                <a:solidFill>
                  <a:srgbClr val="526B63"/>
                </a:solidFill>
                <a:latin typeface="Arial"/>
                <a:ea typeface="Arial"/>
                <a:cs typeface="Arial"/>
              </a:rPr>
              <a:t>Sagen Sie, was Sie interessiert, was Sie genauer verstehen möchten und wie viel Zeit Sie einplanen wollen.</a:t>
            </a:r>
          </a:p>
        </p:txBody>
      </p:sp>
      <p:sp>
        <p:nvSpPr>
          <p:cNvPr id="6" name="">
            <a:extLst>
              <a:ext uri="{FF2B5EF4-FFF2-40B4-BE49-F238E27FC236}">
                <ns2:creationId id="{7F5EB97C-EEF2-4CDA-AB3D-386B3AC6E2D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de-DE">
                <a:solidFill>
                  <a:srgbClr val="526B63"/>
                </a:solidFill>
                <a:latin typeface="Arial"/>
                <a:ea typeface="Arial"/>
                <a:cs typeface="Arial"/>
              </a:rPr>
              <a:t>Vereinbaren Sie eine konkrete Handlung und einen Termin für das nächste Gespräch.</a:t>
            </a:r>
          </a:p>
        </p:txBody>
      </p:sp>
    </p:spTree>
    <p:extLst>
      <p:ext uri="{BB962C8B-B14F-4D97-AF65-F5344CB8AC3E}">
        <ns4:creationId val="1646637869"/>
      </p:ext>
    </p:extLst>
  </p:cSld>
</p:sld>
</file>

<file path=ppt/slides/slide3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4" name="">
            <a:extLst>
              <a:ext uri="{FF2B5EF4-FFF2-40B4-BE49-F238E27FC236}">
                <ns2:creationId id="{DE1B7833-FA5B-4202-9F43-6A55485BA4CF}"/>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de-DE">
                <a:solidFill>
                  <a:srgbClr val="D4E8DD"/>
                </a:solidFill>
                <a:latin typeface="Arial"/>
                <a:ea typeface="Arial"/>
                <a:cs typeface="Arial"/>
              </a:rPr>
              <a:t>32</a:t>
            </a:r>
          </a:p>
        </p:txBody>
      </p:sp>
      <p:sp>
        <p:nvSpPr>
          <p:cNvPr id="2" name="">
            <a:extLst>
              <a:ext uri="{FF2B5EF4-FFF2-40B4-BE49-F238E27FC236}">
                <ns2:creationId id="{48673BED-A37E-4BEC-B045-8AE20E7E660B}"/>
              </a:ext>
            </a:extLst>
          </p:cNvPr>
          <p:cNvSpPr>
            <a:spLocks noGrp="1"/>
          </p:cNvSpPr>
          <p:nvPr/>
        </p:nvSpPr>
        <p:spPr>
          <a:xfrm>
            <a:off x="609600" y="1609725"/>
            <a:ext cx="10734675" cy="2047875"/>
          </a:xfrm>
          <a:prstGeom prst="rect">
            <a:avLst/>
          </a:prstGeom>
          <a:noFill/>
          <a:ln w="0">
            <a:noFill/>
          </a:ln>
        </p:spPr>
        <p:txBody>
          <a:bodyPr wrap="square" lIns="0" tIns="0" rIns="0" bIns="0" anchor="t">
            <a:noAutofit/>
          </a:bodyPr>
          <a:lstStyle>
            <a:defPPr>
              <a:defRPr sz="5100" b="1">
                <a:solidFill>
                  <a:srgbClr val="FFFFFF"/>
                </a:solidFill>
                <a:latin typeface="Arial"/>
                <a:ea typeface="Arial"/>
                <a:cs typeface="Arial"/>
              </a:defRPr>
            </a:defPPr>
          </a:lstStyle>
          <a:p>
            <a:pPr>
              <a:defRPr sz="5100" b="1">
                <a:solidFill>
                  <a:srgbClr val="FFFFFF"/>
                </a:solidFill>
                <a:latin typeface="Arial"/>
                <a:ea typeface="Arial"/>
                <a:cs typeface="Arial"/>
              </a:defRPr>
            </a:pPr>
            <a:r>
              <a:rPr sz="5100" b="1" lang="de-DE">
                <a:solidFill>
                  <a:srgbClr val="FFFFFF"/>
                </a:solidFill>
                <a:latin typeface="Arial"/>
                <a:ea typeface="Arial"/>
                <a:cs typeface="Arial"/>
              </a:rPr>
              <a:t>Ihr Einstieg</a:t>
            </a:r>
          </a:p>
          <a:p>
            <a:pPr>
              <a:defRPr sz="5100" b="1">
                <a:solidFill>
                  <a:srgbClr val="FFFFFF"/>
                </a:solidFill>
                <a:latin typeface="Arial"/>
                <a:ea typeface="Arial"/>
                <a:cs typeface="Arial"/>
              </a:defRPr>
            </a:pPr>
            <a:r>
              <a:rPr sz="5100" b="1" lang="de-DE">
                <a:solidFill>
                  <a:srgbClr val="FFFFFF"/>
                </a:solidFill>
                <a:latin typeface="Arial"/>
                <a:ea typeface="Arial"/>
                <a:cs typeface="Arial"/>
              </a:rPr>
              <a:t>kann einfach sein</a:t>
            </a:r>
          </a:p>
        </p:txBody>
      </p:sp>
      <p:sp>
        <p:nvSpPr>
          <p:cNvPr id="3" name="">
            <a:extLst>
              <a:ext uri="{FF2B5EF4-FFF2-40B4-BE49-F238E27FC236}">
                <ns2:creationId id="{441CDA0A-7E8B-43A7-86BF-23F4BF9B0BE0}"/>
              </a:ext>
            </a:extLst>
          </p:cNvPr>
          <p:cNvSpPr>
            <a:spLocks noGrp="1"/>
          </p:cNvSpPr>
          <p:nvPr/>
        </p:nvSpPr>
        <p:spPr>
          <a:xfrm>
            <a:off x="609600" y="4210050"/>
            <a:ext cx="9820275" cy="1638300"/>
          </a:xfrm>
          <a:prstGeom prst="rect">
            <a:avLst/>
          </a:prstGeom>
          <a:noFill/>
          <a:ln w="0">
            <a:noFill/>
          </a:ln>
        </p:spPr>
        <p:txBody>
          <a:bodyPr wrap="square" lIns="0" tIns="0" rIns="0" bIns="0" anchor="t">
            <a:noAutofit/>
          </a:bodyPr>
          <a:lstStyle>
            <a:defPPr>
              <a:defRPr sz="2925" b="0">
                <a:solidFill>
                  <a:srgbClr val="D4E8DD"/>
                </a:solidFill>
                <a:latin typeface="Arial"/>
                <a:ea typeface="Arial"/>
                <a:cs typeface="Arial"/>
              </a:defRPr>
            </a:defPPr>
          </a:lstStyle>
          <a:p>
            <a:pPr>
              <a:defRPr sz="2925" b="0">
                <a:solidFill>
                  <a:srgbClr val="D4E8DD"/>
                </a:solidFill>
                <a:latin typeface="Arial"/>
                <a:ea typeface="Arial"/>
                <a:cs typeface="Arial"/>
              </a:defRPr>
            </a:pPr>
            <a:r>
              <a:rPr sz="2925" b="0" lang="de-DE">
                <a:solidFill>
                  <a:srgbClr val="D4E8DD"/>
                </a:solidFill>
                <a:latin typeface="Arial"/>
                <a:ea typeface="Arial"/>
                <a:cs typeface="Arial"/>
              </a:rPr>
              <a:t>Ein Gespräch.</a:t>
            </a:r>
          </a:p>
          <a:p>
            <a:pPr>
              <a:defRPr sz="2925" b="0">
                <a:solidFill>
                  <a:srgbClr val="D4E8DD"/>
                </a:solidFill>
                <a:latin typeface="Arial"/>
                <a:ea typeface="Arial"/>
                <a:cs typeface="Arial"/>
              </a:defRPr>
            </a:pPr>
            <a:r>
              <a:rPr sz="2925" b="0" lang="de-DE">
                <a:solidFill>
                  <a:srgbClr val="D4E8DD"/>
                </a:solidFill>
                <a:latin typeface="Arial"/>
                <a:ea typeface="Arial"/>
                <a:cs typeface="Arial"/>
              </a:rPr>
              <a:t>Eine klare Entscheidung.</a:t>
            </a:r>
          </a:p>
          <a:p>
            <a:pPr>
              <a:defRPr sz="2925" b="0">
                <a:solidFill>
                  <a:srgbClr val="D4E8DD"/>
                </a:solidFill>
                <a:latin typeface="Arial"/>
                <a:ea typeface="Arial"/>
                <a:cs typeface="Arial"/>
              </a:defRPr>
            </a:pPr>
            <a:r>
              <a:rPr sz="2925" b="0" lang="de-DE">
                <a:solidFill>
                  <a:srgbClr val="D4E8DD"/>
                </a:solidFill>
                <a:latin typeface="Arial"/>
                <a:ea typeface="Arial"/>
                <a:cs typeface="Arial"/>
              </a:rPr>
              <a:t>Ein vereinbarter nächster Schritt.</a:t>
            </a:r>
          </a:p>
        </p:txBody>
      </p:sp>
    </p:spTree>
    <p:extLst>
      <p:ext uri="{BB962C8B-B14F-4D97-AF65-F5344CB8AC3E}">
        <ns3:creationId val="2036074544"/>
      </p:ext>
    </p:extLst>
  </p:cSld>
</p:sld>
</file>

<file path=ppt/slides/slide3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919AC765-DEBD-459C-8A3F-7848B2BF249B}"/>
              </a:ext>
            </a:extLst>
          </p:cNvPr>
          <p:cNvPicPr>
            <a:picLocks noChangeAspect="1"/>
          </p:cNvPicPr>
          <p:nvPr/>
        </p:nvPicPr>
        <p:blipFill>
          <a:blip r:embed="R36ae438961544b63"/>
          <a:stretch/>
        </p:blipFill>
        <p:spPr>
          <a:xfrm>
            <a:off x="9867900" y="276061"/>
            <a:ext cx="1695450" cy="438478"/>
          </a:xfrm>
          <a:prstGeom prst="rect">
            <a:avLst/>
          </a:prstGeom>
        </p:spPr>
      </p:pic>
      <p:sp>
        <p:nvSpPr>
          <p:cNvPr id="2" name="">
            <a:extLst>
              <a:ext uri="{FF2B5EF4-FFF2-40B4-BE49-F238E27FC236}">
                <ns2:creationId id="{C776E80E-1314-42F9-9BAB-2C2CE53DC49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33</a:t>
            </a:r>
          </a:p>
        </p:txBody>
      </p:sp>
      <p:sp>
        <p:nvSpPr>
          <p:cNvPr id="3" name="Titel">
            <a:extLst>
              <a:ext uri="{FF2B5EF4-FFF2-40B4-BE49-F238E27FC236}">
                <ns2:creationId id="{FDBD1ABF-94B5-497A-B205-2296ED44BDD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Anhang: persönliche Boni</a:t>
            </a:r>
          </a:p>
        </p:txBody>
      </p:sp>
      <p:graphicFrame>
        <p:nvGraphicFramePr>
          <p:cNvPr id="4" name="">
            <a:extLst>
              <a:ext uri="{FF2B5EF4-FFF2-40B4-BE49-F238E27FC236}">
                <ns2:creationId id="{1052CBF9-BCC3-48FB-82FB-2DD99DE0DD52}"/>
              </a:ext>
            </a:extLst>
          </p:cNvPr>
          <p:cNvGraphicFramePr/>
          <p:nvPr/>
        </p:nvGraphicFramePr>
        <p:xfrm>
          <a:off x="609600" y="2114550"/>
          <a:ext cx="10953750" cy="3133725"/>
        </p:xfrm>
        <a:graphic>
          <a:graphicData uri="http://schemas.openxmlformats.org/drawingml/2006/table">
            <a:tbl>
              <a:tblPr/>
              <a:tblGrid>
                <a:gridCol w="5905500"/>
                <a:gridCol w="5048250"/>
              </a:tblGrid>
              <a:tr h="626745">
                <a:tc>
                  <a:txBody>
                    <a:bodyPr lIns="152400" tIns="133350" rIns="152400" bIns="114300">
                      <a:noAutofit/>
                    </a:bodyPr>
                    <a:lstStyle/>
                    <a:p>
                      <a:r>
                        <a:rPr sz="2100" b="1" lang="de-DE">
                          <a:solidFill>
                            <a:srgbClr val="FFFFFF"/>
                          </a:solidFill>
                          <a:latin typeface="Arial"/>
                          <a:ea typeface="Arial"/>
                          <a:cs typeface="Arial"/>
                        </a:rPr>
                        <a:t>Stufe</a:t>
                      </a:r>
                    </a:p>
                  </a:txBody>
                  <a:tcPr marL="91440" marR="91440" marT="45720" marB="45720">
                    <a:solidFill>
                      <a:srgbClr val="153F36"/>
                    </a:solidFill>
                  </a:tcPr>
                </a:tc>
                <a:tc>
                  <a:txBody>
                    <a:bodyPr lIns="152400" tIns="133350" rIns="152400" bIns="114300">
                      <a:noAutofit/>
                    </a:bodyPr>
                    <a:lstStyle/>
                    <a:p>
                      <a:r>
                        <a:rPr sz="2100" b="1" lang="de-DE">
                          <a:solidFill>
                            <a:srgbClr val="FFFFFF"/>
                          </a:solidFill>
                          <a:latin typeface="Arial"/>
                          <a:ea typeface="Arial"/>
                          <a:cs typeface="Arial"/>
                        </a:rPr>
                        <a:t>Persönlicher Bonus laut Regeln</a:t>
                      </a:r>
                    </a:p>
                  </a:txBody>
                  <a:tcPr marL="91440" marR="91440" marT="45720" marB="45720">
                    <a:solidFill>
                      <a:srgbClr val="153F36"/>
                    </a:solidFill>
                  </a:tcPr>
                </a:tc>
              </a:tr>
              <a:tr h="626745">
                <a:tc>
                  <a:txBody>
                    <a:bodyPr lIns="152400" tIns="133350" rIns="152400" bIns="114300">
                      <a:noAutofit/>
                    </a:bodyPr>
                    <a:lstStyle/>
                    <a:p>
                      <a:r>
                        <a:rPr sz="2100" b="0" lang="de-DE">
                          <a:solidFill>
                            <a:srgbClr val="153F36"/>
                          </a:solidFill>
                          <a:latin typeface="Arial"/>
                          <a:ea typeface="Arial"/>
                          <a:cs typeface="Arial"/>
                        </a:rPr>
                        <a:t>Assistant Supervisor</a:t>
                      </a:r>
                    </a:p>
                  </a:txBody>
                  <a:tcPr marL="91440" marR="91440" marT="45720" marB="45720">
                    <a:solidFill>
                      <a:srgbClr val="FFFFFF"/>
                    </a:solidFill>
                  </a:tcPr>
                </a:tc>
                <a:tc>
                  <a:txBody>
                    <a:bodyPr lIns="152400" tIns="133350" rIns="152400" bIns="114300">
                      <a:noAutofit/>
                    </a:bodyPr>
                    <a:lstStyle/>
                    <a:p>
                      <a:r>
                        <a:rPr sz="2100" b="0" lang="de-DE">
                          <a:solidFill>
                            <a:srgbClr val="153F36"/>
                          </a:solidFill>
                          <a:latin typeface="Arial"/>
                          <a:ea typeface="Arial"/>
                          <a:cs typeface="Arial"/>
                        </a:rPr>
                        <a:t>5%</a:t>
                      </a:r>
                    </a:p>
                  </a:txBody>
                  <a:tcPr marL="91440" marR="91440" marT="45720" marB="45720">
                    <a:solidFill>
                      <a:srgbClr val="FFFFFF"/>
                    </a:solidFill>
                  </a:tcPr>
                </a:tc>
              </a:tr>
              <a:tr h="626745">
                <a:tc>
                  <a:txBody>
                    <a:bodyPr lIns="152400" tIns="133350" rIns="152400" bIns="114300">
                      <a:noAutofit/>
                    </a:bodyPr>
                    <a:lstStyle/>
                    <a:p>
                      <a:r>
                        <a:rPr sz="2100" b="0" lang="de-DE">
                          <a:solidFill>
                            <a:srgbClr val="153F36"/>
                          </a:solidFill>
                          <a:latin typeface="Arial"/>
                          <a:ea typeface="Arial"/>
                          <a:cs typeface="Arial"/>
                        </a:rPr>
                        <a:t>Supervisor</a:t>
                      </a:r>
                    </a:p>
                  </a:txBody>
                  <a:tcPr marL="91440" marR="91440" marT="45720" marB="45720">
                    <a:solidFill>
                      <a:srgbClr val="F3F7F2"/>
                    </a:solidFill>
                  </a:tcPr>
                </a:tc>
                <a:tc>
                  <a:txBody>
                    <a:bodyPr lIns="152400" tIns="133350" rIns="152400" bIns="114300">
                      <a:noAutofit/>
                    </a:bodyPr>
                    <a:lstStyle/>
                    <a:p>
                      <a:r>
                        <a:rPr sz="2100" b="0" lang="de-DE">
                          <a:solidFill>
                            <a:srgbClr val="153F36"/>
                          </a:solidFill>
                          <a:latin typeface="Arial"/>
                          <a:ea typeface="Arial"/>
                          <a:cs typeface="Arial"/>
                        </a:rPr>
                        <a:t>8%</a:t>
                      </a:r>
                    </a:p>
                  </a:txBody>
                  <a:tcPr marL="91440" marR="91440" marT="45720" marB="45720">
                    <a:solidFill>
                      <a:srgbClr val="F3F7F2"/>
                    </a:solidFill>
                  </a:tcPr>
                </a:tc>
              </a:tr>
              <a:tr h="626745">
                <a:tc>
                  <a:txBody>
                    <a:bodyPr lIns="152400" tIns="133350" rIns="152400" bIns="114300">
                      <a:noAutofit/>
                    </a:bodyPr>
                    <a:lstStyle/>
                    <a:p>
                      <a:r>
                        <a:rPr sz="2100" b="0" lang="de-DE">
                          <a:solidFill>
                            <a:srgbClr val="153F36"/>
                          </a:solidFill>
                          <a:latin typeface="Arial"/>
                          <a:ea typeface="Arial"/>
                          <a:cs typeface="Arial"/>
                        </a:rPr>
                        <a:t>Assistant Manager</a:t>
                      </a:r>
                    </a:p>
                  </a:txBody>
                  <a:tcPr marL="91440" marR="91440" marT="45720" marB="45720">
                    <a:solidFill>
                      <a:srgbClr val="FFFFFF"/>
                    </a:solidFill>
                  </a:tcPr>
                </a:tc>
                <a:tc>
                  <a:txBody>
                    <a:bodyPr lIns="152400" tIns="133350" rIns="152400" bIns="114300">
                      <a:noAutofit/>
                    </a:bodyPr>
                    <a:lstStyle/>
                    <a:p>
                      <a:r>
                        <a:rPr sz="2100" b="0" lang="de-DE">
                          <a:solidFill>
                            <a:srgbClr val="153F36"/>
                          </a:solidFill>
                          <a:latin typeface="Arial"/>
                          <a:ea typeface="Arial"/>
                          <a:cs typeface="Arial"/>
                        </a:rPr>
                        <a:t>13%</a:t>
                      </a:r>
                    </a:p>
                  </a:txBody>
                  <a:tcPr marL="91440" marR="91440" marT="45720" marB="45720">
                    <a:solidFill>
                      <a:srgbClr val="FFFFFF"/>
                    </a:solidFill>
                  </a:tcPr>
                </a:tc>
              </a:tr>
              <a:tr h="626745">
                <a:tc>
                  <a:txBody>
                    <a:bodyPr lIns="152400" tIns="133350" rIns="152400" bIns="114300">
                      <a:noAutofit/>
                    </a:bodyPr>
                    <a:lstStyle/>
                    <a:p>
                      <a:r>
                        <a:rPr sz="2100" b="0" lang="de-DE">
                          <a:solidFill>
                            <a:srgbClr val="153F36"/>
                          </a:solidFill>
                          <a:latin typeface="Arial"/>
                          <a:ea typeface="Arial"/>
                          <a:cs typeface="Arial"/>
                        </a:rPr>
                        <a:t>Manager</a:t>
                      </a:r>
                    </a:p>
                  </a:txBody>
                  <a:tcPr marL="91440" marR="91440" marT="45720" marB="45720">
                    <a:solidFill>
                      <a:srgbClr val="F3F7F2"/>
                    </a:solidFill>
                  </a:tcPr>
                </a:tc>
                <a:tc>
                  <a:txBody>
                    <a:bodyPr lIns="152400" tIns="133350" rIns="152400" bIns="114300">
                      <a:noAutofit/>
                    </a:bodyPr>
                    <a:lstStyle/>
                    <a:p>
                      <a:r>
                        <a:rPr sz="2100" b="0" lang="de-DE">
                          <a:solidFill>
                            <a:srgbClr val="153F36"/>
                          </a:solidFill>
                          <a:latin typeface="Arial"/>
                          <a:ea typeface="Arial"/>
                          <a:cs typeface="Arial"/>
                        </a:rPr>
                        <a:t>18%</a:t>
                      </a:r>
                    </a:p>
                  </a:txBody>
                  <a:tcPr marL="91440" marR="91440" marT="45720" marB="45720">
                    <a:solidFill>
                      <a:srgbClr val="F3F7F2"/>
                    </a:solidFill>
                  </a:tcPr>
                </a:tc>
              </a:tr>
            </a:tbl>
          </a:graphicData>
        </a:graphic>
      </p:graphicFrame>
      <p:sp>
        <p:nvSpPr>
          <p:cNvPr id="5" name="">
            <a:extLst>
              <a:ext uri="{FF2B5EF4-FFF2-40B4-BE49-F238E27FC236}">
                <ns2:creationId id="{1E561589-9528-4BA8-A2CF-2393305A4FED}"/>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de-DE">
                <a:solidFill>
                  <a:srgbClr val="526B63"/>
                </a:solidFill>
                <a:latin typeface="Arial"/>
                <a:ea typeface="Arial"/>
                <a:cs typeface="Arial"/>
              </a:rPr>
              <a:t>Volume Bonus: 3% bis 13%. Leadership: 6%, 3%, 2%, unter zusätzlichen Bedingungen.</a:t>
            </a:r>
          </a:p>
        </p:txBody>
      </p:sp>
    </p:spTree>
    <p:extLst>
      <p:ext uri="{BB962C8B-B14F-4D97-AF65-F5344CB8AC3E}">
        <ns4:creationId val="515602699"/>
      </p:ext>
    </p:extLst>
  </p:cSld>
</p:sld>
</file>

<file path=ppt/slides/slide3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281D3A7B-CCA2-4A99-B091-81AFBE2930EC}"/>
              </a:ext>
            </a:extLst>
          </p:cNvPr>
          <p:cNvPicPr>
            <a:picLocks noChangeAspect="1"/>
          </p:cNvPicPr>
          <p:nvPr/>
        </p:nvPicPr>
        <p:blipFill>
          <a:blip r:embed="R9c5ed023181f4870"/>
          <a:stretch/>
        </p:blipFill>
        <p:spPr>
          <a:xfrm>
            <a:off x="9867900" y="276061"/>
            <a:ext cx="1695450" cy="438478"/>
          </a:xfrm>
          <a:prstGeom prst="rect">
            <a:avLst/>
          </a:prstGeom>
        </p:spPr>
      </p:pic>
      <p:sp>
        <p:nvSpPr>
          <p:cNvPr id="2" name="">
            <a:extLst>
              <a:ext uri="{FF2B5EF4-FFF2-40B4-BE49-F238E27FC236}">
                <ns2:creationId id="{FDD79E68-255C-4685-B243-6F1616C2F4F8}"/>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34</a:t>
            </a:r>
          </a:p>
        </p:txBody>
      </p:sp>
      <p:sp>
        <p:nvSpPr>
          <p:cNvPr id="3" name="Titel">
            <a:extLst>
              <a:ext uri="{FF2B5EF4-FFF2-40B4-BE49-F238E27FC236}">
                <ns2:creationId id="{780CCEFC-9D8C-49DA-9FD7-987C98FE870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Anhang: Forever2Drive</a:t>
            </a:r>
          </a:p>
        </p:txBody>
      </p:sp>
      <p:graphicFrame>
        <p:nvGraphicFramePr>
          <p:cNvPr id="4" name="">
            <a:extLst>
              <a:ext uri="{FF2B5EF4-FFF2-40B4-BE49-F238E27FC236}">
                <ns2:creationId id="{7E2485A5-066A-4AE2-AF1F-F24B4FA08B35}"/>
              </a:ext>
            </a:extLst>
          </p:cNvPr>
          <p:cNvGraphicFramePr/>
          <p:nvPr/>
        </p:nvGraphicFramePr>
        <p:xfrm>
          <a:off x="609600" y="2114550"/>
          <a:ext cx="10953750" cy="2647950"/>
        </p:xfrm>
        <a:graphic>
          <a:graphicData uri="http://schemas.openxmlformats.org/drawingml/2006/table">
            <a:tbl>
              <a:tblPr/>
              <a:tblGrid>
                <a:gridCol w="1238250"/>
                <a:gridCol w="2047875"/>
                <a:gridCol w="2047875"/>
                <a:gridCol w="2047875"/>
                <a:gridCol w="3571875"/>
              </a:tblGrid>
              <a:tr h="661988">
                <a:tc>
                  <a:txBody>
                    <a:bodyPr lIns="152400" tIns="133350" rIns="152400" bIns="114300">
                      <a:noAutofit/>
                    </a:bodyPr>
                    <a:lstStyle/>
                    <a:p>
                      <a:r>
                        <a:rPr sz="2025" b="1" lang="de-DE">
                          <a:solidFill>
                            <a:srgbClr val="FFFFFF"/>
                          </a:solidFill>
                          <a:latin typeface="Arial"/>
                          <a:ea typeface="Arial"/>
                          <a:cs typeface="Arial"/>
                        </a:rPr>
                        <a:t>Stufe</a:t>
                      </a:r>
                    </a:p>
                  </a:txBody>
                  <a:tcPr marL="91440" marR="91440" marT="45720" marB="45720">
                    <a:solidFill>
                      <a:srgbClr val="153F36"/>
                    </a:solidFill>
                  </a:tcPr>
                </a:tc>
                <a:tc>
                  <a:txBody>
                    <a:bodyPr lIns="152400" tIns="133350" rIns="152400" bIns="114300">
                      <a:noAutofit/>
                    </a:bodyPr>
                    <a:lstStyle/>
                    <a:p>
                      <a:r>
                        <a:rPr sz="2025" b="1" lang="de-DE">
                          <a:solidFill>
                            <a:srgbClr val="FFFFFF"/>
                          </a:solidFill>
                          <a:latin typeface="Arial"/>
                          <a:ea typeface="Arial"/>
                          <a:cs typeface="Arial"/>
                        </a:rPr>
                        <a:t>1. Monat</a:t>
                      </a:r>
                    </a:p>
                  </a:txBody>
                  <a:tcPr marL="91440" marR="91440" marT="45720" marB="45720">
                    <a:solidFill>
                      <a:srgbClr val="153F36"/>
                    </a:solidFill>
                  </a:tcPr>
                </a:tc>
                <a:tc>
                  <a:txBody>
                    <a:bodyPr lIns="152400" tIns="133350" rIns="152400" bIns="114300">
                      <a:noAutofit/>
                    </a:bodyPr>
                    <a:lstStyle/>
                    <a:p>
                      <a:r>
                        <a:rPr sz="2025" b="1" lang="de-DE">
                          <a:solidFill>
                            <a:srgbClr val="FFFFFF"/>
                          </a:solidFill>
                          <a:latin typeface="Arial"/>
                          <a:ea typeface="Arial"/>
                          <a:cs typeface="Arial"/>
                        </a:rPr>
                        <a:t>2. Monat</a:t>
                      </a:r>
                    </a:p>
                  </a:txBody>
                  <a:tcPr marL="91440" marR="91440" marT="45720" marB="45720">
                    <a:solidFill>
                      <a:srgbClr val="153F36"/>
                    </a:solidFill>
                  </a:tcPr>
                </a:tc>
                <a:tc>
                  <a:txBody>
                    <a:bodyPr lIns="152400" tIns="133350" rIns="152400" bIns="114300">
                      <a:noAutofit/>
                    </a:bodyPr>
                    <a:lstStyle/>
                    <a:p>
                      <a:r>
                        <a:rPr sz="2025" b="1" lang="de-DE">
                          <a:solidFill>
                            <a:srgbClr val="FFFFFF"/>
                          </a:solidFill>
                          <a:latin typeface="Arial"/>
                          <a:ea typeface="Arial"/>
                          <a:cs typeface="Arial"/>
                        </a:rPr>
                        <a:t>3. Monat</a:t>
                      </a:r>
                    </a:p>
                  </a:txBody>
                  <a:tcPr marL="91440" marR="91440" marT="45720" marB="45720">
                    <a:solidFill>
                      <a:srgbClr val="153F36"/>
                    </a:solidFill>
                  </a:tcPr>
                </a:tc>
                <a:tc>
                  <a:txBody>
                    <a:bodyPr lIns="152400" tIns="133350" rIns="152400" bIns="114300">
                      <a:noAutofit/>
                    </a:bodyPr>
                    <a:lstStyle/>
                    <a:p>
                      <a:r>
                        <a:rPr sz="2025" b="1" lang="de-DE">
                          <a:solidFill>
                            <a:srgbClr val="FFFFFF"/>
                          </a:solidFill>
                          <a:latin typeface="Arial"/>
                          <a:ea typeface="Arial"/>
                          <a:cs typeface="Arial"/>
                        </a:rPr>
                        <a:t>Monatlicher Höchstbetrag</a:t>
                      </a:r>
                    </a:p>
                  </a:txBody>
                  <a:tcPr marL="91440" marR="91440" marT="45720" marB="45720">
                    <a:solidFill>
                      <a:srgbClr val="153F36"/>
                    </a:solidFill>
                  </a:tcPr>
                </a:tc>
              </a:tr>
              <a:tr h="661988">
                <a:tc>
                  <a:txBody>
                    <a:bodyPr lIns="152400" tIns="133350" rIns="152400" bIns="114300">
                      <a:noAutofit/>
                    </a:bodyPr>
                    <a:lstStyle/>
                    <a:p>
                      <a:r>
                        <a:rPr sz="2025" b="0" lang="de-DE">
                          <a:solidFill>
                            <a:srgbClr val="153F36"/>
                          </a:solidFill>
                          <a:latin typeface="Arial"/>
                          <a:ea typeface="Arial"/>
                          <a:cs typeface="Arial"/>
                        </a:rPr>
                        <a:t>1</a:t>
                      </a:r>
                    </a:p>
                  </a:txBody>
                  <a:tcPr marL="91440" marR="91440" marT="45720" marB="45720">
                    <a:solidFill>
                      <a:srgbClr val="FFFFFF"/>
                    </a:solidFill>
                  </a:tcPr>
                </a:tc>
                <a:tc>
                  <a:txBody>
                    <a:bodyPr lIns="152400" tIns="133350" rIns="152400" bIns="114300">
                      <a:noAutofit/>
                    </a:bodyPr>
                    <a:lstStyle/>
                    <a:p>
                      <a:r>
                        <a:rPr sz="2025" b="0" lang="de-DE">
                          <a:solidFill>
                            <a:srgbClr val="153F36"/>
                          </a:solidFill>
                          <a:latin typeface="Arial"/>
                          <a:ea typeface="Arial"/>
                          <a:cs typeface="Arial"/>
                        </a:rPr>
                        <a:t>50 CC</a:t>
                      </a:r>
                    </a:p>
                  </a:txBody>
                  <a:tcPr marL="91440" marR="91440" marT="45720" marB="45720">
                    <a:solidFill>
                      <a:srgbClr val="FFFFFF"/>
                    </a:solidFill>
                  </a:tcPr>
                </a:tc>
                <a:tc>
                  <a:txBody>
                    <a:bodyPr lIns="152400" tIns="133350" rIns="152400" bIns="114300">
                      <a:noAutofit/>
                    </a:bodyPr>
                    <a:lstStyle/>
                    <a:p>
                      <a:r>
                        <a:rPr sz="2025" b="0" lang="de-DE">
                          <a:solidFill>
                            <a:srgbClr val="153F36"/>
                          </a:solidFill>
                          <a:latin typeface="Arial"/>
                          <a:ea typeface="Arial"/>
                          <a:cs typeface="Arial"/>
                        </a:rPr>
                        <a:t>100 CC</a:t>
                      </a:r>
                    </a:p>
                  </a:txBody>
                  <a:tcPr marL="91440" marR="91440" marT="45720" marB="45720">
                    <a:solidFill>
                      <a:srgbClr val="FFFFFF"/>
                    </a:solidFill>
                  </a:tcPr>
                </a:tc>
                <a:tc>
                  <a:txBody>
                    <a:bodyPr lIns="152400" tIns="133350" rIns="152400" bIns="114300">
                      <a:noAutofit/>
                    </a:bodyPr>
                    <a:lstStyle/>
                    <a:p>
                      <a:r>
                        <a:rPr sz="2025" b="0" lang="de-DE">
                          <a:solidFill>
                            <a:srgbClr val="153F36"/>
                          </a:solidFill>
                          <a:latin typeface="Arial"/>
                          <a:ea typeface="Arial"/>
                          <a:cs typeface="Arial"/>
                        </a:rPr>
                        <a:t>150 CC</a:t>
                      </a:r>
                    </a:p>
                  </a:txBody>
                  <a:tcPr marL="91440" marR="91440" marT="45720" marB="45720">
                    <a:solidFill>
                      <a:srgbClr val="FFFFFF"/>
                    </a:solidFill>
                  </a:tcPr>
                </a:tc>
                <a:tc>
                  <a:txBody>
                    <a:bodyPr lIns="152400" tIns="133350" rIns="152400" bIns="114300">
                      <a:noAutofit/>
                    </a:bodyPr>
                    <a:lstStyle/>
                    <a:p>
                      <a:r>
                        <a:rPr sz="2025" b="0" lang="de-DE">
                          <a:solidFill>
                            <a:srgbClr val="153F36"/>
                          </a:solidFill>
                          <a:latin typeface="Arial"/>
                          <a:ea typeface="Arial"/>
                          <a:cs typeface="Arial"/>
                        </a:rPr>
                        <a:t>400 USD</a:t>
                      </a:r>
                    </a:p>
                  </a:txBody>
                  <a:tcPr marL="91440" marR="91440" marT="45720" marB="45720">
                    <a:solidFill>
                      <a:srgbClr val="FFFFFF"/>
                    </a:solidFill>
                  </a:tcPr>
                </a:tc>
              </a:tr>
              <a:tr h="661988">
                <a:tc>
                  <a:txBody>
                    <a:bodyPr lIns="152400" tIns="133350" rIns="152400" bIns="114300">
                      <a:noAutofit/>
                    </a:bodyPr>
                    <a:lstStyle/>
                    <a:p>
                      <a:r>
                        <a:rPr sz="2025" b="0" lang="de-DE">
                          <a:solidFill>
                            <a:srgbClr val="153F36"/>
                          </a:solidFill>
                          <a:latin typeface="Arial"/>
                          <a:ea typeface="Arial"/>
                          <a:cs typeface="Arial"/>
                        </a:rPr>
                        <a:t>2</a:t>
                      </a:r>
                    </a:p>
                  </a:txBody>
                  <a:tcPr marL="91440" marR="91440" marT="45720" marB="45720">
                    <a:solidFill>
                      <a:srgbClr val="F3F7F2"/>
                    </a:solidFill>
                  </a:tcPr>
                </a:tc>
                <a:tc>
                  <a:txBody>
                    <a:bodyPr lIns="152400" tIns="133350" rIns="152400" bIns="114300">
                      <a:noAutofit/>
                    </a:bodyPr>
                    <a:lstStyle/>
                    <a:p>
                      <a:r>
                        <a:rPr sz="2025" b="0" lang="de-DE">
                          <a:solidFill>
                            <a:srgbClr val="153F36"/>
                          </a:solidFill>
                          <a:latin typeface="Arial"/>
                          <a:ea typeface="Arial"/>
                          <a:cs typeface="Arial"/>
                        </a:rPr>
                        <a:t>75 CC</a:t>
                      </a:r>
                    </a:p>
                  </a:txBody>
                  <a:tcPr marL="91440" marR="91440" marT="45720" marB="45720">
                    <a:solidFill>
                      <a:srgbClr val="F3F7F2"/>
                    </a:solidFill>
                  </a:tcPr>
                </a:tc>
                <a:tc>
                  <a:txBody>
                    <a:bodyPr lIns="152400" tIns="133350" rIns="152400" bIns="114300">
                      <a:noAutofit/>
                    </a:bodyPr>
                    <a:lstStyle/>
                    <a:p>
                      <a:r>
                        <a:rPr sz="2025" b="0" lang="de-DE">
                          <a:solidFill>
                            <a:srgbClr val="153F36"/>
                          </a:solidFill>
                          <a:latin typeface="Arial"/>
                          <a:ea typeface="Arial"/>
                          <a:cs typeface="Arial"/>
                        </a:rPr>
                        <a:t>150 CC</a:t>
                      </a:r>
                    </a:p>
                  </a:txBody>
                  <a:tcPr marL="91440" marR="91440" marT="45720" marB="45720">
                    <a:solidFill>
                      <a:srgbClr val="F3F7F2"/>
                    </a:solidFill>
                  </a:tcPr>
                </a:tc>
                <a:tc>
                  <a:txBody>
                    <a:bodyPr lIns="152400" tIns="133350" rIns="152400" bIns="114300">
                      <a:noAutofit/>
                    </a:bodyPr>
                    <a:lstStyle/>
                    <a:p>
                      <a:r>
                        <a:rPr sz="2025" b="0" lang="de-DE">
                          <a:solidFill>
                            <a:srgbClr val="153F36"/>
                          </a:solidFill>
                          <a:latin typeface="Arial"/>
                          <a:ea typeface="Arial"/>
                          <a:cs typeface="Arial"/>
                        </a:rPr>
                        <a:t>225 CC</a:t>
                      </a:r>
                    </a:p>
                  </a:txBody>
                  <a:tcPr marL="91440" marR="91440" marT="45720" marB="45720">
                    <a:solidFill>
                      <a:srgbClr val="F3F7F2"/>
                    </a:solidFill>
                  </a:tcPr>
                </a:tc>
                <a:tc>
                  <a:txBody>
                    <a:bodyPr lIns="152400" tIns="133350" rIns="152400" bIns="114300">
                      <a:noAutofit/>
                    </a:bodyPr>
                    <a:lstStyle/>
                    <a:p>
                      <a:r>
                        <a:rPr sz="2025" b="0" lang="de-DE">
                          <a:solidFill>
                            <a:srgbClr val="153F36"/>
                          </a:solidFill>
                          <a:latin typeface="Arial"/>
                          <a:ea typeface="Arial"/>
                          <a:cs typeface="Arial"/>
                        </a:rPr>
                        <a:t>600 USD</a:t>
                      </a:r>
                    </a:p>
                  </a:txBody>
                  <a:tcPr marL="91440" marR="91440" marT="45720" marB="45720">
                    <a:solidFill>
                      <a:srgbClr val="F3F7F2"/>
                    </a:solidFill>
                  </a:tcPr>
                </a:tc>
              </a:tr>
              <a:tr h="661988">
                <a:tc>
                  <a:txBody>
                    <a:bodyPr lIns="152400" tIns="133350" rIns="152400" bIns="114300">
                      <a:noAutofit/>
                    </a:bodyPr>
                    <a:lstStyle/>
                    <a:p>
                      <a:r>
                        <a:rPr sz="2025" b="0" lang="de-DE">
                          <a:solidFill>
                            <a:srgbClr val="153F36"/>
                          </a:solidFill>
                          <a:latin typeface="Arial"/>
                          <a:ea typeface="Arial"/>
                          <a:cs typeface="Arial"/>
                        </a:rPr>
                        <a:t>3</a:t>
                      </a:r>
                    </a:p>
                  </a:txBody>
                  <a:tcPr marL="91440" marR="91440" marT="45720" marB="45720">
                    <a:solidFill>
                      <a:srgbClr val="FFFFFF"/>
                    </a:solidFill>
                  </a:tcPr>
                </a:tc>
                <a:tc>
                  <a:txBody>
                    <a:bodyPr lIns="152400" tIns="133350" rIns="152400" bIns="114300">
                      <a:noAutofit/>
                    </a:bodyPr>
                    <a:lstStyle/>
                    <a:p>
                      <a:r>
                        <a:rPr sz="2025" b="0" lang="de-DE">
                          <a:solidFill>
                            <a:srgbClr val="153F36"/>
                          </a:solidFill>
                          <a:latin typeface="Arial"/>
                          <a:ea typeface="Arial"/>
                          <a:cs typeface="Arial"/>
                        </a:rPr>
                        <a:t>100 CC</a:t>
                      </a:r>
                    </a:p>
                  </a:txBody>
                  <a:tcPr marL="91440" marR="91440" marT="45720" marB="45720">
                    <a:solidFill>
                      <a:srgbClr val="FFFFFF"/>
                    </a:solidFill>
                  </a:tcPr>
                </a:tc>
                <a:tc>
                  <a:txBody>
                    <a:bodyPr lIns="152400" tIns="133350" rIns="152400" bIns="114300">
                      <a:noAutofit/>
                    </a:bodyPr>
                    <a:lstStyle/>
                    <a:p>
                      <a:r>
                        <a:rPr sz="2025" b="0" lang="de-DE">
                          <a:solidFill>
                            <a:srgbClr val="153F36"/>
                          </a:solidFill>
                          <a:latin typeface="Arial"/>
                          <a:ea typeface="Arial"/>
                          <a:cs typeface="Arial"/>
                        </a:rPr>
                        <a:t>200 CC</a:t>
                      </a:r>
                    </a:p>
                  </a:txBody>
                  <a:tcPr marL="91440" marR="91440" marT="45720" marB="45720">
                    <a:solidFill>
                      <a:srgbClr val="FFFFFF"/>
                    </a:solidFill>
                  </a:tcPr>
                </a:tc>
                <a:tc>
                  <a:txBody>
                    <a:bodyPr lIns="152400" tIns="133350" rIns="152400" bIns="114300">
                      <a:noAutofit/>
                    </a:bodyPr>
                    <a:lstStyle/>
                    <a:p>
                      <a:r>
                        <a:rPr sz="2025" b="0" lang="de-DE">
                          <a:solidFill>
                            <a:srgbClr val="153F36"/>
                          </a:solidFill>
                          <a:latin typeface="Arial"/>
                          <a:ea typeface="Arial"/>
                          <a:cs typeface="Arial"/>
                        </a:rPr>
                        <a:t>300 CC</a:t>
                      </a:r>
                    </a:p>
                  </a:txBody>
                  <a:tcPr marL="91440" marR="91440" marT="45720" marB="45720">
                    <a:solidFill>
                      <a:srgbClr val="FFFFFF"/>
                    </a:solidFill>
                  </a:tcPr>
                </a:tc>
                <a:tc>
                  <a:txBody>
                    <a:bodyPr lIns="152400" tIns="133350" rIns="152400" bIns="114300">
                      <a:noAutofit/>
                    </a:bodyPr>
                    <a:lstStyle/>
                    <a:p>
                      <a:r>
                        <a:rPr sz="2025" b="0" lang="de-DE">
                          <a:solidFill>
                            <a:srgbClr val="153F36"/>
                          </a:solidFill>
                          <a:latin typeface="Arial"/>
                          <a:ea typeface="Arial"/>
                          <a:cs typeface="Arial"/>
                        </a:rPr>
                        <a:t>800 USD</a:t>
                      </a:r>
                    </a:p>
                  </a:txBody>
                  <a:tcPr marL="91440" marR="91440" marT="45720" marB="45720">
                    <a:solidFill>
                      <a:srgbClr val="FFFFFF"/>
                    </a:solidFill>
                  </a:tcPr>
                </a:tc>
              </a:tr>
            </a:tbl>
          </a:graphicData>
        </a:graphic>
      </p:graphicFrame>
      <p:sp>
        <p:nvSpPr>
          <p:cNvPr id="5" name="">
            <a:extLst>
              <a:ext uri="{FF2B5EF4-FFF2-40B4-BE49-F238E27FC236}">
                <ns2:creationId id="{B4AC18CE-F6CB-49F2-8416-567B308FCF87}"/>
              </a:ext>
            </a:extLst>
          </p:cNvPr>
          <p:cNvSpPr>
            <a:spLocks noGrp="1"/>
          </p:cNvSpPr>
          <p:nvPr/>
        </p:nvSpPr>
        <p:spPr>
          <a:xfrm>
            <a:off x="609600" y="5143500"/>
            <a:ext cx="10458450" cy="809625"/>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de-DE">
                <a:solidFill>
                  <a:srgbClr val="153F36"/>
                </a:solidFill>
                <a:latin typeface="Arial"/>
                <a:ea typeface="Arial"/>
                <a:cs typeface="Arial"/>
              </a:rPr>
              <a:t>Qualifikation und fortlaufende Erfüllung der Bedingungen. Förderung bis zu 36 Monate.</a:t>
            </a:r>
          </a:p>
        </p:txBody>
      </p:sp>
    </p:spTree>
    <p:extLst>
      <p:ext uri="{BB962C8B-B14F-4D97-AF65-F5344CB8AC3E}">
        <ns4:creationId val="280473326"/>
      </p:ext>
    </p:extLst>
  </p:cSld>
</p:sld>
</file>

<file path=ppt/slides/slide3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B9E3C7C8-35B4-441E-B1C2-00BCFB5C9F40}"/>
              </a:ext>
            </a:extLst>
          </p:cNvPr>
          <p:cNvPicPr>
            <a:picLocks noChangeAspect="1"/>
          </p:cNvPicPr>
          <p:nvPr/>
        </p:nvPicPr>
        <p:blipFill>
          <a:blip r:embed="R58ce5c4bc3ef4c8b"/>
          <a:stretch/>
        </p:blipFill>
        <p:spPr>
          <a:xfrm>
            <a:off x="9867900" y="276061"/>
            <a:ext cx="1695450" cy="438478"/>
          </a:xfrm>
          <a:prstGeom prst="rect">
            <a:avLst/>
          </a:prstGeom>
        </p:spPr>
      </p:pic>
      <p:sp>
        <p:nvSpPr>
          <p:cNvPr id="2" name="">
            <a:extLst>
              <a:ext uri="{FF2B5EF4-FFF2-40B4-BE49-F238E27FC236}">
                <ns2:creationId id="{0CB37FEB-5A20-485A-9A04-1936EE10F0CF}"/>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35</a:t>
            </a:r>
          </a:p>
        </p:txBody>
      </p:sp>
      <p:sp>
        <p:nvSpPr>
          <p:cNvPr id="3" name="Titel">
            <a:extLst>
              <a:ext uri="{FF2B5EF4-FFF2-40B4-BE49-F238E27FC236}">
                <ns2:creationId id="{B655E18D-295A-4CD8-9A03-B3FC391A9AED}"/>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Anhang: jährliche Qualifikationen</a:t>
            </a:r>
          </a:p>
        </p:txBody>
      </p:sp>
      <p:sp>
        <p:nvSpPr>
          <p:cNvPr id="4" name="">
            <a:extLst>
              <a:ext uri="{FF2B5EF4-FFF2-40B4-BE49-F238E27FC236}">
                <ns2:creationId id="{F037214A-CF38-4FAB-8F4B-BC9F710748A2}"/>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de-DE">
                <a:solidFill>
                  <a:srgbClr val="148977"/>
                </a:solidFill>
                <a:latin typeface="Arial"/>
                <a:ea typeface="Arial"/>
                <a:cs typeface="Arial"/>
              </a:rPr>
              <a:t>1.</a:t>
            </a:r>
          </a:p>
        </p:txBody>
      </p:sp>
      <p:sp>
        <p:nvSpPr>
          <p:cNvPr id="5" name="">
            <a:extLst>
              <a:ext uri="{FF2B5EF4-FFF2-40B4-BE49-F238E27FC236}">
                <ns2:creationId id="{DE39F66B-A442-4DB2-BC88-152A2F537F88}"/>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de-DE">
                <a:solidFill>
                  <a:srgbClr val="153F36"/>
                </a:solidFill>
                <a:latin typeface="Arial"/>
                <a:ea typeface="Arial"/>
                <a:cs typeface="Arial"/>
              </a:rPr>
              <a:t>Eagle Manager</a:t>
            </a:r>
          </a:p>
        </p:txBody>
      </p:sp>
      <p:sp>
        <p:nvSpPr>
          <p:cNvPr id="6" name="">
            <a:extLst>
              <a:ext uri="{FF2B5EF4-FFF2-40B4-BE49-F238E27FC236}">
                <ns2:creationId id="{5EB13131-225A-47B3-A990-4556686F98B8}"/>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720 CC insgesamt, 100 neue CC und 3 neue Supervisorlinien.</a:t>
            </a:r>
          </a:p>
        </p:txBody>
      </p:sp>
      <p:sp>
        <p:nvSpPr>
          <p:cNvPr id="7" name="">
            <a:extLst>
              <a:ext uri="{FF2B5EF4-FFF2-40B4-BE49-F238E27FC236}">
                <ns2:creationId id="{81F9A9B6-F0B7-4FC8-82A9-040A17BA37F4}"/>
              </a:ext>
            </a:extLst>
          </p:cNvPr>
          <p:cNvSpPr>
            <a:spLocks noGrp="1"/>
          </p:cNvSpPr>
          <p:nvPr/>
        </p:nvSpPr>
        <p:spPr>
          <a:xfrm>
            <a:off x="609600" y="312420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de-DE">
                <a:solidFill>
                  <a:srgbClr val="148977"/>
                </a:solidFill>
                <a:latin typeface="Arial"/>
                <a:ea typeface="Arial"/>
                <a:cs typeface="Arial"/>
              </a:rPr>
              <a:t>2.</a:t>
            </a:r>
          </a:p>
        </p:txBody>
      </p:sp>
      <p:sp>
        <p:nvSpPr>
          <p:cNvPr id="8" name="">
            <a:extLst>
              <a:ext uri="{FF2B5EF4-FFF2-40B4-BE49-F238E27FC236}">
                <ns2:creationId id="{C4C32F05-04BB-4214-8487-F780C8E1B8F9}"/>
              </a:ext>
            </a:extLst>
          </p:cNvPr>
          <p:cNvSpPr>
            <a:spLocks noGrp="1"/>
          </p:cNvSpPr>
          <p:nvPr/>
        </p:nvSpPr>
        <p:spPr>
          <a:xfrm>
            <a:off x="1257300" y="312420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de-DE">
                <a:solidFill>
                  <a:srgbClr val="153F36"/>
                </a:solidFill>
                <a:latin typeface="Arial"/>
                <a:ea typeface="Arial"/>
                <a:cs typeface="Arial"/>
              </a:rPr>
              <a:t>Global Rally</a:t>
            </a:r>
          </a:p>
        </p:txBody>
      </p:sp>
      <p:sp>
        <p:nvSpPr>
          <p:cNvPr id="9" name="">
            <a:extLst>
              <a:ext uri="{FF2B5EF4-FFF2-40B4-BE49-F238E27FC236}">
                <ns2:creationId id="{AD802E04-F4DC-4E5B-83E7-81C942E85FE4}"/>
              </a:ext>
            </a:extLst>
          </p:cNvPr>
          <p:cNvSpPr>
            <a:spLocks noGrp="1"/>
          </p:cNvSpPr>
          <p:nvPr/>
        </p:nvSpPr>
        <p:spPr>
          <a:xfrm>
            <a:off x="1257300" y="3533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Ab 1.500 CC insgesamt, darunter mindestens 50 neue CC.</a:t>
            </a:r>
          </a:p>
        </p:txBody>
      </p:sp>
      <p:sp>
        <p:nvSpPr>
          <p:cNvPr id="10" name="">
            <a:extLst>
              <a:ext uri="{FF2B5EF4-FFF2-40B4-BE49-F238E27FC236}">
                <ns2:creationId id="{765D29EF-17EE-439A-9148-70DA52221B41}"/>
              </a:ext>
            </a:extLst>
          </p:cNvPr>
          <p:cNvSpPr>
            <a:spLocks noGrp="1"/>
          </p:cNvSpPr>
          <p:nvPr/>
        </p:nvSpPr>
        <p:spPr>
          <a:xfrm>
            <a:off x="609600" y="42862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de-DE">
                <a:solidFill>
                  <a:srgbClr val="148977"/>
                </a:solidFill>
                <a:latin typeface="Arial"/>
                <a:ea typeface="Arial"/>
                <a:cs typeface="Arial"/>
              </a:rPr>
              <a:t>3.</a:t>
            </a:r>
          </a:p>
        </p:txBody>
      </p:sp>
      <p:sp>
        <p:nvSpPr>
          <p:cNvPr id="11" name="">
            <a:extLst>
              <a:ext uri="{FF2B5EF4-FFF2-40B4-BE49-F238E27FC236}">
                <ns2:creationId id="{5C8C13D5-EA0A-45FF-B19C-610392AA90BD}"/>
              </a:ext>
            </a:extLst>
          </p:cNvPr>
          <p:cNvSpPr>
            <a:spLocks noGrp="1"/>
          </p:cNvSpPr>
          <p:nvPr/>
        </p:nvSpPr>
        <p:spPr>
          <a:xfrm>
            <a:off x="1257300" y="42862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de-DE">
                <a:solidFill>
                  <a:srgbClr val="153F36"/>
                </a:solidFill>
                <a:latin typeface="Arial"/>
                <a:ea typeface="Arial"/>
                <a:cs typeface="Arial"/>
              </a:rPr>
              <a:t>Chairman’s Bonus</a:t>
            </a:r>
          </a:p>
        </p:txBody>
      </p:sp>
      <p:sp>
        <p:nvSpPr>
          <p:cNvPr id="12" name="">
            <a:extLst>
              <a:ext uri="{FF2B5EF4-FFF2-40B4-BE49-F238E27FC236}">
                <ns2:creationId id="{ED3D2BFE-A33E-4B2F-ABBA-68D93EE7CCAA}"/>
              </a:ext>
            </a:extLst>
          </p:cNvPr>
          <p:cNvSpPr>
            <a:spLocks noGrp="1"/>
          </p:cNvSpPr>
          <p:nvPr/>
        </p:nvSpPr>
        <p:spPr>
          <a:xfrm>
            <a:off x="1257300" y="46958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Entwickelte qualifizierte Linien und zusätzliche Programmbedingungen.</a:t>
            </a:r>
          </a:p>
        </p:txBody>
      </p:sp>
      <p:sp>
        <p:nvSpPr>
          <p:cNvPr id="13" name="">
            <a:extLst>
              <a:ext uri="{FF2B5EF4-FFF2-40B4-BE49-F238E27FC236}">
                <ns2:creationId id="{B903DFC0-E1C3-44EE-AD9B-AD2E08F86D6D}"/>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de-DE">
                <a:solidFill>
                  <a:srgbClr val="526B63"/>
                </a:solidFill>
                <a:latin typeface="Arial"/>
                <a:ea typeface="Arial"/>
                <a:cs typeface="Arial"/>
              </a:rPr>
              <a:t>Die Schwellenwerte sind eine Übersicht. Fristen und alle weiteren Bedingungen stehen in den lokalen Richtlinien.</a:t>
            </a:r>
          </a:p>
        </p:txBody>
      </p:sp>
    </p:spTree>
    <p:extLst>
      <p:ext uri="{BB962C8B-B14F-4D97-AF65-F5344CB8AC3E}">
        <ns4:creationId val="880705396"/>
      </p:ext>
    </p:extLst>
  </p:cSld>
</p:sld>
</file>

<file path=ppt/slides/slide3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88852AA4-6578-41AF-9740-5117C7F6172E}"/>
              </a:ext>
            </a:extLst>
          </p:cNvPr>
          <p:cNvPicPr>
            <a:picLocks noChangeAspect="1"/>
          </p:cNvPicPr>
          <p:nvPr/>
        </p:nvPicPr>
        <p:blipFill>
          <a:blip r:embed="R94ed22d42f074bff"/>
          <a:stretch/>
        </p:blipFill>
        <p:spPr>
          <a:xfrm>
            <a:off x="9867900" y="276061"/>
            <a:ext cx="1695450" cy="438478"/>
          </a:xfrm>
          <a:prstGeom prst="rect">
            <a:avLst/>
          </a:prstGeom>
        </p:spPr>
      </p:pic>
      <p:sp>
        <p:nvSpPr>
          <p:cNvPr id="2" name="">
            <a:extLst>
              <a:ext uri="{FF2B5EF4-FFF2-40B4-BE49-F238E27FC236}">
                <ns2:creationId id="{F484BD7A-5B1B-4432-9A78-B974D5EEA709}"/>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de-DE">
                <a:solidFill>
                  <a:srgbClr val="526B63"/>
                </a:solidFill>
                <a:latin typeface="Arial"/>
                <a:ea typeface="Arial"/>
                <a:cs typeface="Arial"/>
              </a:rPr>
              <a:t>36</a:t>
            </a:r>
          </a:p>
        </p:txBody>
      </p:sp>
      <p:sp>
        <p:nvSpPr>
          <p:cNvPr id="3" name="Titel">
            <a:extLst>
              <a:ext uri="{FF2B5EF4-FFF2-40B4-BE49-F238E27FC236}">
                <ns2:creationId id="{AADE5631-8BAA-49DB-AB4C-B28590B49F4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de-DE">
                <a:solidFill>
                  <a:srgbClr val="153F36"/>
                </a:solidFill>
                <a:latin typeface="Arial"/>
                <a:ea typeface="Arial"/>
                <a:cs typeface="Arial"/>
              </a:rPr>
              <a:t>Anhang: Auszahlungen und tatsächliches Einkommen</a:t>
            </a:r>
          </a:p>
        </p:txBody>
      </p:sp>
      <p:sp>
        <p:nvSpPr>
          <p:cNvPr id="4" name="">
            <a:extLst>
              <a:ext uri="{FF2B5EF4-FFF2-40B4-BE49-F238E27FC236}">
                <ns2:creationId id="{4648F494-74C7-41B9-A7AD-105B8730022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de-DE">
                <a:solidFill>
                  <a:srgbClr val="148977"/>
                </a:solidFill>
                <a:latin typeface="Arial"/>
                <a:ea typeface="Arial"/>
                <a:cs typeface="Arial"/>
              </a:rPr>
              <a:t>1.</a:t>
            </a:r>
          </a:p>
        </p:txBody>
      </p:sp>
      <p:sp>
        <p:nvSpPr>
          <p:cNvPr id="5" name="">
            <a:extLst>
              <a:ext uri="{FF2B5EF4-FFF2-40B4-BE49-F238E27FC236}">
                <ns2:creationId id="{D8F3ADF8-D3CE-4D09-B5D5-37B3C4DF925C}"/>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de-DE">
                <a:solidFill>
                  <a:srgbClr val="153F36"/>
                </a:solidFill>
                <a:latin typeface="Arial"/>
                <a:ea typeface="Arial"/>
                <a:cs typeface="Arial"/>
              </a:rPr>
              <a:t>Boni für den Vormonat</a:t>
            </a:r>
          </a:p>
        </p:txBody>
      </p:sp>
      <p:sp>
        <p:nvSpPr>
          <p:cNvPr id="6" name="">
            <a:extLst>
              <a:ext uri="{FF2B5EF4-FFF2-40B4-BE49-F238E27FC236}">
                <ns2:creationId id="{3C09A159-46FC-4266-AE84-DE17BCFA81A2}"/>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Nach kroatischen Richtlinien am 15. des Folgemonats.</a:t>
            </a:r>
          </a:p>
        </p:txBody>
      </p:sp>
      <p:sp>
        <p:nvSpPr>
          <p:cNvPr id="7" name="">
            <a:extLst>
              <a:ext uri="{FF2B5EF4-FFF2-40B4-BE49-F238E27FC236}">
                <ns2:creationId id="{7AEEAE2C-E72E-48F1-91F1-C715F3B5457C}"/>
              </a:ext>
            </a:extLst>
          </p:cNvPr>
          <p:cNvSpPr>
            <a:spLocks noGrp="1"/>
          </p:cNvSpPr>
          <p:nvPr/>
        </p:nvSpPr>
        <p:spPr>
          <a:xfrm>
            <a:off x="609600" y="3105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de-DE">
                <a:solidFill>
                  <a:srgbClr val="148977"/>
                </a:solidFill>
                <a:latin typeface="Arial"/>
                <a:ea typeface="Arial"/>
                <a:cs typeface="Arial"/>
              </a:rPr>
              <a:t>2.</a:t>
            </a:r>
          </a:p>
        </p:txBody>
      </p:sp>
      <p:sp>
        <p:nvSpPr>
          <p:cNvPr id="8" name="">
            <a:extLst>
              <a:ext uri="{FF2B5EF4-FFF2-40B4-BE49-F238E27FC236}">
                <ns2:creationId id="{D7C8ED34-9B2A-4A5B-8F5C-E661D3D95A39}"/>
              </a:ext>
            </a:extLst>
          </p:cNvPr>
          <p:cNvSpPr>
            <a:spLocks noGrp="1"/>
          </p:cNvSpPr>
          <p:nvPr/>
        </p:nvSpPr>
        <p:spPr>
          <a:xfrm>
            <a:off x="1257300" y="3105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de-DE">
                <a:solidFill>
                  <a:srgbClr val="153F36"/>
                </a:solidFill>
                <a:latin typeface="Arial"/>
                <a:ea typeface="Arial"/>
                <a:cs typeface="Arial"/>
              </a:rPr>
              <a:t>Onlinegewinn</a:t>
            </a:r>
          </a:p>
        </p:txBody>
      </p:sp>
      <p:sp>
        <p:nvSpPr>
          <p:cNvPr id="9" name="">
            <a:extLst>
              <a:ext uri="{FF2B5EF4-FFF2-40B4-BE49-F238E27FC236}">
                <ns2:creationId id="{03EEB3A6-8AA0-4AAC-8BB6-5A5C316EB19C}"/>
              </a:ext>
            </a:extLst>
          </p:cNvPr>
          <p:cNvSpPr>
            <a:spLocks noGrp="1"/>
          </p:cNvSpPr>
          <p:nvPr/>
        </p:nvSpPr>
        <p:spPr>
          <a:xfrm>
            <a:off x="1257300" y="3514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Global Pay nach dem 10., 20. und letzten Tag des Monats.</a:t>
            </a:r>
          </a:p>
        </p:txBody>
      </p:sp>
      <p:sp>
        <p:nvSpPr>
          <p:cNvPr id="10" name="">
            <a:extLst>
              <a:ext uri="{FF2B5EF4-FFF2-40B4-BE49-F238E27FC236}">
                <ns2:creationId id="{3836A816-BCC9-4762-B15B-376FBDA90C2D}"/>
              </a:ext>
            </a:extLst>
          </p:cNvPr>
          <p:cNvSpPr>
            <a:spLocks noGrp="1"/>
          </p:cNvSpPr>
          <p:nvPr/>
        </p:nvSpPr>
        <p:spPr>
          <a:xfrm>
            <a:off x="609600" y="4248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de-DE">
                <a:solidFill>
                  <a:srgbClr val="148977"/>
                </a:solidFill>
                <a:latin typeface="Arial"/>
                <a:ea typeface="Arial"/>
                <a:cs typeface="Arial"/>
              </a:rPr>
              <a:t>3.</a:t>
            </a:r>
          </a:p>
        </p:txBody>
      </p:sp>
      <p:sp>
        <p:nvSpPr>
          <p:cNvPr id="11" name="">
            <a:extLst>
              <a:ext uri="{FF2B5EF4-FFF2-40B4-BE49-F238E27FC236}">
                <ns2:creationId id="{02C2B9B3-EB86-468F-B5C8-D10A79D640D8}"/>
              </a:ext>
            </a:extLst>
          </p:cNvPr>
          <p:cNvSpPr>
            <a:spLocks noGrp="1"/>
          </p:cNvSpPr>
          <p:nvPr/>
        </p:nvSpPr>
        <p:spPr>
          <a:xfrm>
            <a:off x="1257300" y="4248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de-DE">
                <a:solidFill>
                  <a:srgbClr val="153F36"/>
                </a:solidFill>
                <a:latin typeface="Arial"/>
                <a:ea typeface="Arial"/>
                <a:cs typeface="Arial"/>
              </a:rPr>
              <a:t>Tatsächliches Einkommen</a:t>
            </a:r>
          </a:p>
        </p:txBody>
      </p:sp>
      <p:sp>
        <p:nvSpPr>
          <p:cNvPr id="12" name="">
            <a:extLst>
              <a:ext uri="{FF2B5EF4-FFF2-40B4-BE49-F238E27FC236}">
                <ns2:creationId id="{04657A1D-053C-48FC-B7DB-E622C573FFDA}"/>
              </a:ext>
            </a:extLst>
          </p:cNvPr>
          <p:cNvSpPr>
            <a:spLocks noGrp="1"/>
          </p:cNvSpPr>
          <p:nvPr/>
        </p:nvSpPr>
        <p:spPr>
          <a:xfrm>
            <a:off x="1257300" y="4657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de-DE">
                <a:solidFill>
                  <a:srgbClr val="526B63"/>
                </a:solidFill>
                <a:latin typeface="Arial"/>
                <a:ea typeface="Arial"/>
                <a:cs typeface="Arial"/>
              </a:rPr>
              <a:t>Anerkannte Verkäufe unter Berücksichtigung von Kosten, Rückgaben und Steuerpflichten.</a:t>
            </a:r>
          </a:p>
        </p:txBody>
      </p:sp>
      <p:sp>
        <p:nvSpPr>
          <p:cNvPr id="13" name="">
            <a:extLst>
              <a:ext uri="{FF2B5EF4-FFF2-40B4-BE49-F238E27FC236}">
                <ns2:creationId id="{D0CED1DA-9CAB-4767-B17A-CCA055B377B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de-DE">
                <a:solidFill>
                  <a:srgbClr val="526B63"/>
                </a:solidFill>
                <a:latin typeface="Arial"/>
                <a:ea typeface="Arial"/>
                <a:cs typeface="Arial"/>
              </a:rPr>
              <a:t>Das Ergebnis hängt von Person, Markt und tatsächlichen Verkäufen ab. FCC garantiert keinen Verdienst.</a:t>
            </a:r>
          </a:p>
        </p:txBody>
      </p:sp>
    </p:spTree>
    <p:extLst>
      <p:ext uri="{BB962C8B-B14F-4D97-AF65-F5344CB8AC3E}">
        <ns4:creationId val="805322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2026-10-04T12:05:50.0890000Z</dcterms:created>
  <dcterms:modified xsi:type="dcterms:W3CDTF">2026-10-04T12:05:50.0890000Z</dcterms:modified>
</coreProperties>
</file>