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Uvod, približno 1 minuta. Predstavi, kaj bo oseba spoznala: izdelke, poslovni model in konkretno vsakodnevno delo. Trajanje predstavitve prilagodi občinstvu. Ta predstavitev prikazuje hrvaški poslovni okvir in možnosti FCC glede na stanje 4. oktobra 2026.</a:t>
            </a:r>
          </a:p>
          <a:p>
            <a:r>
              <a:t/>
            </a:r>
          </a:p>
          <a:p>
            <a:r>
              <a:t>Viri: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Predstavi se osebno, približno 1 minuta. Govori samo o svojih preverljivih izkušnjah. Skupni del po tem uvodu uporablja celotna ekipa.</a:t>
            </a:r>
          </a:p>
          <a:p>
            <a:r>
              <a:t/>
            </a:r>
          </a:p>
          <a:p>
            <a:r>
              <a:t>Viri:</a:t>
            </a:r>
          </a:p>
          <a:p>
            <a:r>
              <a:t>Izvirno uporabnikovo gradivo, uvodne fotografije.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Napovej praktičen primer: oseba izbere izdelek ali webinar, se pogovori s kontaktom in zabeleži naslednji dogovor. Ne obljubljaj rezultata ali prihodka.</a:t>
            </a:r>
          </a:p>
          <a:p>
            <a:r>
              <a:t/>
            </a:r>
          </a:p>
          <a:p>
            <a:r>
              <a:t>Viri: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Forever je bil ustanovljen leta 1978. Število trgov se na uradnih regionalnih straneh razlikuje, zato tukaj ni navedeno enotno število. FCC je ločen, neodvisen sistem ekipe.</a:t>
            </a:r>
          </a:p>
          <a:p>
            <a:r>
              <a:t/>
            </a:r>
          </a:p>
          <a:p>
            <a:r>
              <a:t>Viri:</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Pogovor se začne z resnično potrebo, navadami in proračunom osebe. Pokaži izdelek, lokalno deklaracijo in navodila. Ne izmišljaj si zdravstvenih učinkov. Fotografija ponazarja ponudbo in ni aktualni lokalni cenik.</a:t>
            </a:r>
          </a:p>
          <a:p>
            <a:r>
              <a:t/>
            </a:r>
          </a:p>
          <a:p>
            <a:r>
              <a:t>Viri:</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Fotografije iz posredovane predstavitve prikazujejo proizvodnjo in distribucijo. Govori o odgovornostih podjetja in ne obljubljaj zdravstvenega učinka.</a:t>
            </a:r>
          </a:p>
          <a:p>
            <a:r>
              <a:t/>
            </a:r>
          </a:p>
          <a:p>
            <a:r>
              <a:t>Viri:</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Obe izbiri sta smiselni. Poslovna pot zahteva ločeno odločitev in izpolnjevanje lokalnih pogojev. Dostop do FCC je vezan na račun FCC in razpoložljive ugodnosti. Ni enak poslovnemu računu Forever.</a:t>
            </a:r>
          </a:p>
          <a:p>
            <a:r>
              <a:t/>
            </a:r>
          </a:p>
          <a:p>
            <a:r>
              <a:t>Viri:</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Hrvaška poslovna politika, izdaja, veljavna od 1. julija 2026. CC so obračunske točke izdelkov. Po 2 CC v dveh zaporednih mesecih sledi 30% pri naslednjih naročilih in možnost ločene odločitve za poslovno sodelovanje. Ceno, vsebino paketa in trenutek uporabe popusta preveri v uradni lokalni trgovini. Ne priporočaj nakupa zaradi točk brez resnične potrebe.</a:t>
            </a:r>
          </a:p>
          <a:p>
            <a:r>
              <a:t/>
            </a:r>
          </a:p>
          <a:p>
            <a:r>
              <a:t>Viri:</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2 minuti. Na Hrvaškem 30% po kvalifikaciji ni enako osebnemu bonusu ali neto prihodku. Do 48% prilagojene cene glede na SRP je izraz iz poslovne politike in ne zagotovljena provizija za vsako naročilo. Obračunske osnove in uporaba so odvisne od vrste prodaje in poslovne politike.</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2 minuti. To je razlaga virov možnega prihodka in ne napoved zaslužka. Stopnje in osnove je treba preveriti v lokalni poslovni politiki. Sama registracija ne ustvarja prihodka. Podrobne stopnje so v dodatku.</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Hrvaška poslovna politika 4.01. Supervisor ima prag 10 CC zunaj managerskih linij, vendar si roka v 4.01(b) in 4.01(g) iste politike nasprotujeta, zato rok tukaj ni naveden. Pojasni CC kot obseg prodaje in nikoli kot število registriranih oseb. Raven ne zagotavlja mesečnega bonusa.</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Po hrvaški poslovni politiki ima aktivni FBO 4 CC, od tega najmanj 1 osebno kupljen CC. Dosežena raven in pravica do bonusa sta ločena pojma. To niso univerzalna globalna pravila. Ne kupujemo zaradi kvalifikacije brez povpraševanja. Številčni podatki CC iz FLP360 v FCC so zbirni podatki in niso dokaz naročila določenega kupca.</a:t>
            </a:r>
          </a:p>
          <a:p>
            <a:r>
              <a:t/>
            </a:r>
          </a:p>
          <a:p>
            <a:r>
              <a:t>Viri: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Spodbujevalni programi imajo dodatne kvalifikacije, zahteve za ohranjanje pogojev in lokalne pogoje. Ne predstavljaj jih kot brezplačen avtomobil ali zagotovljeno potovanje. Dodatek vsebuje povzetek, poslovna politika pa celotne pogoje.</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Jasno poudari neodvisnost FCC. FCC ne proizvaja, ne dostavlja in ne izplačuje bonusov Forever. Njegova vloga je organizirati delo, izobraževanje, osebna priporočila in podporo.</a:t>
            </a:r>
          </a:p>
          <a:p>
            <a:r>
              <a:t/>
            </a:r>
          </a:p>
          <a:p>
            <a:r>
              <a:t>Viri:</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Kartica na enem mestu združuje kontakt, vsebino in spletno trgovino Forever. Novi glavni blok uporablja Forever ID iz računa in obstoječo logiko preusmerjanja. Obiskovalec lahko preveri trg. Razpoložljivost izdelkov in pogoje nakupa določa lokalna trgovina Forever.</a:t>
            </a:r>
          </a:p>
          <a:p>
            <a:r>
              <a:t/>
            </a:r>
          </a:p>
          <a:p>
            <a:r>
              <a:t>Viri:</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Prikaz dejanskega produkcijskega sistema je bil posnet 4. oktobra 2026. Primer je Fiber Fusion. Odpiranje WhatsAppa samo pripravi sporočilo, uporabnik ga pregleda in sam pošlje. Članek in uradna trgovina sta različni strani. Med predstavitvijo ne klikni pošiljanja brez resničnega namena.</a:t>
            </a:r>
          </a:p>
          <a:p>
            <a:r>
              <a:t/>
            </a:r>
          </a:p>
          <a:p>
            <a:r>
              <a:t>Viri:</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Priporočilo za poslovno sodelovanje in Start Your Journey prek obstoječe logike preusmerjanja vodi v uradni lokalni postopek Forever s priporočilom sodelavca. Cene, razpoložljivost in lokalni pogoji niso enaki v vseh državah. Gost sam pregleda in potrdi naročilo in registracijo.</a:t>
            </a:r>
          </a:p>
          <a:p>
            <a:r>
              <a:t/>
            </a:r>
          </a:p>
          <a:p>
            <a:r>
              <a:t>Viri:</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Stiki in opomniki so na voljo v paketu Free. Prijava na webinar se lahko poveže z obstoječim kontaktom. Naslov in primer sta izmišljena in ne predstavljata osebnih podatkov resničnih članov. Pripravljeno ali kopirano sporočilo ni poslano, pošiljanje se potrdi posebej.</a:t>
            </a:r>
          </a:p>
          <a:p>
            <a:r>
              <a:t/>
            </a:r>
          </a:p>
          <a:p>
            <a:r>
              <a:t>Viri:</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Osebni PRO Coach pomaga pri sporočilu, nalogi in razmisleku na podlagi znanega konteksta. Ne pošilja sporočil namesto uporabnika in ne potrjuje izida nakupa. Primer vprašanja je izmišljen. Med javnim webinarjem ne prikazuj resničnih zasebnih pogovorov.</a:t>
            </a:r>
          </a:p>
          <a:p>
            <a:r>
              <a:t/>
            </a:r>
          </a:p>
          <a:p>
            <a:r>
              <a:t>Viri:</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Aktualni program načrtuje 90 korakov. Razpoložljivost je odvisna od pogojev računa in programa. Nedokončan korak ostane, dokler ni potrjen njegov zaključek. Naslednja redna naloga sledi po zaključku današnje naloge po pravilih programa.</a:t>
            </a:r>
          </a:p>
          <a:p>
            <a:r>
              <a:t/>
            </a:r>
          </a:p>
          <a:p>
            <a:r>
              <a:t>Viri:</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Izobraževanje vsebuje šest video lekcij in teme, povezane s pogovorom s sponzorjem ali ekipo. Pokaži primer vprašanja in kako ga uporabiti v pogovoru. Prikaz sistema FCC z dne 4. oktobra 2026.</a:t>
            </a:r>
          </a:p>
          <a:p>
            <a:r>
              <a:t/>
            </a:r>
          </a:p>
          <a:p>
            <a:r>
              <a:t>Viri:</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Dejanski prikaz produkcijskega sistema z dne 4. oktobra 2026. Termin v predstavitvi je primer in ne stalen urnik. Vsak sodelavec uporablja osebno vabilo. Video in osebni uvod sta odvisna od paketa PRO. Odpiranje WhatsAppa ne dokazuje pošiljanja. Vabilo lahko prilagodiš in sam deliš.</a:t>
            </a:r>
          </a:p>
          <a:p>
            <a:r>
              <a:t/>
            </a:r>
          </a:p>
          <a:p>
            <a:r>
              <a:t>Viri:</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2 minuti. Marko je izmišljen primer. Prijava je ločena od udeležbe, udeležba v Zoomu se ne dokazuje samodejno. Gost prejme potrditev in razpoložljive opomnike glede na soglasja in potrditev elektronskega naslova. Ponovna prijava na drug termin vodi ločeno evidenco udeležbe in poveže isti prepoznani kontakt, ob preverjanju, kadar identiteta ni enoznačna.</a:t>
            </a:r>
          </a:p>
          <a:p>
            <a:r>
              <a:t/>
            </a:r>
          </a:p>
          <a:p>
            <a:r>
              <a:t>Viri:</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Organizator s paketom PRO izbere enkratni ali tedenski termin, jezik in vidnost samo za lastna vabila ali za celotno potrjeno ekipo FCC. Člani njegove ekipe lahko vabijo s svojo povezavo in prejmejo svoje kontakte. Organizator vidi skupno število in ne zasebnega CRM drugih članov. Jezik dogodka in jezik računa sta ločena.</a:t>
            </a:r>
          </a:p>
          <a:p>
            <a:r>
              <a:t/>
            </a:r>
          </a:p>
          <a:p>
            <a:r>
              <a:t>Viri:</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PRO prikazuje potrjeno strukturo FCC, zbirne podatke CC in napredek. Sprememba CC ni dokaz, da je določen kontakt kupil določen izdelek. Osebni stik vključuje osnutek, potrjeno pošiljanje in opomnik. Med javno predstavitvijo ne prikazuj zasebnih članov in podatkov.</a:t>
            </a:r>
          </a:p>
          <a:p>
            <a:r>
              <a:t/>
            </a:r>
          </a:p>
          <a:p>
            <a:r>
              <a:t>Viri:</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2 minuti ali kratka predstavitev v živo. Ana je izmišljen primer. Pokaži eno nalogo in eno pripravljeno sporočilo brez dejanskega pošiljanja. Nato pokaži, kje se zabeleži dogovor. Pred občinstvom ne odpiraj zasebnih zapisov CRM.</a:t>
            </a:r>
          </a:p>
          <a:p>
            <a:r>
              <a:t/>
            </a:r>
          </a:p>
          <a:p>
            <a:r>
              <a:t>Viri:</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Predlagani ritem je primer organizacije in ni uradna obveznost programa. Termin se izbere iz aktualnega urnika. Ne predpostavljaj srede, nedelje ali iste ure za vse ekipe.</a:t>
            </a:r>
          </a:p>
          <a:p>
            <a:r>
              <a:t/>
            </a:r>
          </a:p>
          <a:p>
            <a:r>
              <a:t>Viri:</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1,5 minute. To je primer začetka s sponzorjem in ne nadomestilo za konkretna merila programa Moja pot. Aktivacija računa in dostop do programa imata svoje pogoje. Tempo prilagodi času in znanju osebe.</a:t>
            </a:r>
          </a:p>
          <a:p>
            <a:r>
              <a:t/>
            </a:r>
          </a:p>
          <a:p>
            <a:r>
              <a:t>Viri:</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Dejanske ugodnosti so bile preverjene v produkcijskem sistemu 4. oktobra 2026. Cene in natančne omejitve se lahko spremenijo, zato so prikazane v FCC. Izobraževanje je na voljo po pogojih obstoječega programa. Naročnina PRO ni kvalifikacija Forever in ne zagotavlja prihodka.</a:t>
            </a:r>
          </a:p>
          <a:p>
            <a:r>
              <a:t/>
            </a:r>
          </a:p>
          <a:p>
            <a:r>
              <a:t>Viri:</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2 minuti. Povabi k resničnim vprašanjem. Odgovarjaj glede na situacijo in lokalna pravila. Če odgovora ne veš, zapiši vprašanje in preveri uradni vir ali podporo. Ne ponujaj napovedi prihodka.</a:t>
            </a:r>
          </a:p>
          <a:p>
            <a:r>
              <a:t/>
            </a:r>
          </a:p>
          <a:p>
            <a:r>
              <a:t>Viri: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Približno 1 minuta. Dogovori pogovor z osebo, ki je gosta povabila, po potrebi skupaj s sponzorjem ali managerjem. Gostu ni treba takoj sprejeti poslovne odločitve. Skupnega kontakta ne uporabljaj kot nadomestilo za osebo, ki je gosta osebno povabila.</a:t>
            </a:r>
          </a:p>
          <a:p>
            <a:r>
              <a:t/>
            </a:r>
          </a:p>
          <a:p>
            <a:r>
              <a:t>Viri: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Zaključek glavnega dela. Odgovori na vprašanja in spomni na osebni pogovor. Dodatni diapozitivi so namenjeni podrobnim vprašanjem o marketinškem načrtu in jih ni treba predstaviti na vsakem webinarju.</a:t>
            </a:r>
          </a:p>
          <a:p>
            <a:r>
              <a:t/>
            </a:r>
          </a:p>
          <a:p>
            <a:r>
              <a:t>Viri: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Hrvaška poslovna politika veže osebni bonus na prodajno raven, aktivnost in predpisano osnovo. Izraz o prilagojeni ceni do 48% ima v politiki ločen pomen. Ne pomeni zagotovljene denarne provizije za vsako naročilo. Osnovnega popusta in bonusov ne seštevaj kot zagotovljen neto prihodek.</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Hrvaška poslovna politika, razdelek 10. Program je namenjen aktivnemu priznanemu Managerju ob dodatnih pogojih in njihovem ohranjanju. Kvalifikacija traja tri zaporedne mesece. Spodbuda lahko traja do 36 mesecev. Najvišji zneski v poslovni politiki so navedeni v USD. Za osebni načrt preveri lokalni obračun in pogoje izplačila v evrih.</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To so osnovni pragovi, celotna pravila pa določa veljavna lokalna poslovna politika. Eagle Manager vključuje 720 skupnih CC, 100 novih CC, tri nove linije Supervisor in dodatne pogoje. Global Rally vključuje 1.500 skupnih CC in 50 novih CC. Novi CC označujejo obseg prodaje novih linij. Chairman’s Bonus ima napredne kvalifikacijske pogoje, znesek izplačila pa ni fiksen.</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Hrvaška poslovna politika navaja bonuse 15. naslednjega meseca. Spletni dobiček se prenese v Global Pay po 10., 20. in zadnjem dnevu meseca. Obračun in priliv na bančni račun imata lahko različne roke. Prihodek, davki in registracija dejavnosti so odvisni od dejanskih okoliščin. Osebna vprašanja usmeri h kvalificiranemu svetovalcu in uradni podpori.</a:t>
            </a:r>
          </a:p>
          <a:p>
            <a:r>
              <a:t/>
            </a:r>
          </a:p>
          <a:p>
            <a:r>
              <a:t>Viri: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sl-SI">
                <a:solidFill>
                  <a:srgbClr val="153F36"/>
                </a:solidFill>
                <a:latin typeface="Arial"/>
                <a:ea typeface="Arial"/>
                <a:cs typeface="Arial"/>
              </a:rPr>
              <a:t>Forever in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5040" b="1" lang="sl-SI">
                <a:solidFill>
                  <a:srgbClr val="153F36"/>
                </a:solidFill>
                <a:latin typeface="Arial"/>
                <a:ea typeface="Arial"/>
                <a:cs typeface="Arial"/>
              </a:rPr>
              <a:t>Poslovna priložnost</a:t>
            </a:r>
          </a:p>
          <a:p>
            <a:pPr>
              <a:defRPr sz="5250" b="1">
                <a:solidFill>
                  <a:srgbClr val="153F36"/>
                </a:solidFill>
                <a:latin typeface="Arial"/>
                <a:ea typeface="Arial"/>
                <a:cs typeface="Arial"/>
              </a:defRPr>
            </a:pPr>
            <a:r>
              <a:rPr sz="5040" b="1" lang="sl-SI">
                <a:solidFill>
                  <a:srgbClr val="153F36"/>
                </a:solidFill>
                <a:latin typeface="Arial"/>
                <a:ea typeface="Arial"/>
                <a:cs typeface="Arial"/>
              </a:rPr>
              <a:t>v praksi</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Izdelki, sodelovanje in vsakodnevno delo z digitalno podporo.</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02</a:t>
            </a:r>
          </a:p>
        </p:txBody>
      </p:sp>
      <p:sp>
        <p:nvSpPr>
          <p:cNvPr id="3" name="Naslov">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Vaša gostitelja</a:t>
            </a:r>
          </a:p>
        </p:txBody>
      </p:sp>
      <p:sp>
        <p:nvSpPr>
          <p:cNvPr id="4" name="Predavatelj, i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sl-SI">
                <a:solidFill>
                  <a:srgbClr val="153F36"/>
                </a:solidFill>
                <a:latin typeface="Arial"/>
                <a:ea typeface="Arial"/>
                <a:cs typeface="Arial"/>
              </a:rPr>
              <a:t>Stjepan in</a:t>
            </a:r>
          </a:p>
          <a:p>
            <a:pPr>
              <a:defRPr sz="3975" b="1">
                <a:solidFill>
                  <a:srgbClr val="153F36"/>
                </a:solidFill>
                <a:latin typeface="Arial"/>
                <a:ea typeface="Arial"/>
                <a:cs typeface="Arial"/>
              </a:defRPr>
            </a:pPr>
            <a:r>
              <a:rPr sz="3975" b="1" lang="sl-SI">
                <a:solidFill>
                  <a:srgbClr val="153F36"/>
                </a:solidFill>
                <a:latin typeface="Arial"/>
                <a:ea typeface="Arial"/>
                <a:cs typeface="Arial"/>
              </a:rPr>
              <a:t>Snježana Beloša</a:t>
            </a:r>
          </a:p>
        </p:txBody>
      </p:sp>
      <p:sp>
        <p:nvSpPr>
          <p:cNvPr id="5" name="Predavatelj, opis">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l-SI">
                <a:solidFill>
                  <a:srgbClr val="526B63"/>
                </a:solidFill>
                <a:latin typeface="Arial"/>
                <a:ea typeface="Arial"/>
                <a:cs typeface="Arial"/>
              </a:rPr>
              <a:t>Ustvarjalca Forever Card Cluba</a:t>
            </a:r>
          </a:p>
          <a:p>
            <a:pPr>
              <a:defRPr sz="2250" b="0">
                <a:solidFill>
                  <a:srgbClr val="526B63"/>
                </a:solidFill>
                <a:latin typeface="Arial"/>
                <a:ea typeface="Arial"/>
                <a:cs typeface="Arial"/>
              </a:defRPr>
            </a:pPr>
            <a:r>
              <a:rPr sz="2250" b="0" lang="sl-SI">
                <a:solidFill>
                  <a:srgbClr val="526B63"/>
                </a:solidFill>
                <a:latin typeface="Arial"/>
                <a:ea typeface="Arial"/>
                <a:cs typeface="Arial"/>
              </a:rPr>
              <a:t>in mentorja naše ekipe.</a:t>
            </a:r>
          </a:p>
        </p:txBody>
      </p:sp>
      <p:sp>
        <p:nvSpPr>
          <p:cNvPr id="6" name="Predavatelj, osebno sporočilo">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sl-SI">
                <a:solidFill>
                  <a:srgbClr val="153F36"/>
                </a:solidFill>
                <a:latin typeface="Arial"/>
                <a:ea typeface="Arial"/>
                <a:cs typeface="Arial"/>
              </a:rPr>
              <a:t>Pomagava vam razumeti možnosti in izbrati izvedljiv začetek.</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03</a:t>
            </a:r>
          </a:p>
        </p:txBody>
      </p:sp>
      <p:sp>
        <p:nvSpPr>
          <p:cNvPr id="3" name="Naslov">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Kaj boste danes spoznali</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Izdelke, uradno naročilo in poslovna pravila.</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Vaša izbira</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Uporaba izdelkov ali razvoj lastnega poslovanja.</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FCC v praksi</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Osebno priporočilo, stiki, webinar in podpora.</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Prvi teden</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Konkreten začetek z osebo, ki vas je povabila.</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04</a:t>
            </a:r>
          </a:p>
        </p:txBody>
      </p:sp>
      <p:sp>
        <p:nvSpPr>
          <p:cNvPr id="3" name="Naslov">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sl-SI">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sl-SI">
                <a:solidFill>
                  <a:srgbClr val="153F36"/>
                </a:solidFill>
                <a:latin typeface="Arial"/>
                <a:ea typeface="Arial"/>
                <a:cs typeface="Arial"/>
              </a:rPr>
              <a:t>Leto ustanovitve</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l-SI">
                <a:solidFill>
                  <a:srgbClr val="526B63"/>
                </a:solidFill>
                <a:latin typeface="Arial"/>
                <a:ea typeface="Arial"/>
                <a:cs typeface="Arial"/>
              </a:rPr>
              <a:t>Globalno podjetje z izdelki, prodajno mrežo in uradnimi pravili poslovanja.</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05</a:t>
            </a:r>
          </a:p>
        </p:txBody>
      </p:sp>
      <p:sp>
        <p:nvSpPr>
          <p:cNvPr id="3" name="Naslov">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Izdelki v vsakdanjem življenju</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sl-SI">
                <a:solidFill>
                  <a:srgbClr val="153F36"/>
                </a:solidFill>
                <a:latin typeface="Arial"/>
                <a:ea typeface="Arial"/>
                <a:cs typeface="Arial"/>
              </a:rPr>
              <a:t>Osebna nega</a:t>
            </a:r>
          </a:p>
          <a:p>
            <a:pPr>
              <a:defRPr sz="2925" b="1">
                <a:solidFill>
                  <a:srgbClr val="153F36"/>
                </a:solidFill>
                <a:latin typeface="Arial"/>
                <a:ea typeface="Arial"/>
                <a:cs typeface="Arial"/>
              </a:defRPr>
            </a:pPr>
            <a:r>
              <a:rPr sz="2925" b="1" lang="sl-SI">
                <a:solidFill>
                  <a:srgbClr val="153F36"/>
                </a:solidFill>
                <a:latin typeface="Arial"/>
                <a:ea typeface="Arial"/>
                <a:cs typeface="Arial"/>
              </a:rPr>
              <a:t>Napitki</a:t>
            </a:r>
          </a:p>
          <a:p>
            <a:pPr>
              <a:defRPr sz="2925" b="1">
                <a:solidFill>
                  <a:srgbClr val="153F36"/>
                </a:solidFill>
                <a:latin typeface="Arial"/>
                <a:ea typeface="Arial"/>
                <a:cs typeface="Arial"/>
              </a:defRPr>
            </a:pPr>
            <a:r>
              <a:rPr sz="2925" b="1" lang="sl-SI">
                <a:solidFill>
                  <a:srgbClr val="153F36"/>
                </a:solidFill>
                <a:latin typeface="Arial"/>
                <a:ea typeface="Arial"/>
                <a:cs typeface="Arial"/>
              </a:rPr>
              <a:t>Prehranska dopolnila</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l-SI">
                <a:solidFill>
                  <a:srgbClr val="526B63"/>
                </a:solidFill>
                <a:latin typeface="Arial"/>
                <a:ea typeface="Arial"/>
                <a:cs typeface="Arial"/>
              </a:rPr>
              <a:t>Priporočilo je smiselno, ko izdelek ustreza osebi in njenim navadam.</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06</a:t>
            </a:r>
          </a:p>
        </p:txBody>
      </p:sp>
      <p:sp>
        <p:nvSpPr>
          <p:cNvPr id="3" name="Naslov">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Od pridelave do uradnega naročila</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Forever skrbi za proizvodnjo, naročila in dostavo.</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Sodelavec pomaga osebi izbrati izdelek in uporabiti uradni prodajni kanal.</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07</a:t>
            </a:r>
          </a:p>
        </p:txBody>
      </p:sp>
      <p:sp>
        <p:nvSpPr>
          <p:cNvPr id="3" name="Naslov">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Uporabnik ali poslovni sodelavec</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Uporabnik izdelkov</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Izbere izdelke za osebno uporabo.</a:t>
            </a:r>
          </a:p>
          <a:p>
            <a:r>
              <a:t/>
            </a:r>
          </a:p>
          <a:p>
            <a:pPr>
              <a:defRPr sz="2175" b="0">
                <a:solidFill>
                  <a:srgbClr val="526B63"/>
                </a:solidFill>
                <a:latin typeface="Arial"/>
                <a:ea typeface="Arial"/>
                <a:cs typeface="Arial"/>
              </a:defRPr>
            </a:pPr>
            <a:r>
              <a:rPr sz="2175" b="0" lang="sl-SI">
                <a:solidFill>
                  <a:srgbClr val="526B63"/>
                </a:solidFill>
                <a:latin typeface="Arial"/>
                <a:ea typeface="Arial"/>
                <a:cs typeface="Arial"/>
              </a:rPr>
              <a:t>Preveri popust in pogoje svojega trga.</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Poslovni sodelavec</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Se uči priporočati izdelke in delati s kupci.</a:t>
            </a:r>
          </a:p>
          <a:p>
            <a:r>
              <a:t/>
            </a:r>
          </a:p>
          <a:p>
            <a:pPr>
              <a:defRPr sz="2175" b="0">
                <a:solidFill>
                  <a:srgbClr val="526B63"/>
                </a:solidFill>
                <a:latin typeface="Arial"/>
                <a:ea typeface="Arial"/>
                <a:cs typeface="Arial"/>
              </a:defRPr>
            </a:pPr>
            <a:r>
              <a:rPr sz="2175" b="0" lang="sl-SI">
                <a:solidFill>
                  <a:srgbClr val="526B63"/>
                </a:solidFill>
                <a:latin typeface="Arial"/>
                <a:ea typeface="Arial"/>
                <a:cs typeface="Arial"/>
              </a:rPr>
              <a:t>Lahko razvija ekipo po uradnem načrtu.</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Prvi pogovor pomaga izbrati smer, ki ustreza osebi.</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08</a:t>
            </a:r>
          </a:p>
        </p:txBody>
      </p:sp>
      <p:sp>
        <p:nvSpPr>
          <p:cNvPr id="3" name="Naslov">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Začetna kvalifikacija: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sl-SI">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sl-SI">
                <a:solidFill>
                  <a:srgbClr val="153F36"/>
                </a:solidFill>
                <a:latin typeface="Arial"/>
                <a:ea typeface="Arial"/>
                <a:cs typeface="Arial"/>
              </a:rPr>
              <a:t>CC so obračunske</a:t>
            </a:r>
          </a:p>
          <a:p>
            <a:pPr>
              <a:defRPr sz="2700" b="1">
                <a:solidFill>
                  <a:srgbClr val="153F36"/>
                </a:solidFill>
                <a:latin typeface="Arial"/>
                <a:ea typeface="Arial"/>
                <a:cs typeface="Arial"/>
              </a:defRPr>
            </a:pPr>
            <a:r>
              <a:rPr sz="2700" b="1" lang="sl-SI">
                <a:solidFill>
                  <a:srgbClr val="153F36"/>
                </a:solidFill>
                <a:latin typeface="Arial"/>
                <a:ea typeface="Arial"/>
                <a:cs typeface="Arial"/>
              </a:rPr>
              <a:t>točke izdelkov.</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V dveh zaporednih mesecih</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l-SI">
                <a:solidFill>
                  <a:srgbClr val="526B63"/>
                </a:solidFill>
                <a:latin typeface="Arial"/>
                <a:ea typeface="Arial"/>
                <a:cs typeface="Arial"/>
              </a:rPr>
              <a:t>Ustrezen začetni paket ali kombinacija izdelkov po aktualnih pogojih.</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Hrvaški tržni okvir. Ceno in razpoložljivost preveri v uradni trgovini.</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09</a:t>
            </a:r>
          </a:p>
        </p:txBody>
      </p:sp>
      <p:sp>
        <p:nvSpPr>
          <p:cNvPr id="3" name="Naslov">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Popust, prodajni dobiček in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30% po začetni kvalifikaciji</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Popust pri naslednjih naročilih v hrvaškem tržnem okviru.</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Prodajni dobiček</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Odvisen je od dejanske prodajne in nabavne cene.</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Obračuna se za priznano prodajo ob predpisanih pogojih.</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Neto prihodek je odvisen tudi od stroškov, vračil in davkov.</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10</a:t>
            </a:r>
          </a:p>
        </p:txBody>
      </p:sp>
      <p:sp>
        <p:nvSpPr>
          <p:cNvPr id="3" name="Naslov">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Načini ustvarjanja prihodka</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Maloprodaja in spletna prodaja</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Dobiček, vezan na dejanski nakup izdelkov.</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Osebni in Preferred Customer bonus</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Obračun glede na prodajno raven in pogoje.</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Kvalificirana prodaja nižjih ravni v organizaciji.</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Kvalificirane generacije na ravni Manager in pogoji načrta.</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11</a:t>
            </a:r>
          </a:p>
        </p:txBody>
      </p:sp>
      <p:sp>
        <p:nvSpPr>
          <p:cNvPr id="3" name="Naslov">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Prodajne ravni</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sl-SI">
                          <a:solidFill>
                            <a:srgbClr val="FFFFFF"/>
                          </a:solidFill>
                          <a:latin typeface="Arial"/>
                          <a:ea typeface="Arial"/>
                          <a:cs typeface="Arial"/>
                        </a:rPr>
                        <a:t>Raven</a:t>
                      </a:r>
                    </a:p>
                  </a:txBody>
                  <a:tcPr marL="91440" marR="91440" marT="45720" marB="45720">
                    <a:solidFill>
                      <a:srgbClr val="153F36"/>
                    </a:solidFill>
                  </a:tcPr>
                </a:tc>
                <a:tc>
                  <a:txBody>
                    <a:bodyPr lIns="152400" tIns="133350" rIns="152400" bIns="114300">
                      <a:noAutofit/>
                    </a:bodyPr>
                    <a:lstStyle/>
                    <a:p>
                      <a:r>
                        <a:rPr sz="2025" b="1" lang="sl-SI">
                          <a:solidFill>
                            <a:srgbClr val="FFFFFF"/>
                          </a:solidFill>
                          <a:latin typeface="Arial"/>
                          <a:ea typeface="Arial"/>
                          <a:cs typeface="Arial"/>
                        </a:rPr>
                        <a:t>Kvalifikacijski obseg</a:t>
                      </a:r>
                    </a:p>
                  </a:txBody>
                  <a:tcPr marL="91440" marR="91440" marT="45720" marB="45720">
                    <a:solidFill>
                      <a:srgbClr val="153F36"/>
                    </a:solidFill>
                  </a:tcPr>
                </a:tc>
              </a:tr>
              <a:tr h="634365">
                <a:tc>
                  <a:txBody>
                    <a:bodyPr lIns="152400" tIns="133350" rIns="152400" bIns="114300">
                      <a:noAutofit/>
                    </a:bodyPr>
                    <a:lstStyle/>
                    <a:p>
                      <a:r>
                        <a:rPr sz="2025" b="0" lang="sl-SI">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2 CC v dveh zaporednih mesecih</a:t>
                      </a:r>
                    </a:p>
                  </a:txBody>
                  <a:tcPr marL="91440" marR="91440" marT="45720" marB="45720">
                    <a:solidFill>
                      <a:srgbClr val="FFFFFF"/>
                    </a:solidFill>
                  </a:tcPr>
                </a:tc>
              </a:tr>
              <a:tr h="634365">
                <a:tc>
                  <a:txBody>
                    <a:bodyPr lIns="152400" tIns="133350" rIns="152400" bIns="114300">
                      <a:noAutofit/>
                    </a:bodyPr>
                    <a:lstStyle/>
                    <a:p>
                      <a:r>
                        <a:rPr sz="2025" b="0" lang="sl-SI">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sl-SI">
                          <a:solidFill>
                            <a:srgbClr val="153F36"/>
                          </a:solidFill>
                          <a:latin typeface="Arial"/>
                          <a:ea typeface="Arial"/>
                          <a:cs typeface="Arial"/>
                        </a:rPr>
                        <a:t>10 CC, rok preveri lokalno</a:t>
                      </a:r>
                    </a:p>
                  </a:txBody>
                  <a:tcPr marL="91440" marR="91440" marT="45720" marB="45720">
                    <a:solidFill>
                      <a:srgbClr val="F3F7F2"/>
                    </a:solidFill>
                  </a:tcPr>
                </a:tc>
              </a:tr>
              <a:tr h="634365">
                <a:tc>
                  <a:txBody>
                    <a:bodyPr lIns="152400" tIns="133350" rIns="152400" bIns="114300">
                      <a:noAutofit/>
                    </a:bodyPr>
                    <a:lstStyle/>
                    <a:p>
                      <a:r>
                        <a:rPr sz="2025" b="0" lang="sl-SI">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60 CC v dveh zaporednih mesecih</a:t>
                      </a:r>
                    </a:p>
                  </a:txBody>
                  <a:tcPr marL="91440" marR="91440" marT="45720" marB="45720">
                    <a:solidFill>
                      <a:srgbClr val="FFFFFF"/>
                    </a:solidFill>
                  </a:tcPr>
                </a:tc>
              </a:tr>
              <a:tr h="634365">
                <a:tc>
                  <a:txBody>
                    <a:bodyPr lIns="152400" tIns="133350" rIns="152400" bIns="114300">
                      <a:noAutofit/>
                    </a:bodyPr>
                    <a:lstStyle/>
                    <a:p>
                      <a:r>
                        <a:rPr sz="2025" b="0" lang="sl-SI">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sl-SI">
                          <a:solidFill>
                            <a:srgbClr val="153F36"/>
                          </a:solidFill>
                          <a:latin typeface="Arial"/>
                          <a:ea typeface="Arial"/>
                          <a:cs typeface="Arial"/>
                        </a:rPr>
                        <a:t>120 CC v 1 ali 2 mes., ali 150 CC v 3 ali 4 mes.</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Hrvaški okvir. Napredovanje sledi priznanemu prometu izdelkov.</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12</a:t>
            </a:r>
          </a:p>
        </p:txBody>
      </p:sp>
      <p:sp>
        <p:nvSpPr>
          <p:cNvPr id="3" name="Naslov">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Raven in mesečna aktivnost</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Dosežena raven</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Prikazuje doseženo prodajno kvalifikacijo.</a:t>
            </a:r>
          </a:p>
          <a:p>
            <a:r>
              <a:t/>
            </a:r>
          </a:p>
          <a:p>
            <a:pPr>
              <a:defRPr sz="2175" b="0">
                <a:solidFill>
                  <a:srgbClr val="526B63"/>
                </a:solidFill>
                <a:latin typeface="Arial"/>
                <a:ea typeface="Arial"/>
                <a:cs typeface="Arial"/>
              </a:defRPr>
            </a:pPr>
            <a:r>
              <a:rPr sz="2175" b="0" lang="sl-SI">
                <a:solidFill>
                  <a:srgbClr val="526B63"/>
                </a:solidFill>
                <a:latin typeface="Arial"/>
                <a:ea typeface="Arial"/>
                <a:cs typeface="Arial"/>
              </a:rPr>
              <a:t>Določena izplačila imajo še vedno mesečne pogoje.</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Aktivnost na Hrvaškem</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4 CC v mesecu, od tega najmanj 1 osebno kupljen CC.</a:t>
            </a:r>
          </a:p>
          <a:p>
            <a:r>
              <a:t/>
            </a:r>
          </a:p>
          <a:p>
            <a:pPr>
              <a:defRPr sz="2175" b="0">
                <a:solidFill>
                  <a:srgbClr val="526B63"/>
                </a:solidFill>
                <a:latin typeface="Arial"/>
                <a:ea typeface="Arial"/>
                <a:cs typeface="Arial"/>
              </a:defRPr>
            </a:pPr>
            <a:r>
              <a:rPr sz="2175" b="0" lang="sl-SI">
                <a:solidFill>
                  <a:srgbClr val="526B63"/>
                </a:solidFill>
                <a:latin typeface="Arial"/>
                <a:ea typeface="Arial"/>
                <a:cs typeface="Arial"/>
              </a:rPr>
              <a:t>Velja za določene bonuse in kvalifikacije.</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Pravila svojega trga in prodajni načrt preglej s sponzorjem ali managerjem.</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13</a:t>
            </a:r>
          </a:p>
        </p:txBody>
      </p:sp>
      <p:sp>
        <p:nvSpPr>
          <p:cNvPr id="3" name="Naslov">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Možnosti nadaljnjega razvoja</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Spodbuda ob kvalifikaciji in ohranjanju pogojev.</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Razvoj ljudi, prodajne organizacije in kvalifikacij.</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Letna kvalifikacija po priznanih CC.</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Napredna kvalifikacija in deleži v bonusnem skladu.</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l-SI">
                <a:solidFill>
                  <a:srgbClr val="D4E8DD"/>
                </a:solidFill>
                <a:latin typeface="Arial"/>
                <a:ea typeface="Arial"/>
                <a:cs typeface="Arial"/>
              </a:rPr>
              <a:t>14</a:t>
            </a:r>
          </a:p>
        </p:txBody>
      </p:sp>
      <p:sp>
        <p:nvSpPr>
          <p:cNvPr id="2" name="Naslov">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l-SI">
                <a:solidFill>
                  <a:srgbClr val="FFFFFF"/>
                </a:solidFill>
                <a:latin typeface="Arial"/>
                <a:ea typeface="Arial"/>
                <a:cs typeface="Arial"/>
              </a:rPr>
              <a:t>Forever in FCC: razdelitev vlog</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l-SI">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l-SI">
                <a:solidFill>
                  <a:srgbClr val="D4E8DD"/>
                </a:solidFill>
                <a:latin typeface="Arial"/>
                <a:ea typeface="Arial"/>
                <a:cs typeface="Arial"/>
              </a:rPr>
              <a:t>Izdelki, uradni nakup, prodajna politika in obračun.</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l-SI">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l-SI">
                <a:solidFill>
                  <a:srgbClr val="D4E8DD"/>
                </a:solidFill>
                <a:latin typeface="Arial"/>
                <a:ea typeface="Arial"/>
                <a:cs typeface="Arial"/>
              </a:rPr>
              <a:t>Tvoj delovni prostor za priporočila, stike, izobraževanje in podporo.</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sl-SI">
                <a:solidFill>
                  <a:srgbClr val="D4E8DD"/>
                </a:solidFill>
                <a:latin typeface="Arial"/>
                <a:ea typeface="Arial"/>
                <a:cs typeface="Arial"/>
              </a:rPr>
              <a:t>FCC je neodvisen sistem naše ekipe in ni uradna aplikacija Forever.</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15</a:t>
            </a:r>
          </a:p>
        </p:txBody>
      </p:sp>
      <p:sp>
        <p:nvSpPr>
          <p:cNvPr id="3" name="Naslov">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Tvoja digitalna kartica</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Osebni stik</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Ime, fotografija in način, kako te oseba kontaktira.</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Koristne vsebine</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Izdelki in poslovne informacije, ki jih želiš deliti.</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Forever spletna trgovina</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Priporočilo, povezano s tvojo številko Forever ID.</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Kartico urejaš v rubriki Moja kartica in jo deliš s svojo osebno povezavo.</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16</a:t>
            </a:r>
          </a:p>
        </p:txBody>
      </p:sp>
      <p:sp>
        <p:nvSpPr>
          <p:cNvPr id="3" name="Naslov">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Priporočilo izdelka</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l-SI">
                <a:solidFill>
                  <a:srgbClr val="153F36"/>
                </a:solidFill>
                <a:latin typeface="Arial"/>
                <a:ea typeface="Arial"/>
                <a:cs typeface="Arial"/>
              </a:rPr>
              <a:t>Izberi izdelek.</a:t>
            </a:r>
          </a:p>
          <a:p>
            <a:pPr>
              <a:defRPr sz="3150" b="1">
                <a:solidFill>
                  <a:srgbClr val="153F36"/>
                </a:solidFill>
                <a:latin typeface="Arial"/>
                <a:ea typeface="Arial"/>
                <a:cs typeface="Arial"/>
              </a:defRPr>
            </a:pPr>
            <a:r>
              <a:rPr sz="3150" b="1" lang="sl-SI">
                <a:solidFill>
                  <a:srgbClr val="153F36"/>
                </a:solidFill>
                <a:latin typeface="Arial"/>
                <a:ea typeface="Arial"/>
                <a:cs typeface="Arial"/>
              </a:rPr>
              <a:t>Prilagodi sporočilo.</a:t>
            </a:r>
          </a:p>
          <a:p>
            <a:pPr>
              <a:defRPr sz="3150" b="1">
                <a:solidFill>
                  <a:srgbClr val="153F36"/>
                </a:solidFill>
                <a:latin typeface="Arial"/>
                <a:ea typeface="Arial"/>
                <a:cs typeface="Arial"/>
              </a:defRPr>
            </a:pPr>
            <a:r>
              <a:rPr sz="3150" b="1" lang="sl-SI">
                <a:solidFill>
                  <a:srgbClr val="153F36"/>
                </a:solidFill>
                <a:latin typeface="Arial"/>
                <a:ea typeface="Arial"/>
                <a:cs typeface="Arial"/>
              </a:rPr>
              <a:t>Deli svoje</a:t>
            </a:r>
          </a:p>
          <a:p>
            <a:pPr>
              <a:defRPr sz="3150" b="1">
                <a:solidFill>
                  <a:srgbClr val="153F36"/>
                </a:solidFill>
                <a:latin typeface="Arial"/>
                <a:ea typeface="Arial"/>
                <a:cs typeface="Arial"/>
              </a:defRPr>
            </a:pPr>
            <a:r>
              <a:rPr sz="3150" b="1" lang="sl-SI">
                <a:solidFill>
                  <a:srgbClr val="153F36"/>
                </a:solidFill>
                <a:latin typeface="Arial"/>
                <a:ea typeface="Arial"/>
                <a:cs typeface="Arial"/>
              </a:rPr>
              <a:t>priporočilo.</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l-SI">
                <a:solidFill>
                  <a:srgbClr val="526B63"/>
                </a:solidFill>
                <a:latin typeface="Arial"/>
                <a:ea typeface="Arial"/>
                <a:cs typeface="Arial"/>
              </a:rPr>
              <a:t>Nakup se zaključi v uradni trgovini izbranega trga.</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l-SI" dirty="0">
                <a:solidFill>
                  <a:srgbClr val="526B63"/>
                </a:solidFill>
                <a:latin typeface="Arial"/>
              </a:rPr>
              <a:t>Primer hrvaškega vmesnika FCC.</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17</a:t>
            </a:r>
          </a:p>
        </p:txBody>
      </p:sp>
      <p:sp>
        <p:nvSpPr>
          <p:cNvPr id="3" name="Naslov">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Poslovno sodelovanje in začetni paket</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Poslovna vsebina</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Osebi predstavi možnosti pred odločitvijo.</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Začetni paket</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Povezava do uradnega lokalnega postopka.</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Tvoje priporočilo</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Povezano s številko Forever ID po pravilih trga.</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Pred odločitvijo skupaj preverite vsebino paketa, ceno in poslovne pogoje.</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18</a:t>
            </a:r>
          </a:p>
        </p:txBody>
      </p:sp>
      <p:sp>
        <p:nvSpPr>
          <p:cNvPr id="3" name="Naslov">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Stiki in dogovorjena javljanja</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l-SI">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Zabeleži razlog zanimanja</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Izdelek, poslovna priložnost ali izbrani webinar.</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l-SI">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Shrani dogovor</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 čem ste govorili in kdaj se boste ponovno javili.</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l-SI">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Potrdi dejansko dejanje</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Osnutek in dejansko poslano sporočilo imata različen status.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Primer: Ano zanimajo podrobnosti o izdelku. Dogovorili ste se za pogovor v četrtek.</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19</a:t>
            </a:r>
          </a:p>
        </p:txBody>
      </p:sp>
      <p:sp>
        <p:nvSpPr>
          <p:cNvPr id="3" name="Naslov">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AI Coach ob tvojem konkretnem koraku</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l-SI">
                <a:solidFill>
                  <a:srgbClr val="153F36"/>
                </a:solidFill>
                <a:latin typeface="Arial"/>
                <a:ea typeface="Arial"/>
                <a:cs typeface="Arial"/>
              </a:rPr>
              <a:t>»Ana želi izvedeti več o izdelku.</a:t>
            </a:r>
          </a:p>
          <a:p>
            <a:pPr>
              <a:defRPr sz="3150" b="1">
                <a:solidFill>
                  <a:srgbClr val="153F36"/>
                </a:solidFill>
                <a:latin typeface="Arial"/>
                <a:ea typeface="Arial"/>
                <a:cs typeface="Arial"/>
              </a:defRPr>
            </a:pPr>
            <a:r>
              <a:rPr sz="3150" b="1" lang="sl-SI">
                <a:solidFill>
                  <a:srgbClr val="153F36"/>
                </a:solidFill>
                <a:latin typeface="Arial"/>
                <a:ea typeface="Arial"/>
                <a:cs typeface="Arial"/>
              </a:rPr>
              <a:t>Pomagaj mi napisati kratko sporočilo</a:t>
            </a:r>
          </a:p>
          <a:p>
            <a:pPr>
              <a:defRPr sz="3150" b="1">
                <a:solidFill>
                  <a:srgbClr val="153F36"/>
                </a:solidFill>
                <a:latin typeface="Arial"/>
                <a:ea typeface="Arial"/>
                <a:cs typeface="Arial"/>
              </a:defRPr>
            </a:pPr>
            <a:r>
              <a:rPr sz="3150" b="1" lang="sl-SI">
                <a:solidFill>
                  <a:srgbClr val="153F36"/>
                </a:solidFill>
                <a:latin typeface="Arial"/>
                <a:ea typeface="Arial"/>
                <a:cs typeface="Arial"/>
              </a:rPr>
              <a:t>in predlagati naslednji pogovor.«</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sl-SI">
                <a:solidFill>
                  <a:srgbClr val="526B63"/>
                </a:solidFill>
                <a:latin typeface="Arial"/>
                <a:ea typeface="Arial"/>
                <a:cs typeface="Arial"/>
              </a:rPr>
              <a:t>Prejeto besedilo pregledaš in prilagodiš svojemu načinu izražanja.</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Možnost PRO. Sam odločiš, kaj boš poslal, in potrdiš dejansko pošiljanje.</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20</a:t>
            </a:r>
          </a:p>
        </p:txBody>
      </p:sp>
      <p:sp>
        <p:nvSpPr>
          <p:cNvPr id="3" name="Naslov">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Moja pot: vodeno vsakodnevno delo</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sl-SI">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sl-SI">
                <a:solidFill>
                  <a:srgbClr val="153F36"/>
                </a:solidFill>
                <a:latin typeface="Arial"/>
                <a:ea typeface="Arial"/>
                <a:cs typeface="Arial"/>
              </a:rPr>
              <a:t>Korakov za učenje z resničnimi dejanji</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l-SI">
                <a:solidFill>
                  <a:srgbClr val="526B63"/>
                </a:solidFill>
                <a:latin typeface="Arial"/>
                <a:ea typeface="Arial"/>
                <a:cs typeface="Arial"/>
              </a:rPr>
              <a:t>Današnja naloga ima konkretno dejanje, pomoč in merilo zaključka.</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4 Core: Pridobivanje, Zadržanje, Produktivnost in Razvoj. Dostop po pogojih programa.</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21</a:t>
            </a:r>
          </a:p>
        </p:txBody>
      </p:sp>
      <p:sp>
        <p:nvSpPr>
          <p:cNvPr id="3" name="Naslov">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Izobraževanje, povezano z uporabo</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Temo takoj pretvori v koristen pogovor.</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l-SI" dirty="0">
                <a:solidFill>
                  <a:srgbClr val="526B63"/>
                </a:solidFill>
                <a:latin typeface="Arial"/>
              </a:rPr>
              <a:t>Primer hrvaškega vmesnika FCC.</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22</a:t>
            </a:r>
          </a:p>
        </p:txBody>
      </p:sp>
      <p:sp>
        <p:nvSpPr>
          <p:cNvPr id="3" name="Naslov">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Vabilo na izbrani webinar</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Izberi termin.</a:t>
            </a:r>
          </a:p>
          <a:p>
            <a:pPr>
              <a:defRPr sz="2625" b="1">
                <a:solidFill>
                  <a:srgbClr val="153F36"/>
                </a:solidFill>
                <a:latin typeface="Arial"/>
                <a:ea typeface="Arial"/>
                <a:cs typeface="Arial"/>
              </a:defRPr>
            </a:pPr>
            <a:r>
              <a:rPr sz="2625" b="1" lang="sl-SI">
                <a:solidFill>
                  <a:srgbClr val="153F36"/>
                </a:solidFill>
                <a:latin typeface="Arial"/>
                <a:ea typeface="Arial"/>
                <a:cs typeface="Arial"/>
              </a:rPr>
              <a:t>Dodaj osebni</a:t>
            </a:r>
          </a:p>
          <a:p>
            <a:pPr>
              <a:defRPr sz="2625" b="1">
                <a:solidFill>
                  <a:srgbClr val="153F36"/>
                </a:solidFill>
                <a:latin typeface="Arial"/>
                <a:ea typeface="Arial"/>
                <a:cs typeface="Arial"/>
              </a:defRPr>
            </a:pPr>
            <a:r>
              <a:rPr sz="2625" b="1" lang="sl-SI">
                <a:solidFill>
                  <a:srgbClr val="153F36"/>
                </a:solidFill>
                <a:latin typeface="Arial"/>
                <a:ea typeface="Arial"/>
                <a:cs typeface="Arial"/>
              </a:rPr>
              <a:t>razlog za povabilo.</a:t>
            </a:r>
          </a:p>
          <a:p>
            <a:pPr>
              <a:defRPr sz="2625" b="1">
                <a:solidFill>
                  <a:srgbClr val="153F36"/>
                </a:solidFill>
                <a:latin typeface="Arial"/>
                <a:ea typeface="Arial"/>
                <a:cs typeface="Arial"/>
              </a:defRPr>
            </a:pPr>
            <a:r>
              <a:rPr sz="2625" b="1" lang="sl-SI">
                <a:solidFill>
                  <a:srgbClr val="153F36"/>
                </a:solidFill>
                <a:latin typeface="Arial"/>
                <a:ea typeface="Arial"/>
                <a:cs typeface="Arial"/>
              </a:rPr>
              <a:t>Pošlji svojo povezavo.</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sl-SI">
                <a:solidFill>
                  <a:srgbClr val="526B63"/>
                </a:solidFill>
                <a:latin typeface="Arial"/>
                <a:ea typeface="Arial"/>
                <a:cs typeface="Arial"/>
              </a:rPr>
              <a:t>Gost se prek tvojega vabila prijavi na konkretno srečanje.</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l-SI" dirty="0">
                <a:solidFill>
                  <a:srgbClr val="526B63"/>
                </a:solidFill>
                <a:latin typeface="Arial"/>
              </a:rPr>
              <a:t>Primer hrvaškega vmesnika FCC.</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23</a:t>
            </a:r>
          </a:p>
        </p:txBody>
      </p:sp>
      <p:sp>
        <p:nvSpPr>
          <p:cNvPr id="3" name="Naslov">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Marko se je prijavil. Kaj sledi?</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Prijava na določen termin</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Kontakt in prijava ostaneta povezana z osebo, ki je povabila gosta.</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Pred webinarjem</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Potrditev in izbrani opomniki pomagajo gostu pri udeležbi.</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Po webinarju</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Sodelavec potrdi udeležbo in se dogovori za pogovor.</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Če se ni udeležil</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Osebni pogovor in novo vabilo za nov termin.</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24</a:t>
            </a:r>
          </a:p>
        </p:txBody>
      </p:sp>
      <p:sp>
        <p:nvSpPr>
          <p:cNvPr id="3" name="Naslov">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Osebni in timski webinarji</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l-SI">
                <a:solidFill>
                  <a:srgbClr val="153F36"/>
                </a:solidFill>
                <a:latin typeface="Arial"/>
                <a:ea typeface="Arial"/>
                <a:cs typeface="Arial"/>
              </a:rPr>
              <a:t>En termin ali redno srečanje.</a:t>
            </a:r>
          </a:p>
          <a:p>
            <a:pPr>
              <a:defRPr sz="3150" b="1">
                <a:solidFill>
                  <a:srgbClr val="153F36"/>
                </a:solidFill>
                <a:latin typeface="Arial"/>
                <a:ea typeface="Arial"/>
                <a:cs typeface="Arial"/>
              </a:defRPr>
            </a:pPr>
            <a:r>
              <a:rPr sz="3150" b="1" lang="sl-SI">
                <a:solidFill>
                  <a:srgbClr val="153F36"/>
                </a:solidFill>
                <a:latin typeface="Arial"/>
                <a:ea typeface="Arial"/>
                <a:cs typeface="Arial"/>
              </a:rPr>
              <a:t>V izbranem jeziku.</a:t>
            </a:r>
          </a:p>
          <a:p>
            <a:pPr>
              <a:defRPr sz="3150" b="1">
                <a:solidFill>
                  <a:srgbClr val="153F36"/>
                </a:solidFill>
                <a:latin typeface="Arial"/>
                <a:ea typeface="Arial"/>
                <a:cs typeface="Arial"/>
              </a:defRPr>
            </a:pPr>
            <a:r>
              <a:rPr sz="3150" b="1" lang="sl-SI">
                <a:solidFill>
                  <a:srgbClr val="153F36"/>
                </a:solidFill>
                <a:latin typeface="Arial"/>
                <a:ea typeface="Arial"/>
                <a:cs typeface="Arial"/>
              </a:rPr>
              <a:t>Za lastna vabila ali svojo ekipo FCC.</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l-SI">
                <a:solidFill>
                  <a:srgbClr val="526B63"/>
                </a:solidFill>
                <a:latin typeface="Arial"/>
                <a:ea typeface="Arial"/>
                <a:cs typeface="Arial"/>
              </a:rPr>
              <a:t>Vsak član vabi s svojo povezavo in ohrani svoje kontakte.</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Ustvarjanje lastnih webinarjev je na voljo v paketu PRO.</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25</a:t>
            </a:r>
          </a:p>
        </p:txBody>
      </p:sp>
      <p:sp>
        <p:nvSpPr>
          <p:cNvPr id="3" name="Naslov">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Podpora sodelavcem v rubriki Moja ekipa</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Pregled ljudi in napredka</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Lažje vidiš, kje sta pogovor in podpora smiselna.</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Osebni stik</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Priprava sporočila in potrditev, da je res poslano.</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Naslednji dogovor</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Opomnik za pogovor in nadaljevanje podpore.</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Možnost PRO. Številčni podatki pomagajo pri pogovoru in ga ne nadomeščajo.</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l-SI">
                <a:solidFill>
                  <a:srgbClr val="D4E8DD"/>
                </a:solidFill>
                <a:latin typeface="Arial"/>
                <a:ea typeface="Arial"/>
                <a:cs typeface="Arial"/>
              </a:rPr>
              <a:t>26</a:t>
            </a:r>
          </a:p>
        </p:txBody>
      </p:sp>
      <p:sp>
        <p:nvSpPr>
          <p:cNvPr id="2" name="Naslov">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l-SI">
                <a:solidFill>
                  <a:srgbClr val="FFFFFF"/>
                </a:solidFill>
                <a:latin typeface="Arial"/>
                <a:ea typeface="Arial"/>
                <a:cs typeface="Arial"/>
              </a:rPr>
              <a:t>Primer iz vsakdanjega dela</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l-SI">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l-SI">
                <a:solidFill>
                  <a:srgbClr val="FFFFFF"/>
                </a:solidFill>
                <a:latin typeface="Arial"/>
                <a:ea typeface="Arial"/>
                <a:cs typeface="Arial"/>
              </a:rPr>
              <a:t>Današnji korak</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l-SI">
                <a:solidFill>
                  <a:srgbClr val="D4E8DD"/>
                </a:solidFill>
                <a:latin typeface="Arial"/>
                <a:ea typeface="Arial"/>
                <a:cs typeface="Arial"/>
              </a:rPr>
              <a:t>Odprem nalogo in razumem, kaj moram narediti.</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l-SI">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l-SI">
                <a:solidFill>
                  <a:srgbClr val="FFFFFF"/>
                </a:solidFill>
                <a:latin typeface="Arial"/>
                <a:ea typeface="Arial"/>
                <a:cs typeface="Arial"/>
              </a:rPr>
              <a:t>Ana in njeno zanimanje</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l-SI">
                <a:solidFill>
                  <a:srgbClr val="D4E8DD"/>
                </a:solidFill>
                <a:latin typeface="Arial"/>
                <a:ea typeface="Arial"/>
                <a:cs typeface="Arial"/>
              </a:rPr>
              <a:t>Na podlagi pogovora pripravim koristno sporočilo.</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l-SI">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l-SI">
                <a:solidFill>
                  <a:srgbClr val="FFFFFF"/>
                </a:solidFill>
                <a:latin typeface="Arial"/>
                <a:ea typeface="Arial"/>
                <a:cs typeface="Arial"/>
              </a:rPr>
              <a:t>Moje priporočilo</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l-SI">
                <a:solidFill>
                  <a:srgbClr val="D4E8DD"/>
                </a:solidFill>
                <a:latin typeface="Arial"/>
                <a:ea typeface="Arial"/>
                <a:cs typeface="Arial"/>
              </a:rPr>
              <a:t>Delim izdelek ali vabilo za izbrani termin.</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l-SI">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l-SI">
                <a:solidFill>
                  <a:srgbClr val="FFFFFF"/>
                </a:solidFill>
                <a:latin typeface="Arial"/>
                <a:ea typeface="Arial"/>
                <a:cs typeface="Arial"/>
              </a:rPr>
              <a:t>Naslednji dogovor</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l-SI">
                <a:solidFill>
                  <a:srgbClr val="D4E8DD"/>
                </a:solidFill>
                <a:latin typeface="Arial"/>
                <a:ea typeface="Arial"/>
                <a:cs typeface="Arial"/>
              </a:rPr>
              <a:t>Zabeležim dejanje in datum ponovnega javljanja.</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27</a:t>
            </a:r>
          </a:p>
        </p:txBody>
      </p:sp>
      <p:sp>
        <p:nvSpPr>
          <p:cNvPr id="3" name="Naslov">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Teden ob svojem webinarju</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Pred terminom</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Povabi osebe, ki jim tema ustreza, in spremljaj prijave.</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Na dan webinarja</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Preveri dogovor z gosti in povezavo za dostop.</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Po srečanju</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Pogovori se o zanimanju in dogovori naslednji korak.</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Med srečanji delaš s kupci in nadaljuješ razpoložljive korake programa Moja pot.</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28</a:t>
            </a:r>
          </a:p>
        </p:txBody>
      </p:sp>
      <p:sp>
        <p:nvSpPr>
          <p:cNvPr id="3" name="Naslov">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Primer prvega tedna</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Spoznavanje</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Račun, kartica in pogovor s sponzorjem.</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Eno koristno priporočilo</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Izbira izdelka in naravno osebno sporočilo.</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Eno vabilo</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Izbira aktualnega webinarja in priprava vabila.</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Kratek razmislek</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Kaj je narejeno, kaj ni jasno in kateri je naslednji korak.</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29</a:t>
            </a:r>
          </a:p>
        </p:txBody>
      </p:sp>
      <p:sp>
        <p:nvSpPr>
          <p:cNvPr id="3" name="Naslov">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Free in PRO: izbira glede na potrebe</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Osebna kartica in deljenje priporočil.</a:t>
            </a:r>
          </a:p>
          <a:p>
            <a:r>
              <a:t/>
            </a:r>
          </a:p>
          <a:p>
            <a:pPr>
              <a:defRPr sz="2175" b="0">
                <a:solidFill>
                  <a:srgbClr val="526B63"/>
                </a:solidFill>
                <a:latin typeface="Arial"/>
                <a:ea typeface="Arial"/>
                <a:cs typeface="Arial"/>
              </a:defRPr>
            </a:pPr>
            <a:r>
              <a:rPr sz="2175" b="0" lang="sl-SI">
                <a:solidFill>
                  <a:srgbClr val="526B63"/>
                </a:solidFill>
                <a:latin typeface="Arial"/>
                <a:ea typeface="Arial"/>
                <a:cs typeface="Arial"/>
              </a:rPr>
              <a:t>Stiki, dogovorjena javljanja in osebne naloge.</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l-SI">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l-SI">
                <a:solidFill>
                  <a:srgbClr val="526B63"/>
                </a:solidFill>
                <a:latin typeface="Arial"/>
                <a:ea typeface="Arial"/>
                <a:cs typeface="Arial"/>
              </a:rPr>
              <a:t>Osebni Coach in pregled ekipe.</a:t>
            </a:r>
          </a:p>
          <a:p>
            <a:r>
              <a:t/>
            </a:r>
          </a:p>
          <a:p>
            <a:pPr>
              <a:defRPr sz="2175" b="0">
                <a:solidFill>
                  <a:srgbClr val="526B63"/>
                </a:solidFill>
                <a:latin typeface="Arial"/>
                <a:ea typeface="Arial"/>
                <a:cs typeface="Arial"/>
              </a:defRPr>
            </a:pPr>
            <a:r>
              <a:rPr sz="2175" b="0" lang="sl-SI">
                <a:solidFill>
                  <a:srgbClr val="526B63"/>
                </a:solidFill>
                <a:latin typeface="Arial"/>
                <a:ea typeface="Arial"/>
                <a:cs typeface="Arial"/>
              </a:rPr>
              <a:t>Lastni webinarji, video vabila in dodatna orodja.</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PRO je plačljiv paket. Aktualne ugodnosti in cene so prikazane v FCC.</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30</a:t>
            </a:r>
          </a:p>
        </p:txBody>
      </p:sp>
      <p:sp>
        <p:nvSpPr>
          <p:cNvPr id="3" name="Naslov">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Vprašanja za osebni pogovor</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Kateri začetek mi ustreza?</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Uporaba izdelkov ali poslovno sodelovanje.</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Koliko časa lahko namenim?</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Dogovor o realnem ritmu in razpoložljivih korakih.</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Katere stroške moram preveriti?</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Izdelki, poslovanje in morebitni paket FCC PRO.</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l-SI">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l-SI">
                <a:solidFill>
                  <a:srgbClr val="153F36"/>
                </a:solidFill>
                <a:latin typeface="Arial"/>
                <a:ea typeface="Arial"/>
                <a:cs typeface="Arial"/>
              </a:rPr>
              <a:t>Kje dobim pomoč?</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Sponzor, ekipa, izobraževanje in podpora FCC.</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31</a:t>
            </a:r>
          </a:p>
        </p:txBody>
      </p:sp>
      <p:sp>
        <p:nvSpPr>
          <p:cNvPr id="3" name="Naslov">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Naslednji korak po webinarju</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sl-SI">
                <a:solidFill>
                  <a:srgbClr val="153F36"/>
                </a:solidFill>
                <a:latin typeface="Arial"/>
                <a:ea typeface="Arial"/>
                <a:cs typeface="Arial"/>
              </a:rPr>
              <a:t>Pogovor z osebo,</a:t>
            </a:r>
          </a:p>
          <a:p>
            <a:pPr>
              <a:defRPr sz="4425" b="1">
                <a:solidFill>
                  <a:srgbClr val="153F36"/>
                </a:solidFill>
                <a:latin typeface="Arial"/>
                <a:ea typeface="Arial"/>
                <a:cs typeface="Arial"/>
              </a:defRPr>
            </a:pPr>
            <a:r>
              <a:rPr sz="4425" b="1" lang="sl-SI">
                <a:solidFill>
                  <a:srgbClr val="153F36"/>
                </a:solidFill>
                <a:latin typeface="Arial"/>
                <a:ea typeface="Arial"/>
                <a:cs typeface="Arial"/>
              </a:rPr>
              <a:t>ki vas je povabila</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l-SI">
                <a:solidFill>
                  <a:srgbClr val="526B63"/>
                </a:solidFill>
                <a:latin typeface="Arial"/>
                <a:ea typeface="Arial"/>
                <a:cs typeface="Arial"/>
              </a:rPr>
              <a:t>Povejte, kaj vas zanima, kaj želite dodatno razjasniti in koliko časa želite nameniti.</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Dogovorite se za eno konkretno dejanje in termin naslednjega pogovora.</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l-SI">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sl-SI">
                <a:solidFill>
                  <a:srgbClr val="FFFFFF"/>
                </a:solidFill>
                <a:latin typeface="Arial"/>
                <a:ea typeface="Arial"/>
                <a:cs typeface="Arial"/>
              </a:rPr>
              <a:t>Vaš začetek</a:t>
            </a:r>
          </a:p>
          <a:p>
            <a:pPr>
              <a:defRPr sz="5100" b="1">
                <a:solidFill>
                  <a:srgbClr val="FFFFFF"/>
                </a:solidFill>
                <a:latin typeface="Arial"/>
                <a:ea typeface="Arial"/>
                <a:cs typeface="Arial"/>
              </a:defRPr>
            </a:pPr>
            <a:r>
              <a:rPr sz="5100" b="1" lang="sl-SI">
                <a:solidFill>
                  <a:srgbClr val="FFFFFF"/>
                </a:solidFill>
                <a:latin typeface="Arial"/>
                <a:ea typeface="Arial"/>
                <a:cs typeface="Arial"/>
              </a:rPr>
              <a:t>je lahko preprost</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sl-SI">
                <a:solidFill>
                  <a:srgbClr val="D4E8DD"/>
                </a:solidFill>
                <a:latin typeface="Arial"/>
                <a:ea typeface="Arial"/>
                <a:cs typeface="Arial"/>
              </a:rPr>
              <a:t>En pogovor.</a:t>
            </a:r>
          </a:p>
          <a:p>
            <a:pPr>
              <a:defRPr sz="2925" b="0">
                <a:solidFill>
                  <a:srgbClr val="D4E8DD"/>
                </a:solidFill>
                <a:latin typeface="Arial"/>
                <a:ea typeface="Arial"/>
                <a:cs typeface="Arial"/>
              </a:defRPr>
            </a:pPr>
            <a:r>
              <a:rPr sz="2925" b="0" lang="sl-SI">
                <a:solidFill>
                  <a:srgbClr val="D4E8DD"/>
                </a:solidFill>
                <a:latin typeface="Arial"/>
                <a:ea typeface="Arial"/>
                <a:cs typeface="Arial"/>
              </a:rPr>
              <a:t>Ena jasna odločitev.</a:t>
            </a:r>
          </a:p>
          <a:p>
            <a:pPr>
              <a:defRPr sz="2925" b="0">
                <a:solidFill>
                  <a:srgbClr val="D4E8DD"/>
                </a:solidFill>
                <a:latin typeface="Arial"/>
                <a:ea typeface="Arial"/>
                <a:cs typeface="Arial"/>
              </a:defRPr>
            </a:pPr>
            <a:r>
              <a:rPr sz="2925" b="0" lang="sl-SI">
                <a:solidFill>
                  <a:srgbClr val="D4E8DD"/>
                </a:solidFill>
                <a:latin typeface="Arial"/>
                <a:ea typeface="Arial"/>
                <a:cs typeface="Arial"/>
              </a:rPr>
              <a:t>Dogovorjen naslednji korak.</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33</a:t>
            </a:r>
          </a:p>
        </p:txBody>
      </p:sp>
      <p:sp>
        <p:nvSpPr>
          <p:cNvPr id="3" name="Naslov">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Dodatek: osebni bonusi</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sl-SI">
                          <a:solidFill>
                            <a:srgbClr val="FFFFFF"/>
                          </a:solidFill>
                          <a:latin typeface="Arial"/>
                          <a:ea typeface="Arial"/>
                          <a:cs typeface="Arial"/>
                        </a:rPr>
                        <a:t>Raven</a:t>
                      </a:r>
                    </a:p>
                  </a:txBody>
                  <a:tcPr marL="91440" marR="91440" marT="45720" marB="45720">
                    <a:solidFill>
                      <a:srgbClr val="153F36"/>
                    </a:solidFill>
                  </a:tcPr>
                </a:tc>
                <a:tc>
                  <a:txBody>
                    <a:bodyPr lIns="152400" tIns="133350" rIns="152400" bIns="114300">
                      <a:noAutofit/>
                    </a:bodyPr>
                    <a:lstStyle/>
                    <a:p>
                      <a:r>
                        <a:rPr sz="2100" b="1" lang="sl-SI">
                          <a:solidFill>
                            <a:srgbClr val="FFFFFF"/>
                          </a:solidFill>
                          <a:latin typeface="Arial"/>
                          <a:ea typeface="Arial"/>
                          <a:cs typeface="Arial"/>
                        </a:rPr>
                        <a:t>Osebni bonus po pogojih</a:t>
                      </a:r>
                    </a:p>
                  </a:txBody>
                  <a:tcPr marL="91440" marR="91440" marT="45720" marB="45720">
                    <a:solidFill>
                      <a:srgbClr val="153F36"/>
                    </a:solidFill>
                  </a:tcPr>
                </a:tc>
              </a:tr>
              <a:tr h="626745">
                <a:tc>
                  <a:txBody>
                    <a:bodyPr lIns="152400" tIns="133350" rIns="152400" bIns="114300">
                      <a:noAutofit/>
                    </a:bodyPr>
                    <a:lstStyle/>
                    <a:p>
                      <a:r>
                        <a:rPr sz="2100" b="0" lang="sl-SI">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sl-SI">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sl-SI">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sl-SI">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sl-SI">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sl-SI">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sl-SI">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sl-SI">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Volume bonus: od 3% do 13%. Leadership: 6%, 3%, 2%, ob dodatnih pogojih.</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34</a:t>
            </a:r>
          </a:p>
        </p:txBody>
      </p:sp>
      <p:sp>
        <p:nvSpPr>
          <p:cNvPr id="3" name="Naslov">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Dodatek: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sl-SI">
                          <a:solidFill>
                            <a:srgbClr val="FFFFFF"/>
                          </a:solidFill>
                          <a:latin typeface="Arial"/>
                          <a:ea typeface="Arial"/>
                          <a:cs typeface="Arial"/>
                        </a:rPr>
                        <a:t>Raven</a:t>
                      </a:r>
                    </a:p>
                  </a:txBody>
                  <a:tcPr marL="91440" marR="91440" marT="45720" marB="45720">
                    <a:solidFill>
                      <a:srgbClr val="153F36"/>
                    </a:solidFill>
                  </a:tcPr>
                </a:tc>
                <a:tc>
                  <a:txBody>
                    <a:bodyPr lIns="152400" tIns="133350" rIns="152400" bIns="114300">
                      <a:noAutofit/>
                    </a:bodyPr>
                    <a:lstStyle/>
                    <a:p>
                      <a:r>
                        <a:rPr sz="2025" b="1" lang="sl-SI">
                          <a:solidFill>
                            <a:srgbClr val="FFFFFF"/>
                          </a:solidFill>
                          <a:latin typeface="Arial"/>
                          <a:ea typeface="Arial"/>
                          <a:cs typeface="Arial"/>
                        </a:rPr>
                        <a:t>1. mesec</a:t>
                      </a:r>
                    </a:p>
                  </a:txBody>
                  <a:tcPr marL="91440" marR="91440" marT="45720" marB="45720">
                    <a:solidFill>
                      <a:srgbClr val="153F36"/>
                    </a:solidFill>
                  </a:tcPr>
                </a:tc>
                <a:tc>
                  <a:txBody>
                    <a:bodyPr lIns="152400" tIns="133350" rIns="152400" bIns="114300">
                      <a:noAutofit/>
                    </a:bodyPr>
                    <a:lstStyle/>
                    <a:p>
                      <a:r>
                        <a:rPr sz="2025" b="1" lang="sl-SI">
                          <a:solidFill>
                            <a:srgbClr val="FFFFFF"/>
                          </a:solidFill>
                          <a:latin typeface="Arial"/>
                          <a:ea typeface="Arial"/>
                          <a:cs typeface="Arial"/>
                        </a:rPr>
                        <a:t>2. mesec</a:t>
                      </a:r>
                    </a:p>
                  </a:txBody>
                  <a:tcPr marL="91440" marR="91440" marT="45720" marB="45720">
                    <a:solidFill>
                      <a:srgbClr val="153F36"/>
                    </a:solidFill>
                  </a:tcPr>
                </a:tc>
                <a:tc>
                  <a:txBody>
                    <a:bodyPr lIns="152400" tIns="133350" rIns="152400" bIns="114300">
                      <a:noAutofit/>
                    </a:bodyPr>
                    <a:lstStyle/>
                    <a:p>
                      <a:r>
                        <a:rPr sz="2025" b="1" lang="sl-SI">
                          <a:solidFill>
                            <a:srgbClr val="FFFFFF"/>
                          </a:solidFill>
                          <a:latin typeface="Arial"/>
                          <a:ea typeface="Arial"/>
                          <a:cs typeface="Arial"/>
                        </a:rPr>
                        <a:t>3. mesec</a:t>
                      </a:r>
                    </a:p>
                  </a:txBody>
                  <a:tcPr marL="91440" marR="91440" marT="45720" marB="45720">
                    <a:solidFill>
                      <a:srgbClr val="153F36"/>
                    </a:solidFill>
                  </a:tcPr>
                </a:tc>
                <a:tc>
                  <a:txBody>
                    <a:bodyPr lIns="152400" tIns="133350" rIns="152400" bIns="114300">
                      <a:noAutofit/>
                    </a:bodyPr>
                    <a:lstStyle/>
                    <a:p>
                      <a:r>
                        <a:rPr sz="2025" b="1" lang="sl-SI">
                          <a:solidFill>
                            <a:srgbClr val="FFFFFF"/>
                          </a:solidFill>
                          <a:latin typeface="Arial"/>
                          <a:ea typeface="Arial"/>
                          <a:cs typeface="Arial"/>
                        </a:rPr>
                        <a:t>Največ mesečno</a:t>
                      </a:r>
                    </a:p>
                  </a:txBody>
                  <a:tcPr marL="91440" marR="91440" marT="45720" marB="45720">
                    <a:solidFill>
                      <a:srgbClr val="153F36"/>
                    </a:solidFill>
                  </a:tcPr>
                </a:tc>
              </a:tr>
              <a:tr h="661988">
                <a:tc>
                  <a:txBody>
                    <a:bodyPr lIns="152400" tIns="133350" rIns="152400" bIns="114300">
                      <a:noAutofit/>
                    </a:bodyPr>
                    <a:lstStyle/>
                    <a:p>
                      <a:r>
                        <a:rPr sz="2025" b="0" lang="sl-SI">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sl-SI">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sl-SI">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sl-SI">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sl-SI">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sl-SI">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sl-SI">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sl-SI">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Kvalifikacija in ohranjanje pogojev. Spodbuda do 36 mesecev.</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35</a:t>
            </a:r>
          </a:p>
        </p:txBody>
      </p:sp>
      <p:sp>
        <p:nvSpPr>
          <p:cNvPr id="3" name="Naslov">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Dodatek: letne kvalifikacije</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l-SI">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720 skupnih CC, 100 novih CC in 3 nove linije Supervisor.</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l-SI">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Od 1.500 skupnih CC, vključno z najmanj 50 novimi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l-SI">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l-SI">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Razvite kvalificirane linije in dodatni pogoji programa.</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Pragovi so povzetek. Roki, ohranjanje in vsi dodatni pogoji so v lokalni poslovni politiki.</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l-SI">
                <a:solidFill>
                  <a:srgbClr val="526B63"/>
                </a:solidFill>
                <a:latin typeface="Arial"/>
                <a:ea typeface="Arial"/>
                <a:cs typeface="Arial"/>
              </a:rPr>
              <a:t>36</a:t>
            </a:r>
          </a:p>
        </p:txBody>
      </p:sp>
      <p:sp>
        <p:nvSpPr>
          <p:cNvPr id="3" name="Naslov">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l-SI">
                <a:solidFill>
                  <a:srgbClr val="153F36"/>
                </a:solidFill>
                <a:latin typeface="Arial"/>
                <a:ea typeface="Arial"/>
                <a:cs typeface="Arial"/>
              </a:rPr>
              <a:t>Dodatek: izplačila in dejanski prihodek</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Bonusi za prejšnji mesec</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Po hrvaški poslovni politiki 15. naslednjega meseca.</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Spletni dobiček</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Global Pay po 10., 20. in zadnjem dnevu meseca.</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l-SI">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l-SI">
                <a:solidFill>
                  <a:srgbClr val="153F36"/>
                </a:solidFill>
                <a:latin typeface="Arial"/>
                <a:ea typeface="Arial"/>
                <a:cs typeface="Arial"/>
              </a:rPr>
              <a:t>Dejanski prihodek</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l-SI">
                <a:solidFill>
                  <a:srgbClr val="526B63"/>
                </a:solidFill>
                <a:latin typeface="Arial"/>
                <a:ea typeface="Arial"/>
                <a:cs typeface="Arial"/>
              </a:rPr>
              <a:t>Priznana prodaja ob upoštevanju stroškov, vračil in davčnih obveznosti.</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l-SI">
                <a:solidFill>
                  <a:srgbClr val="526B63"/>
                </a:solidFill>
                <a:latin typeface="Arial"/>
                <a:ea typeface="Arial"/>
                <a:cs typeface="Arial"/>
              </a:rPr>
              <a:t>Rezultat je odvisen od osebe, trga in dejanske prodaje. FCC ne zagotavlja zaslužka.</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